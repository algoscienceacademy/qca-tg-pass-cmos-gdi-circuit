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333" r:id="rId4"/>
    <p:sldId id="288" r:id="rId5"/>
    <p:sldId id="334" r:id="rId6"/>
    <p:sldId id="268" r:id="rId7"/>
    <p:sldId id="283" r:id="rId8"/>
    <p:sldId id="348" r:id="rId9"/>
    <p:sldId id="335" r:id="rId10"/>
    <p:sldId id="337" r:id="rId11"/>
    <p:sldId id="338" r:id="rId12"/>
    <p:sldId id="358" r:id="rId13"/>
    <p:sldId id="359" r:id="rId14"/>
    <p:sldId id="360" r:id="rId15"/>
    <p:sldId id="357" r:id="rId16"/>
    <p:sldId id="351" r:id="rId17"/>
    <p:sldId id="342" r:id="rId18"/>
    <p:sldId id="343" r:id="rId19"/>
    <p:sldId id="345" r:id="rId20"/>
    <p:sldId id="344" r:id="rId21"/>
    <p:sldId id="352" r:id="rId22"/>
    <p:sldId id="347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A28"/>
    <a:srgbClr val="334436"/>
    <a:srgbClr val="E3DB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C18286-B338-40E4-A1DF-69A9D49425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9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62" name="Google Shape;3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b37d1f106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8" name="Google Shape;378;gb37d1f106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b37d1f106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8" name="Google Shape;378;gb37d1f106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524e77840e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13" name="Google Shape;513;g1524e77840e_1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524e77840e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16" name="Google Shape;916;g1524e77840e_1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>
          <a:extLst>
            <a:ext uri="{FF2B5EF4-FFF2-40B4-BE49-F238E27FC236}">
              <a16:creationId xmlns:a16="http://schemas.microsoft.com/office/drawing/2014/main" id="{6D6B41D8-E3B1-3603-1F98-09A575E8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524e77840e_1_159:notes">
            <a:extLst>
              <a:ext uri="{FF2B5EF4-FFF2-40B4-BE49-F238E27FC236}">
                <a16:creationId xmlns:a16="http://schemas.microsoft.com/office/drawing/2014/main" id="{1DF42778-B955-E3BE-340F-030799253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16" name="Google Shape;916;g1524e77840e_1_159:notes">
            <a:extLst>
              <a:ext uri="{FF2B5EF4-FFF2-40B4-BE49-F238E27FC236}">
                <a16:creationId xmlns:a16="http://schemas.microsoft.com/office/drawing/2014/main" id="{5C50185C-87E4-44B7-013C-5967869FD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7885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D3FC58E1-15AB-4E6F-4521-9BE47A5B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EB2567B4-1D8D-014D-2060-B28670589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F7592C19-7ABD-F7B0-9871-BEA2F763CB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527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5AA6AEEA-36D7-22F3-E17D-0A3C1EAA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47BF960E-E387-E16F-8687-4F47BFD6CA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4AE0BFC0-F6F6-EE49-6A04-2E9B943A7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28991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8F137517-B1CE-9AFD-D0B5-EED11784D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586F1213-F05D-DB23-8C7C-38F798470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AC627CCB-5F0B-7068-E1B7-DADB66591D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7626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FA8C2F89-BD26-66BF-C9AC-8F2DBFD85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687D9728-C978-DADD-1ACB-C66867294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35640890-2C93-6ECA-67E3-93B002E90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293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9A9A4A60-1AF3-CC77-B1D8-EB58B225D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A8C03556-2542-3088-1F73-CE846E91E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83D5800D-9BD8-9969-C392-65002FD41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00707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0BD9DFAE-744C-9E62-36BF-964DC390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DBB6F03C-9DAF-B5BD-7B66-7819BB138E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9296D8CC-694C-BB68-40E8-4977B545EA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5808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/>
          <a:srcRect t="3688" r="62189"/>
          <a:stretch>
            <a:fillRect/>
          </a:stretch>
        </p:blipFill>
        <p:spPr>
          <a:xfrm>
            <a:off x="7764750" y="1521950"/>
            <a:ext cx="1379249" cy="25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000" y="955075"/>
            <a:ext cx="5294700" cy="17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0000" y="2902750"/>
            <a:ext cx="3735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346300" y="759479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388100" y="1199575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6" name="Google Shape;46;p8"/>
          <p:cNvSpPr/>
          <p:nvPr/>
        </p:nvSpPr>
        <p:spPr>
          <a:xfrm flipH="1">
            <a:off x="7271700" y="641925"/>
            <a:ext cx="1152300" cy="115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8"/>
          <p:cNvPicPr preferRelativeResize="0"/>
          <p:nvPr/>
        </p:nvPicPr>
        <p:blipFill rotWithShape="1">
          <a:blip r:embed="rId2"/>
          <a:srcRect l="35695" b="37830"/>
          <a:stretch>
            <a:fillRect/>
          </a:stretch>
        </p:blipFill>
        <p:spPr>
          <a:xfrm flipH="1">
            <a:off x="6705601" y="3443923"/>
            <a:ext cx="2438399" cy="169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2"/>
          <a:srcRect r="25317"/>
          <a:stretch>
            <a:fillRect/>
          </a:stretch>
        </p:blipFill>
        <p:spPr>
          <a:xfrm rot="5400000">
            <a:off x="174625" y="2495374"/>
            <a:ext cx="2726400" cy="26322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3070500" y="1219313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2" hasCustomPrompt="1"/>
          </p:nvPr>
        </p:nvSpPr>
        <p:spPr>
          <a:xfrm>
            <a:off x="3070500" y="62613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"/>
          </p:nvPr>
        </p:nvSpPr>
        <p:spPr>
          <a:xfrm>
            <a:off x="3070500" y="1805838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3"/>
          </p:nvPr>
        </p:nvSpPr>
        <p:spPr>
          <a:xfrm>
            <a:off x="5754300" y="1219313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4" hasCustomPrompt="1"/>
          </p:nvPr>
        </p:nvSpPr>
        <p:spPr>
          <a:xfrm>
            <a:off x="5754300" y="62613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5"/>
          </p:nvPr>
        </p:nvSpPr>
        <p:spPr>
          <a:xfrm>
            <a:off x="5754300" y="1805838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6"/>
          </p:nvPr>
        </p:nvSpPr>
        <p:spPr>
          <a:xfrm>
            <a:off x="3070500" y="3130788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7" hasCustomPrompt="1"/>
          </p:nvPr>
        </p:nvSpPr>
        <p:spPr>
          <a:xfrm>
            <a:off x="3070500" y="253761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8"/>
          </p:nvPr>
        </p:nvSpPr>
        <p:spPr>
          <a:xfrm>
            <a:off x="3070500" y="3717313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9"/>
          </p:nvPr>
        </p:nvSpPr>
        <p:spPr>
          <a:xfrm>
            <a:off x="5754300" y="3130788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13" hasCustomPrompt="1"/>
          </p:nvPr>
        </p:nvSpPr>
        <p:spPr>
          <a:xfrm>
            <a:off x="5754300" y="253761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4"/>
          </p:nvPr>
        </p:nvSpPr>
        <p:spPr>
          <a:xfrm>
            <a:off x="5754300" y="3717313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738800" y="2805475"/>
            <a:ext cx="1484400" cy="1484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8065250" y="-3038796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title" idx="2"/>
          </p:nvPr>
        </p:nvSpPr>
        <p:spPr>
          <a:xfrm>
            <a:off x="1959975" y="1297375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subTitle" idx="1"/>
          </p:nvPr>
        </p:nvSpPr>
        <p:spPr>
          <a:xfrm>
            <a:off x="1959985" y="156132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title" idx="3"/>
          </p:nvPr>
        </p:nvSpPr>
        <p:spPr>
          <a:xfrm>
            <a:off x="1959975" y="2125208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8" name="Google Shape;178;p25"/>
          <p:cNvSpPr txBox="1">
            <a:spLocks noGrp="1"/>
          </p:cNvSpPr>
          <p:nvPr>
            <p:ph type="subTitle" idx="4"/>
          </p:nvPr>
        </p:nvSpPr>
        <p:spPr>
          <a:xfrm>
            <a:off x="1959985" y="238917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5"/>
          <p:cNvSpPr txBox="1">
            <a:spLocks noGrp="1"/>
          </p:cNvSpPr>
          <p:nvPr>
            <p:ph type="title" idx="5"/>
          </p:nvPr>
        </p:nvSpPr>
        <p:spPr>
          <a:xfrm>
            <a:off x="1959975" y="2953042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ubTitle" idx="6"/>
          </p:nvPr>
        </p:nvSpPr>
        <p:spPr>
          <a:xfrm>
            <a:off x="1959985" y="321702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title" idx="7"/>
          </p:nvPr>
        </p:nvSpPr>
        <p:spPr>
          <a:xfrm>
            <a:off x="1959975" y="3780875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subTitle" idx="8"/>
          </p:nvPr>
        </p:nvSpPr>
        <p:spPr>
          <a:xfrm>
            <a:off x="1959985" y="404487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_2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72005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pic>
        <p:nvPicPr>
          <p:cNvPr id="304" name="Google Shape;304;p37"/>
          <p:cNvPicPr preferRelativeResize="0"/>
          <p:nvPr/>
        </p:nvPicPr>
        <p:blipFill rotWithShape="1">
          <a:blip r:embed="rId2"/>
          <a:srcRect l="72414" t="38107" r="-31446"/>
          <a:stretch>
            <a:fillRect/>
          </a:stretch>
        </p:blipFill>
        <p:spPr>
          <a:xfrm rot="10800000" flipH="1">
            <a:off x="-6008" y="3669179"/>
            <a:ext cx="2667924" cy="20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7"/>
          <p:cNvSpPr/>
          <p:nvPr/>
        </p:nvSpPr>
        <p:spPr>
          <a:xfrm rot="10800000">
            <a:off x="-2010349" y="4551874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6" name="Google Shape;306;p37"/>
          <p:cNvPicPr preferRelativeResize="0"/>
          <p:nvPr/>
        </p:nvPicPr>
        <p:blipFill rotWithShape="1">
          <a:blip r:embed="rId2"/>
          <a:srcRect l="72414" t="38107" r="-31446"/>
          <a:stretch>
            <a:fillRect/>
          </a:stretch>
        </p:blipFill>
        <p:spPr>
          <a:xfrm flipH="1">
            <a:off x="6484914" y="-280150"/>
            <a:ext cx="2667924" cy="20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/>
          <p:nvPr/>
        </p:nvSpPr>
        <p:spPr>
          <a:xfrm>
            <a:off x="7421938" y="-3150721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"/>
          <p:cNvSpPr/>
          <p:nvPr/>
        </p:nvSpPr>
        <p:spPr>
          <a:xfrm rot="10800000">
            <a:off x="5466157" y="38325"/>
            <a:ext cx="3545443" cy="1362071"/>
          </a:xfrm>
          <a:custGeom>
            <a:avLst/>
            <a:gdLst/>
            <a:ahLst/>
            <a:cxnLst/>
            <a:rect l="l" t="t" r="r" b="b"/>
            <a:pathLst>
              <a:path w="285750" h="109778" extrusionOk="0">
                <a:moveTo>
                  <a:pt x="217594" y="0"/>
                </a:moveTo>
                <a:lnTo>
                  <a:pt x="215917" y="245"/>
                </a:lnTo>
                <a:lnTo>
                  <a:pt x="214241" y="532"/>
                </a:lnTo>
                <a:lnTo>
                  <a:pt x="213014" y="777"/>
                </a:lnTo>
                <a:lnTo>
                  <a:pt x="211829" y="1063"/>
                </a:lnTo>
                <a:lnTo>
                  <a:pt x="210684" y="1390"/>
                </a:lnTo>
                <a:lnTo>
                  <a:pt x="209539" y="1758"/>
                </a:lnTo>
                <a:lnTo>
                  <a:pt x="208394" y="2208"/>
                </a:lnTo>
                <a:lnTo>
                  <a:pt x="207290" y="2658"/>
                </a:lnTo>
                <a:lnTo>
                  <a:pt x="206227" y="3148"/>
                </a:lnTo>
                <a:lnTo>
                  <a:pt x="205164" y="3680"/>
                </a:lnTo>
                <a:lnTo>
                  <a:pt x="204101" y="4211"/>
                </a:lnTo>
                <a:lnTo>
                  <a:pt x="203079" y="4825"/>
                </a:lnTo>
                <a:lnTo>
                  <a:pt x="202057" y="5479"/>
                </a:lnTo>
                <a:lnTo>
                  <a:pt x="201076" y="6133"/>
                </a:lnTo>
                <a:lnTo>
                  <a:pt x="200095" y="6828"/>
                </a:lnTo>
                <a:lnTo>
                  <a:pt x="199113" y="7564"/>
                </a:lnTo>
                <a:lnTo>
                  <a:pt x="198173" y="8300"/>
                </a:lnTo>
                <a:lnTo>
                  <a:pt x="197233" y="9077"/>
                </a:lnTo>
                <a:lnTo>
                  <a:pt x="196088" y="10058"/>
                </a:lnTo>
                <a:lnTo>
                  <a:pt x="194984" y="11080"/>
                </a:lnTo>
                <a:lnTo>
                  <a:pt x="193921" y="12143"/>
                </a:lnTo>
                <a:lnTo>
                  <a:pt x="192899" y="13206"/>
                </a:lnTo>
                <a:lnTo>
                  <a:pt x="191917" y="14310"/>
                </a:lnTo>
                <a:lnTo>
                  <a:pt x="190936" y="15455"/>
                </a:lnTo>
                <a:lnTo>
                  <a:pt x="189996" y="16600"/>
                </a:lnTo>
                <a:lnTo>
                  <a:pt x="189096" y="17744"/>
                </a:lnTo>
                <a:lnTo>
                  <a:pt x="188197" y="18930"/>
                </a:lnTo>
                <a:lnTo>
                  <a:pt x="187379" y="20157"/>
                </a:lnTo>
                <a:lnTo>
                  <a:pt x="186561" y="21383"/>
                </a:lnTo>
                <a:lnTo>
                  <a:pt x="185785" y="22651"/>
                </a:lnTo>
                <a:lnTo>
                  <a:pt x="185008" y="23918"/>
                </a:lnTo>
                <a:lnTo>
                  <a:pt x="184272" y="25226"/>
                </a:lnTo>
                <a:lnTo>
                  <a:pt x="183577" y="26576"/>
                </a:lnTo>
                <a:lnTo>
                  <a:pt x="182882" y="27925"/>
                </a:lnTo>
                <a:lnTo>
                  <a:pt x="181737" y="30255"/>
                </a:lnTo>
                <a:lnTo>
                  <a:pt x="180551" y="32586"/>
                </a:lnTo>
                <a:lnTo>
                  <a:pt x="179325" y="34916"/>
                </a:lnTo>
                <a:lnTo>
                  <a:pt x="178711" y="36061"/>
                </a:lnTo>
                <a:lnTo>
                  <a:pt x="178057" y="37206"/>
                </a:lnTo>
                <a:lnTo>
                  <a:pt x="177567" y="37942"/>
                </a:lnTo>
                <a:lnTo>
                  <a:pt x="177076" y="38678"/>
                </a:lnTo>
                <a:lnTo>
                  <a:pt x="176585" y="39373"/>
                </a:lnTo>
                <a:lnTo>
                  <a:pt x="176013" y="40068"/>
                </a:lnTo>
                <a:lnTo>
                  <a:pt x="175440" y="40722"/>
                </a:lnTo>
                <a:lnTo>
                  <a:pt x="174868" y="41335"/>
                </a:lnTo>
                <a:lnTo>
                  <a:pt x="174255" y="41908"/>
                </a:lnTo>
                <a:lnTo>
                  <a:pt x="173601" y="42439"/>
                </a:lnTo>
                <a:lnTo>
                  <a:pt x="172906" y="42971"/>
                </a:lnTo>
                <a:lnTo>
                  <a:pt x="172210" y="43421"/>
                </a:lnTo>
                <a:lnTo>
                  <a:pt x="171475" y="43870"/>
                </a:lnTo>
                <a:lnTo>
                  <a:pt x="170698" y="44238"/>
                </a:lnTo>
                <a:lnTo>
                  <a:pt x="169880" y="44606"/>
                </a:lnTo>
                <a:lnTo>
                  <a:pt x="169062" y="44892"/>
                </a:lnTo>
                <a:lnTo>
                  <a:pt x="168204" y="45138"/>
                </a:lnTo>
                <a:lnTo>
                  <a:pt x="167304" y="45383"/>
                </a:lnTo>
                <a:lnTo>
                  <a:pt x="166486" y="45506"/>
                </a:lnTo>
                <a:lnTo>
                  <a:pt x="165669" y="45628"/>
                </a:lnTo>
                <a:lnTo>
                  <a:pt x="164851" y="45710"/>
                </a:lnTo>
                <a:lnTo>
                  <a:pt x="164033" y="45751"/>
                </a:lnTo>
                <a:lnTo>
                  <a:pt x="163216" y="45710"/>
                </a:lnTo>
                <a:lnTo>
                  <a:pt x="162398" y="45669"/>
                </a:lnTo>
                <a:lnTo>
                  <a:pt x="161621" y="45628"/>
                </a:lnTo>
                <a:lnTo>
                  <a:pt x="160803" y="45506"/>
                </a:lnTo>
                <a:lnTo>
                  <a:pt x="160027" y="45342"/>
                </a:lnTo>
                <a:lnTo>
                  <a:pt x="159250" y="45179"/>
                </a:lnTo>
                <a:lnTo>
                  <a:pt x="158473" y="44974"/>
                </a:lnTo>
                <a:lnTo>
                  <a:pt x="157696" y="44770"/>
                </a:lnTo>
                <a:lnTo>
                  <a:pt x="156919" y="44484"/>
                </a:lnTo>
                <a:lnTo>
                  <a:pt x="156142" y="44238"/>
                </a:lnTo>
                <a:lnTo>
                  <a:pt x="154589" y="43584"/>
                </a:lnTo>
                <a:lnTo>
                  <a:pt x="153567" y="43093"/>
                </a:lnTo>
                <a:lnTo>
                  <a:pt x="152585" y="42603"/>
                </a:lnTo>
                <a:lnTo>
                  <a:pt x="151645" y="42071"/>
                </a:lnTo>
                <a:lnTo>
                  <a:pt x="150705" y="41499"/>
                </a:lnTo>
                <a:lnTo>
                  <a:pt x="149764" y="40886"/>
                </a:lnTo>
                <a:lnTo>
                  <a:pt x="148906" y="40231"/>
                </a:lnTo>
                <a:lnTo>
                  <a:pt x="148047" y="39577"/>
                </a:lnTo>
                <a:lnTo>
                  <a:pt x="147188" y="38882"/>
                </a:lnTo>
                <a:lnTo>
                  <a:pt x="146412" y="38146"/>
                </a:lnTo>
                <a:lnTo>
                  <a:pt x="145594" y="37410"/>
                </a:lnTo>
                <a:lnTo>
                  <a:pt x="144858" y="36634"/>
                </a:lnTo>
                <a:lnTo>
                  <a:pt x="144122" y="35816"/>
                </a:lnTo>
                <a:lnTo>
                  <a:pt x="143386" y="34998"/>
                </a:lnTo>
                <a:lnTo>
                  <a:pt x="142691" y="34180"/>
                </a:lnTo>
                <a:lnTo>
                  <a:pt x="141996" y="33281"/>
                </a:lnTo>
                <a:lnTo>
                  <a:pt x="141342" y="32381"/>
                </a:lnTo>
                <a:lnTo>
                  <a:pt x="139011" y="29070"/>
                </a:lnTo>
                <a:lnTo>
                  <a:pt x="136722" y="25758"/>
                </a:lnTo>
                <a:lnTo>
                  <a:pt x="134473" y="22405"/>
                </a:lnTo>
                <a:lnTo>
                  <a:pt x="132183" y="19053"/>
                </a:lnTo>
                <a:lnTo>
                  <a:pt x="131079" y="17458"/>
                </a:lnTo>
                <a:lnTo>
                  <a:pt x="129894" y="15945"/>
                </a:lnTo>
                <a:lnTo>
                  <a:pt x="128708" y="14433"/>
                </a:lnTo>
                <a:lnTo>
                  <a:pt x="127482" y="13002"/>
                </a:lnTo>
                <a:lnTo>
                  <a:pt x="126173" y="11612"/>
                </a:lnTo>
                <a:lnTo>
                  <a:pt x="125478" y="10916"/>
                </a:lnTo>
                <a:lnTo>
                  <a:pt x="124783" y="10262"/>
                </a:lnTo>
                <a:lnTo>
                  <a:pt x="124047" y="9649"/>
                </a:lnTo>
                <a:lnTo>
                  <a:pt x="123311" y="9036"/>
                </a:lnTo>
                <a:lnTo>
                  <a:pt x="122575" y="8422"/>
                </a:lnTo>
                <a:lnTo>
                  <a:pt x="121758" y="7850"/>
                </a:lnTo>
                <a:lnTo>
                  <a:pt x="120367" y="6910"/>
                </a:lnTo>
                <a:lnTo>
                  <a:pt x="118936" y="6051"/>
                </a:lnTo>
                <a:lnTo>
                  <a:pt x="117465" y="5274"/>
                </a:lnTo>
                <a:lnTo>
                  <a:pt x="116729" y="4906"/>
                </a:lnTo>
                <a:lnTo>
                  <a:pt x="115952" y="4579"/>
                </a:lnTo>
                <a:lnTo>
                  <a:pt x="115216" y="4293"/>
                </a:lnTo>
                <a:lnTo>
                  <a:pt x="114439" y="4007"/>
                </a:lnTo>
                <a:lnTo>
                  <a:pt x="113621" y="3761"/>
                </a:lnTo>
                <a:lnTo>
                  <a:pt x="112844" y="3516"/>
                </a:lnTo>
                <a:lnTo>
                  <a:pt x="112027" y="3353"/>
                </a:lnTo>
                <a:lnTo>
                  <a:pt x="111209" y="3189"/>
                </a:lnTo>
                <a:lnTo>
                  <a:pt x="110391" y="3066"/>
                </a:lnTo>
                <a:lnTo>
                  <a:pt x="109533" y="2944"/>
                </a:lnTo>
                <a:lnTo>
                  <a:pt x="108388" y="2903"/>
                </a:lnTo>
                <a:lnTo>
                  <a:pt x="107284" y="2862"/>
                </a:lnTo>
                <a:lnTo>
                  <a:pt x="106221" y="2944"/>
                </a:lnTo>
                <a:lnTo>
                  <a:pt x="105199" y="3066"/>
                </a:lnTo>
                <a:lnTo>
                  <a:pt x="104177" y="3271"/>
                </a:lnTo>
                <a:lnTo>
                  <a:pt x="103195" y="3516"/>
                </a:lnTo>
                <a:lnTo>
                  <a:pt x="102214" y="3843"/>
                </a:lnTo>
                <a:lnTo>
                  <a:pt x="101274" y="4211"/>
                </a:lnTo>
                <a:lnTo>
                  <a:pt x="100374" y="4661"/>
                </a:lnTo>
                <a:lnTo>
                  <a:pt x="99516" y="5152"/>
                </a:lnTo>
                <a:lnTo>
                  <a:pt x="98657" y="5724"/>
                </a:lnTo>
                <a:lnTo>
                  <a:pt x="97839" y="6337"/>
                </a:lnTo>
                <a:lnTo>
                  <a:pt x="97022" y="7032"/>
                </a:lnTo>
                <a:lnTo>
                  <a:pt x="96245" y="7809"/>
                </a:lnTo>
                <a:lnTo>
                  <a:pt x="95509" y="8627"/>
                </a:lnTo>
                <a:lnTo>
                  <a:pt x="94814" y="9485"/>
                </a:lnTo>
                <a:lnTo>
                  <a:pt x="93955" y="10630"/>
                </a:lnTo>
                <a:lnTo>
                  <a:pt x="93178" y="11816"/>
                </a:lnTo>
                <a:lnTo>
                  <a:pt x="92483" y="13043"/>
                </a:lnTo>
                <a:lnTo>
                  <a:pt x="91829" y="14310"/>
                </a:lnTo>
                <a:lnTo>
                  <a:pt x="91216" y="15577"/>
                </a:lnTo>
                <a:lnTo>
                  <a:pt x="90603" y="16845"/>
                </a:lnTo>
                <a:lnTo>
                  <a:pt x="89540" y="19462"/>
                </a:lnTo>
                <a:lnTo>
                  <a:pt x="88517" y="21996"/>
                </a:lnTo>
                <a:lnTo>
                  <a:pt x="87536" y="24531"/>
                </a:lnTo>
                <a:lnTo>
                  <a:pt x="86514" y="27025"/>
                </a:lnTo>
                <a:lnTo>
                  <a:pt x="85983" y="28293"/>
                </a:lnTo>
                <a:lnTo>
                  <a:pt x="85410" y="29479"/>
                </a:lnTo>
                <a:lnTo>
                  <a:pt x="84838" y="30623"/>
                </a:lnTo>
                <a:lnTo>
                  <a:pt x="84265" y="31686"/>
                </a:lnTo>
                <a:lnTo>
                  <a:pt x="83652" y="32749"/>
                </a:lnTo>
                <a:lnTo>
                  <a:pt x="83039" y="33772"/>
                </a:lnTo>
                <a:lnTo>
                  <a:pt x="82385" y="34753"/>
                </a:lnTo>
                <a:lnTo>
                  <a:pt x="81730" y="35734"/>
                </a:lnTo>
                <a:lnTo>
                  <a:pt x="81035" y="36674"/>
                </a:lnTo>
                <a:lnTo>
                  <a:pt x="80340" y="37615"/>
                </a:lnTo>
                <a:lnTo>
                  <a:pt x="79604" y="38514"/>
                </a:lnTo>
                <a:lnTo>
                  <a:pt x="78868" y="39373"/>
                </a:lnTo>
                <a:lnTo>
                  <a:pt x="78092" y="40231"/>
                </a:lnTo>
                <a:lnTo>
                  <a:pt x="77274" y="41049"/>
                </a:lnTo>
                <a:lnTo>
                  <a:pt x="76456" y="41826"/>
                </a:lnTo>
                <a:lnTo>
                  <a:pt x="75639" y="42603"/>
                </a:lnTo>
                <a:lnTo>
                  <a:pt x="74780" y="43339"/>
                </a:lnTo>
                <a:lnTo>
                  <a:pt x="73880" y="44034"/>
                </a:lnTo>
                <a:lnTo>
                  <a:pt x="72981" y="44729"/>
                </a:lnTo>
                <a:lnTo>
                  <a:pt x="72081" y="45383"/>
                </a:lnTo>
                <a:lnTo>
                  <a:pt x="71141" y="46037"/>
                </a:lnTo>
                <a:lnTo>
                  <a:pt x="70201" y="46651"/>
                </a:lnTo>
                <a:lnTo>
                  <a:pt x="69219" y="47223"/>
                </a:lnTo>
                <a:lnTo>
                  <a:pt x="68197" y="47795"/>
                </a:lnTo>
                <a:lnTo>
                  <a:pt x="67216" y="48327"/>
                </a:lnTo>
                <a:lnTo>
                  <a:pt x="66153" y="48858"/>
                </a:lnTo>
                <a:lnTo>
                  <a:pt x="65090" y="49349"/>
                </a:lnTo>
                <a:lnTo>
                  <a:pt x="64027" y="49799"/>
                </a:lnTo>
                <a:lnTo>
                  <a:pt x="62923" y="50248"/>
                </a:lnTo>
                <a:lnTo>
                  <a:pt x="61819" y="50657"/>
                </a:lnTo>
                <a:lnTo>
                  <a:pt x="60715" y="51066"/>
                </a:lnTo>
                <a:lnTo>
                  <a:pt x="59530" y="51434"/>
                </a:lnTo>
                <a:lnTo>
                  <a:pt x="58385" y="51761"/>
                </a:lnTo>
                <a:lnTo>
                  <a:pt x="57199" y="52088"/>
                </a:lnTo>
                <a:lnTo>
                  <a:pt x="55605" y="52456"/>
                </a:lnTo>
                <a:lnTo>
                  <a:pt x="53969" y="52783"/>
                </a:lnTo>
                <a:lnTo>
                  <a:pt x="52375" y="52988"/>
                </a:lnTo>
                <a:lnTo>
                  <a:pt x="50780" y="53192"/>
                </a:lnTo>
                <a:lnTo>
                  <a:pt x="49226" y="53274"/>
                </a:lnTo>
                <a:lnTo>
                  <a:pt x="47673" y="53315"/>
                </a:lnTo>
                <a:lnTo>
                  <a:pt x="46078" y="53274"/>
                </a:lnTo>
                <a:lnTo>
                  <a:pt x="44565" y="53192"/>
                </a:lnTo>
                <a:lnTo>
                  <a:pt x="43012" y="53070"/>
                </a:lnTo>
                <a:lnTo>
                  <a:pt x="41499" y="52865"/>
                </a:lnTo>
                <a:lnTo>
                  <a:pt x="39986" y="52579"/>
                </a:lnTo>
                <a:lnTo>
                  <a:pt x="38514" y="52252"/>
                </a:lnTo>
                <a:lnTo>
                  <a:pt x="37042" y="51843"/>
                </a:lnTo>
                <a:lnTo>
                  <a:pt x="35611" y="51434"/>
                </a:lnTo>
                <a:lnTo>
                  <a:pt x="34180" y="50944"/>
                </a:lnTo>
                <a:lnTo>
                  <a:pt x="32749" y="50371"/>
                </a:lnTo>
                <a:lnTo>
                  <a:pt x="31400" y="49758"/>
                </a:lnTo>
                <a:lnTo>
                  <a:pt x="30010" y="49104"/>
                </a:lnTo>
                <a:lnTo>
                  <a:pt x="28702" y="48409"/>
                </a:lnTo>
                <a:lnTo>
                  <a:pt x="27393" y="47673"/>
                </a:lnTo>
                <a:lnTo>
                  <a:pt x="26085" y="46855"/>
                </a:lnTo>
                <a:lnTo>
                  <a:pt x="24858" y="46037"/>
                </a:lnTo>
                <a:lnTo>
                  <a:pt x="23632" y="45138"/>
                </a:lnTo>
                <a:lnTo>
                  <a:pt x="22405" y="44197"/>
                </a:lnTo>
                <a:lnTo>
                  <a:pt x="21261" y="43216"/>
                </a:lnTo>
                <a:lnTo>
                  <a:pt x="20116" y="42194"/>
                </a:lnTo>
                <a:lnTo>
                  <a:pt x="19012" y="41131"/>
                </a:lnTo>
                <a:lnTo>
                  <a:pt x="17949" y="40027"/>
                </a:lnTo>
                <a:lnTo>
                  <a:pt x="16927" y="38882"/>
                </a:lnTo>
                <a:lnTo>
                  <a:pt x="15945" y="37737"/>
                </a:lnTo>
                <a:lnTo>
                  <a:pt x="14964" y="36511"/>
                </a:lnTo>
                <a:lnTo>
                  <a:pt x="14065" y="35284"/>
                </a:lnTo>
                <a:lnTo>
                  <a:pt x="13043" y="33731"/>
                </a:lnTo>
                <a:lnTo>
                  <a:pt x="12061" y="32177"/>
                </a:lnTo>
                <a:lnTo>
                  <a:pt x="11203" y="30582"/>
                </a:lnTo>
                <a:lnTo>
                  <a:pt x="10385" y="28947"/>
                </a:lnTo>
                <a:lnTo>
                  <a:pt x="9649" y="27271"/>
                </a:lnTo>
                <a:lnTo>
                  <a:pt x="8954" y="25594"/>
                </a:lnTo>
                <a:lnTo>
                  <a:pt x="8382" y="23836"/>
                </a:lnTo>
                <a:lnTo>
                  <a:pt x="7891" y="22078"/>
                </a:lnTo>
                <a:lnTo>
                  <a:pt x="7687" y="21465"/>
                </a:lnTo>
                <a:lnTo>
                  <a:pt x="7441" y="20933"/>
                </a:lnTo>
                <a:lnTo>
                  <a:pt x="7155" y="20525"/>
                </a:lnTo>
                <a:lnTo>
                  <a:pt x="6991" y="20361"/>
                </a:lnTo>
                <a:lnTo>
                  <a:pt x="6787" y="20198"/>
                </a:lnTo>
                <a:lnTo>
                  <a:pt x="6583" y="20034"/>
                </a:lnTo>
                <a:lnTo>
                  <a:pt x="6378" y="19911"/>
                </a:lnTo>
                <a:lnTo>
                  <a:pt x="5928" y="19748"/>
                </a:lnTo>
                <a:lnTo>
                  <a:pt x="5397" y="19666"/>
                </a:lnTo>
                <a:lnTo>
                  <a:pt x="4825" y="19666"/>
                </a:lnTo>
                <a:lnTo>
                  <a:pt x="4334" y="19748"/>
                </a:lnTo>
                <a:lnTo>
                  <a:pt x="3884" y="19870"/>
                </a:lnTo>
                <a:lnTo>
                  <a:pt x="3475" y="20116"/>
                </a:lnTo>
                <a:lnTo>
                  <a:pt x="3107" y="20402"/>
                </a:lnTo>
                <a:lnTo>
                  <a:pt x="2821" y="20770"/>
                </a:lnTo>
                <a:lnTo>
                  <a:pt x="2576" y="21261"/>
                </a:lnTo>
                <a:lnTo>
                  <a:pt x="2412" y="21751"/>
                </a:lnTo>
                <a:lnTo>
                  <a:pt x="2290" y="22364"/>
                </a:lnTo>
                <a:lnTo>
                  <a:pt x="1390" y="29969"/>
                </a:lnTo>
                <a:lnTo>
                  <a:pt x="940" y="33772"/>
                </a:lnTo>
                <a:lnTo>
                  <a:pt x="572" y="37574"/>
                </a:lnTo>
                <a:lnTo>
                  <a:pt x="368" y="40313"/>
                </a:lnTo>
                <a:lnTo>
                  <a:pt x="204" y="43053"/>
                </a:lnTo>
                <a:lnTo>
                  <a:pt x="82" y="45833"/>
                </a:lnTo>
                <a:lnTo>
                  <a:pt x="0" y="48572"/>
                </a:lnTo>
                <a:lnTo>
                  <a:pt x="0" y="51312"/>
                </a:lnTo>
                <a:lnTo>
                  <a:pt x="41" y="54051"/>
                </a:lnTo>
                <a:lnTo>
                  <a:pt x="123" y="56831"/>
                </a:lnTo>
                <a:lnTo>
                  <a:pt x="204" y="59570"/>
                </a:lnTo>
                <a:lnTo>
                  <a:pt x="368" y="62187"/>
                </a:lnTo>
                <a:lnTo>
                  <a:pt x="532" y="64763"/>
                </a:lnTo>
                <a:lnTo>
                  <a:pt x="736" y="67339"/>
                </a:lnTo>
                <a:lnTo>
                  <a:pt x="981" y="69955"/>
                </a:lnTo>
                <a:lnTo>
                  <a:pt x="1267" y="72531"/>
                </a:lnTo>
                <a:lnTo>
                  <a:pt x="1595" y="75107"/>
                </a:lnTo>
                <a:lnTo>
                  <a:pt x="1922" y="77683"/>
                </a:lnTo>
                <a:lnTo>
                  <a:pt x="2330" y="80218"/>
                </a:lnTo>
                <a:lnTo>
                  <a:pt x="2739" y="82793"/>
                </a:lnTo>
                <a:lnTo>
                  <a:pt x="3189" y="85328"/>
                </a:lnTo>
                <a:lnTo>
                  <a:pt x="3680" y="87904"/>
                </a:lnTo>
                <a:lnTo>
                  <a:pt x="4211" y="90439"/>
                </a:lnTo>
                <a:lnTo>
                  <a:pt x="4784" y="92974"/>
                </a:lnTo>
                <a:lnTo>
                  <a:pt x="5356" y="95509"/>
                </a:lnTo>
                <a:lnTo>
                  <a:pt x="6010" y="98003"/>
                </a:lnTo>
                <a:lnTo>
                  <a:pt x="6705" y="100538"/>
                </a:lnTo>
                <a:lnTo>
                  <a:pt x="6951" y="101274"/>
                </a:lnTo>
                <a:lnTo>
                  <a:pt x="7196" y="102010"/>
                </a:lnTo>
                <a:lnTo>
                  <a:pt x="7768" y="103482"/>
                </a:lnTo>
                <a:lnTo>
                  <a:pt x="8136" y="104218"/>
                </a:lnTo>
                <a:lnTo>
                  <a:pt x="8504" y="104913"/>
                </a:lnTo>
                <a:lnTo>
                  <a:pt x="8913" y="105526"/>
                </a:lnTo>
                <a:lnTo>
                  <a:pt x="9363" y="106139"/>
                </a:lnTo>
                <a:lnTo>
                  <a:pt x="9853" y="106712"/>
                </a:lnTo>
                <a:lnTo>
                  <a:pt x="10344" y="107202"/>
                </a:lnTo>
                <a:lnTo>
                  <a:pt x="10876" y="107652"/>
                </a:lnTo>
                <a:lnTo>
                  <a:pt x="11448" y="108061"/>
                </a:lnTo>
                <a:lnTo>
                  <a:pt x="12061" y="108429"/>
                </a:lnTo>
                <a:lnTo>
                  <a:pt x="12675" y="108756"/>
                </a:lnTo>
                <a:lnTo>
                  <a:pt x="13370" y="109042"/>
                </a:lnTo>
                <a:lnTo>
                  <a:pt x="14024" y="109287"/>
                </a:lnTo>
                <a:lnTo>
                  <a:pt x="14760" y="109451"/>
                </a:lnTo>
                <a:lnTo>
                  <a:pt x="15496" y="109574"/>
                </a:lnTo>
                <a:lnTo>
                  <a:pt x="16232" y="109696"/>
                </a:lnTo>
                <a:lnTo>
                  <a:pt x="17008" y="109737"/>
                </a:lnTo>
                <a:lnTo>
                  <a:pt x="19053" y="109778"/>
                </a:lnTo>
                <a:lnTo>
                  <a:pt x="21056" y="109778"/>
                </a:lnTo>
                <a:lnTo>
                  <a:pt x="25104" y="109696"/>
                </a:lnTo>
                <a:lnTo>
                  <a:pt x="33240" y="109451"/>
                </a:lnTo>
                <a:lnTo>
                  <a:pt x="35407" y="109369"/>
                </a:lnTo>
                <a:lnTo>
                  <a:pt x="37574" y="109287"/>
                </a:lnTo>
                <a:lnTo>
                  <a:pt x="41908" y="109001"/>
                </a:lnTo>
                <a:lnTo>
                  <a:pt x="48041" y="108592"/>
                </a:lnTo>
                <a:lnTo>
                  <a:pt x="54133" y="108143"/>
                </a:lnTo>
                <a:lnTo>
                  <a:pt x="59284" y="107734"/>
                </a:lnTo>
                <a:lnTo>
                  <a:pt x="64395" y="107284"/>
                </a:lnTo>
                <a:lnTo>
                  <a:pt x="70119" y="106793"/>
                </a:lnTo>
                <a:lnTo>
                  <a:pt x="75802" y="106221"/>
                </a:lnTo>
                <a:lnTo>
                  <a:pt x="86514" y="105199"/>
                </a:lnTo>
                <a:lnTo>
                  <a:pt x="97308" y="104136"/>
                </a:lnTo>
                <a:lnTo>
                  <a:pt x="106139" y="103318"/>
                </a:lnTo>
                <a:lnTo>
                  <a:pt x="111945" y="102746"/>
                </a:lnTo>
                <a:lnTo>
                  <a:pt x="117792" y="102214"/>
                </a:lnTo>
                <a:lnTo>
                  <a:pt x="123025" y="101805"/>
                </a:lnTo>
                <a:lnTo>
                  <a:pt x="128258" y="101396"/>
                </a:lnTo>
                <a:lnTo>
                  <a:pt x="134677" y="100947"/>
                </a:lnTo>
                <a:lnTo>
                  <a:pt x="141096" y="100538"/>
                </a:lnTo>
                <a:lnTo>
                  <a:pt x="145062" y="100252"/>
                </a:lnTo>
                <a:lnTo>
                  <a:pt x="147066" y="100170"/>
                </a:lnTo>
                <a:lnTo>
                  <a:pt x="149069" y="100088"/>
                </a:lnTo>
                <a:lnTo>
                  <a:pt x="162357" y="99843"/>
                </a:lnTo>
                <a:lnTo>
                  <a:pt x="168981" y="99761"/>
                </a:lnTo>
                <a:lnTo>
                  <a:pt x="172292" y="99720"/>
                </a:lnTo>
                <a:lnTo>
                  <a:pt x="175604" y="99720"/>
                </a:lnTo>
                <a:lnTo>
                  <a:pt x="178016" y="99761"/>
                </a:lnTo>
                <a:lnTo>
                  <a:pt x="180469" y="99843"/>
                </a:lnTo>
                <a:lnTo>
                  <a:pt x="185335" y="100047"/>
                </a:lnTo>
                <a:lnTo>
                  <a:pt x="190200" y="100293"/>
                </a:lnTo>
                <a:lnTo>
                  <a:pt x="195025" y="100661"/>
                </a:lnTo>
                <a:lnTo>
                  <a:pt x="199972" y="101069"/>
                </a:lnTo>
                <a:lnTo>
                  <a:pt x="204919" y="101519"/>
                </a:lnTo>
                <a:lnTo>
                  <a:pt x="209825" y="102051"/>
                </a:lnTo>
                <a:lnTo>
                  <a:pt x="214732" y="102582"/>
                </a:lnTo>
                <a:lnTo>
                  <a:pt x="219679" y="103155"/>
                </a:lnTo>
                <a:lnTo>
                  <a:pt x="224585" y="103768"/>
                </a:lnTo>
                <a:lnTo>
                  <a:pt x="229491" y="104381"/>
                </a:lnTo>
                <a:lnTo>
                  <a:pt x="234398" y="104953"/>
                </a:lnTo>
                <a:lnTo>
                  <a:pt x="237668" y="105321"/>
                </a:lnTo>
                <a:lnTo>
                  <a:pt x="240898" y="105608"/>
                </a:lnTo>
                <a:lnTo>
                  <a:pt x="247399" y="106180"/>
                </a:lnTo>
                <a:lnTo>
                  <a:pt x="250139" y="106425"/>
                </a:lnTo>
                <a:lnTo>
                  <a:pt x="252919" y="106589"/>
                </a:lnTo>
                <a:lnTo>
                  <a:pt x="255699" y="106712"/>
                </a:lnTo>
                <a:lnTo>
                  <a:pt x="258438" y="106793"/>
                </a:lnTo>
                <a:lnTo>
                  <a:pt x="261219" y="106875"/>
                </a:lnTo>
                <a:lnTo>
                  <a:pt x="263999" y="106834"/>
                </a:lnTo>
                <a:lnTo>
                  <a:pt x="266738" y="106793"/>
                </a:lnTo>
                <a:lnTo>
                  <a:pt x="269518" y="106671"/>
                </a:lnTo>
                <a:lnTo>
                  <a:pt x="271236" y="106589"/>
                </a:lnTo>
                <a:lnTo>
                  <a:pt x="272994" y="106466"/>
                </a:lnTo>
                <a:lnTo>
                  <a:pt x="276428" y="106139"/>
                </a:lnTo>
                <a:lnTo>
                  <a:pt x="283338" y="105362"/>
                </a:lnTo>
                <a:lnTo>
                  <a:pt x="283788" y="105281"/>
                </a:lnTo>
                <a:lnTo>
                  <a:pt x="284196" y="105117"/>
                </a:lnTo>
                <a:lnTo>
                  <a:pt x="284523" y="104872"/>
                </a:lnTo>
                <a:lnTo>
                  <a:pt x="284810" y="104586"/>
                </a:lnTo>
                <a:lnTo>
                  <a:pt x="285096" y="104299"/>
                </a:lnTo>
                <a:lnTo>
                  <a:pt x="285341" y="103931"/>
                </a:lnTo>
                <a:lnTo>
                  <a:pt x="285750" y="103155"/>
                </a:lnTo>
                <a:lnTo>
                  <a:pt x="285750" y="102214"/>
                </a:lnTo>
                <a:lnTo>
                  <a:pt x="283583" y="95345"/>
                </a:lnTo>
                <a:lnTo>
                  <a:pt x="282070" y="90603"/>
                </a:lnTo>
                <a:lnTo>
                  <a:pt x="280476" y="85901"/>
                </a:lnTo>
                <a:lnTo>
                  <a:pt x="278840" y="81240"/>
                </a:lnTo>
                <a:lnTo>
                  <a:pt x="277123" y="76620"/>
                </a:lnTo>
                <a:lnTo>
                  <a:pt x="275365" y="72000"/>
                </a:lnTo>
                <a:lnTo>
                  <a:pt x="273484" y="67420"/>
                </a:lnTo>
                <a:lnTo>
                  <a:pt x="271563" y="62882"/>
                </a:lnTo>
                <a:lnTo>
                  <a:pt x="269559" y="58385"/>
                </a:lnTo>
                <a:lnTo>
                  <a:pt x="267515" y="53928"/>
                </a:lnTo>
                <a:lnTo>
                  <a:pt x="265389" y="49472"/>
                </a:lnTo>
                <a:lnTo>
                  <a:pt x="263181" y="45056"/>
                </a:lnTo>
                <a:lnTo>
                  <a:pt x="260892" y="40681"/>
                </a:lnTo>
                <a:lnTo>
                  <a:pt x="258561" y="36306"/>
                </a:lnTo>
                <a:lnTo>
                  <a:pt x="256149" y="32013"/>
                </a:lnTo>
                <a:lnTo>
                  <a:pt x="253655" y="27720"/>
                </a:lnTo>
                <a:lnTo>
                  <a:pt x="251079" y="23468"/>
                </a:lnTo>
                <a:lnTo>
                  <a:pt x="249811" y="21424"/>
                </a:lnTo>
                <a:lnTo>
                  <a:pt x="248503" y="19462"/>
                </a:lnTo>
                <a:lnTo>
                  <a:pt x="247113" y="17499"/>
                </a:lnTo>
                <a:lnTo>
                  <a:pt x="245682" y="15618"/>
                </a:lnTo>
                <a:lnTo>
                  <a:pt x="244169" y="13778"/>
                </a:lnTo>
                <a:lnTo>
                  <a:pt x="242616" y="11980"/>
                </a:lnTo>
                <a:lnTo>
                  <a:pt x="241798" y="11121"/>
                </a:lnTo>
                <a:lnTo>
                  <a:pt x="240939" y="10262"/>
                </a:lnTo>
                <a:lnTo>
                  <a:pt x="240081" y="9445"/>
                </a:lnTo>
                <a:lnTo>
                  <a:pt x="239222" y="8627"/>
                </a:lnTo>
                <a:lnTo>
                  <a:pt x="238364" y="7891"/>
                </a:lnTo>
                <a:lnTo>
                  <a:pt x="237546" y="7155"/>
                </a:lnTo>
                <a:lnTo>
                  <a:pt x="236646" y="6460"/>
                </a:lnTo>
                <a:lnTo>
                  <a:pt x="235788" y="5806"/>
                </a:lnTo>
                <a:lnTo>
                  <a:pt x="234888" y="5192"/>
                </a:lnTo>
                <a:lnTo>
                  <a:pt x="233989" y="4579"/>
                </a:lnTo>
                <a:lnTo>
                  <a:pt x="233048" y="4007"/>
                </a:lnTo>
                <a:lnTo>
                  <a:pt x="232108" y="3475"/>
                </a:lnTo>
                <a:lnTo>
                  <a:pt x="231127" y="2985"/>
                </a:lnTo>
                <a:lnTo>
                  <a:pt x="230145" y="2535"/>
                </a:lnTo>
                <a:lnTo>
                  <a:pt x="229123" y="2085"/>
                </a:lnTo>
                <a:lnTo>
                  <a:pt x="228101" y="1717"/>
                </a:lnTo>
                <a:lnTo>
                  <a:pt x="227079" y="1349"/>
                </a:lnTo>
                <a:lnTo>
                  <a:pt x="226016" y="1022"/>
                </a:lnTo>
                <a:lnTo>
                  <a:pt x="224912" y="777"/>
                </a:lnTo>
                <a:lnTo>
                  <a:pt x="223808" y="532"/>
                </a:lnTo>
                <a:lnTo>
                  <a:pt x="222132" y="245"/>
                </a:lnTo>
                <a:lnTo>
                  <a:pt x="2204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44"/>
          <p:cNvSpPr/>
          <p:nvPr/>
        </p:nvSpPr>
        <p:spPr>
          <a:xfrm flipH="1">
            <a:off x="0" y="0"/>
            <a:ext cx="9144000" cy="5143648"/>
          </a:xfrm>
          <a:custGeom>
            <a:avLst/>
            <a:gdLst/>
            <a:ahLst/>
            <a:cxnLst/>
            <a:rect l="l" t="t" r="r" b="b"/>
            <a:pathLst>
              <a:path w="285750" h="160739" extrusionOk="0">
                <a:moveTo>
                  <a:pt x="278825" y="6764"/>
                </a:moveTo>
                <a:lnTo>
                  <a:pt x="278825" y="153975"/>
                </a:lnTo>
                <a:lnTo>
                  <a:pt x="6925" y="153975"/>
                </a:lnTo>
                <a:lnTo>
                  <a:pt x="6925" y="6764"/>
                </a:lnTo>
                <a:close/>
                <a:moveTo>
                  <a:pt x="0" y="0"/>
                </a:moveTo>
                <a:lnTo>
                  <a:pt x="0" y="160739"/>
                </a:lnTo>
                <a:lnTo>
                  <a:pt x="285750" y="160739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/>
          <p:nvPr/>
        </p:nvSpPr>
        <p:spPr>
          <a:xfrm>
            <a:off x="127347" y="3686724"/>
            <a:ext cx="3791903" cy="1456754"/>
          </a:xfrm>
          <a:custGeom>
            <a:avLst/>
            <a:gdLst/>
            <a:ahLst/>
            <a:cxnLst/>
            <a:rect l="l" t="t" r="r" b="b"/>
            <a:pathLst>
              <a:path w="285750" h="109778" extrusionOk="0">
                <a:moveTo>
                  <a:pt x="217594" y="0"/>
                </a:moveTo>
                <a:lnTo>
                  <a:pt x="215917" y="245"/>
                </a:lnTo>
                <a:lnTo>
                  <a:pt x="214241" y="532"/>
                </a:lnTo>
                <a:lnTo>
                  <a:pt x="213014" y="777"/>
                </a:lnTo>
                <a:lnTo>
                  <a:pt x="211829" y="1063"/>
                </a:lnTo>
                <a:lnTo>
                  <a:pt x="210684" y="1390"/>
                </a:lnTo>
                <a:lnTo>
                  <a:pt x="209539" y="1758"/>
                </a:lnTo>
                <a:lnTo>
                  <a:pt x="208394" y="2208"/>
                </a:lnTo>
                <a:lnTo>
                  <a:pt x="207290" y="2658"/>
                </a:lnTo>
                <a:lnTo>
                  <a:pt x="206227" y="3148"/>
                </a:lnTo>
                <a:lnTo>
                  <a:pt x="205164" y="3680"/>
                </a:lnTo>
                <a:lnTo>
                  <a:pt x="204101" y="4211"/>
                </a:lnTo>
                <a:lnTo>
                  <a:pt x="203079" y="4825"/>
                </a:lnTo>
                <a:lnTo>
                  <a:pt x="202057" y="5479"/>
                </a:lnTo>
                <a:lnTo>
                  <a:pt x="201076" y="6133"/>
                </a:lnTo>
                <a:lnTo>
                  <a:pt x="200095" y="6828"/>
                </a:lnTo>
                <a:lnTo>
                  <a:pt x="199113" y="7564"/>
                </a:lnTo>
                <a:lnTo>
                  <a:pt x="198173" y="8300"/>
                </a:lnTo>
                <a:lnTo>
                  <a:pt x="197233" y="9077"/>
                </a:lnTo>
                <a:lnTo>
                  <a:pt x="196088" y="10058"/>
                </a:lnTo>
                <a:lnTo>
                  <a:pt x="194984" y="11080"/>
                </a:lnTo>
                <a:lnTo>
                  <a:pt x="193921" y="12143"/>
                </a:lnTo>
                <a:lnTo>
                  <a:pt x="192899" y="13206"/>
                </a:lnTo>
                <a:lnTo>
                  <a:pt x="191917" y="14310"/>
                </a:lnTo>
                <a:lnTo>
                  <a:pt x="190936" y="15455"/>
                </a:lnTo>
                <a:lnTo>
                  <a:pt x="189996" y="16600"/>
                </a:lnTo>
                <a:lnTo>
                  <a:pt x="189096" y="17744"/>
                </a:lnTo>
                <a:lnTo>
                  <a:pt x="188197" y="18930"/>
                </a:lnTo>
                <a:lnTo>
                  <a:pt x="187379" y="20157"/>
                </a:lnTo>
                <a:lnTo>
                  <a:pt x="186561" y="21383"/>
                </a:lnTo>
                <a:lnTo>
                  <a:pt x="185785" y="22651"/>
                </a:lnTo>
                <a:lnTo>
                  <a:pt x="185008" y="23918"/>
                </a:lnTo>
                <a:lnTo>
                  <a:pt x="184272" y="25226"/>
                </a:lnTo>
                <a:lnTo>
                  <a:pt x="183577" y="26576"/>
                </a:lnTo>
                <a:lnTo>
                  <a:pt x="182882" y="27925"/>
                </a:lnTo>
                <a:lnTo>
                  <a:pt x="181737" y="30255"/>
                </a:lnTo>
                <a:lnTo>
                  <a:pt x="180551" y="32586"/>
                </a:lnTo>
                <a:lnTo>
                  <a:pt x="179325" y="34916"/>
                </a:lnTo>
                <a:lnTo>
                  <a:pt x="178711" y="36061"/>
                </a:lnTo>
                <a:lnTo>
                  <a:pt x="178057" y="37206"/>
                </a:lnTo>
                <a:lnTo>
                  <a:pt x="177567" y="37942"/>
                </a:lnTo>
                <a:lnTo>
                  <a:pt x="177076" y="38678"/>
                </a:lnTo>
                <a:lnTo>
                  <a:pt x="176585" y="39373"/>
                </a:lnTo>
                <a:lnTo>
                  <a:pt x="176013" y="40068"/>
                </a:lnTo>
                <a:lnTo>
                  <a:pt x="175440" y="40722"/>
                </a:lnTo>
                <a:lnTo>
                  <a:pt x="174868" y="41335"/>
                </a:lnTo>
                <a:lnTo>
                  <a:pt x="174255" y="41908"/>
                </a:lnTo>
                <a:lnTo>
                  <a:pt x="173601" y="42439"/>
                </a:lnTo>
                <a:lnTo>
                  <a:pt x="172906" y="42971"/>
                </a:lnTo>
                <a:lnTo>
                  <a:pt x="172210" y="43421"/>
                </a:lnTo>
                <a:lnTo>
                  <a:pt x="171475" y="43870"/>
                </a:lnTo>
                <a:lnTo>
                  <a:pt x="170698" y="44238"/>
                </a:lnTo>
                <a:lnTo>
                  <a:pt x="169880" y="44606"/>
                </a:lnTo>
                <a:lnTo>
                  <a:pt x="169062" y="44892"/>
                </a:lnTo>
                <a:lnTo>
                  <a:pt x="168204" y="45138"/>
                </a:lnTo>
                <a:lnTo>
                  <a:pt x="167304" y="45383"/>
                </a:lnTo>
                <a:lnTo>
                  <a:pt x="166486" y="45506"/>
                </a:lnTo>
                <a:lnTo>
                  <a:pt x="165669" y="45628"/>
                </a:lnTo>
                <a:lnTo>
                  <a:pt x="164851" y="45710"/>
                </a:lnTo>
                <a:lnTo>
                  <a:pt x="164033" y="45751"/>
                </a:lnTo>
                <a:lnTo>
                  <a:pt x="163216" y="45710"/>
                </a:lnTo>
                <a:lnTo>
                  <a:pt x="162398" y="45669"/>
                </a:lnTo>
                <a:lnTo>
                  <a:pt x="161621" y="45628"/>
                </a:lnTo>
                <a:lnTo>
                  <a:pt x="160803" y="45506"/>
                </a:lnTo>
                <a:lnTo>
                  <a:pt x="160027" y="45342"/>
                </a:lnTo>
                <a:lnTo>
                  <a:pt x="159250" y="45179"/>
                </a:lnTo>
                <a:lnTo>
                  <a:pt x="158473" y="44974"/>
                </a:lnTo>
                <a:lnTo>
                  <a:pt x="157696" y="44770"/>
                </a:lnTo>
                <a:lnTo>
                  <a:pt x="156919" y="44484"/>
                </a:lnTo>
                <a:lnTo>
                  <a:pt x="156142" y="44238"/>
                </a:lnTo>
                <a:lnTo>
                  <a:pt x="154589" y="43584"/>
                </a:lnTo>
                <a:lnTo>
                  <a:pt x="153567" y="43093"/>
                </a:lnTo>
                <a:lnTo>
                  <a:pt x="152585" y="42603"/>
                </a:lnTo>
                <a:lnTo>
                  <a:pt x="151645" y="42071"/>
                </a:lnTo>
                <a:lnTo>
                  <a:pt x="150705" y="41499"/>
                </a:lnTo>
                <a:lnTo>
                  <a:pt x="149764" y="40886"/>
                </a:lnTo>
                <a:lnTo>
                  <a:pt x="148906" y="40231"/>
                </a:lnTo>
                <a:lnTo>
                  <a:pt x="148047" y="39577"/>
                </a:lnTo>
                <a:lnTo>
                  <a:pt x="147188" y="38882"/>
                </a:lnTo>
                <a:lnTo>
                  <a:pt x="146412" y="38146"/>
                </a:lnTo>
                <a:lnTo>
                  <a:pt x="145594" y="37410"/>
                </a:lnTo>
                <a:lnTo>
                  <a:pt x="144858" y="36634"/>
                </a:lnTo>
                <a:lnTo>
                  <a:pt x="144122" y="35816"/>
                </a:lnTo>
                <a:lnTo>
                  <a:pt x="143386" y="34998"/>
                </a:lnTo>
                <a:lnTo>
                  <a:pt x="142691" y="34180"/>
                </a:lnTo>
                <a:lnTo>
                  <a:pt x="141996" y="33281"/>
                </a:lnTo>
                <a:lnTo>
                  <a:pt x="141342" y="32381"/>
                </a:lnTo>
                <a:lnTo>
                  <a:pt x="139011" y="29070"/>
                </a:lnTo>
                <a:lnTo>
                  <a:pt x="136722" y="25758"/>
                </a:lnTo>
                <a:lnTo>
                  <a:pt x="134473" y="22405"/>
                </a:lnTo>
                <a:lnTo>
                  <a:pt x="132183" y="19053"/>
                </a:lnTo>
                <a:lnTo>
                  <a:pt x="131079" y="17458"/>
                </a:lnTo>
                <a:lnTo>
                  <a:pt x="129894" y="15945"/>
                </a:lnTo>
                <a:lnTo>
                  <a:pt x="128708" y="14433"/>
                </a:lnTo>
                <a:lnTo>
                  <a:pt x="127482" y="13002"/>
                </a:lnTo>
                <a:lnTo>
                  <a:pt x="126173" y="11612"/>
                </a:lnTo>
                <a:lnTo>
                  <a:pt x="125478" y="10916"/>
                </a:lnTo>
                <a:lnTo>
                  <a:pt x="124783" y="10262"/>
                </a:lnTo>
                <a:lnTo>
                  <a:pt x="124047" y="9649"/>
                </a:lnTo>
                <a:lnTo>
                  <a:pt x="123311" y="9036"/>
                </a:lnTo>
                <a:lnTo>
                  <a:pt x="122575" y="8422"/>
                </a:lnTo>
                <a:lnTo>
                  <a:pt x="121758" y="7850"/>
                </a:lnTo>
                <a:lnTo>
                  <a:pt x="120367" y="6910"/>
                </a:lnTo>
                <a:lnTo>
                  <a:pt x="118936" y="6051"/>
                </a:lnTo>
                <a:lnTo>
                  <a:pt x="117465" y="5274"/>
                </a:lnTo>
                <a:lnTo>
                  <a:pt x="116729" y="4906"/>
                </a:lnTo>
                <a:lnTo>
                  <a:pt x="115952" y="4579"/>
                </a:lnTo>
                <a:lnTo>
                  <a:pt x="115216" y="4293"/>
                </a:lnTo>
                <a:lnTo>
                  <a:pt x="114439" y="4007"/>
                </a:lnTo>
                <a:lnTo>
                  <a:pt x="113621" y="3761"/>
                </a:lnTo>
                <a:lnTo>
                  <a:pt x="112844" y="3516"/>
                </a:lnTo>
                <a:lnTo>
                  <a:pt x="112027" y="3353"/>
                </a:lnTo>
                <a:lnTo>
                  <a:pt x="111209" y="3189"/>
                </a:lnTo>
                <a:lnTo>
                  <a:pt x="110391" y="3066"/>
                </a:lnTo>
                <a:lnTo>
                  <a:pt x="109533" y="2944"/>
                </a:lnTo>
                <a:lnTo>
                  <a:pt x="108388" y="2903"/>
                </a:lnTo>
                <a:lnTo>
                  <a:pt x="107284" y="2862"/>
                </a:lnTo>
                <a:lnTo>
                  <a:pt x="106221" y="2944"/>
                </a:lnTo>
                <a:lnTo>
                  <a:pt x="105199" y="3066"/>
                </a:lnTo>
                <a:lnTo>
                  <a:pt x="104177" y="3271"/>
                </a:lnTo>
                <a:lnTo>
                  <a:pt x="103195" y="3516"/>
                </a:lnTo>
                <a:lnTo>
                  <a:pt x="102214" y="3843"/>
                </a:lnTo>
                <a:lnTo>
                  <a:pt x="101274" y="4211"/>
                </a:lnTo>
                <a:lnTo>
                  <a:pt x="100374" y="4661"/>
                </a:lnTo>
                <a:lnTo>
                  <a:pt x="99516" y="5152"/>
                </a:lnTo>
                <a:lnTo>
                  <a:pt x="98657" y="5724"/>
                </a:lnTo>
                <a:lnTo>
                  <a:pt x="97839" y="6337"/>
                </a:lnTo>
                <a:lnTo>
                  <a:pt x="97022" y="7032"/>
                </a:lnTo>
                <a:lnTo>
                  <a:pt x="96245" y="7809"/>
                </a:lnTo>
                <a:lnTo>
                  <a:pt x="95509" y="8627"/>
                </a:lnTo>
                <a:lnTo>
                  <a:pt x="94814" y="9485"/>
                </a:lnTo>
                <a:lnTo>
                  <a:pt x="93955" y="10630"/>
                </a:lnTo>
                <a:lnTo>
                  <a:pt x="93178" y="11816"/>
                </a:lnTo>
                <a:lnTo>
                  <a:pt x="92483" y="13043"/>
                </a:lnTo>
                <a:lnTo>
                  <a:pt x="91829" y="14310"/>
                </a:lnTo>
                <a:lnTo>
                  <a:pt x="91216" y="15577"/>
                </a:lnTo>
                <a:lnTo>
                  <a:pt x="90603" y="16845"/>
                </a:lnTo>
                <a:lnTo>
                  <a:pt x="89540" y="19462"/>
                </a:lnTo>
                <a:lnTo>
                  <a:pt x="88517" y="21996"/>
                </a:lnTo>
                <a:lnTo>
                  <a:pt x="87536" y="24531"/>
                </a:lnTo>
                <a:lnTo>
                  <a:pt x="86514" y="27025"/>
                </a:lnTo>
                <a:lnTo>
                  <a:pt x="85983" y="28293"/>
                </a:lnTo>
                <a:lnTo>
                  <a:pt x="85410" y="29479"/>
                </a:lnTo>
                <a:lnTo>
                  <a:pt x="84838" y="30623"/>
                </a:lnTo>
                <a:lnTo>
                  <a:pt x="84265" y="31686"/>
                </a:lnTo>
                <a:lnTo>
                  <a:pt x="83652" y="32749"/>
                </a:lnTo>
                <a:lnTo>
                  <a:pt x="83039" y="33772"/>
                </a:lnTo>
                <a:lnTo>
                  <a:pt x="82385" y="34753"/>
                </a:lnTo>
                <a:lnTo>
                  <a:pt x="81730" y="35734"/>
                </a:lnTo>
                <a:lnTo>
                  <a:pt x="81035" y="36674"/>
                </a:lnTo>
                <a:lnTo>
                  <a:pt x="80340" y="37615"/>
                </a:lnTo>
                <a:lnTo>
                  <a:pt x="79604" y="38514"/>
                </a:lnTo>
                <a:lnTo>
                  <a:pt x="78868" y="39373"/>
                </a:lnTo>
                <a:lnTo>
                  <a:pt x="78092" y="40231"/>
                </a:lnTo>
                <a:lnTo>
                  <a:pt x="77274" y="41049"/>
                </a:lnTo>
                <a:lnTo>
                  <a:pt x="76456" y="41826"/>
                </a:lnTo>
                <a:lnTo>
                  <a:pt x="75639" y="42603"/>
                </a:lnTo>
                <a:lnTo>
                  <a:pt x="74780" y="43339"/>
                </a:lnTo>
                <a:lnTo>
                  <a:pt x="73880" y="44034"/>
                </a:lnTo>
                <a:lnTo>
                  <a:pt x="72981" y="44729"/>
                </a:lnTo>
                <a:lnTo>
                  <a:pt x="72081" y="45383"/>
                </a:lnTo>
                <a:lnTo>
                  <a:pt x="71141" y="46037"/>
                </a:lnTo>
                <a:lnTo>
                  <a:pt x="70201" y="46651"/>
                </a:lnTo>
                <a:lnTo>
                  <a:pt x="69219" y="47223"/>
                </a:lnTo>
                <a:lnTo>
                  <a:pt x="68197" y="47795"/>
                </a:lnTo>
                <a:lnTo>
                  <a:pt x="67216" y="48327"/>
                </a:lnTo>
                <a:lnTo>
                  <a:pt x="66153" y="48858"/>
                </a:lnTo>
                <a:lnTo>
                  <a:pt x="65090" y="49349"/>
                </a:lnTo>
                <a:lnTo>
                  <a:pt x="64027" y="49799"/>
                </a:lnTo>
                <a:lnTo>
                  <a:pt x="62923" y="50248"/>
                </a:lnTo>
                <a:lnTo>
                  <a:pt x="61819" y="50657"/>
                </a:lnTo>
                <a:lnTo>
                  <a:pt x="60715" y="51066"/>
                </a:lnTo>
                <a:lnTo>
                  <a:pt x="59530" y="51434"/>
                </a:lnTo>
                <a:lnTo>
                  <a:pt x="58385" y="51761"/>
                </a:lnTo>
                <a:lnTo>
                  <a:pt x="57199" y="52088"/>
                </a:lnTo>
                <a:lnTo>
                  <a:pt x="55605" y="52456"/>
                </a:lnTo>
                <a:lnTo>
                  <a:pt x="53969" y="52783"/>
                </a:lnTo>
                <a:lnTo>
                  <a:pt x="52375" y="52988"/>
                </a:lnTo>
                <a:lnTo>
                  <a:pt x="50780" y="53192"/>
                </a:lnTo>
                <a:lnTo>
                  <a:pt x="49226" y="53274"/>
                </a:lnTo>
                <a:lnTo>
                  <a:pt x="47673" y="53315"/>
                </a:lnTo>
                <a:lnTo>
                  <a:pt x="46078" y="53274"/>
                </a:lnTo>
                <a:lnTo>
                  <a:pt x="44565" y="53192"/>
                </a:lnTo>
                <a:lnTo>
                  <a:pt x="43012" y="53070"/>
                </a:lnTo>
                <a:lnTo>
                  <a:pt x="41499" y="52865"/>
                </a:lnTo>
                <a:lnTo>
                  <a:pt x="39986" y="52579"/>
                </a:lnTo>
                <a:lnTo>
                  <a:pt x="38514" y="52252"/>
                </a:lnTo>
                <a:lnTo>
                  <a:pt x="37042" y="51843"/>
                </a:lnTo>
                <a:lnTo>
                  <a:pt x="35611" y="51434"/>
                </a:lnTo>
                <a:lnTo>
                  <a:pt x="34180" y="50944"/>
                </a:lnTo>
                <a:lnTo>
                  <a:pt x="32749" y="50371"/>
                </a:lnTo>
                <a:lnTo>
                  <a:pt x="31400" y="49758"/>
                </a:lnTo>
                <a:lnTo>
                  <a:pt x="30010" y="49104"/>
                </a:lnTo>
                <a:lnTo>
                  <a:pt x="28702" y="48409"/>
                </a:lnTo>
                <a:lnTo>
                  <a:pt x="27393" y="47673"/>
                </a:lnTo>
                <a:lnTo>
                  <a:pt x="26085" y="46855"/>
                </a:lnTo>
                <a:lnTo>
                  <a:pt x="24858" y="46037"/>
                </a:lnTo>
                <a:lnTo>
                  <a:pt x="23632" y="45138"/>
                </a:lnTo>
                <a:lnTo>
                  <a:pt x="22405" y="44197"/>
                </a:lnTo>
                <a:lnTo>
                  <a:pt x="21261" y="43216"/>
                </a:lnTo>
                <a:lnTo>
                  <a:pt x="20116" y="42194"/>
                </a:lnTo>
                <a:lnTo>
                  <a:pt x="19012" y="41131"/>
                </a:lnTo>
                <a:lnTo>
                  <a:pt x="17949" y="40027"/>
                </a:lnTo>
                <a:lnTo>
                  <a:pt x="16927" y="38882"/>
                </a:lnTo>
                <a:lnTo>
                  <a:pt x="15945" y="37737"/>
                </a:lnTo>
                <a:lnTo>
                  <a:pt x="14964" y="36511"/>
                </a:lnTo>
                <a:lnTo>
                  <a:pt x="14065" y="35284"/>
                </a:lnTo>
                <a:lnTo>
                  <a:pt x="13043" y="33731"/>
                </a:lnTo>
                <a:lnTo>
                  <a:pt x="12061" y="32177"/>
                </a:lnTo>
                <a:lnTo>
                  <a:pt x="11203" y="30582"/>
                </a:lnTo>
                <a:lnTo>
                  <a:pt x="10385" y="28947"/>
                </a:lnTo>
                <a:lnTo>
                  <a:pt x="9649" y="27271"/>
                </a:lnTo>
                <a:lnTo>
                  <a:pt x="8954" y="25594"/>
                </a:lnTo>
                <a:lnTo>
                  <a:pt x="8382" y="23836"/>
                </a:lnTo>
                <a:lnTo>
                  <a:pt x="7891" y="22078"/>
                </a:lnTo>
                <a:lnTo>
                  <a:pt x="7687" y="21465"/>
                </a:lnTo>
                <a:lnTo>
                  <a:pt x="7441" y="20933"/>
                </a:lnTo>
                <a:lnTo>
                  <a:pt x="7155" y="20525"/>
                </a:lnTo>
                <a:lnTo>
                  <a:pt x="6991" y="20361"/>
                </a:lnTo>
                <a:lnTo>
                  <a:pt x="6787" y="20198"/>
                </a:lnTo>
                <a:lnTo>
                  <a:pt x="6583" y="20034"/>
                </a:lnTo>
                <a:lnTo>
                  <a:pt x="6378" y="19911"/>
                </a:lnTo>
                <a:lnTo>
                  <a:pt x="5928" y="19748"/>
                </a:lnTo>
                <a:lnTo>
                  <a:pt x="5397" y="19666"/>
                </a:lnTo>
                <a:lnTo>
                  <a:pt x="4825" y="19666"/>
                </a:lnTo>
                <a:lnTo>
                  <a:pt x="4334" y="19748"/>
                </a:lnTo>
                <a:lnTo>
                  <a:pt x="3884" y="19870"/>
                </a:lnTo>
                <a:lnTo>
                  <a:pt x="3475" y="20116"/>
                </a:lnTo>
                <a:lnTo>
                  <a:pt x="3107" y="20402"/>
                </a:lnTo>
                <a:lnTo>
                  <a:pt x="2821" y="20770"/>
                </a:lnTo>
                <a:lnTo>
                  <a:pt x="2576" y="21261"/>
                </a:lnTo>
                <a:lnTo>
                  <a:pt x="2412" y="21751"/>
                </a:lnTo>
                <a:lnTo>
                  <a:pt x="2290" y="22364"/>
                </a:lnTo>
                <a:lnTo>
                  <a:pt x="1390" y="29969"/>
                </a:lnTo>
                <a:lnTo>
                  <a:pt x="940" y="33772"/>
                </a:lnTo>
                <a:lnTo>
                  <a:pt x="572" y="37574"/>
                </a:lnTo>
                <a:lnTo>
                  <a:pt x="368" y="40313"/>
                </a:lnTo>
                <a:lnTo>
                  <a:pt x="204" y="43053"/>
                </a:lnTo>
                <a:lnTo>
                  <a:pt x="82" y="45833"/>
                </a:lnTo>
                <a:lnTo>
                  <a:pt x="0" y="48572"/>
                </a:lnTo>
                <a:lnTo>
                  <a:pt x="0" y="51312"/>
                </a:lnTo>
                <a:lnTo>
                  <a:pt x="41" y="54051"/>
                </a:lnTo>
                <a:lnTo>
                  <a:pt x="123" y="56831"/>
                </a:lnTo>
                <a:lnTo>
                  <a:pt x="204" y="59570"/>
                </a:lnTo>
                <a:lnTo>
                  <a:pt x="368" y="62187"/>
                </a:lnTo>
                <a:lnTo>
                  <a:pt x="532" y="64763"/>
                </a:lnTo>
                <a:lnTo>
                  <a:pt x="736" y="67339"/>
                </a:lnTo>
                <a:lnTo>
                  <a:pt x="981" y="69955"/>
                </a:lnTo>
                <a:lnTo>
                  <a:pt x="1267" y="72531"/>
                </a:lnTo>
                <a:lnTo>
                  <a:pt x="1595" y="75107"/>
                </a:lnTo>
                <a:lnTo>
                  <a:pt x="1922" y="77683"/>
                </a:lnTo>
                <a:lnTo>
                  <a:pt x="2330" y="80218"/>
                </a:lnTo>
                <a:lnTo>
                  <a:pt x="2739" y="82793"/>
                </a:lnTo>
                <a:lnTo>
                  <a:pt x="3189" y="85328"/>
                </a:lnTo>
                <a:lnTo>
                  <a:pt x="3680" y="87904"/>
                </a:lnTo>
                <a:lnTo>
                  <a:pt x="4211" y="90439"/>
                </a:lnTo>
                <a:lnTo>
                  <a:pt x="4784" y="92974"/>
                </a:lnTo>
                <a:lnTo>
                  <a:pt x="5356" y="95509"/>
                </a:lnTo>
                <a:lnTo>
                  <a:pt x="6010" y="98003"/>
                </a:lnTo>
                <a:lnTo>
                  <a:pt x="6705" y="100538"/>
                </a:lnTo>
                <a:lnTo>
                  <a:pt x="6951" y="101274"/>
                </a:lnTo>
                <a:lnTo>
                  <a:pt x="7196" y="102010"/>
                </a:lnTo>
                <a:lnTo>
                  <a:pt x="7768" y="103482"/>
                </a:lnTo>
                <a:lnTo>
                  <a:pt x="8136" y="104218"/>
                </a:lnTo>
                <a:lnTo>
                  <a:pt x="8504" y="104913"/>
                </a:lnTo>
                <a:lnTo>
                  <a:pt x="8913" y="105526"/>
                </a:lnTo>
                <a:lnTo>
                  <a:pt x="9363" y="106139"/>
                </a:lnTo>
                <a:lnTo>
                  <a:pt x="9853" y="106712"/>
                </a:lnTo>
                <a:lnTo>
                  <a:pt x="10344" y="107202"/>
                </a:lnTo>
                <a:lnTo>
                  <a:pt x="10876" y="107652"/>
                </a:lnTo>
                <a:lnTo>
                  <a:pt x="11448" y="108061"/>
                </a:lnTo>
                <a:lnTo>
                  <a:pt x="12061" y="108429"/>
                </a:lnTo>
                <a:lnTo>
                  <a:pt x="12675" y="108756"/>
                </a:lnTo>
                <a:lnTo>
                  <a:pt x="13370" y="109042"/>
                </a:lnTo>
                <a:lnTo>
                  <a:pt x="14024" y="109287"/>
                </a:lnTo>
                <a:lnTo>
                  <a:pt x="14760" y="109451"/>
                </a:lnTo>
                <a:lnTo>
                  <a:pt x="15496" y="109574"/>
                </a:lnTo>
                <a:lnTo>
                  <a:pt x="16232" y="109696"/>
                </a:lnTo>
                <a:lnTo>
                  <a:pt x="17008" y="109737"/>
                </a:lnTo>
                <a:lnTo>
                  <a:pt x="19053" y="109778"/>
                </a:lnTo>
                <a:lnTo>
                  <a:pt x="21056" y="109778"/>
                </a:lnTo>
                <a:lnTo>
                  <a:pt x="25104" y="109696"/>
                </a:lnTo>
                <a:lnTo>
                  <a:pt x="33240" y="109451"/>
                </a:lnTo>
                <a:lnTo>
                  <a:pt x="35407" y="109369"/>
                </a:lnTo>
                <a:lnTo>
                  <a:pt x="37574" y="109287"/>
                </a:lnTo>
                <a:lnTo>
                  <a:pt x="41908" y="109001"/>
                </a:lnTo>
                <a:lnTo>
                  <a:pt x="48041" y="108592"/>
                </a:lnTo>
                <a:lnTo>
                  <a:pt x="54133" y="108143"/>
                </a:lnTo>
                <a:lnTo>
                  <a:pt x="59284" y="107734"/>
                </a:lnTo>
                <a:lnTo>
                  <a:pt x="64395" y="107284"/>
                </a:lnTo>
                <a:lnTo>
                  <a:pt x="70119" y="106793"/>
                </a:lnTo>
                <a:lnTo>
                  <a:pt x="75802" y="106221"/>
                </a:lnTo>
                <a:lnTo>
                  <a:pt x="86514" y="105199"/>
                </a:lnTo>
                <a:lnTo>
                  <a:pt x="97308" y="104136"/>
                </a:lnTo>
                <a:lnTo>
                  <a:pt x="106139" y="103318"/>
                </a:lnTo>
                <a:lnTo>
                  <a:pt x="111945" y="102746"/>
                </a:lnTo>
                <a:lnTo>
                  <a:pt x="117792" y="102214"/>
                </a:lnTo>
                <a:lnTo>
                  <a:pt x="123025" y="101805"/>
                </a:lnTo>
                <a:lnTo>
                  <a:pt x="128258" y="101396"/>
                </a:lnTo>
                <a:lnTo>
                  <a:pt x="134677" y="100947"/>
                </a:lnTo>
                <a:lnTo>
                  <a:pt x="141096" y="100538"/>
                </a:lnTo>
                <a:lnTo>
                  <a:pt x="145062" y="100252"/>
                </a:lnTo>
                <a:lnTo>
                  <a:pt x="147066" y="100170"/>
                </a:lnTo>
                <a:lnTo>
                  <a:pt x="149069" y="100088"/>
                </a:lnTo>
                <a:lnTo>
                  <a:pt x="162357" y="99843"/>
                </a:lnTo>
                <a:lnTo>
                  <a:pt x="168981" y="99761"/>
                </a:lnTo>
                <a:lnTo>
                  <a:pt x="172292" y="99720"/>
                </a:lnTo>
                <a:lnTo>
                  <a:pt x="175604" y="99720"/>
                </a:lnTo>
                <a:lnTo>
                  <a:pt x="178016" y="99761"/>
                </a:lnTo>
                <a:lnTo>
                  <a:pt x="180469" y="99843"/>
                </a:lnTo>
                <a:lnTo>
                  <a:pt x="185335" y="100047"/>
                </a:lnTo>
                <a:lnTo>
                  <a:pt x="190200" y="100293"/>
                </a:lnTo>
                <a:lnTo>
                  <a:pt x="195025" y="100661"/>
                </a:lnTo>
                <a:lnTo>
                  <a:pt x="199972" y="101069"/>
                </a:lnTo>
                <a:lnTo>
                  <a:pt x="204919" y="101519"/>
                </a:lnTo>
                <a:lnTo>
                  <a:pt x="209825" y="102051"/>
                </a:lnTo>
                <a:lnTo>
                  <a:pt x="214732" y="102582"/>
                </a:lnTo>
                <a:lnTo>
                  <a:pt x="219679" y="103155"/>
                </a:lnTo>
                <a:lnTo>
                  <a:pt x="224585" y="103768"/>
                </a:lnTo>
                <a:lnTo>
                  <a:pt x="229491" y="104381"/>
                </a:lnTo>
                <a:lnTo>
                  <a:pt x="234398" y="104953"/>
                </a:lnTo>
                <a:lnTo>
                  <a:pt x="237668" y="105321"/>
                </a:lnTo>
                <a:lnTo>
                  <a:pt x="240898" y="105608"/>
                </a:lnTo>
                <a:lnTo>
                  <a:pt x="247399" y="106180"/>
                </a:lnTo>
                <a:lnTo>
                  <a:pt x="250139" y="106425"/>
                </a:lnTo>
                <a:lnTo>
                  <a:pt x="252919" y="106589"/>
                </a:lnTo>
                <a:lnTo>
                  <a:pt x="255699" y="106712"/>
                </a:lnTo>
                <a:lnTo>
                  <a:pt x="258438" y="106793"/>
                </a:lnTo>
                <a:lnTo>
                  <a:pt x="261219" y="106875"/>
                </a:lnTo>
                <a:lnTo>
                  <a:pt x="263999" y="106834"/>
                </a:lnTo>
                <a:lnTo>
                  <a:pt x="266738" y="106793"/>
                </a:lnTo>
                <a:lnTo>
                  <a:pt x="269518" y="106671"/>
                </a:lnTo>
                <a:lnTo>
                  <a:pt x="271236" y="106589"/>
                </a:lnTo>
                <a:lnTo>
                  <a:pt x="272994" y="106466"/>
                </a:lnTo>
                <a:lnTo>
                  <a:pt x="276428" y="106139"/>
                </a:lnTo>
                <a:lnTo>
                  <a:pt x="283338" y="105362"/>
                </a:lnTo>
                <a:lnTo>
                  <a:pt x="283788" y="105281"/>
                </a:lnTo>
                <a:lnTo>
                  <a:pt x="284196" y="105117"/>
                </a:lnTo>
                <a:lnTo>
                  <a:pt x="284523" y="104872"/>
                </a:lnTo>
                <a:lnTo>
                  <a:pt x="284810" y="104586"/>
                </a:lnTo>
                <a:lnTo>
                  <a:pt x="285096" y="104299"/>
                </a:lnTo>
                <a:lnTo>
                  <a:pt x="285341" y="103931"/>
                </a:lnTo>
                <a:lnTo>
                  <a:pt x="285750" y="103155"/>
                </a:lnTo>
                <a:lnTo>
                  <a:pt x="285750" y="102214"/>
                </a:lnTo>
                <a:lnTo>
                  <a:pt x="283583" y="95345"/>
                </a:lnTo>
                <a:lnTo>
                  <a:pt x="282070" y="90603"/>
                </a:lnTo>
                <a:lnTo>
                  <a:pt x="280476" y="85901"/>
                </a:lnTo>
                <a:lnTo>
                  <a:pt x="278840" y="81240"/>
                </a:lnTo>
                <a:lnTo>
                  <a:pt x="277123" y="76620"/>
                </a:lnTo>
                <a:lnTo>
                  <a:pt x="275365" y="72000"/>
                </a:lnTo>
                <a:lnTo>
                  <a:pt x="273484" y="67420"/>
                </a:lnTo>
                <a:lnTo>
                  <a:pt x="271563" y="62882"/>
                </a:lnTo>
                <a:lnTo>
                  <a:pt x="269559" y="58385"/>
                </a:lnTo>
                <a:lnTo>
                  <a:pt x="267515" y="53928"/>
                </a:lnTo>
                <a:lnTo>
                  <a:pt x="265389" y="49472"/>
                </a:lnTo>
                <a:lnTo>
                  <a:pt x="263181" y="45056"/>
                </a:lnTo>
                <a:lnTo>
                  <a:pt x="260892" y="40681"/>
                </a:lnTo>
                <a:lnTo>
                  <a:pt x="258561" y="36306"/>
                </a:lnTo>
                <a:lnTo>
                  <a:pt x="256149" y="32013"/>
                </a:lnTo>
                <a:lnTo>
                  <a:pt x="253655" y="27720"/>
                </a:lnTo>
                <a:lnTo>
                  <a:pt x="251079" y="23468"/>
                </a:lnTo>
                <a:lnTo>
                  <a:pt x="249811" y="21424"/>
                </a:lnTo>
                <a:lnTo>
                  <a:pt x="248503" y="19462"/>
                </a:lnTo>
                <a:lnTo>
                  <a:pt x="247113" y="17499"/>
                </a:lnTo>
                <a:lnTo>
                  <a:pt x="245682" y="15618"/>
                </a:lnTo>
                <a:lnTo>
                  <a:pt x="244169" y="13778"/>
                </a:lnTo>
                <a:lnTo>
                  <a:pt x="242616" y="11980"/>
                </a:lnTo>
                <a:lnTo>
                  <a:pt x="241798" y="11121"/>
                </a:lnTo>
                <a:lnTo>
                  <a:pt x="240939" y="10262"/>
                </a:lnTo>
                <a:lnTo>
                  <a:pt x="240081" y="9445"/>
                </a:lnTo>
                <a:lnTo>
                  <a:pt x="239222" y="8627"/>
                </a:lnTo>
                <a:lnTo>
                  <a:pt x="238364" y="7891"/>
                </a:lnTo>
                <a:lnTo>
                  <a:pt x="237546" y="7155"/>
                </a:lnTo>
                <a:lnTo>
                  <a:pt x="236646" y="6460"/>
                </a:lnTo>
                <a:lnTo>
                  <a:pt x="235788" y="5806"/>
                </a:lnTo>
                <a:lnTo>
                  <a:pt x="234888" y="5192"/>
                </a:lnTo>
                <a:lnTo>
                  <a:pt x="233989" y="4579"/>
                </a:lnTo>
                <a:lnTo>
                  <a:pt x="233048" y="4007"/>
                </a:lnTo>
                <a:lnTo>
                  <a:pt x="232108" y="3475"/>
                </a:lnTo>
                <a:lnTo>
                  <a:pt x="231127" y="2985"/>
                </a:lnTo>
                <a:lnTo>
                  <a:pt x="230145" y="2535"/>
                </a:lnTo>
                <a:lnTo>
                  <a:pt x="229123" y="2085"/>
                </a:lnTo>
                <a:lnTo>
                  <a:pt x="228101" y="1717"/>
                </a:lnTo>
                <a:lnTo>
                  <a:pt x="227079" y="1349"/>
                </a:lnTo>
                <a:lnTo>
                  <a:pt x="226016" y="1022"/>
                </a:lnTo>
                <a:lnTo>
                  <a:pt x="224912" y="777"/>
                </a:lnTo>
                <a:lnTo>
                  <a:pt x="223808" y="532"/>
                </a:lnTo>
                <a:lnTo>
                  <a:pt x="222132" y="245"/>
                </a:lnTo>
                <a:lnTo>
                  <a:pt x="22045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45"/>
          <p:cNvSpPr/>
          <p:nvPr/>
        </p:nvSpPr>
        <p:spPr>
          <a:xfrm flipH="1">
            <a:off x="0" y="0"/>
            <a:ext cx="9144000" cy="5143648"/>
          </a:xfrm>
          <a:custGeom>
            <a:avLst/>
            <a:gdLst/>
            <a:ahLst/>
            <a:cxnLst/>
            <a:rect l="l" t="t" r="r" b="b"/>
            <a:pathLst>
              <a:path w="285750" h="160739" extrusionOk="0">
                <a:moveTo>
                  <a:pt x="278825" y="6764"/>
                </a:moveTo>
                <a:lnTo>
                  <a:pt x="278825" y="153975"/>
                </a:lnTo>
                <a:lnTo>
                  <a:pt x="6925" y="153975"/>
                </a:lnTo>
                <a:lnTo>
                  <a:pt x="6925" y="6764"/>
                </a:lnTo>
                <a:close/>
                <a:moveTo>
                  <a:pt x="0" y="0"/>
                </a:moveTo>
                <a:lnTo>
                  <a:pt x="0" y="160739"/>
                </a:lnTo>
                <a:lnTo>
                  <a:pt x="285750" y="160739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ExtraBold"/>
              <a:buNone/>
              <a:defRPr sz="2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  <a:defRPr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3"/>
          <p:cNvSpPr txBox="1">
            <a:spLocks noGrp="1"/>
          </p:cNvSpPr>
          <p:nvPr>
            <p:ph type="ctrTitle"/>
          </p:nvPr>
        </p:nvSpPr>
        <p:spPr>
          <a:xfrm>
            <a:off x="163547" y="312137"/>
            <a:ext cx="8702606" cy="730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2000" dirty="0"/>
              <a:t>AN ULTRA LOW POWER 10 TRANSISTOR 1 BIT MAGNITUDE COMPARATOR USING GATE DIFFUSION INPUT TECHNIQUE </a:t>
            </a:r>
          </a:p>
        </p:txBody>
      </p:sp>
      <p:sp>
        <p:nvSpPr>
          <p:cNvPr id="365" name="Google Shape;365;p53"/>
          <p:cNvSpPr txBox="1">
            <a:spLocks noGrp="1"/>
          </p:cNvSpPr>
          <p:nvPr>
            <p:ph type="subTitle" idx="1"/>
          </p:nvPr>
        </p:nvSpPr>
        <p:spPr>
          <a:xfrm>
            <a:off x="3393281" y="3241281"/>
            <a:ext cx="2793963" cy="952102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400" b="1" dirty="0">
                <a:sym typeface="Poppins SemiBold"/>
              </a:rPr>
              <a:t>Supervised by: </a:t>
            </a:r>
          </a:p>
          <a:p>
            <a:pPr algn="ctr"/>
            <a:r>
              <a:rPr lang="en-US" sz="1400" b="1" dirty="0">
                <a:sym typeface="Poppins SemiBold"/>
              </a:rPr>
              <a:t>Riazul Islam</a:t>
            </a:r>
          </a:p>
          <a:p>
            <a:pPr algn="ctr"/>
            <a:r>
              <a:rPr lang="en-US" sz="1400" b="1" dirty="0">
                <a:sym typeface="Poppins SemiBold"/>
              </a:rPr>
              <a:t>Lecturer</a:t>
            </a:r>
          </a:p>
        </p:txBody>
      </p:sp>
      <p:sp>
        <p:nvSpPr>
          <p:cNvPr id="6" name="Google Shape;365;p53"/>
          <p:cNvSpPr txBox="1"/>
          <p:nvPr/>
        </p:nvSpPr>
        <p:spPr>
          <a:xfrm>
            <a:off x="2919572" y="1794269"/>
            <a:ext cx="3304856" cy="730850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z="1400" b="1" dirty="0"/>
              <a:t>Shahrear Hossain Shawon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ID: ET223104</a:t>
            </a:r>
          </a:p>
        </p:txBody>
      </p:sp>
      <p:sp>
        <p:nvSpPr>
          <p:cNvPr id="7" name="Google Shape;365;p53"/>
          <p:cNvSpPr txBox="1"/>
          <p:nvPr/>
        </p:nvSpPr>
        <p:spPr>
          <a:xfrm>
            <a:off x="78581" y="3992563"/>
            <a:ext cx="6502397" cy="95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1200" b="1" dirty="0"/>
              <a:t>Department of</a:t>
            </a:r>
          </a:p>
          <a:p>
            <a:pPr>
              <a:lnSpc>
                <a:spcPct val="150000"/>
              </a:lnSpc>
            </a:pPr>
            <a:r>
              <a:rPr lang="en-GB" sz="1200" b="1" dirty="0"/>
              <a:t>Electrical and Electronic Engineering</a:t>
            </a:r>
            <a:endParaRPr lang="en-US" sz="1200" b="1" dirty="0"/>
          </a:p>
          <a:p>
            <a:pPr>
              <a:lnSpc>
                <a:spcPct val="150000"/>
              </a:lnSpc>
            </a:pPr>
            <a:r>
              <a:rPr lang="en-GB" sz="1400" dirty="0"/>
              <a:t>INTERNATIONAL ISLAMIC UNIVERSITY CHITTAGONG</a:t>
            </a:r>
            <a:endParaRPr lang="en-US" sz="1400" dirty="0"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3246670" y="460950"/>
            <a:ext cx="1922640" cy="527700"/>
          </a:xfrm>
          <a:prstGeom prst="rect">
            <a:avLst/>
          </a:prstGeom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b="1" dirty="0"/>
              <a:t>INTRODUCTION</a:t>
            </a:r>
            <a:endParaRPr lang="en-US" sz="1600" dirty="0"/>
          </a:p>
        </p:txBody>
      </p:sp>
      <p:sp>
        <p:nvSpPr>
          <p:cNvPr id="32" name="Google Shape;380;p55">
            <a:hlinkClick r:id="rId4" action="ppaction://hlinksldjump"/>
          </p:cNvPr>
          <p:cNvSpPr txBox="1"/>
          <p:nvPr/>
        </p:nvSpPr>
        <p:spPr>
          <a:xfrm>
            <a:off x="3246670" y="988650"/>
            <a:ext cx="2873911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PROBLEM STATEMENT</a:t>
            </a:r>
            <a:endParaRPr lang="en-US" sz="1600" dirty="0"/>
          </a:p>
        </p:txBody>
      </p:sp>
      <p:sp>
        <p:nvSpPr>
          <p:cNvPr id="33" name="Google Shape;380;p55">
            <a:hlinkClick r:id="rId4" action="ppaction://hlinksldjump"/>
          </p:cNvPr>
          <p:cNvSpPr txBox="1"/>
          <p:nvPr/>
        </p:nvSpPr>
        <p:spPr>
          <a:xfrm>
            <a:off x="3246670" y="1521355"/>
            <a:ext cx="1701414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OBJECTIVES</a:t>
            </a:r>
            <a:endParaRPr lang="en-US" sz="1600" dirty="0"/>
          </a:p>
        </p:txBody>
      </p:sp>
      <p:sp>
        <p:nvSpPr>
          <p:cNvPr id="34" name="Google Shape;380;p55">
            <a:hlinkClick r:id="rId4" action="ppaction://hlinksldjump"/>
          </p:cNvPr>
          <p:cNvSpPr txBox="1"/>
          <p:nvPr/>
        </p:nvSpPr>
        <p:spPr>
          <a:xfrm>
            <a:off x="3241709" y="2051424"/>
            <a:ext cx="251753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METHODOLOGY</a:t>
            </a:r>
            <a:endParaRPr lang="en-US" sz="1600" dirty="0"/>
          </a:p>
        </p:txBody>
      </p:sp>
      <p:sp>
        <p:nvSpPr>
          <p:cNvPr id="35" name="Google Shape;380;p55">
            <a:hlinkClick r:id="rId4" action="ppaction://hlinksldjump"/>
          </p:cNvPr>
          <p:cNvSpPr txBox="1"/>
          <p:nvPr/>
        </p:nvSpPr>
        <p:spPr>
          <a:xfrm>
            <a:off x="3241709" y="2579124"/>
            <a:ext cx="251753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LITERATURE REVIEW</a:t>
            </a:r>
            <a:endParaRPr lang="en-US" sz="1600" dirty="0"/>
          </a:p>
        </p:txBody>
      </p:sp>
      <p:sp>
        <p:nvSpPr>
          <p:cNvPr id="36" name="Google Shape;380;p55">
            <a:hlinkClick r:id="rId4" action="ppaction://hlinksldjump"/>
          </p:cNvPr>
          <p:cNvSpPr txBox="1"/>
          <p:nvPr/>
        </p:nvSpPr>
        <p:spPr>
          <a:xfrm>
            <a:off x="3241708" y="3106458"/>
            <a:ext cx="4036915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INTRODUCTION TO COMPARATOR</a:t>
            </a:r>
            <a:endParaRPr lang="en-US" sz="1600" dirty="0"/>
          </a:p>
        </p:txBody>
      </p:sp>
      <p:sp>
        <p:nvSpPr>
          <p:cNvPr id="37" name="Google Shape;380;p55">
            <a:hlinkClick r:id="rId4" action="ppaction://hlinksldjump"/>
          </p:cNvPr>
          <p:cNvSpPr txBox="1"/>
          <p:nvPr/>
        </p:nvSpPr>
        <p:spPr>
          <a:xfrm>
            <a:off x="3244524" y="3634158"/>
            <a:ext cx="2514721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CMOS LOGIC STYLES</a:t>
            </a:r>
            <a:endParaRPr lang="en-US" sz="1600" dirty="0"/>
          </a:p>
        </p:txBody>
      </p:sp>
      <p:sp>
        <p:nvSpPr>
          <p:cNvPr id="38" name="Google Shape;380;p55">
            <a:hlinkClick r:id="rId4" action="ppaction://hlinksldjump"/>
          </p:cNvPr>
          <p:cNvSpPr txBox="1"/>
          <p:nvPr/>
        </p:nvSpPr>
        <p:spPr>
          <a:xfrm>
            <a:off x="3244524" y="4161858"/>
            <a:ext cx="5464399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CIRCUIT DESIGN  COMPARE IN VARIOUS  TECHNIQUE</a:t>
            </a:r>
          </a:p>
        </p:txBody>
      </p:sp>
      <p:sp>
        <p:nvSpPr>
          <p:cNvPr id="45" name="Google Shape;45;p3"/>
          <p:cNvSpPr/>
          <p:nvPr/>
        </p:nvSpPr>
        <p:spPr>
          <a:xfrm>
            <a:off x="247786" y="1938493"/>
            <a:ext cx="2483910" cy="376781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2800" dirty="0">
                <a:solidFill>
                  <a:srgbClr val="334436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rPr>
              <a:t>Table of Contents</a:t>
            </a:r>
            <a:endParaRPr sz="2800" dirty="0">
              <a:solidFill>
                <a:srgbClr val="33443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CFB445-04BC-8C46-EF0F-3CEE7D621C33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01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247786" y="1938493"/>
            <a:ext cx="2483910" cy="376781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2800" dirty="0">
                <a:solidFill>
                  <a:srgbClr val="334436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rPr>
              <a:t>Table of Contents</a:t>
            </a:r>
            <a:endParaRPr sz="2800" dirty="0">
              <a:solidFill>
                <a:srgbClr val="33443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" name="Google Shape;380;p55">
            <a:hlinkClick r:id="rId4" action="ppaction://hlinksldjump"/>
          </p:cNvPr>
          <p:cNvSpPr txBox="1"/>
          <p:nvPr/>
        </p:nvSpPr>
        <p:spPr>
          <a:xfrm>
            <a:off x="3362494" y="2127964"/>
            <a:ext cx="281732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SIMULATION &amp; RESULTS </a:t>
            </a:r>
            <a:endParaRPr lang="en-US" sz="1600" dirty="0"/>
          </a:p>
        </p:txBody>
      </p:sp>
      <p:sp>
        <p:nvSpPr>
          <p:cNvPr id="19" name="Google Shape;380;p55">
            <a:hlinkClick r:id="rId4" action="ppaction://hlinksldjump"/>
          </p:cNvPr>
          <p:cNvSpPr txBox="1"/>
          <p:nvPr/>
        </p:nvSpPr>
        <p:spPr>
          <a:xfrm>
            <a:off x="3362494" y="2655664"/>
            <a:ext cx="375458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PERFORMANCE COMPARISON</a:t>
            </a:r>
            <a:endParaRPr lang="en-US" sz="1600" dirty="0"/>
          </a:p>
        </p:txBody>
      </p:sp>
      <p:sp>
        <p:nvSpPr>
          <p:cNvPr id="20" name="Google Shape;380;p55">
            <a:hlinkClick r:id="rId4" action="ppaction://hlinksldjump"/>
          </p:cNvPr>
          <p:cNvSpPr txBox="1"/>
          <p:nvPr/>
        </p:nvSpPr>
        <p:spPr>
          <a:xfrm>
            <a:off x="3362494" y="3188966"/>
            <a:ext cx="1828938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CONCLUSION</a:t>
            </a:r>
            <a:endParaRPr lang="en-US" sz="1600" dirty="0"/>
          </a:p>
        </p:txBody>
      </p:sp>
      <p:sp>
        <p:nvSpPr>
          <p:cNvPr id="21" name="Google Shape;380;p55">
            <a:hlinkClick r:id="rId4" action="ppaction://hlinksldjump"/>
          </p:cNvPr>
          <p:cNvSpPr txBox="1"/>
          <p:nvPr/>
        </p:nvSpPr>
        <p:spPr>
          <a:xfrm>
            <a:off x="3362494" y="3716666"/>
            <a:ext cx="1828938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FUTURE WORK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071F4E-829E-40B6-FFDD-714AA63B2797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02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986616" y="294891"/>
            <a:ext cx="2140913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INTRODUCTION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4" y="829056"/>
            <a:ext cx="6972058" cy="3633215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Magnitude comparators are fundamental building blocks in digital VLSI systems, used to compare two binary inputs and determine A greater than B, A less than B, or A equal to B.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They play a crucial role in arithmetic logic units (ALUs), processors, memory address decoding, digital controllers, and embedded systems.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growing demand for ultra-low-power and high-speed integrated circuits has increased the need for comparator designs with lower transistor count, reduced power consumption, and faster propagation delay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This thesis proposes and analyzes an Ultra-Low-Power 10-Transistor 1-Bit Magnitude Comparator using the Gate Diffusion Input (GDI) Technique, and evaluates its performance in terms of power, propagation delay, and power-delay product (PDP) across 180 nm, 90 nm, and 45 nm PTM </a:t>
            </a:r>
            <a:r>
              <a:rPr lang="en-US"/>
              <a:t>technology nodes.</a:t>
            </a:r>
            <a:endParaRPr lang="en-US" dirty="0"/>
          </a:p>
          <a:p>
            <a:r>
              <a:rPr lang="en-US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74A48A-D195-F278-57C4-66F00CC5B1DC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03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904401" y="327531"/>
            <a:ext cx="2941012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PROBLEM STATEMENT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4" y="1110852"/>
            <a:ext cx="7445226" cy="3511948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High transistor count in conventional CMOS comparators.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Increased power consumption and silicon area.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Higher propagation delay due to complex logic paths.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Leakage current and parasitic capacitance at scaled technology nodes.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Need for an ultra-low-power, high-speed comparator design.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GDI technique offers reduced transistor count and improved efficiency.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Comparative evaluation is required using Power, Delay, PDP, and Transistor Count.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42230E-4479-DBCD-1A9C-D79E8DDB0AC0}"/>
              </a:ext>
            </a:extLst>
          </p:cNvPr>
          <p:cNvSpPr txBox="1"/>
          <p:nvPr/>
        </p:nvSpPr>
        <p:spPr>
          <a:xfrm>
            <a:off x="8720498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04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5"/>
          <p:cNvSpPr/>
          <p:nvPr/>
        </p:nvSpPr>
        <p:spPr>
          <a:xfrm flipH="1">
            <a:off x="1301897" y="1289899"/>
            <a:ext cx="770250" cy="723256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ln w="0"/>
                <a:solidFill>
                  <a:schemeClr val="bg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sz="3000" dirty="0">
              <a:ln w="0"/>
              <a:solidFill>
                <a:schemeClr val="bg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17" name="Google Shape;517;p65"/>
          <p:cNvSpPr txBox="1">
            <a:spLocks noGrp="1"/>
          </p:cNvSpPr>
          <p:nvPr>
            <p:ph type="title"/>
          </p:nvPr>
        </p:nvSpPr>
        <p:spPr>
          <a:xfrm>
            <a:off x="72005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OBJECTIVES</a:t>
            </a:r>
            <a:endParaRPr dirty="0"/>
          </a:p>
        </p:txBody>
      </p:sp>
      <p:sp>
        <p:nvSpPr>
          <p:cNvPr id="518" name="Google Shape;518;p65"/>
          <p:cNvSpPr txBox="1"/>
          <p:nvPr/>
        </p:nvSpPr>
        <p:spPr>
          <a:xfrm flipH="1">
            <a:off x="2202068" y="1295020"/>
            <a:ext cx="5046764" cy="629260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 design and simulate 1 Bit Comparator using CMOS GDI technique.</a:t>
            </a:r>
            <a:endParaRPr b="1" dirty="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" name="Google Shape;515;p65"/>
          <p:cNvSpPr/>
          <p:nvPr/>
        </p:nvSpPr>
        <p:spPr>
          <a:xfrm flipH="1">
            <a:off x="1354768" y="2408306"/>
            <a:ext cx="717379" cy="717141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ln w="0"/>
                <a:solidFill>
                  <a:schemeClr val="bg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sz="3000" dirty="0">
              <a:ln w="0"/>
              <a:solidFill>
                <a:schemeClr val="bg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" name="Google Shape;518;p65"/>
          <p:cNvSpPr txBox="1"/>
          <p:nvPr/>
        </p:nvSpPr>
        <p:spPr>
          <a:xfrm flipH="1">
            <a:off x="2202068" y="2452246"/>
            <a:ext cx="5046764" cy="629260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Reduce Transistor Number of the Comparator</a:t>
            </a:r>
            <a:endParaRPr b="1" dirty="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" name="Google Shape;515;p65"/>
          <p:cNvSpPr/>
          <p:nvPr/>
        </p:nvSpPr>
        <p:spPr>
          <a:xfrm flipH="1">
            <a:off x="1362141" y="3520598"/>
            <a:ext cx="717379" cy="717141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ln w="0"/>
                <a:solidFill>
                  <a:schemeClr val="bg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3000" dirty="0">
              <a:ln w="0"/>
              <a:solidFill>
                <a:schemeClr val="bg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518;p65"/>
          <p:cNvSpPr txBox="1"/>
          <p:nvPr/>
        </p:nvSpPr>
        <p:spPr>
          <a:xfrm flipH="1">
            <a:off x="2202068" y="3564538"/>
            <a:ext cx="6374119" cy="629260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 evaluate and compare key performance parameters such as:</a:t>
            </a:r>
          </a:p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Rise time, Fall time, Propagation delay, Power consumption. PDP</a:t>
            </a:r>
            <a:endParaRPr b="1" dirty="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119F9C-BB9F-59D3-9E6E-FCFA4DBC2016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05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0"/>
          <p:cNvSpPr txBox="1">
            <a:spLocks noGrp="1"/>
          </p:cNvSpPr>
          <p:nvPr>
            <p:ph type="title"/>
          </p:nvPr>
        </p:nvSpPr>
        <p:spPr>
          <a:xfrm>
            <a:off x="571156" y="1015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METHODOLOGY</a:t>
            </a:r>
            <a:endParaRPr dirty="0"/>
          </a:p>
        </p:txBody>
      </p:sp>
      <p:grpSp>
        <p:nvGrpSpPr>
          <p:cNvPr id="949" name="Google Shape;949;p80"/>
          <p:cNvGrpSpPr/>
          <p:nvPr/>
        </p:nvGrpSpPr>
        <p:grpSpPr>
          <a:xfrm>
            <a:off x="1144187" y="3889748"/>
            <a:ext cx="360726" cy="361204"/>
            <a:chOff x="3510335" y="2892499"/>
            <a:chExt cx="360726" cy="361204"/>
          </a:xfrm>
        </p:grpSpPr>
        <p:sp>
          <p:nvSpPr>
            <p:cNvPr id="950" name="Google Shape;950;p80"/>
            <p:cNvSpPr/>
            <p:nvPr/>
          </p:nvSpPr>
          <p:spPr>
            <a:xfrm>
              <a:off x="3511864" y="2892499"/>
              <a:ext cx="359197" cy="358751"/>
            </a:xfrm>
            <a:custGeom>
              <a:avLst/>
              <a:gdLst/>
              <a:ahLst/>
              <a:cxnLst/>
              <a:rect l="l" t="t" r="r" b="b"/>
              <a:pathLst>
                <a:path w="11276" h="11262" extrusionOk="0">
                  <a:moveTo>
                    <a:pt x="2035" y="8898"/>
                  </a:moveTo>
                  <a:cubicBezTo>
                    <a:pt x="2132" y="8898"/>
                    <a:pt x="2227" y="8934"/>
                    <a:pt x="2298" y="9005"/>
                  </a:cubicBezTo>
                  <a:cubicBezTo>
                    <a:pt x="2453" y="9160"/>
                    <a:pt x="2453" y="9398"/>
                    <a:pt x="2298" y="9541"/>
                  </a:cubicBezTo>
                  <a:cubicBezTo>
                    <a:pt x="2227" y="9618"/>
                    <a:pt x="2132" y="9657"/>
                    <a:pt x="2035" y="9657"/>
                  </a:cubicBezTo>
                  <a:cubicBezTo>
                    <a:pt x="1938" y="9657"/>
                    <a:pt x="1840" y="9618"/>
                    <a:pt x="1763" y="9541"/>
                  </a:cubicBezTo>
                  <a:cubicBezTo>
                    <a:pt x="1620" y="9398"/>
                    <a:pt x="1620" y="9160"/>
                    <a:pt x="1763" y="9005"/>
                  </a:cubicBezTo>
                  <a:cubicBezTo>
                    <a:pt x="1840" y="8934"/>
                    <a:pt x="1938" y="8898"/>
                    <a:pt x="2035" y="8898"/>
                  </a:cubicBezTo>
                  <a:close/>
                  <a:moveTo>
                    <a:pt x="10477" y="1"/>
                  </a:moveTo>
                  <a:cubicBezTo>
                    <a:pt x="10261" y="1"/>
                    <a:pt x="10042" y="82"/>
                    <a:pt x="9871" y="254"/>
                  </a:cubicBezTo>
                  <a:lnTo>
                    <a:pt x="6882" y="3243"/>
                  </a:lnTo>
                  <a:cubicBezTo>
                    <a:pt x="6716" y="3196"/>
                    <a:pt x="6544" y="3172"/>
                    <a:pt x="6368" y="3172"/>
                  </a:cubicBezTo>
                  <a:cubicBezTo>
                    <a:pt x="6053" y="3172"/>
                    <a:pt x="5727" y="3249"/>
                    <a:pt x="5406" y="3409"/>
                  </a:cubicBezTo>
                  <a:cubicBezTo>
                    <a:pt x="5204" y="3516"/>
                    <a:pt x="4668" y="3766"/>
                    <a:pt x="4013" y="4040"/>
                  </a:cubicBezTo>
                  <a:cubicBezTo>
                    <a:pt x="3906" y="4076"/>
                    <a:pt x="3858" y="4195"/>
                    <a:pt x="3906" y="4290"/>
                  </a:cubicBezTo>
                  <a:cubicBezTo>
                    <a:pt x="3942" y="4371"/>
                    <a:pt x="4017" y="4411"/>
                    <a:pt x="4088" y="4411"/>
                  </a:cubicBezTo>
                  <a:cubicBezTo>
                    <a:pt x="4112" y="4411"/>
                    <a:pt x="4135" y="4406"/>
                    <a:pt x="4156" y="4398"/>
                  </a:cubicBezTo>
                  <a:cubicBezTo>
                    <a:pt x="4834" y="4124"/>
                    <a:pt x="5382" y="3862"/>
                    <a:pt x="5585" y="3755"/>
                  </a:cubicBezTo>
                  <a:cubicBezTo>
                    <a:pt x="5849" y="3621"/>
                    <a:pt x="6112" y="3561"/>
                    <a:pt x="6358" y="3561"/>
                  </a:cubicBezTo>
                  <a:cubicBezTo>
                    <a:pt x="7385" y="3561"/>
                    <a:pt x="8130" y="4607"/>
                    <a:pt x="7573" y="5731"/>
                  </a:cubicBezTo>
                  <a:cubicBezTo>
                    <a:pt x="7418" y="6029"/>
                    <a:pt x="6930" y="7053"/>
                    <a:pt x="6573" y="8100"/>
                  </a:cubicBezTo>
                  <a:cubicBezTo>
                    <a:pt x="6454" y="8469"/>
                    <a:pt x="6358" y="8803"/>
                    <a:pt x="6299" y="9100"/>
                  </a:cubicBezTo>
                  <a:lnTo>
                    <a:pt x="2227" y="5017"/>
                  </a:lnTo>
                  <a:cubicBezTo>
                    <a:pt x="2572" y="4945"/>
                    <a:pt x="2965" y="4838"/>
                    <a:pt x="3418" y="4671"/>
                  </a:cubicBezTo>
                  <a:cubicBezTo>
                    <a:pt x="3525" y="4648"/>
                    <a:pt x="3584" y="4528"/>
                    <a:pt x="3537" y="4421"/>
                  </a:cubicBezTo>
                  <a:cubicBezTo>
                    <a:pt x="3509" y="4340"/>
                    <a:pt x="3434" y="4286"/>
                    <a:pt x="3352" y="4286"/>
                  </a:cubicBezTo>
                  <a:cubicBezTo>
                    <a:pt x="3326" y="4286"/>
                    <a:pt x="3300" y="4291"/>
                    <a:pt x="3275" y="4302"/>
                  </a:cubicBezTo>
                  <a:cubicBezTo>
                    <a:pt x="2656" y="4517"/>
                    <a:pt x="2203" y="4636"/>
                    <a:pt x="1870" y="4671"/>
                  </a:cubicBezTo>
                  <a:lnTo>
                    <a:pt x="1453" y="4255"/>
                  </a:lnTo>
                  <a:cubicBezTo>
                    <a:pt x="1298" y="4100"/>
                    <a:pt x="1090" y="4022"/>
                    <a:pt x="880" y="4022"/>
                  </a:cubicBezTo>
                  <a:cubicBezTo>
                    <a:pt x="670" y="4022"/>
                    <a:pt x="459" y="4100"/>
                    <a:pt x="298" y="4255"/>
                  </a:cubicBezTo>
                  <a:cubicBezTo>
                    <a:pt x="84" y="4481"/>
                    <a:pt x="1" y="4826"/>
                    <a:pt x="120" y="5136"/>
                  </a:cubicBezTo>
                  <a:cubicBezTo>
                    <a:pt x="157" y="5219"/>
                    <a:pt x="230" y="5266"/>
                    <a:pt x="311" y="5266"/>
                  </a:cubicBezTo>
                  <a:cubicBezTo>
                    <a:pt x="334" y="5266"/>
                    <a:pt x="358" y="5263"/>
                    <a:pt x="382" y="5255"/>
                  </a:cubicBezTo>
                  <a:cubicBezTo>
                    <a:pt x="489" y="5207"/>
                    <a:pt x="524" y="5112"/>
                    <a:pt x="501" y="5005"/>
                  </a:cubicBezTo>
                  <a:cubicBezTo>
                    <a:pt x="379" y="4700"/>
                    <a:pt x="626" y="4433"/>
                    <a:pt x="894" y="4433"/>
                  </a:cubicBezTo>
                  <a:cubicBezTo>
                    <a:pt x="992" y="4433"/>
                    <a:pt x="1093" y="4469"/>
                    <a:pt x="1179" y="4552"/>
                  </a:cubicBezTo>
                  <a:lnTo>
                    <a:pt x="6799" y="10172"/>
                  </a:lnTo>
                  <a:cubicBezTo>
                    <a:pt x="6954" y="10327"/>
                    <a:pt x="6954" y="10601"/>
                    <a:pt x="6799" y="10744"/>
                  </a:cubicBezTo>
                  <a:cubicBezTo>
                    <a:pt x="6716" y="10827"/>
                    <a:pt x="6606" y="10869"/>
                    <a:pt x="6498" y="10869"/>
                  </a:cubicBezTo>
                  <a:cubicBezTo>
                    <a:pt x="6391" y="10869"/>
                    <a:pt x="6287" y="10827"/>
                    <a:pt x="6216" y="10744"/>
                  </a:cubicBezTo>
                  <a:lnTo>
                    <a:pt x="989" y="5529"/>
                  </a:lnTo>
                  <a:cubicBezTo>
                    <a:pt x="953" y="5487"/>
                    <a:pt x="902" y="5466"/>
                    <a:pt x="850" y="5466"/>
                  </a:cubicBezTo>
                  <a:cubicBezTo>
                    <a:pt x="798" y="5466"/>
                    <a:pt x="745" y="5487"/>
                    <a:pt x="703" y="5529"/>
                  </a:cubicBezTo>
                  <a:cubicBezTo>
                    <a:pt x="632" y="5600"/>
                    <a:pt x="632" y="5731"/>
                    <a:pt x="703" y="5802"/>
                  </a:cubicBezTo>
                  <a:lnTo>
                    <a:pt x="2977" y="8088"/>
                  </a:lnTo>
                  <a:lnTo>
                    <a:pt x="2441" y="8624"/>
                  </a:lnTo>
                  <a:cubicBezTo>
                    <a:pt x="2319" y="8551"/>
                    <a:pt x="2182" y="8513"/>
                    <a:pt x="2046" y="8513"/>
                  </a:cubicBezTo>
                  <a:cubicBezTo>
                    <a:pt x="1852" y="8513"/>
                    <a:pt x="1660" y="8589"/>
                    <a:pt x="1513" y="8743"/>
                  </a:cubicBezTo>
                  <a:cubicBezTo>
                    <a:pt x="1215" y="9041"/>
                    <a:pt x="1215" y="9541"/>
                    <a:pt x="1513" y="9839"/>
                  </a:cubicBezTo>
                  <a:cubicBezTo>
                    <a:pt x="1661" y="9987"/>
                    <a:pt x="1861" y="10062"/>
                    <a:pt x="2060" y="10062"/>
                  </a:cubicBezTo>
                  <a:cubicBezTo>
                    <a:pt x="2260" y="10062"/>
                    <a:pt x="2459" y="9987"/>
                    <a:pt x="2608" y="9839"/>
                  </a:cubicBezTo>
                  <a:cubicBezTo>
                    <a:pt x="2870" y="9589"/>
                    <a:pt x="2906" y="9196"/>
                    <a:pt x="2727" y="8898"/>
                  </a:cubicBezTo>
                  <a:lnTo>
                    <a:pt x="3263" y="8362"/>
                  </a:lnTo>
                  <a:lnTo>
                    <a:pt x="5930" y="11029"/>
                  </a:lnTo>
                  <a:cubicBezTo>
                    <a:pt x="6085" y="11184"/>
                    <a:pt x="6293" y="11261"/>
                    <a:pt x="6501" y="11261"/>
                  </a:cubicBezTo>
                  <a:cubicBezTo>
                    <a:pt x="6710" y="11261"/>
                    <a:pt x="6918" y="11184"/>
                    <a:pt x="7073" y="11029"/>
                  </a:cubicBezTo>
                  <a:cubicBezTo>
                    <a:pt x="7359" y="10696"/>
                    <a:pt x="7359" y="10184"/>
                    <a:pt x="7049" y="9874"/>
                  </a:cubicBezTo>
                  <a:lnTo>
                    <a:pt x="6632" y="9458"/>
                  </a:lnTo>
                  <a:cubicBezTo>
                    <a:pt x="6751" y="8529"/>
                    <a:pt x="7299" y="7136"/>
                    <a:pt x="7906" y="5910"/>
                  </a:cubicBezTo>
                  <a:cubicBezTo>
                    <a:pt x="8168" y="5421"/>
                    <a:pt x="8204" y="4898"/>
                    <a:pt x="8073" y="4433"/>
                  </a:cubicBezTo>
                  <a:lnTo>
                    <a:pt x="11109" y="1397"/>
                  </a:lnTo>
                  <a:cubicBezTo>
                    <a:pt x="11181" y="1314"/>
                    <a:pt x="11169" y="1195"/>
                    <a:pt x="11097" y="1123"/>
                  </a:cubicBezTo>
                  <a:cubicBezTo>
                    <a:pt x="11055" y="1086"/>
                    <a:pt x="11008" y="1070"/>
                    <a:pt x="10963" y="1070"/>
                  </a:cubicBezTo>
                  <a:cubicBezTo>
                    <a:pt x="10906" y="1070"/>
                    <a:pt x="10851" y="1095"/>
                    <a:pt x="10811" y="1135"/>
                  </a:cubicBezTo>
                  <a:cubicBezTo>
                    <a:pt x="10800" y="1147"/>
                    <a:pt x="10990" y="969"/>
                    <a:pt x="7906" y="4040"/>
                  </a:cubicBezTo>
                  <a:cubicBezTo>
                    <a:pt x="7763" y="3778"/>
                    <a:pt x="7537" y="3564"/>
                    <a:pt x="7275" y="3409"/>
                  </a:cubicBezTo>
                  <a:lnTo>
                    <a:pt x="10157" y="528"/>
                  </a:lnTo>
                  <a:cubicBezTo>
                    <a:pt x="10248" y="437"/>
                    <a:pt x="10365" y="393"/>
                    <a:pt x="10480" y="393"/>
                  </a:cubicBezTo>
                  <a:cubicBezTo>
                    <a:pt x="10636" y="393"/>
                    <a:pt x="10789" y="473"/>
                    <a:pt x="10871" y="623"/>
                  </a:cubicBezTo>
                  <a:cubicBezTo>
                    <a:pt x="10912" y="690"/>
                    <a:pt x="10983" y="733"/>
                    <a:pt x="11054" y="733"/>
                  </a:cubicBezTo>
                  <a:cubicBezTo>
                    <a:pt x="11085" y="733"/>
                    <a:pt x="11116" y="725"/>
                    <a:pt x="11145" y="707"/>
                  </a:cubicBezTo>
                  <a:cubicBezTo>
                    <a:pt x="11228" y="647"/>
                    <a:pt x="11276" y="528"/>
                    <a:pt x="11216" y="433"/>
                  </a:cubicBezTo>
                  <a:cubicBezTo>
                    <a:pt x="11058" y="152"/>
                    <a:pt x="10770" y="1"/>
                    <a:pt x="10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0"/>
            <p:cNvSpPr/>
            <p:nvPr/>
          </p:nvSpPr>
          <p:spPr>
            <a:xfrm>
              <a:off x="3510335" y="2959936"/>
              <a:ext cx="176413" cy="43291"/>
            </a:xfrm>
            <a:custGeom>
              <a:avLst/>
              <a:gdLst/>
              <a:ahLst/>
              <a:cxnLst/>
              <a:rect l="l" t="t" r="r" b="b"/>
              <a:pathLst>
                <a:path w="5538" h="1359" extrusionOk="0">
                  <a:moveTo>
                    <a:pt x="3439" y="0"/>
                  </a:moveTo>
                  <a:cubicBezTo>
                    <a:pt x="2239" y="0"/>
                    <a:pt x="999" y="350"/>
                    <a:pt x="96" y="995"/>
                  </a:cubicBezTo>
                  <a:cubicBezTo>
                    <a:pt x="13" y="1054"/>
                    <a:pt x="1" y="1185"/>
                    <a:pt x="60" y="1280"/>
                  </a:cubicBezTo>
                  <a:cubicBezTo>
                    <a:pt x="96" y="1330"/>
                    <a:pt x="156" y="1358"/>
                    <a:pt x="217" y="1358"/>
                  </a:cubicBezTo>
                  <a:cubicBezTo>
                    <a:pt x="259" y="1358"/>
                    <a:pt x="300" y="1345"/>
                    <a:pt x="334" y="1316"/>
                  </a:cubicBezTo>
                  <a:cubicBezTo>
                    <a:pt x="965" y="876"/>
                    <a:pt x="1787" y="578"/>
                    <a:pt x="2656" y="459"/>
                  </a:cubicBezTo>
                  <a:cubicBezTo>
                    <a:pt x="2927" y="424"/>
                    <a:pt x="3196" y="407"/>
                    <a:pt x="3459" y="407"/>
                  </a:cubicBezTo>
                  <a:cubicBezTo>
                    <a:pt x="4099" y="407"/>
                    <a:pt x="4708" y="510"/>
                    <a:pt x="5240" y="721"/>
                  </a:cubicBezTo>
                  <a:cubicBezTo>
                    <a:pt x="5258" y="729"/>
                    <a:pt x="5279" y="733"/>
                    <a:pt x="5300" y="733"/>
                  </a:cubicBezTo>
                  <a:cubicBezTo>
                    <a:pt x="5373" y="733"/>
                    <a:pt x="5453" y="687"/>
                    <a:pt x="5490" y="614"/>
                  </a:cubicBezTo>
                  <a:cubicBezTo>
                    <a:pt x="5537" y="506"/>
                    <a:pt x="5478" y="387"/>
                    <a:pt x="5383" y="352"/>
                  </a:cubicBezTo>
                  <a:cubicBezTo>
                    <a:pt x="4795" y="114"/>
                    <a:pt x="4123" y="0"/>
                    <a:pt x="3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0"/>
            <p:cNvSpPr/>
            <p:nvPr/>
          </p:nvSpPr>
          <p:spPr>
            <a:xfrm>
              <a:off x="3530435" y="2920213"/>
              <a:ext cx="133918" cy="35072"/>
            </a:xfrm>
            <a:custGeom>
              <a:avLst/>
              <a:gdLst/>
              <a:ahLst/>
              <a:cxnLst/>
              <a:rect l="l" t="t" r="r" b="b"/>
              <a:pathLst>
                <a:path w="4204" h="1101" extrusionOk="0">
                  <a:moveTo>
                    <a:pt x="2585" y="0"/>
                  </a:moveTo>
                  <a:cubicBezTo>
                    <a:pt x="1695" y="0"/>
                    <a:pt x="780" y="258"/>
                    <a:pt x="108" y="741"/>
                  </a:cubicBezTo>
                  <a:cubicBezTo>
                    <a:pt x="13" y="801"/>
                    <a:pt x="1" y="932"/>
                    <a:pt x="60" y="1027"/>
                  </a:cubicBezTo>
                  <a:cubicBezTo>
                    <a:pt x="95" y="1076"/>
                    <a:pt x="158" y="1100"/>
                    <a:pt x="221" y="1100"/>
                  </a:cubicBezTo>
                  <a:cubicBezTo>
                    <a:pt x="266" y="1100"/>
                    <a:pt x="311" y="1088"/>
                    <a:pt x="346" y="1063"/>
                  </a:cubicBezTo>
                  <a:cubicBezTo>
                    <a:pt x="955" y="637"/>
                    <a:pt x="1801" y="405"/>
                    <a:pt x="2613" y="405"/>
                  </a:cubicBezTo>
                  <a:cubicBezTo>
                    <a:pt x="3071" y="405"/>
                    <a:pt x="3519" y="479"/>
                    <a:pt x="3906" y="634"/>
                  </a:cubicBezTo>
                  <a:cubicBezTo>
                    <a:pt x="3925" y="642"/>
                    <a:pt x="3945" y="646"/>
                    <a:pt x="3966" y="646"/>
                  </a:cubicBezTo>
                  <a:cubicBezTo>
                    <a:pt x="4039" y="646"/>
                    <a:pt x="4119" y="599"/>
                    <a:pt x="4156" y="515"/>
                  </a:cubicBezTo>
                  <a:cubicBezTo>
                    <a:pt x="4204" y="408"/>
                    <a:pt x="4144" y="289"/>
                    <a:pt x="4049" y="265"/>
                  </a:cubicBezTo>
                  <a:cubicBezTo>
                    <a:pt x="3604" y="86"/>
                    <a:pt x="3099" y="0"/>
                    <a:pt x="2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0"/>
            <p:cNvSpPr/>
            <p:nvPr/>
          </p:nvSpPr>
          <p:spPr>
            <a:xfrm>
              <a:off x="3761416" y="3078787"/>
              <a:ext cx="53134" cy="174916"/>
            </a:xfrm>
            <a:custGeom>
              <a:avLst/>
              <a:gdLst/>
              <a:ahLst/>
              <a:cxnLst/>
              <a:rect l="l" t="t" r="r" b="b"/>
              <a:pathLst>
                <a:path w="1668" h="5491" extrusionOk="0">
                  <a:moveTo>
                    <a:pt x="830" y="1"/>
                  </a:moveTo>
                  <a:cubicBezTo>
                    <a:pt x="807" y="1"/>
                    <a:pt x="784" y="5"/>
                    <a:pt x="763" y="14"/>
                  </a:cubicBezTo>
                  <a:cubicBezTo>
                    <a:pt x="656" y="62"/>
                    <a:pt x="608" y="181"/>
                    <a:pt x="656" y="276"/>
                  </a:cubicBezTo>
                  <a:cubicBezTo>
                    <a:pt x="953" y="1002"/>
                    <a:pt x="1061" y="1919"/>
                    <a:pt x="918" y="2848"/>
                  </a:cubicBezTo>
                  <a:cubicBezTo>
                    <a:pt x="799" y="3717"/>
                    <a:pt x="501" y="4550"/>
                    <a:pt x="60" y="5169"/>
                  </a:cubicBezTo>
                  <a:cubicBezTo>
                    <a:pt x="1" y="5253"/>
                    <a:pt x="13" y="5372"/>
                    <a:pt x="108" y="5443"/>
                  </a:cubicBezTo>
                  <a:cubicBezTo>
                    <a:pt x="136" y="5476"/>
                    <a:pt x="174" y="5491"/>
                    <a:pt x="213" y="5491"/>
                  </a:cubicBezTo>
                  <a:cubicBezTo>
                    <a:pt x="272" y="5491"/>
                    <a:pt x="334" y="5458"/>
                    <a:pt x="370" y="5407"/>
                  </a:cubicBezTo>
                  <a:cubicBezTo>
                    <a:pt x="1370" y="3991"/>
                    <a:pt x="1668" y="1740"/>
                    <a:pt x="1013" y="121"/>
                  </a:cubicBezTo>
                  <a:cubicBezTo>
                    <a:pt x="977" y="41"/>
                    <a:pt x="901" y="1"/>
                    <a:pt x="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0"/>
            <p:cNvSpPr/>
            <p:nvPr/>
          </p:nvSpPr>
          <p:spPr>
            <a:xfrm>
              <a:off x="3809230" y="3100990"/>
              <a:ext cx="42877" cy="132326"/>
            </a:xfrm>
            <a:custGeom>
              <a:avLst/>
              <a:gdLst/>
              <a:ahLst/>
              <a:cxnLst/>
              <a:rect l="l" t="t" r="r" b="b"/>
              <a:pathLst>
                <a:path w="1346" h="4154" extrusionOk="0">
                  <a:moveTo>
                    <a:pt x="674" y="1"/>
                  </a:moveTo>
                  <a:cubicBezTo>
                    <a:pt x="647" y="1"/>
                    <a:pt x="620" y="7"/>
                    <a:pt x="595" y="19"/>
                  </a:cubicBezTo>
                  <a:cubicBezTo>
                    <a:pt x="488" y="67"/>
                    <a:pt x="452" y="186"/>
                    <a:pt x="488" y="269"/>
                  </a:cubicBezTo>
                  <a:cubicBezTo>
                    <a:pt x="929" y="1365"/>
                    <a:pt x="750" y="2877"/>
                    <a:pt x="60" y="3829"/>
                  </a:cubicBezTo>
                  <a:cubicBezTo>
                    <a:pt x="0" y="3925"/>
                    <a:pt x="24" y="4044"/>
                    <a:pt x="107" y="4115"/>
                  </a:cubicBezTo>
                  <a:cubicBezTo>
                    <a:pt x="134" y="4142"/>
                    <a:pt x="170" y="4153"/>
                    <a:pt x="209" y="4153"/>
                  </a:cubicBezTo>
                  <a:cubicBezTo>
                    <a:pt x="273" y="4153"/>
                    <a:pt x="344" y="4120"/>
                    <a:pt x="381" y="4068"/>
                  </a:cubicBezTo>
                  <a:cubicBezTo>
                    <a:pt x="1119" y="3008"/>
                    <a:pt x="1345" y="1341"/>
                    <a:pt x="857" y="127"/>
                  </a:cubicBezTo>
                  <a:cubicBezTo>
                    <a:pt x="822" y="48"/>
                    <a:pt x="748" y="1"/>
                    <a:pt x="6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2A363AB-28EB-5ADC-0AC7-072058187E67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613DD-0BFA-BE9C-0B2D-08CA42B3F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768" y="511462"/>
            <a:ext cx="5124868" cy="4547543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>
          <a:extLst>
            <a:ext uri="{FF2B5EF4-FFF2-40B4-BE49-F238E27FC236}">
              <a16:creationId xmlns:a16="http://schemas.microsoft.com/office/drawing/2014/main" id="{7B9C5598-26F8-C459-2077-F3239917D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0">
            <a:extLst>
              <a:ext uri="{FF2B5EF4-FFF2-40B4-BE49-F238E27FC236}">
                <a16:creationId xmlns:a16="http://schemas.microsoft.com/office/drawing/2014/main" id="{3BDC10E9-C654-B7D9-CF94-BE5B5E69B4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869" y="2327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LITERATURE REVIEW</a:t>
            </a:r>
            <a:endParaRPr lang="en-US" dirty="0"/>
          </a:p>
        </p:txBody>
      </p:sp>
      <p:grpSp>
        <p:nvGrpSpPr>
          <p:cNvPr id="949" name="Google Shape;949;p80">
            <a:extLst>
              <a:ext uri="{FF2B5EF4-FFF2-40B4-BE49-F238E27FC236}">
                <a16:creationId xmlns:a16="http://schemas.microsoft.com/office/drawing/2014/main" id="{27BBB560-75E7-B02F-0F54-D7D38B381DDC}"/>
              </a:ext>
            </a:extLst>
          </p:cNvPr>
          <p:cNvGrpSpPr/>
          <p:nvPr/>
        </p:nvGrpSpPr>
        <p:grpSpPr>
          <a:xfrm>
            <a:off x="1144187" y="3889748"/>
            <a:ext cx="360726" cy="361204"/>
            <a:chOff x="3510335" y="2892499"/>
            <a:chExt cx="360726" cy="361204"/>
          </a:xfrm>
        </p:grpSpPr>
        <p:sp>
          <p:nvSpPr>
            <p:cNvPr id="950" name="Google Shape;950;p80">
              <a:extLst>
                <a:ext uri="{FF2B5EF4-FFF2-40B4-BE49-F238E27FC236}">
                  <a16:creationId xmlns:a16="http://schemas.microsoft.com/office/drawing/2014/main" id="{66B1F792-E889-18F6-E637-895619CDCD88}"/>
                </a:ext>
              </a:extLst>
            </p:cNvPr>
            <p:cNvSpPr/>
            <p:nvPr/>
          </p:nvSpPr>
          <p:spPr>
            <a:xfrm>
              <a:off x="3511864" y="2892499"/>
              <a:ext cx="359197" cy="358751"/>
            </a:xfrm>
            <a:custGeom>
              <a:avLst/>
              <a:gdLst/>
              <a:ahLst/>
              <a:cxnLst/>
              <a:rect l="l" t="t" r="r" b="b"/>
              <a:pathLst>
                <a:path w="11276" h="11262" extrusionOk="0">
                  <a:moveTo>
                    <a:pt x="2035" y="8898"/>
                  </a:moveTo>
                  <a:cubicBezTo>
                    <a:pt x="2132" y="8898"/>
                    <a:pt x="2227" y="8934"/>
                    <a:pt x="2298" y="9005"/>
                  </a:cubicBezTo>
                  <a:cubicBezTo>
                    <a:pt x="2453" y="9160"/>
                    <a:pt x="2453" y="9398"/>
                    <a:pt x="2298" y="9541"/>
                  </a:cubicBezTo>
                  <a:cubicBezTo>
                    <a:pt x="2227" y="9618"/>
                    <a:pt x="2132" y="9657"/>
                    <a:pt x="2035" y="9657"/>
                  </a:cubicBezTo>
                  <a:cubicBezTo>
                    <a:pt x="1938" y="9657"/>
                    <a:pt x="1840" y="9618"/>
                    <a:pt x="1763" y="9541"/>
                  </a:cubicBezTo>
                  <a:cubicBezTo>
                    <a:pt x="1620" y="9398"/>
                    <a:pt x="1620" y="9160"/>
                    <a:pt x="1763" y="9005"/>
                  </a:cubicBezTo>
                  <a:cubicBezTo>
                    <a:pt x="1840" y="8934"/>
                    <a:pt x="1938" y="8898"/>
                    <a:pt x="2035" y="8898"/>
                  </a:cubicBezTo>
                  <a:close/>
                  <a:moveTo>
                    <a:pt x="10477" y="1"/>
                  </a:moveTo>
                  <a:cubicBezTo>
                    <a:pt x="10261" y="1"/>
                    <a:pt x="10042" y="82"/>
                    <a:pt x="9871" y="254"/>
                  </a:cubicBezTo>
                  <a:lnTo>
                    <a:pt x="6882" y="3243"/>
                  </a:lnTo>
                  <a:cubicBezTo>
                    <a:pt x="6716" y="3196"/>
                    <a:pt x="6544" y="3172"/>
                    <a:pt x="6368" y="3172"/>
                  </a:cubicBezTo>
                  <a:cubicBezTo>
                    <a:pt x="6053" y="3172"/>
                    <a:pt x="5727" y="3249"/>
                    <a:pt x="5406" y="3409"/>
                  </a:cubicBezTo>
                  <a:cubicBezTo>
                    <a:pt x="5204" y="3516"/>
                    <a:pt x="4668" y="3766"/>
                    <a:pt x="4013" y="4040"/>
                  </a:cubicBezTo>
                  <a:cubicBezTo>
                    <a:pt x="3906" y="4076"/>
                    <a:pt x="3858" y="4195"/>
                    <a:pt x="3906" y="4290"/>
                  </a:cubicBezTo>
                  <a:cubicBezTo>
                    <a:pt x="3942" y="4371"/>
                    <a:pt x="4017" y="4411"/>
                    <a:pt x="4088" y="4411"/>
                  </a:cubicBezTo>
                  <a:cubicBezTo>
                    <a:pt x="4112" y="4411"/>
                    <a:pt x="4135" y="4406"/>
                    <a:pt x="4156" y="4398"/>
                  </a:cubicBezTo>
                  <a:cubicBezTo>
                    <a:pt x="4834" y="4124"/>
                    <a:pt x="5382" y="3862"/>
                    <a:pt x="5585" y="3755"/>
                  </a:cubicBezTo>
                  <a:cubicBezTo>
                    <a:pt x="5849" y="3621"/>
                    <a:pt x="6112" y="3561"/>
                    <a:pt x="6358" y="3561"/>
                  </a:cubicBezTo>
                  <a:cubicBezTo>
                    <a:pt x="7385" y="3561"/>
                    <a:pt x="8130" y="4607"/>
                    <a:pt x="7573" y="5731"/>
                  </a:cubicBezTo>
                  <a:cubicBezTo>
                    <a:pt x="7418" y="6029"/>
                    <a:pt x="6930" y="7053"/>
                    <a:pt x="6573" y="8100"/>
                  </a:cubicBezTo>
                  <a:cubicBezTo>
                    <a:pt x="6454" y="8469"/>
                    <a:pt x="6358" y="8803"/>
                    <a:pt x="6299" y="9100"/>
                  </a:cubicBezTo>
                  <a:lnTo>
                    <a:pt x="2227" y="5017"/>
                  </a:lnTo>
                  <a:cubicBezTo>
                    <a:pt x="2572" y="4945"/>
                    <a:pt x="2965" y="4838"/>
                    <a:pt x="3418" y="4671"/>
                  </a:cubicBezTo>
                  <a:cubicBezTo>
                    <a:pt x="3525" y="4648"/>
                    <a:pt x="3584" y="4528"/>
                    <a:pt x="3537" y="4421"/>
                  </a:cubicBezTo>
                  <a:cubicBezTo>
                    <a:pt x="3509" y="4340"/>
                    <a:pt x="3434" y="4286"/>
                    <a:pt x="3352" y="4286"/>
                  </a:cubicBezTo>
                  <a:cubicBezTo>
                    <a:pt x="3326" y="4286"/>
                    <a:pt x="3300" y="4291"/>
                    <a:pt x="3275" y="4302"/>
                  </a:cubicBezTo>
                  <a:cubicBezTo>
                    <a:pt x="2656" y="4517"/>
                    <a:pt x="2203" y="4636"/>
                    <a:pt x="1870" y="4671"/>
                  </a:cubicBezTo>
                  <a:lnTo>
                    <a:pt x="1453" y="4255"/>
                  </a:lnTo>
                  <a:cubicBezTo>
                    <a:pt x="1298" y="4100"/>
                    <a:pt x="1090" y="4022"/>
                    <a:pt x="880" y="4022"/>
                  </a:cubicBezTo>
                  <a:cubicBezTo>
                    <a:pt x="670" y="4022"/>
                    <a:pt x="459" y="4100"/>
                    <a:pt x="298" y="4255"/>
                  </a:cubicBezTo>
                  <a:cubicBezTo>
                    <a:pt x="84" y="4481"/>
                    <a:pt x="1" y="4826"/>
                    <a:pt x="120" y="5136"/>
                  </a:cubicBezTo>
                  <a:cubicBezTo>
                    <a:pt x="157" y="5219"/>
                    <a:pt x="230" y="5266"/>
                    <a:pt x="311" y="5266"/>
                  </a:cubicBezTo>
                  <a:cubicBezTo>
                    <a:pt x="334" y="5266"/>
                    <a:pt x="358" y="5263"/>
                    <a:pt x="382" y="5255"/>
                  </a:cubicBezTo>
                  <a:cubicBezTo>
                    <a:pt x="489" y="5207"/>
                    <a:pt x="524" y="5112"/>
                    <a:pt x="501" y="5005"/>
                  </a:cubicBezTo>
                  <a:cubicBezTo>
                    <a:pt x="379" y="4700"/>
                    <a:pt x="626" y="4433"/>
                    <a:pt x="894" y="4433"/>
                  </a:cubicBezTo>
                  <a:cubicBezTo>
                    <a:pt x="992" y="4433"/>
                    <a:pt x="1093" y="4469"/>
                    <a:pt x="1179" y="4552"/>
                  </a:cubicBezTo>
                  <a:lnTo>
                    <a:pt x="6799" y="10172"/>
                  </a:lnTo>
                  <a:cubicBezTo>
                    <a:pt x="6954" y="10327"/>
                    <a:pt x="6954" y="10601"/>
                    <a:pt x="6799" y="10744"/>
                  </a:cubicBezTo>
                  <a:cubicBezTo>
                    <a:pt x="6716" y="10827"/>
                    <a:pt x="6606" y="10869"/>
                    <a:pt x="6498" y="10869"/>
                  </a:cubicBezTo>
                  <a:cubicBezTo>
                    <a:pt x="6391" y="10869"/>
                    <a:pt x="6287" y="10827"/>
                    <a:pt x="6216" y="10744"/>
                  </a:cubicBezTo>
                  <a:lnTo>
                    <a:pt x="989" y="5529"/>
                  </a:lnTo>
                  <a:cubicBezTo>
                    <a:pt x="953" y="5487"/>
                    <a:pt x="902" y="5466"/>
                    <a:pt x="850" y="5466"/>
                  </a:cubicBezTo>
                  <a:cubicBezTo>
                    <a:pt x="798" y="5466"/>
                    <a:pt x="745" y="5487"/>
                    <a:pt x="703" y="5529"/>
                  </a:cubicBezTo>
                  <a:cubicBezTo>
                    <a:pt x="632" y="5600"/>
                    <a:pt x="632" y="5731"/>
                    <a:pt x="703" y="5802"/>
                  </a:cubicBezTo>
                  <a:lnTo>
                    <a:pt x="2977" y="8088"/>
                  </a:lnTo>
                  <a:lnTo>
                    <a:pt x="2441" y="8624"/>
                  </a:lnTo>
                  <a:cubicBezTo>
                    <a:pt x="2319" y="8551"/>
                    <a:pt x="2182" y="8513"/>
                    <a:pt x="2046" y="8513"/>
                  </a:cubicBezTo>
                  <a:cubicBezTo>
                    <a:pt x="1852" y="8513"/>
                    <a:pt x="1660" y="8589"/>
                    <a:pt x="1513" y="8743"/>
                  </a:cubicBezTo>
                  <a:cubicBezTo>
                    <a:pt x="1215" y="9041"/>
                    <a:pt x="1215" y="9541"/>
                    <a:pt x="1513" y="9839"/>
                  </a:cubicBezTo>
                  <a:cubicBezTo>
                    <a:pt x="1661" y="9987"/>
                    <a:pt x="1861" y="10062"/>
                    <a:pt x="2060" y="10062"/>
                  </a:cubicBezTo>
                  <a:cubicBezTo>
                    <a:pt x="2260" y="10062"/>
                    <a:pt x="2459" y="9987"/>
                    <a:pt x="2608" y="9839"/>
                  </a:cubicBezTo>
                  <a:cubicBezTo>
                    <a:pt x="2870" y="9589"/>
                    <a:pt x="2906" y="9196"/>
                    <a:pt x="2727" y="8898"/>
                  </a:cubicBezTo>
                  <a:lnTo>
                    <a:pt x="3263" y="8362"/>
                  </a:lnTo>
                  <a:lnTo>
                    <a:pt x="5930" y="11029"/>
                  </a:lnTo>
                  <a:cubicBezTo>
                    <a:pt x="6085" y="11184"/>
                    <a:pt x="6293" y="11261"/>
                    <a:pt x="6501" y="11261"/>
                  </a:cubicBezTo>
                  <a:cubicBezTo>
                    <a:pt x="6710" y="11261"/>
                    <a:pt x="6918" y="11184"/>
                    <a:pt x="7073" y="11029"/>
                  </a:cubicBezTo>
                  <a:cubicBezTo>
                    <a:pt x="7359" y="10696"/>
                    <a:pt x="7359" y="10184"/>
                    <a:pt x="7049" y="9874"/>
                  </a:cubicBezTo>
                  <a:lnTo>
                    <a:pt x="6632" y="9458"/>
                  </a:lnTo>
                  <a:cubicBezTo>
                    <a:pt x="6751" y="8529"/>
                    <a:pt x="7299" y="7136"/>
                    <a:pt x="7906" y="5910"/>
                  </a:cubicBezTo>
                  <a:cubicBezTo>
                    <a:pt x="8168" y="5421"/>
                    <a:pt x="8204" y="4898"/>
                    <a:pt x="8073" y="4433"/>
                  </a:cubicBezTo>
                  <a:lnTo>
                    <a:pt x="11109" y="1397"/>
                  </a:lnTo>
                  <a:cubicBezTo>
                    <a:pt x="11181" y="1314"/>
                    <a:pt x="11169" y="1195"/>
                    <a:pt x="11097" y="1123"/>
                  </a:cubicBezTo>
                  <a:cubicBezTo>
                    <a:pt x="11055" y="1086"/>
                    <a:pt x="11008" y="1070"/>
                    <a:pt x="10963" y="1070"/>
                  </a:cubicBezTo>
                  <a:cubicBezTo>
                    <a:pt x="10906" y="1070"/>
                    <a:pt x="10851" y="1095"/>
                    <a:pt x="10811" y="1135"/>
                  </a:cubicBezTo>
                  <a:cubicBezTo>
                    <a:pt x="10800" y="1147"/>
                    <a:pt x="10990" y="969"/>
                    <a:pt x="7906" y="4040"/>
                  </a:cubicBezTo>
                  <a:cubicBezTo>
                    <a:pt x="7763" y="3778"/>
                    <a:pt x="7537" y="3564"/>
                    <a:pt x="7275" y="3409"/>
                  </a:cubicBezTo>
                  <a:lnTo>
                    <a:pt x="10157" y="528"/>
                  </a:lnTo>
                  <a:cubicBezTo>
                    <a:pt x="10248" y="437"/>
                    <a:pt x="10365" y="393"/>
                    <a:pt x="10480" y="393"/>
                  </a:cubicBezTo>
                  <a:cubicBezTo>
                    <a:pt x="10636" y="393"/>
                    <a:pt x="10789" y="473"/>
                    <a:pt x="10871" y="623"/>
                  </a:cubicBezTo>
                  <a:cubicBezTo>
                    <a:pt x="10912" y="690"/>
                    <a:pt x="10983" y="733"/>
                    <a:pt x="11054" y="733"/>
                  </a:cubicBezTo>
                  <a:cubicBezTo>
                    <a:pt x="11085" y="733"/>
                    <a:pt x="11116" y="725"/>
                    <a:pt x="11145" y="707"/>
                  </a:cubicBezTo>
                  <a:cubicBezTo>
                    <a:pt x="11228" y="647"/>
                    <a:pt x="11276" y="528"/>
                    <a:pt x="11216" y="433"/>
                  </a:cubicBezTo>
                  <a:cubicBezTo>
                    <a:pt x="11058" y="152"/>
                    <a:pt x="10770" y="1"/>
                    <a:pt x="10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0">
              <a:extLst>
                <a:ext uri="{FF2B5EF4-FFF2-40B4-BE49-F238E27FC236}">
                  <a16:creationId xmlns:a16="http://schemas.microsoft.com/office/drawing/2014/main" id="{5B0BEA37-17DC-0EB2-FA8C-ED9A8BDFB98A}"/>
                </a:ext>
              </a:extLst>
            </p:cNvPr>
            <p:cNvSpPr/>
            <p:nvPr/>
          </p:nvSpPr>
          <p:spPr>
            <a:xfrm>
              <a:off x="3510335" y="2959936"/>
              <a:ext cx="176413" cy="43291"/>
            </a:xfrm>
            <a:custGeom>
              <a:avLst/>
              <a:gdLst/>
              <a:ahLst/>
              <a:cxnLst/>
              <a:rect l="l" t="t" r="r" b="b"/>
              <a:pathLst>
                <a:path w="5538" h="1359" extrusionOk="0">
                  <a:moveTo>
                    <a:pt x="3439" y="0"/>
                  </a:moveTo>
                  <a:cubicBezTo>
                    <a:pt x="2239" y="0"/>
                    <a:pt x="999" y="350"/>
                    <a:pt x="96" y="995"/>
                  </a:cubicBezTo>
                  <a:cubicBezTo>
                    <a:pt x="13" y="1054"/>
                    <a:pt x="1" y="1185"/>
                    <a:pt x="60" y="1280"/>
                  </a:cubicBezTo>
                  <a:cubicBezTo>
                    <a:pt x="96" y="1330"/>
                    <a:pt x="156" y="1358"/>
                    <a:pt x="217" y="1358"/>
                  </a:cubicBezTo>
                  <a:cubicBezTo>
                    <a:pt x="259" y="1358"/>
                    <a:pt x="300" y="1345"/>
                    <a:pt x="334" y="1316"/>
                  </a:cubicBezTo>
                  <a:cubicBezTo>
                    <a:pt x="965" y="876"/>
                    <a:pt x="1787" y="578"/>
                    <a:pt x="2656" y="459"/>
                  </a:cubicBezTo>
                  <a:cubicBezTo>
                    <a:pt x="2927" y="424"/>
                    <a:pt x="3196" y="407"/>
                    <a:pt x="3459" y="407"/>
                  </a:cubicBezTo>
                  <a:cubicBezTo>
                    <a:pt x="4099" y="407"/>
                    <a:pt x="4708" y="510"/>
                    <a:pt x="5240" y="721"/>
                  </a:cubicBezTo>
                  <a:cubicBezTo>
                    <a:pt x="5258" y="729"/>
                    <a:pt x="5279" y="733"/>
                    <a:pt x="5300" y="733"/>
                  </a:cubicBezTo>
                  <a:cubicBezTo>
                    <a:pt x="5373" y="733"/>
                    <a:pt x="5453" y="687"/>
                    <a:pt x="5490" y="614"/>
                  </a:cubicBezTo>
                  <a:cubicBezTo>
                    <a:pt x="5537" y="506"/>
                    <a:pt x="5478" y="387"/>
                    <a:pt x="5383" y="352"/>
                  </a:cubicBezTo>
                  <a:cubicBezTo>
                    <a:pt x="4795" y="114"/>
                    <a:pt x="4123" y="0"/>
                    <a:pt x="3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0">
              <a:extLst>
                <a:ext uri="{FF2B5EF4-FFF2-40B4-BE49-F238E27FC236}">
                  <a16:creationId xmlns:a16="http://schemas.microsoft.com/office/drawing/2014/main" id="{44ABC34D-D679-3600-F644-817905D76E55}"/>
                </a:ext>
              </a:extLst>
            </p:cNvPr>
            <p:cNvSpPr/>
            <p:nvPr/>
          </p:nvSpPr>
          <p:spPr>
            <a:xfrm>
              <a:off x="3530435" y="2920213"/>
              <a:ext cx="133918" cy="35072"/>
            </a:xfrm>
            <a:custGeom>
              <a:avLst/>
              <a:gdLst/>
              <a:ahLst/>
              <a:cxnLst/>
              <a:rect l="l" t="t" r="r" b="b"/>
              <a:pathLst>
                <a:path w="4204" h="1101" extrusionOk="0">
                  <a:moveTo>
                    <a:pt x="2585" y="0"/>
                  </a:moveTo>
                  <a:cubicBezTo>
                    <a:pt x="1695" y="0"/>
                    <a:pt x="780" y="258"/>
                    <a:pt x="108" y="741"/>
                  </a:cubicBezTo>
                  <a:cubicBezTo>
                    <a:pt x="13" y="801"/>
                    <a:pt x="1" y="932"/>
                    <a:pt x="60" y="1027"/>
                  </a:cubicBezTo>
                  <a:cubicBezTo>
                    <a:pt x="95" y="1076"/>
                    <a:pt x="158" y="1100"/>
                    <a:pt x="221" y="1100"/>
                  </a:cubicBezTo>
                  <a:cubicBezTo>
                    <a:pt x="266" y="1100"/>
                    <a:pt x="311" y="1088"/>
                    <a:pt x="346" y="1063"/>
                  </a:cubicBezTo>
                  <a:cubicBezTo>
                    <a:pt x="955" y="637"/>
                    <a:pt x="1801" y="405"/>
                    <a:pt x="2613" y="405"/>
                  </a:cubicBezTo>
                  <a:cubicBezTo>
                    <a:pt x="3071" y="405"/>
                    <a:pt x="3519" y="479"/>
                    <a:pt x="3906" y="634"/>
                  </a:cubicBezTo>
                  <a:cubicBezTo>
                    <a:pt x="3925" y="642"/>
                    <a:pt x="3945" y="646"/>
                    <a:pt x="3966" y="646"/>
                  </a:cubicBezTo>
                  <a:cubicBezTo>
                    <a:pt x="4039" y="646"/>
                    <a:pt x="4119" y="599"/>
                    <a:pt x="4156" y="515"/>
                  </a:cubicBezTo>
                  <a:cubicBezTo>
                    <a:pt x="4204" y="408"/>
                    <a:pt x="4144" y="289"/>
                    <a:pt x="4049" y="265"/>
                  </a:cubicBezTo>
                  <a:cubicBezTo>
                    <a:pt x="3604" y="86"/>
                    <a:pt x="3099" y="0"/>
                    <a:pt x="2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0">
              <a:extLst>
                <a:ext uri="{FF2B5EF4-FFF2-40B4-BE49-F238E27FC236}">
                  <a16:creationId xmlns:a16="http://schemas.microsoft.com/office/drawing/2014/main" id="{3C986D49-6728-FD8B-9495-6A04FE0BD585}"/>
                </a:ext>
              </a:extLst>
            </p:cNvPr>
            <p:cNvSpPr/>
            <p:nvPr/>
          </p:nvSpPr>
          <p:spPr>
            <a:xfrm>
              <a:off x="3761416" y="3078787"/>
              <a:ext cx="53134" cy="174916"/>
            </a:xfrm>
            <a:custGeom>
              <a:avLst/>
              <a:gdLst/>
              <a:ahLst/>
              <a:cxnLst/>
              <a:rect l="l" t="t" r="r" b="b"/>
              <a:pathLst>
                <a:path w="1668" h="5491" extrusionOk="0">
                  <a:moveTo>
                    <a:pt x="830" y="1"/>
                  </a:moveTo>
                  <a:cubicBezTo>
                    <a:pt x="807" y="1"/>
                    <a:pt x="784" y="5"/>
                    <a:pt x="763" y="14"/>
                  </a:cubicBezTo>
                  <a:cubicBezTo>
                    <a:pt x="656" y="62"/>
                    <a:pt x="608" y="181"/>
                    <a:pt x="656" y="276"/>
                  </a:cubicBezTo>
                  <a:cubicBezTo>
                    <a:pt x="953" y="1002"/>
                    <a:pt x="1061" y="1919"/>
                    <a:pt x="918" y="2848"/>
                  </a:cubicBezTo>
                  <a:cubicBezTo>
                    <a:pt x="799" y="3717"/>
                    <a:pt x="501" y="4550"/>
                    <a:pt x="60" y="5169"/>
                  </a:cubicBezTo>
                  <a:cubicBezTo>
                    <a:pt x="1" y="5253"/>
                    <a:pt x="13" y="5372"/>
                    <a:pt x="108" y="5443"/>
                  </a:cubicBezTo>
                  <a:cubicBezTo>
                    <a:pt x="136" y="5476"/>
                    <a:pt x="174" y="5491"/>
                    <a:pt x="213" y="5491"/>
                  </a:cubicBezTo>
                  <a:cubicBezTo>
                    <a:pt x="272" y="5491"/>
                    <a:pt x="334" y="5458"/>
                    <a:pt x="370" y="5407"/>
                  </a:cubicBezTo>
                  <a:cubicBezTo>
                    <a:pt x="1370" y="3991"/>
                    <a:pt x="1668" y="1740"/>
                    <a:pt x="1013" y="121"/>
                  </a:cubicBezTo>
                  <a:cubicBezTo>
                    <a:pt x="977" y="41"/>
                    <a:pt x="901" y="1"/>
                    <a:pt x="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0">
              <a:extLst>
                <a:ext uri="{FF2B5EF4-FFF2-40B4-BE49-F238E27FC236}">
                  <a16:creationId xmlns:a16="http://schemas.microsoft.com/office/drawing/2014/main" id="{4951C076-E574-EEC1-82D7-389A54C21A40}"/>
                </a:ext>
              </a:extLst>
            </p:cNvPr>
            <p:cNvSpPr/>
            <p:nvPr/>
          </p:nvSpPr>
          <p:spPr>
            <a:xfrm>
              <a:off x="3809230" y="3100990"/>
              <a:ext cx="42877" cy="132326"/>
            </a:xfrm>
            <a:custGeom>
              <a:avLst/>
              <a:gdLst/>
              <a:ahLst/>
              <a:cxnLst/>
              <a:rect l="l" t="t" r="r" b="b"/>
              <a:pathLst>
                <a:path w="1346" h="4154" extrusionOk="0">
                  <a:moveTo>
                    <a:pt x="674" y="1"/>
                  </a:moveTo>
                  <a:cubicBezTo>
                    <a:pt x="647" y="1"/>
                    <a:pt x="620" y="7"/>
                    <a:pt x="595" y="19"/>
                  </a:cubicBezTo>
                  <a:cubicBezTo>
                    <a:pt x="488" y="67"/>
                    <a:pt x="452" y="186"/>
                    <a:pt x="488" y="269"/>
                  </a:cubicBezTo>
                  <a:cubicBezTo>
                    <a:pt x="929" y="1365"/>
                    <a:pt x="750" y="2877"/>
                    <a:pt x="60" y="3829"/>
                  </a:cubicBezTo>
                  <a:cubicBezTo>
                    <a:pt x="0" y="3925"/>
                    <a:pt x="24" y="4044"/>
                    <a:pt x="107" y="4115"/>
                  </a:cubicBezTo>
                  <a:cubicBezTo>
                    <a:pt x="134" y="4142"/>
                    <a:pt x="170" y="4153"/>
                    <a:pt x="209" y="4153"/>
                  </a:cubicBezTo>
                  <a:cubicBezTo>
                    <a:pt x="273" y="4153"/>
                    <a:pt x="344" y="4120"/>
                    <a:pt x="381" y="4068"/>
                  </a:cubicBezTo>
                  <a:cubicBezTo>
                    <a:pt x="1119" y="3008"/>
                    <a:pt x="1345" y="1341"/>
                    <a:pt x="857" y="127"/>
                  </a:cubicBezTo>
                  <a:cubicBezTo>
                    <a:pt x="822" y="48"/>
                    <a:pt x="748" y="1"/>
                    <a:pt x="6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2606C12-86CA-9625-D62E-53AFA61076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0684701"/>
                  </p:ext>
                </p:extLst>
              </p:nvPr>
            </p:nvGraphicFramePr>
            <p:xfrm>
              <a:off x="220614" y="750405"/>
              <a:ext cx="8583504" cy="4025138"/>
            </p:xfrm>
            <a:graphic>
              <a:graphicData uri="http://schemas.openxmlformats.org/drawingml/2006/table">
                <a:tbl>
                  <a:tblPr firstRow="1" bandRow="1">
                    <a:tableStyleId>{2DC18286-B338-40E4-A1DF-69A9D49425DA}</a:tableStyleId>
                  </a:tblPr>
                  <a:tblGrid>
                    <a:gridCol w="2145876">
                      <a:extLst>
                        <a:ext uri="{9D8B030D-6E8A-4147-A177-3AD203B41FA5}">
                          <a16:colId xmlns:a16="http://schemas.microsoft.com/office/drawing/2014/main" val="1219548987"/>
                        </a:ext>
                      </a:extLst>
                    </a:gridCol>
                    <a:gridCol w="802551">
                      <a:extLst>
                        <a:ext uri="{9D8B030D-6E8A-4147-A177-3AD203B41FA5}">
                          <a16:colId xmlns:a16="http://schemas.microsoft.com/office/drawing/2014/main" val="1668607842"/>
                        </a:ext>
                      </a:extLst>
                    </a:gridCol>
                    <a:gridCol w="3213236">
                      <a:extLst>
                        <a:ext uri="{9D8B030D-6E8A-4147-A177-3AD203B41FA5}">
                          <a16:colId xmlns:a16="http://schemas.microsoft.com/office/drawing/2014/main" val="1714645405"/>
                        </a:ext>
                      </a:extLst>
                    </a:gridCol>
                    <a:gridCol w="2421841">
                      <a:extLst>
                        <a:ext uri="{9D8B030D-6E8A-4147-A177-3AD203B41FA5}">
                          <a16:colId xmlns:a16="http://schemas.microsoft.com/office/drawing/2014/main" val="3472251515"/>
                        </a:ext>
                      </a:extLst>
                    </a:gridCol>
                  </a:tblGrid>
                  <a:tr h="45446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Researcher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Drawback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220717"/>
                      </a:ext>
                    </a:extLst>
                  </a:tr>
                  <a:tr h="681333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Arvind Kumar, Manoj Kumar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         2017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Proposed a </a:t>
                          </a:r>
                          <a:r>
                            <a:rPr lang="en-US" sz="1100" b="1" dirty="0"/>
                            <a:t>1-bit CMOS comparator using transistor stacking</a:t>
                          </a:r>
                          <a:r>
                            <a:rPr lang="en-US" sz="1100" dirty="0"/>
                            <a:t> across its XNOR and AND gates to reduce active-mode leakage power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Marginally higher propagation delay (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0" u="none" strike="noStrike" cap="none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49.38</m:t>
                              </m:r>
                              <m:r>
                                <m:rPr>
                                  <m:nor/>
                                </m:rPr>
                                <a:rPr lang="en-US" sz="1100" b="0" i="0" u="none" strike="noStrike" cap="none">
                                  <a:solidFill>
                                    <a:srgbClr val="000000"/>
                                  </a:solidFill>
                                  <a:latin typeface="Arial" panose="020B0604020202090204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 ns</m:t>
                              </m:r>
                            </m:oMath>
                          </a14:m>
                          <a:r>
                            <a:rPr lang="en-US" sz="1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) and increased transistor count due to splitting transistors into series pairs.</a:t>
                          </a:r>
                          <a:r>
                            <a:rPr lang="en-US" sz="11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3024372"/>
                      </a:ext>
                    </a:extLst>
                  </a:tr>
                  <a:tr h="681333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Dheeraj Tailor, Tavesh Sharma, Manoj </a:t>
                          </a:r>
                          <a:r>
                            <a:rPr lang="en-US" sz="1100" dirty="0" err="1"/>
                            <a:t>Mumar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2019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Designed a </a:t>
                          </a:r>
                          <a:r>
                            <a:rPr lang="en-US" sz="1100" b="1" dirty="0"/>
                            <a:t>1-bit CMOS comparator utilizing MTCMOS (for NOR gates) and Forced Stacking (for inverters)</a:t>
                          </a:r>
                          <a:r>
                            <a:rPr lang="en-US" sz="1100" dirty="0"/>
                            <a:t> to minimize subthreshold leakage and active power.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MTCMOS is a </a:t>
                          </a:r>
                          <a:r>
                            <a:rPr lang="en-US" sz="1100" b="1" dirty="0"/>
                            <a:t>state-destructive technique</a:t>
                          </a:r>
                          <a:r>
                            <a:rPr lang="en-US" sz="1100" dirty="0"/>
                            <a:t> (outputs from active mode are lost in standby mode); requires additional sleep control signal routing.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535343"/>
                      </a:ext>
                    </a:extLst>
                  </a:tr>
                  <a:tr h="68133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Samiha Lubaba, K. M. Faisal , Moumita Sadia Islam, Mehedi Hasan</a:t>
                          </a:r>
                          <a:r>
                            <a:rPr lang="en-US" sz="1100" b="1" dirty="0"/>
                            <a:t>.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2020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Developed a </a:t>
                          </a:r>
                          <a:r>
                            <a:rPr lang="en-US" sz="1100" b="1" dirty="0"/>
                            <a:t>2-bit hybrid magnitude comparator</a:t>
                          </a:r>
                          <a:r>
                            <a:rPr lang="en-US" sz="1100" dirty="0"/>
                            <a:t> using PTL/TGL-based XNOR gates for low-latency internal signal generation combined with C-CMOS output logic for high driving power and full swing.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Requires a total of </a:t>
                          </a:r>
                          <a:r>
                            <a:rPr lang="en-US" sz="1100" b="1" dirty="0"/>
                            <a:t>46 transistors</a:t>
                          </a:r>
                          <a:r>
                            <a:rPr lang="en-US" sz="1100" dirty="0"/>
                            <a:t>; average power dissipation (7.792 µW) remains slightly higher than pure GDI-based architectures.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2209286"/>
                      </a:ext>
                    </a:extLst>
                  </a:tr>
                  <a:tr h="846915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Yashmit Sharma, </a:t>
                          </a:r>
                          <a:r>
                            <a:rPr lang="en-US" sz="1100" dirty="0" err="1"/>
                            <a:t>Premananda</a:t>
                          </a:r>
                          <a:r>
                            <a:rPr lang="en-US" sz="1100" dirty="0"/>
                            <a:t> B.S, Divyanshu Ra, Kshitij Pandey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2025</a:t>
                          </a:r>
                        </a:p>
                        <a:p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Created a </a:t>
                          </a:r>
                          <a:r>
                            <a:rPr lang="en-US" sz="1100" b="1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1-bit hybrid comparator combining a 6T-MUX PTL Full Adder with TGL output gates</a:t>
                          </a:r>
                          <a:r>
                            <a:rPr lang="en-US" sz="1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, achieving a 22-transistor footprint and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0" u="none" strike="noStrike" cap="none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58.7</m:t>
                              </m:r>
                              <m:r>
                                <a:rPr lang="en-US" sz="11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%</m:t>
                              </m:r>
                            </m:oMath>
                          </a14:m>
                          <a:r>
                            <a:rPr lang="en-US" sz="1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power reduction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Pass-transistor pathways can exhibit threshold voltage drop unless carefully sized/driven; requires inverted input signals (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1100" b="0" i="1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 panose="020B0604020202090204"/>
                                      <a:cs typeface="Arial" panose="020B0604020202090204"/>
                                      <a:sym typeface="Arial" panose="020B0604020202090204"/>
                                    </a:rPr>
                                  </m:ctrlPr>
                                </m:barPr>
                                <m:e>
                                  <m:r>
                                    <a:rPr lang="en-US" sz="1100" b="0" i="1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 panose="020B0604020202090204"/>
                                      <a:cs typeface="Arial" panose="020B0604020202090204"/>
                                      <a:sym typeface="Arial" panose="020B0604020202090204"/>
                                    </a:rPr>
                                    <m:t>𝐴</m:t>
                                  </m:r>
                                </m:e>
                              </m:bar>
                              <m:r>
                                <a:rPr lang="en-US" sz="11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,</m:t>
                              </m:r>
                              <m:bar>
                                <m:barPr>
                                  <m:pos m:val="top"/>
                                  <m:ctrlPr>
                                    <a:rPr lang="en-US" sz="1100" b="0" i="1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 panose="020B0604020202090204"/>
                                      <a:cs typeface="Arial" panose="020B0604020202090204"/>
                                      <a:sym typeface="Arial" panose="020B0604020202090204"/>
                                    </a:rPr>
                                  </m:ctrlPr>
                                </m:barPr>
                                <m:e>
                                  <m:r>
                                    <a:rPr lang="en-US" sz="1100" b="0" i="1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 panose="020B0604020202090204"/>
                                      <a:cs typeface="Arial" panose="020B0604020202090204"/>
                                      <a:sym typeface="Arial" panose="020B0604020202090204"/>
                                    </a:rPr>
                                    <m:t>𝐵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).</a:t>
                          </a:r>
                          <a:r>
                            <a:rPr lang="en-US" sz="11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2457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2606C12-86CA-9625-D62E-53AFA61076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0684701"/>
                  </p:ext>
                </p:extLst>
              </p:nvPr>
            </p:nvGraphicFramePr>
            <p:xfrm>
              <a:off x="220614" y="750405"/>
              <a:ext cx="8583504" cy="4025138"/>
            </p:xfrm>
            <a:graphic>
              <a:graphicData uri="http://schemas.openxmlformats.org/drawingml/2006/table">
                <a:tbl>
                  <a:tblPr firstRow="1" bandRow="1">
                    <a:tableStyleId>{2DC18286-B338-40E4-A1DF-69A9D49425DA}</a:tableStyleId>
                  </a:tblPr>
                  <a:tblGrid>
                    <a:gridCol w="2145876">
                      <a:extLst>
                        <a:ext uri="{9D8B030D-6E8A-4147-A177-3AD203B41FA5}">
                          <a16:colId xmlns:a16="http://schemas.microsoft.com/office/drawing/2014/main" val="1219548987"/>
                        </a:ext>
                      </a:extLst>
                    </a:gridCol>
                    <a:gridCol w="802551">
                      <a:extLst>
                        <a:ext uri="{9D8B030D-6E8A-4147-A177-3AD203B41FA5}">
                          <a16:colId xmlns:a16="http://schemas.microsoft.com/office/drawing/2014/main" val="1668607842"/>
                        </a:ext>
                      </a:extLst>
                    </a:gridCol>
                    <a:gridCol w="3213236">
                      <a:extLst>
                        <a:ext uri="{9D8B030D-6E8A-4147-A177-3AD203B41FA5}">
                          <a16:colId xmlns:a16="http://schemas.microsoft.com/office/drawing/2014/main" val="1714645405"/>
                        </a:ext>
                      </a:extLst>
                    </a:gridCol>
                    <a:gridCol w="2421841">
                      <a:extLst>
                        <a:ext uri="{9D8B030D-6E8A-4147-A177-3AD203B41FA5}">
                          <a16:colId xmlns:a16="http://schemas.microsoft.com/office/drawing/2014/main" val="3472251515"/>
                        </a:ext>
                      </a:extLst>
                    </a:gridCol>
                  </a:tblGrid>
                  <a:tr h="45446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Researcher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Drawback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220717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Arvind Kumar, Manoj Kumar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         2017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Proposed a </a:t>
                          </a:r>
                          <a:r>
                            <a:rPr lang="en-US" sz="1100" b="1" dirty="0"/>
                            <a:t>1-bit CMOS comparator using transistor stacking</a:t>
                          </a:r>
                          <a:r>
                            <a:rPr lang="en-US" sz="1100" dirty="0"/>
                            <a:t> across its XNOR and AND gates to reduce active-mode leakage power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271" t="-61600" r="-251" b="-374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3024372"/>
                      </a:ext>
                    </a:extLst>
                  </a:tr>
                  <a:tr h="929640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Dheeraj Tailor, Tavesh Sharma, Manoj </a:t>
                          </a:r>
                          <a:r>
                            <a:rPr lang="en-US" sz="1100" dirty="0" err="1"/>
                            <a:t>Mumar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2019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Designed a </a:t>
                          </a:r>
                          <a:r>
                            <a:rPr lang="en-US" sz="1100" b="1" dirty="0"/>
                            <a:t>1-bit CMOS comparator utilizing MTCMOS (for NOR gates) and Forced Stacking (for inverters)</a:t>
                          </a:r>
                          <a:r>
                            <a:rPr lang="en-US" sz="1100" dirty="0"/>
                            <a:t> to minimize subthreshold leakage and active power.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MTCMOS is a </a:t>
                          </a:r>
                          <a:r>
                            <a:rPr lang="en-US" sz="1100" b="1" dirty="0"/>
                            <a:t>state-destructive technique</a:t>
                          </a:r>
                          <a:r>
                            <a:rPr lang="en-US" sz="1100" dirty="0"/>
                            <a:t> (outputs from active mode are lost in standby mode); requires additional sleep control signal routing.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535343"/>
                      </a:ext>
                    </a:extLst>
                  </a:tr>
                  <a:tr h="9296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Samiha Lubaba, K. M. Faisal , Moumita Sadia Islam, Mehedi Hasan</a:t>
                          </a:r>
                          <a:r>
                            <a:rPr lang="en-US" sz="1100" b="1" dirty="0"/>
                            <a:t>.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2020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Developed a </a:t>
                          </a:r>
                          <a:r>
                            <a:rPr lang="en-US" sz="1100" b="1" dirty="0"/>
                            <a:t>2-bit hybrid magnitude comparator</a:t>
                          </a:r>
                          <a:r>
                            <a:rPr lang="en-US" sz="1100" dirty="0"/>
                            <a:t> using PTL/TGL-based XNOR gates for low-latency internal signal generation combined with C-CMOS output logic for high driving power and full swing.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Requires a total of </a:t>
                          </a:r>
                          <a:r>
                            <a:rPr lang="en-US" sz="1100" b="1" dirty="0"/>
                            <a:t>46 transistors</a:t>
                          </a:r>
                          <a:r>
                            <a:rPr lang="en-US" sz="1100" dirty="0"/>
                            <a:t>; average power dissipation (7.792 µW) remains slightly higher than pure GDI-based architectures.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2209286"/>
                      </a:ext>
                    </a:extLst>
                  </a:tr>
                  <a:tr h="949389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Yashmit Sharma, </a:t>
                          </a:r>
                          <a:r>
                            <a:rPr lang="en-US" sz="1100" dirty="0" err="1"/>
                            <a:t>Premananda</a:t>
                          </a:r>
                          <a:r>
                            <a:rPr lang="en-US" sz="1100" dirty="0"/>
                            <a:t> B.S, Divyanshu Ra, Kshitij Pandey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90204"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2025</a:t>
                          </a:r>
                        </a:p>
                        <a:p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030" t="-325000" r="-75712" b="-44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271" t="-325000" r="-251" b="-44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24577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D9F5F6B-CABD-EC9F-74E9-2E3D2AFE8CF7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27274097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191162" y="172501"/>
            <a:ext cx="4448344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INTRODUCTION TO Comparator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195;p86"/>
              <p:cNvSpPr txBox="1"/>
              <p:nvPr/>
            </p:nvSpPr>
            <p:spPr>
              <a:xfrm>
                <a:off x="652294" y="914400"/>
                <a:ext cx="6781852" cy="39997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34436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Definition</a:t>
                </a:r>
                <a:r>
                  <a:rPr lang="en-US" dirty="0"/>
                  <a:t>: A digital magnitude comparator is a combinational logic circuit used to compare two binary numbers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) and determine their relative numerical values. 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Output Signals</a:t>
                </a:r>
                <a:r>
                  <a:rPr lang="en-US" dirty="0"/>
                  <a:t>: It generates three distinct output signals to indicate the exact comparison result: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(Greater Than),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(Less Than),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(Equal To). 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Implementation Techniques</a:t>
                </a:r>
                <a:r>
                  <a:rPr lang="en-US" dirty="0"/>
                  <a:t>: Designed using various CMOS logic styles such as Complementary CMOS (C-CMOS), Transmission Gate Logic (TGL), Pass Transistor Logic (PTL), and Gate Diffusion Input (GDI). 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Applications</a:t>
                </a:r>
                <a:r>
                  <a:rPr lang="en-US" dirty="0"/>
                  <a:t>: Used in ALU, processors, memory circuits, address decoding, and digital control systems.</a:t>
                </a:r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Google Shape;1195;p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94" y="914400"/>
                <a:ext cx="6781852" cy="3999725"/>
              </a:xfrm>
              <a:prstGeom prst="rect">
                <a:avLst/>
              </a:prstGeom>
              <a:blipFill>
                <a:blip r:embed="rId4"/>
                <a:stretch>
                  <a:fillRect r="-538"/>
                </a:stretch>
              </a:blipFill>
              <a:ln>
                <a:solidFill>
                  <a:srgbClr val="33443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277AD34-7C3D-2FCB-D840-6E0BE9534D79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09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979182" y="120462"/>
            <a:ext cx="2469525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CMOS Logic Styles</a:t>
            </a: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349BC0-8570-9FD3-740D-EAF84695DD13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33C529-ACF7-B4EB-7EC6-288B54E89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378925"/>
              </p:ext>
            </p:extLst>
          </p:nvPr>
        </p:nvGraphicFramePr>
        <p:xfrm>
          <a:off x="556261" y="811500"/>
          <a:ext cx="7139939" cy="409219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13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9160">
                <a:tc>
                  <a:txBody>
                    <a:bodyPr/>
                    <a:lstStyle/>
                    <a:p>
                      <a:pPr algn="l"/>
                      <a:r>
                        <a:rPr sz="1200" b="1" u="none" dirty="0">
                          <a:solidFill>
                            <a:srgbClr val="000000"/>
                          </a:solidFill>
                        </a:rPr>
                        <a:t>Logic Style</a:t>
                      </a:r>
                      <a:endParaRPr sz="120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 dirty="0">
                          <a:solidFill>
                            <a:srgbClr val="000000"/>
                          </a:solidFill>
                        </a:rPr>
                        <a:t>Key Features &amp; Characteristics</a:t>
                      </a:r>
                      <a:endParaRPr sz="120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611">
                <a:tc>
                  <a:txBody>
                    <a:bodyPr/>
                    <a:lstStyle/>
                    <a:p>
                      <a:pPr algn="l"/>
                      <a:r>
                        <a:rPr sz="1200" b="1" u="none" dirty="0">
                          <a:solidFill>
                            <a:srgbClr val="000000"/>
                          </a:solidFill>
                        </a:rPr>
                        <a:t>Static Logic</a:t>
                      </a:r>
                      <a:endParaRPr sz="120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Uses </a:t>
                      </a:r>
                      <a:r>
                        <a:rPr sz="1200" b="0" u="none" dirty="0" err="1">
                          <a:solidFill>
                            <a:srgbClr val="000000"/>
                          </a:solidFill>
                        </a:rPr>
                        <a:t>pMOS</a:t>
                      </a:r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 and </a:t>
                      </a:r>
                      <a:r>
                        <a:rPr sz="1200" b="0" u="none" dirty="0" err="1">
                          <a:solidFill>
                            <a:srgbClr val="000000"/>
                          </a:solidFill>
                        </a:rPr>
                        <a:t>nMOS</a:t>
                      </a:r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 in complementary fashion
Stable output maintained without clock
Low power dissipation when idle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611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PTL Logic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Passes signals directly through single MOS switches to save area
Uses fewer transistors, lowering overall dynamic power usage
Loses voltage level (Vth drop) when passing a logic 1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611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TG Logic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Connects NMOS and PMOS in parallel to pass full logic levels
Prevents voltage drop, giving clean strong 0 and 1 outputs
Needs inverted control signals, which increases routing complexity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611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GDI Logic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Uses a 3-input cell to implement complex functions in few transistors
Cuts down power and area for circuits like XOR and MUX
Needs special twin-well CMOS fabrication to avoid body </a:t>
                      </a:r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effect issues</a:t>
                      </a:r>
                      <a:r>
                        <a:rPr lang="en-US" sz="1200" b="0" u="none">
                          <a:solidFill>
                            <a:srgbClr val="000000"/>
                          </a:solidFill>
                        </a:rPr>
                        <a:t>.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906966" y="137505"/>
            <a:ext cx="6764077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CIRCUIT DESIGN  COMPARE IN VARIOUS  TECHNIQUE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A10A42B-9A4A-F5F0-E125-35837D0977A7}"/>
              </a:ext>
            </a:extLst>
          </p:cNvPr>
          <p:cNvGrpSpPr/>
          <p:nvPr/>
        </p:nvGrpSpPr>
        <p:grpSpPr>
          <a:xfrm>
            <a:off x="0" y="523843"/>
            <a:ext cx="4777740" cy="3715011"/>
            <a:chOff x="416313" y="683942"/>
            <a:chExt cx="2500116" cy="3653140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08FF62ED-B7C8-281F-0567-D20DA0372FD2}"/>
                </a:ext>
              </a:extLst>
            </p:cNvPr>
            <p:cNvSpPr/>
            <p:nvPr/>
          </p:nvSpPr>
          <p:spPr>
            <a:xfrm>
              <a:off x="416313" y="683942"/>
              <a:ext cx="2500116" cy="3653140"/>
            </a:xfrm>
            <a:prstGeom prst="roundRect">
              <a:avLst>
                <a:gd name="adj" fmla="val 203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7F05FDDD-7B54-9F97-40B7-097FEC6C0D03}"/>
                </a:ext>
              </a:extLst>
            </p:cNvPr>
            <p:cNvSpPr/>
            <p:nvPr/>
          </p:nvSpPr>
          <p:spPr>
            <a:xfrm>
              <a:off x="416313" y="683942"/>
              <a:ext cx="2500116" cy="293556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689E5082-B555-093F-E478-A512DC2E6722}"/>
                </a:ext>
              </a:extLst>
            </p:cNvPr>
            <p:cNvSpPr/>
            <p:nvPr/>
          </p:nvSpPr>
          <p:spPr>
            <a:xfrm>
              <a:off x="416313" y="847029"/>
              <a:ext cx="2500116" cy="130469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BDBCD7D7-D942-2E05-7A9A-84B2BB75CABB}"/>
                </a:ext>
              </a:extLst>
            </p:cNvPr>
            <p:cNvSpPr/>
            <p:nvPr/>
          </p:nvSpPr>
          <p:spPr>
            <a:xfrm>
              <a:off x="543545" y="736130"/>
              <a:ext cx="2245652" cy="1957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                      Static CMOS (32T)</a:t>
              </a:r>
              <a:endParaRPr lang="en-US" sz="13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83182D1-4600-9BEB-3AC2-5C6DB8DC11CF}"/>
              </a:ext>
            </a:extLst>
          </p:cNvPr>
          <p:cNvSpPr txBox="1"/>
          <p:nvPr/>
        </p:nvSpPr>
        <p:spPr>
          <a:xfrm>
            <a:off x="1631980" y="4535669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01: Static CMOS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210BB-8BCD-E82B-B4CC-9EA6F9C5A9FC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209EB70-70C2-F77E-1B5C-227674082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966" y="935148"/>
            <a:ext cx="3112203" cy="3122789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F9F3C63-07B8-A38C-D7F7-1876F803E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549850"/>
              </p:ext>
            </p:extLst>
          </p:nvPr>
        </p:nvGraphicFramePr>
        <p:xfrm>
          <a:off x="5084262" y="1315048"/>
          <a:ext cx="3549197" cy="213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83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Input A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Input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A &gt; B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=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&lt;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3E0285A0-4218-A050-A8F7-20763D6FA9F7}"/>
              </a:ext>
            </a:extLst>
          </p:cNvPr>
          <p:cNvSpPr txBox="1"/>
          <p:nvPr/>
        </p:nvSpPr>
        <p:spPr>
          <a:xfrm>
            <a:off x="6051580" y="4467089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02: Truth table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DCB5E087-1DD1-EB3F-32B1-55C90C45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B8074F6A-10BC-99B1-8228-5983FAA01E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6966" y="137505"/>
            <a:ext cx="6764077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CIRCUIT DESIGN  COMPARE IN VARIOUS  TECHNIQUE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91E366C-9B4F-EC42-B17C-E3C593327522}"/>
              </a:ext>
            </a:extLst>
          </p:cNvPr>
          <p:cNvGrpSpPr/>
          <p:nvPr/>
        </p:nvGrpSpPr>
        <p:grpSpPr>
          <a:xfrm>
            <a:off x="0" y="523843"/>
            <a:ext cx="4777740" cy="3715011"/>
            <a:chOff x="416313" y="683942"/>
            <a:chExt cx="2500116" cy="3653140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EB61020A-672B-364D-29A8-33D313FB958A}"/>
                </a:ext>
              </a:extLst>
            </p:cNvPr>
            <p:cNvSpPr/>
            <p:nvPr/>
          </p:nvSpPr>
          <p:spPr>
            <a:xfrm>
              <a:off x="416313" y="683942"/>
              <a:ext cx="2500116" cy="3653140"/>
            </a:xfrm>
            <a:prstGeom prst="roundRect">
              <a:avLst>
                <a:gd name="adj" fmla="val 203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6830076A-504C-ACCA-045E-042EC5D541ED}"/>
                </a:ext>
              </a:extLst>
            </p:cNvPr>
            <p:cNvSpPr/>
            <p:nvPr/>
          </p:nvSpPr>
          <p:spPr>
            <a:xfrm>
              <a:off x="416313" y="683942"/>
              <a:ext cx="2500116" cy="293556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0C24668C-436D-5F74-CAF3-3B971C7A49AA}"/>
                </a:ext>
              </a:extLst>
            </p:cNvPr>
            <p:cNvSpPr/>
            <p:nvPr/>
          </p:nvSpPr>
          <p:spPr>
            <a:xfrm>
              <a:off x="416313" y="847029"/>
              <a:ext cx="2500116" cy="130469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7EE67AF7-FDAE-52FC-9A8A-2AF658E70611}"/>
                </a:ext>
              </a:extLst>
            </p:cNvPr>
            <p:cNvSpPr/>
            <p:nvPr/>
          </p:nvSpPr>
          <p:spPr>
            <a:xfrm>
              <a:off x="543545" y="736130"/>
              <a:ext cx="2245652" cy="1957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                      Transmission Gate (16T)</a:t>
              </a:r>
              <a:endParaRPr lang="en-US" sz="13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315BCA0-3C04-32B4-DB96-13F9E5A30149}"/>
              </a:ext>
            </a:extLst>
          </p:cNvPr>
          <p:cNvSpPr txBox="1"/>
          <p:nvPr/>
        </p:nvSpPr>
        <p:spPr>
          <a:xfrm>
            <a:off x="1631980" y="4535669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03: TG CMOS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06B7A5-8183-E823-B1C7-EF80628EACCB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F4EE386-00EF-662D-05CB-074E1C26E3A4}"/>
              </a:ext>
            </a:extLst>
          </p:cNvPr>
          <p:cNvGraphicFramePr>
            <a:graphicFrameLocks noGrp="1"/>
          </p:cNvGraphicFramePr>
          <p:nvPr/>
        </p:nvGraphicFramePr>
        <p:xfrm>
          <a:off x="5084262" y="1315048"/>
          <a:ext cx="3549197" cy="213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83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Input A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Input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A &gt; B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=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&lt;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2A28169-907A-5032-C966-3C641A798C6A}"/>
              </a:ext>
            </a:extLst>
          </p:cNvPr>
          <p:cNvSpPr txBox="1"/>
          <p:nvPr/>
        </p:nvSpPr>
        <p:spPr>
          <a:xfrm>
            <a:off x="6051580" y="4467089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04: Truth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D377F3-CA0A-B000-578B-8B5BAEC79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29" y="871633"/>
            <a:ext cx="2851169" cy="333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86972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F6F24558-05FA-3EA7-26F8-865DC6D6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9AE6925C-FC48-6F1C-777F-4CB5CF7598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6966" y="137505"/>
            <a:ext cx="6764077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CIRCUIT DESIGN  COMPARE IN VARIOUS  TECHNIQUE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A3BE714-098C-DFAE-FF2C-CAA7387CD5F1}"/>
              </a:ext>
            </a:extLst>
          </p:cNvPr>
          <p:cNvGrpSpPr/>
          <p:nvPr/>
        </p:nvGrpSpPr>
        <p:grpSpPr>
          <a:xfrm>
            <a:off x="0" y="523843"/>
            <a:ext cx="4777740" cy="3715011"/>
            <a:chOff x="416313" y="683942"/>
            <a:chExt cx="2500116" cy="3653140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AE6611A6-349F-ECB0-6D69-6E022CE09E3E}"/>
                </a:ext>
              </a:extLst>
            </p:cNvPr>
            <p:cNvSpPr/>
            <p:nvPr/>
          </p:nvSpPr>
          <p:spPr>
            <a:xfrm>
              <a:off x="416313" y="683942"/>
              <a:ext cx="2500116" cy="3653140"/>
            </a:xfrm>
            <a:prstGeom prst="roundRect">
              <a:avLst>
                <a:gd name="adj" fmla="val 203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30578230-1C7E-3898-3B4A-B4DF6A4A33F3}"/>
                </a:ext>
              </a:extLst>
            </p:cNvPr>
            <p:cNvSpPr/>
            <p:nvPr/>
          </p:nvSpPr>
          <p:spPr>
            <a:xfrm>
              <a:off x="416313" y="683942"/>
              <a:ext cx="2500116" cy="293556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530DC8CA-7550-6230-BD25-BA6AAF12A82F}"/>
                </a:ext>
              </a:extLst>
            </p:cNvPr>
            <p:cNvSpPr/>
            <p:nvPr/>
          </p:nvSpPr>
          <p:spPr>
            <a:xfrm>
              <a:off x="416313" y="847029"/>
              <a:ext cx="2500116" cy="130469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826E7546-AF7E-0C0E-F894-42DED08444DB}"/>
                </a:ext>
              </a:extLst>
            </p:cNvPr>
            <p:cNvSpPr/>
            <p:nvPr/>
          </p:nvSpPr>
          <p:spPr>
            <a:xfrm>
              <a:off x="543545" y="736130"/>
              <a:ext cx="2245652" cy="1957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                   Pass Transistor (10T)</a:t>
              </a:r>
              <a:endParaRPr lang="en-US" sz="13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546FB27-5BB4-BDDA-615B-F614D83B6351}"/>
              </a:ext>
            </a:extLst>
          </p:cNvPr>
          <p:cNvSpPr txBox="1"/>
          <p:nvPr/>
        </p:nvSpPr>
        <p:spPr>
          <a:xfrm>
            <a:off x="1631980" y="4535669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05: PTL CMOS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5EB6C4-A344-7332-0DBA-71FFAA11F2E4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554219F-64C2-1BED-2479-CCA001C3BE5D}"/>
              </a:ext>
            </a:extLst>
          </p:cNvPr>
          <p:cNvGraphicFramePr>
            <a:graphicFrameLocks noGrp="1"/>
          </p:cNvGraphicFramePr>
          <p:nvPr/>
        </p:nvGraphicFramePr>
        <p:xfrm>
          <a:off x="5084262" y="1315048"/>
          <a:ext cx="3549197" cy="213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83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Input A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Input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A &gt; B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=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&lt;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C4AE7711-3A27-5264-7AC7-3EA647DE0635}"/>
              </a:ext>
            </a:extLst>
          </p:cNvPr>
          <p:cNvSpPr txBox="1"/>
          <p:nvPr/>
        </p:nvSpPr>
        <p:spPr>
          <a:xfrm>
            <a:off x="6051580" y="4467089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06: Truth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803C65-3FCB-D294-1899-966A46B30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61" y="875443"/>
            <a:ext cx="3949443" cy="328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48736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00FB3E10-7080-569E-C924-E6719A90C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DB0B26CB-F7B5-DD75-4B36-830C6EA678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6966" y="137505"/>
            <a:ext cx="6764077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CIRCUIT DESIGN  COMPARE IN VARIOUS  TECHNIQUE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F5DFFB-91F1-4F40-45B9-07FE4F5C0202}"/>
              </a:ext>
            </a:extLst>
          </p:cNvPr>
          <p:cNvGrpSpPr/>
          <p:nvPr/>
        </p:nvGrpSpPr>
        <p:grpSpPr>
          <a:xfrm>
            <a:off x="0" y="523843"/>
            <a:ext cx="4777740" cy="3715011"/>
            <a:chOff x="416313" y="683942"/>
            <a:chExt cx="2500116" cy="3653140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3ABBFDFA-02A9-B4E0-EA84-982049D3792A}"/>
                </a:ext>
              </a:extLst>
            </p:cNvPr>
            <p:cNvSpPr/>
            <p:nvPr/>
          </p:nvSpPr>
          <p:spPr>
            <a:xfrm>
              <a:off x="416313" y="683942"/>
              <a:ext cx="2500116" cy="3653140"/>
            </a:xfrm>
            <a:prstGeom prst="roundRect">
              <a:avLst>
                <a:gd name="adj" fmla="val 203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F1ED3D76-DA3F-0E96-8954-F01A9AF0BBD1}"/>
                </a:ext>
              </a:extLst>
            </p:cNvPr>
            <p:cNvSpPr/>
            <p:nvPr/>
          </p:nvSpPr>
          <p:spPr>
            <a:xfrm>
              <a:off x="416313" y="683942"/>
              <a:ext cx="2500116" cy="293556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5FDF1238-96A8-2AB5-73FD-57F8F04A1348}"/>
                </a:ext>
              </a:extLst>
            </p:cNvPr>
            <p:cNvSpPr/>
            <p:nvPr/>
          </p:nvSpPr>
          <p:spPr>
            <a:xfrm>
              <a:off x="416313" y="847029"/>
              <a:ext cx="2500116" cy="130469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EED78E8B-EE32-211A-7050-92B287633CD8}"/>
                </a:ext>
              </a:extLst>
            </p:cNvPr>
            <p:cNvSpPr/>
            <p:nvPr/>
          </p:nvSpPr>
          <p:spPr>
            <a:xfrm>
              <a:off x="543545" y="736130"/>
              <a:ext cx="2245652" cy="1957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                    Proposed 10 Transistor</a:t>
              </a:r>
              <a:endParaRPr lang="en-US" sz="13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8CA1DF7-7D53-F442-D928-10CB796A5DA2}"/>
              </a:ext>
            </a:extLst>
          </p:cNvPr>
          <p:cNvSpPr txBox="1"/>
          <p:nvPr/>
        </p:nvSpPr>
        <p:spPr>
          <a:xfrm>
            <a:off x="1631980" y="4535669"/>
            <a:ext cx="2505680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07: Proposed GDI CMOS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5D1E71-D496-06FA-2F9E-EC05A8337CC3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8950481-5461-99D5-0AE5-EEDD30244F24}"/>
              </a:ext>
            </a:extLst>
          </p:cNvPr>
          <p:cNvGraphicFramePr>
            <a:graphicFrameLocks noGrp="1"/>
          </p:cNvGraphicFramePr>
          <p:nvPr/>
        </p:nvGraphicFramePr>
        <p:xfrm>
          <a:off x="5084262" y="1315048"/>
          <a:ext cx="3549197" cy="213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83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Input A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Input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 dirty="0">
                          <a:solidFill>
                            <a:srgbClr val="000000"/>
                          </a:solidFill>
                        </a:rPr>
                        <a:t>A &gt; B</a:t>
                      </a:r>
                      <a:endParaRPr sz="135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=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u="none">
                          <a:solidFill>
                            <a:srgbClr val="000000"/>
                          </a:solidFill>
                        </a:rPr>
                        <a:t>A &lt; B</a:t>
                      </a:r>
                      <a:endParaRPr sz="135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20"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>
                          <a:solidFill>
                            <a:srgbClr val="000000"/>
                          </a:solidFill>
                        </a:rPr>
                        <a:t>1</a:t>
                      </a:r>
                      <a:endParaRPr sz="135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u="none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135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AA605812-3563-FF3C-F2FE-4C29A79DA6F1}"/>
              </a:ext>
            </a:extLst>
          </p:cNvPr>
          <p:cNvSpPr txBox="1"/>
          <p:nvPr/>
        </p:nvSpPr>
        <p:spPr>
          <a:xfrm>
            <a:off x="6051580" y="4467089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08: Truth table</a:t>
            </a:r>
          </a:p>
        </p:txBody>
      </p:sp>
      <p:pic>
        <p:nvPicPr>
          <p:cNvPr id="4" name="Image 0" descr="C:\Users\shahrear\Downloads\LTSpice\Thesis\Thesis Book\my_Propose_GDI_Comparator.png">
            <a:extLst>
              <a:ext uri="{FF2B5EF4-FFF2-40B4-BE49-F238E27FC236}">
                <a16:creationId xmlns:a16="http://schemas.microsoft.com/office/drawing/2014/main" id="{89EABB62-046A-258B-59E2-A85E15BBF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" y="875443"/>
            <a:ext cx="4741807" cy="278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70942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904B48F4-98A8-5A63-20CB-A2B45981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5FFDFAAE-45FF-D21A-3E18-38AA6A3C07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1952" y="202238"/>
            <a:ext cx="4226887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SIMULATION &amp; RESULTS 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7A0942-8240-4971-33B6-E3EF84CDC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67" y="629296"/>
            <a:ext cx="8474056" cy="39256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596036-E2C9-2145-1827-C777D8D172B8}"/>
              </a:ext>
            </a:extLst>
          </p:cNvPr>
          <p:cNvSpPr txBox="1"/>
          <p:nvPr/>
        </p:nvSpPr>
        <p:spPr>
          <a:xfrm>
            <a:off x="3301096" y="4689558"/>
            <a:ext cx="2943923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09 :  Output Waveshape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CE858E-D360-A302-5CFA-BE5A1E7B1802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67443396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6714EB39-A704-282C-7DA5-8B5E43673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DF23E43A-6736-0128-BFC3-F1A294D82E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1952" y="202238"/>
            <a:ext cx="4226887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SIMULATION &amp; RESULTS </a:t>
            </a:r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0D559-DE62-1429-B4EC-092D2F989FD1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C15A8D-8144-CFA3-0A44-B6BBD08A6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979233"/>
              </p:ext>
            </p:extLst>
          </p:nvPr>
        </p:nvGraphicFramePr>
        <p:xfrm>
          <a:off x="230509" y="1234062"/>
          <a:ext cx="8372471" cy="23321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62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5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83">
                <a:tc>
                  <a:txBody>
                    <a:bodyPr/>
                    <a:lstStyle/>
                    <a:p>
                      <a:pPr algn="l"/>
                      <a:r>
                        <a:rPr sz="1200" b="1" u="none" dirty="0">
                          <a:solidFill>
                            <a:srgbClr val="000000"/>
                          </a:solidFill>
                        </a:rPr>
                        <a:t>Design / Reference Paper</a:t>
                      </a:r>
                      <a:endParaRPr sz="120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Propagation Delay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Average Power Dissipation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PDP (Power-Delay Product)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83">
                <a:tc>
                  <a:txBody>
                    <a:bodyPr/>
                    <a:lstStyle/>
                    <a:p>
                      <a:pPr algn="l"/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Static CMOS Paper (2017)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49.38 ns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174.352 pW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0.0086 fJ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83">
                <a:tc>
                  <a:txBody>
                    <a:bodyPr/>
                    <a:lstStyle/>
                    <a:p>
                      <a:pPr algn="l"/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MTCMOS Paper (2019)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330.61 ps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48.12 pW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0.0000159 fJ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83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Static, Pass, TG Paper (2020)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0.192 ns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7.792 µW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1.496 fJ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83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6T MUX Adder Comparator (2025)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5.5 ps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7.3 µW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0.04 fJ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85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My Proposed Design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336 ps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34.18 pW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0.0000114 </a:t>
                      </a:r>
                      <a:r>
                        <a:rPr sz="1200" b="0" u="none" dirty="0" err="1">
                          <a:solidFill>
                            <a:srgbClr val="000000"/>
                          </a:solidFill>
                        </a:rPr>
                        <a:t>fJ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869803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1992351" y="109131"/>
            <a:ext cx="4534829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PERFORMANCE COMPARISON</a:t>
            </a:r>
            <a:endParaRPr lang="en-US" sz="18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234444C-C16B-9EBB-7986-D0E3FC1C40C0}"/>
              </a:ext>
            </a:extLst>
          </p:cNvPr>
          <p:cNvGrpSpPr/>
          <p:nvPr/>
        </p:nvGrpSpPr>
        <p:grpSpPr>
          <a:xfrm>
            <a:off x="142974" y="716313"/>
            <a:ext cx="2745005" cy="3443902"/>
            <a:chOff x="548640" y="1097280"/>
            <a:chExt cx="5669280" cy="5120640"/>
          </a:xfrm>
        </p:grpSpPr>
        <p:sp>
          <p:nvSpPr>
            <p:cNvPr id="4" name="Shape 6">
              <a:extLst>
                <a:ext uri="{FF2B5EF4-FFF2-40B4-BE49-F238E27FC236}">
                  <a16:creationId xmlns:a16="http://schemas.microsoft.com/office/drawing/2014/main" id="{9AE2D569-B64F-7F5D-0AC5-47B3EA6D6A8F}"/>
                </a:ext>
              </a:extLst>
            </p:cNvPr>
            <p:cNvSpPr/>
            <p:nvPr/>
          </p:nvSpPr>
          <p:spPr>
            <a:xfrm>
              <a:off x="548640" y="1097280"/>
              <a:ext cx="5669280" cy="5120640"/>
            </a:xfrm>
            <a:prstGeom prst="roundRect">
              <a:avLst>
                <a:gd name="adj" fmla="val 142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C91AC67A-D5BD-3735-0FBB-9D353BCB3E16}"/>
                </a:ext>
              </a:extLst>
            </p:cNvPr>
            <p:cNvSpPr/>
            <p:nvPr/>
          </p:nvSpPr>
          <p:spPr>
            <a:xfrm>
              <a:off x="548640" y="1097280"/>
              <a:ext cx="5669280" cy="411480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4A15870D-5682-2D82-A9C6-92743E39FF2F}"/>
                </a:ext>
              </a:extLst>
            </p:cNvPr>
            <p:cNvSpPr/>
            <p:nvPr/>
          </p:nvSpPr>
          <p:spPr>
            <a:xfrm>
              <a:off x="548640" y="1325880"/>
              <a:ext cx="5669280" cy="18288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728E6CF4-D9B2-8FA7-889E-60782DA17F3C}"/>
                </a:ext>
              </a:extLst>
            </p:cNvPr>
            <p:cNvSpPr/>
            <p:nvPr/>
          </p:nvSpPr>
          <p:spPr>
            <a:xfrm>
              <a:off x="731520" y="1170431"/>
              <a:ext cx="5303521" cy="2743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 Propagation Delay Bar Chart</a:t>
              </a:r>
              <a:endParaRPr lang="en-US" sz="1100" dirty="0"/>
            </a:p>
          </p:txBody>
        </p:sp>
        <p:pic>
          <p:nvPicPr>
            <p:cNvPr id="15" name="Image 0" descr="C:\Users\shahrear\Downloads\LTSpice\Thesis\Thesis Book\Paper_02_Propagation_Delay_Bar_Chart.png">
              <a:extLst>
                <a:ext uri="{FF2B5EF4-FFF2-40B4-BE49-F238E27FC236}">
                  <a16:creationId xmlns:a16="http://schemas.microsoft.com/office/drawing/2014/main" id="{D615B2DB-60A9-FA07-0F4E-936DB6BB1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520" y="1645920"/>
              <a:ext cx="5303520" cy="429768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7F374D-A36B-832C-8E24-D8DDFBB82E08}"/>
              </a:ext>
            </a:extLst>
          </p:cNvPr>
          <p:cNvGrpSpPr/>
          <p:nvPr/>
        </p:nvGrpSpPr>
        <p:grpSpPr>
          <a:xfrm>
            <a:off x="2991998" y="739710"/>
            <a:ext cx="2965087" cy="3420505"/>
            <a:chOff x="548640" y="1097280"/>
            <a:chExt cx="5669280" cy="5120640"/>
          </a:xfrm>
        </p:grpSpPr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F6D9E768-F7AF-42AF-EB49-2C633E70C02D}"/>
                </a:ext>
              </a:extLst>
            </p:cNvPr>
            <p:cNvSpPr/>
            <p:nvPr/>
          </p:nvSpPr>
          <p:spPr>
            <a:xfrm>
              <a:off x="548640" y="1097280"/>
              <a:ext cx="5669280" cy="5120640"/>
            </a:xfrm>
            <a:prstGeom prst="roundRect">
              <a:avLst>
                <a:gd name="adj" fmla="val 142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7">
              <a:extLst>
                <a:ext uri="{FF2B5EF4-FFF2-40B4-BE49-F238E27FC236}">
                  <a16:creationId xmlns:a16="http://schemas.microsoft.com/office/drawing/2014/main" id="{F6D84454-073D-D32A-B74D-4A87BF6B0CFD}"/>
                </a:ext>
              </a:extLst>
            </p:cNvPr>
            <p:cNvSpPr/>
            <p:nvPr/>
          </p:nvSpPr>
          <p:spPr>
            <a:xfrm>
              <a:off x="548640" y="1097280"/>
              <a:ext cx="5669280" cy="411480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051D7B9C-30DD-CB6B-91DF-858150654BD1}"/>
                </a:ext>
              </a:extLst>
            </p:cNvPr>
            <p:cNvSpPr/>
            <p:nvPr/>
          </p:nvSpPr>
          <p:spPr>
            <a:xfrm>
              <a:off x="548640" y="1325880"/>
              <a:ext cx="5669280" cy="18288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2D2DD766-59E3-B2DB-9198-419778769B77}"/>
                </a:ext>
              </a:extLst>
            </p:cNvPr>
            <p:cNvSpPr/>
            <p:nvPr/>
          </p:nvSpPr>
          <p:spPr>
            <a:xfrm>
              <a:off x="731520" y="117043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Average Power Dissipation Bar Chart</a:t>
              </a:r>
              <a:endParaRPr lang="en-US" sz="1100" dirty="0"/>
            </a:p>
          </p:txBody>
        </p:sp>
        <p:pic>
          <p:nvPicPr>
            <p:cNvPr id="26" name="Image 0" descr="C:\Users\shahrear\Downloads\LTSpice\Thesis\Thesis Book\Paper_03_Average_Power_Bar_Chart.png">
              <a:extLst>
                <a:ext uri="{FF2B5EF4-FFF2-40B4-BE49-F238E27FC236}">
                  <a16:creationId xmlns:a16="http://schemas.microsoft.com/office/drawing/2014/main" id="{1760B8C5-3E75-4F2A-C802-35FF6E519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1" y="1645921"/>
              <a:ext cx="5303520" cy="4297681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BC678D0-E720-EB13-7A89-CCD1134E3BF8}"/>
              </a:ext>
            </a:extLst>
          </p:cNvPr>
          <p:cNvGrpSpPr/>
          <p:nvPr/>
        </p:nvGrpSpPr>
        <p:grpSpPr>
          <a:xfrm>
            <a:off x="6061104" y="728011"/>
            <a:ext cx="2887977" cy="3420505"/>
            <a:chOff x="548640" y="1097280"/>
            <a:chExt cx="5669280" cy="5120640"/>
          </a:xfrm>
        </p:grpSpPr>
        <p:sp>
          <p:nvSpPr>
            <p:cNvPr id="29" name="Shape 6">
              <a:extLst>
                <a:ext uri="{FF2B5EF4-FFF2-40B4-BE49-F238E27FC236}">
                  <a16:creationId xmlns:a16="http://schemas.microsoft.com/office/drawing/2014/main" id="{2A251629-3856-2D53-661D-4C3B495DA21C}"/>
                </a:ext>
              </a:extLst>
            </p:cNvPr>
            <p:cNvSpPr/>
            <p:nvPr/>
          </p:nvSpPr>
          <p:spPr>
            <a:xfrm>
              <a:off x="548640" y="1097280"/>
              <a:ext cx="5669280" cy="5120640"/>
            </a:xfrm>
            <a:prstGeom prst="roundRect">
              <a:avLst>
                <a:gd name="adj" fmla="val 142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7">
              <a:extLst>
                <a:ext uri="{FF2B5EF4-FFF2-40B4-BE49-F238E27FC236}">
                  <a16:creationId xmlns:a16="http://schemas.microsoft.com/office/drawing/2014/main" id="{21BB578A-A1D4-58E9-53A0-75A4073042D2}"/>
                </a:ext>
              </a:extLst>
            </p:cNvPr>
            <p:cNvSpPr/>
            <p:nvPr/>
          </p:nvSpPr>
          <p:spPr>
            <a:xfrm>
              <a:off x="548640" y="1097280"/>
              <a:ext cx="5669280" cy="411480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ED3DE1EE-A606-A5D1-960F-BFE52856124C}"/>
                </a:ext>
              </a:extLst>
            </p:cNvPr>
            <p:cNvSpPr/>
            <p:nvPr/>
          </p:nvSpPr>
          <p:spPr>
            <a:xfrm>
              <a:off x="548640" y="1325880"/>
              <a:ext cx="5669280" cy="18288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254C1D89-8CD7-894E-8ED3-EA591B0C4EFE}"/>
                </a:ext>
              </a:extLst>
            </p:cNvPr>
            <p:cNvSpPr/>
            <p:nvPr/>
          </p:nvSpPr>
          <p:spPr>
            <a:xfrm>
              <a:off x="731520" y="117043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PDP (Energy per Operation) Bar Chart</a:t>
              </a:r>
              <a:endParaRPr lang="en-US" sz="1050" dirty="0"/>
            </a:p>
          </p:txBody>
        </p:sp>
        <p:pic>
          <p:nvPicPr>
            <p:cNvPr id="37" name="Image 0" descr="C:\Users\shahrear\Downloads\LTSpice\Thesis\Thesis Book\Paper_04_PDP_Bar_Chart.png">
              <a:extLst>
                <a:ext uri="{FF2B5EF4-FFF2-40B4-BE49-F238E27FC236}">
                  <a16:creationId xmlns:a16="http://schemas.microsoft.com/office/drawing/2014/main" id="{ECDB3754-8ED5-A8DB-489E-75BC63A66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1521" y="1645920"/>
              <a:ext cx="5303520" cy="42976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8228D3A-F48F-EFC2-30B4-74AFADBC2C2C}"/>
              </a:ext>
            </a:extLst>
          </p:cNvPr>
          <p:cNvSpPr txBox="1"/>
          <p:nvPr/>
        </p:nvSpPr>
        <p:spPr>
          <a:xfrm>
            <a:off x="143723" y="4312916"/>
            <a:ext cx="2391321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10 :  Propagation Delay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24DF7-4583-8C05-2AFD-1C444F587BB0}"/>
              </a:ext>
            </a:extLst>
          </p:cNvPr>
          <p:cNvSpPr txBox="1"/>
          <p:nvPr/>
        </p:nvSpPr>
        <p:spPr>
          <a:xfrm>
            <a:off x="3087646" y="4264052"/>
            <a:ext cx="2391321" cy="523220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11 :  Average Power Dissipation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5FDB8-8753-00C7-C113-EB60EA399876}"/>
              </a:ext>
            </a:extLst>
          </p:cNvPr>
          <p:cNvSpPr txBox="1"/>
          <p:nvPr/>
        </p:nvSpPr>
        <p:spPr>
          <a:xfrm>
            <a:off x="6239724" y="4230970"/>
            <a:ext cx="2391321" cy="523220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12: Product Delay Propagation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9A9574-39B6-AF88-267C-D6960B896B60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3165036" y="469868"/>
            <a:ext cx="2142944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KEY FINDINGS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5" y="1404912"/>
            <a:ext cx="6833890" cy="2359367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GDI  Technique demonstrate: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Its </a:t>
            </a:r>
            <a:r>
              <a:rPr lang="en-US" b="1" dirty="0"/>
              <a:t>low power consumption</a:t>
            </a:r>
            <a:r>
              <a:rPr lang="en-US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Provides </a:t>
            </a:r>
            <a:r>
              <a:rPr lang="en-US" b="1" dirty="0"/>
              <a:t>short propagation delay</a:t>
            </a:r>
            <a:r>
              <a:rPr lang="en-US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Requires </a:t>
            </a:r>
            <a:r>
              <a:rPr lang="en-US" b="1" dirty="0"/>
              <a:t>fewer transistors</a:t>
            </a:r>
            <a:r>
              <a:rPr lang="en-US" dirty="0"/>
              <a:t>.</a:t>
            </a:r>
          </a:p>
          <a:p>
            <a:pPr lvl="0"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CMOS still viable for cost-sensitive applications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F02E23-DEFA-F75D-3E5D-638A65C82EBC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3323347" y="343487"/>
            <a:ext cx="1912485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CONCLUSION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5" y="1404913"/>
            <a:ext cx="6982573" cy="2130768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CMOS faces scalability and performance limitations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GDI technique addresses these with superior design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For future VLSI design, GDI technique offers better performance and efficiency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LTspice simulations confirm performance gains in GDI based designs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2F016-F24B-93BC-CF3C-49A64FE361A3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</a:t>
            </a: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3231944" y="462433"/>
            <a:ext cx="1858676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Future Work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5" y="1337782"/>
            <a:ext cx="6749991" cy="2975138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Study GDI Technique under varied temperatures and voltages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Analyze integration into larger digital blocks (e.g., ALUs)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Explore hybrid logic families for ultra-low power designs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Investigate real-time implementations using FPGA or ASIC platforms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Evaluate GDI  performance in logic-intensive circuits like full adders or multiplexers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Explore noise immunity and signal integrity analysis in GDI Technique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Extend simulations to  beyond to analyze scalability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DA0CE6-CA47-490D-EFA4-D74F86BDADA1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</a:t>
            </a: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F2460F85-664D-F5F9-A622-2502B8236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8F1636A1-ACD3-F742-3338-1F4BFAD31C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1944" y="462433"/>
            <a:ext cx="2128076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REFERENCES</a:t>
            </a:r>
            <a:endParaRPr lang="en-US" sz="1800" dirty="0"/>
          </a:p>
        </p:txBody>
      </p:sp>
      <p:sp>
        <p:nvSpPr>
          <p:cNvPr id="3" name="Google Shape;1195;p86">
            <a:extLst>
              <a:ext uri="{FF2B5EF4-FFF2-40B4-BE49-F238E27FC236}">
                <a16:creationId xmlns:a16="http://schemas.microsoft.com/office/drawing/2014/main" id="{FA6812D1-98DF-EA7D-A476-D2189988EA42}"/>
              </a:ext>
            </a:extLst>
          </p:cNvPr>
          <p:cNvSpPr txBox="1"/>
          <p:nvPr/>
        </p:nvSpPr>
        <p:spPr>
          <a:xfrm>
            <a:off x="734071" y="995811"/>
            <a:ext cx="6749991" cy="3226784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/>
              <a:t>[1] A. Kumar and M. Kumar, “Improved Design of CMOS 1-Bit Comparator with Stacking Technique,” International Journal of Current Engineering and Technology, Vol. 7, no. 3, pp. 1044–1047, 2017.</a:t>
            </a:r>
          </a:p>
          <a:p>
            <a:endParaRPr lang="en-US" sz="1200" dirty="0"/>
          </a:p>
          <a:p>
            <a:r>
              <a:rPr lang="en-US" sz="1200" dirty="0"/>
              <a:t>[2] D. Tailor, T. Sharma, and M. Kumar, “Design of CMOS Based 1-bit Comparator with MTCMOS and Forced Stack Technique in 180µm Technology,” in Proc. 2019 IEEE International Conference on Signal Processing and Communication (ICSC), NOIDA, India, pp. 330–334, 2019.</a:t>
            </a:r>
          </a:p>
          <a:p>
            <a:endParaRPr lang="en-US" sz="1200" dirty="0"/>
          </a:p>
          <a:p>
            <a:r>
              <a:rPr lang="en-US" sz="1200" dirty="0"/>
              <a:t> [3] S. Lubaba, M. S. Islam, K. M. Faisal, and M. Hasan, “Design of a Two-Bit Magnitude Comparator Based on Pass Transistor, Transmission Gate and Conventional Static CMOS Logic,” in Proc. 2020 IEEE Region 10 Symposium (TENSYMP), Dhaka, Bangladesh, pp. 1114–1117, 2020. </a:t>
            </a:r>
          </a:p>
          <a:p>
            <a:endParaRPr lang="en-US" sz="1200" dirty="0"/>
          </a:p>
          <a:p>
            <a:r>
              <a:rPr lang="en-US" sz="1200" dirty="0"/>
              <a:t>[4] Y. Sharma, B. S. Premananda, D. Raj, and K. Pandey, “Design and Analysis of a 1-bit Comparator for Low Power VLSI Systems,” in Proc. 2025 Third International Conference on Networks, Multimedia and Information Technology (NMITCON), Bengaluru, India, pp. 1–6, 2025.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9BA2E4-6DA3-39C7-0FCE-0CD3D0ED53A5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15185698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745413" y="1971100"/>
            <a:ext cx="2969587" cy="600650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4000" b="1" dirty="0"/>
              <a:t>THANK</a:t>
            </a:r>
            <a:endParaRPr lang="en-US" sz="4000" dirty="0"/>
          </a:p>
        </p:txBody>
      </p:sp>
      <p:sp>
        <p:nvSpPr>
          <p:cNvPr id="4" name="Google Shape;1133;p85"/>
          <p:cNvSpPr txBox="1"/>
          <p:nvPr/>
        </p:nvSpPr>
        <p:spPr>
          <a:xfrm>
            <a:off x="2745412" y="2571750"/>
            <a:ext cx="2969587" cy="600650"/>
          </a:xfrm>
          <a:prstGeom prst="rect">
            <a:avLst/>
          </a:prstGeom>
          <a:solidFill>
            <a:schemeClr val="bg2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56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</a:rPr>
              <a:t>YOU</a:t>
            </a:r>
            <a:endParaRPr lang="en-US" sz="4000" dirty="0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Simple Style Thesis Defense XL by Slidesgo">
  <a:themeElements>
    <a:clrScheme name="Simple Light">
      <a:dk1>
        <a:srgbClr val="D4CAB7"/>
      </a:dk1>
      <a:lt1>
        <a:srgbClr val="E3DAC5"/>
      </a:lt1>
      <a:dk2>
        <a:srgbClr val="334436"/>
      </a:dk2>
      <a:lt2>
        <a:srgbClr val="DFAA28"/>
      </a:lt2>
      <a:accent1>
        <a:srgbClr val="2C4EB8"/>
      </a:accent1>
      <a:accent2>
        <a:srgbClr val="EA5430"/>
      </a:accent2>
      <a:accent3>
        <a:srgbClr val="334436"/>
      </a:accent3>
      <a:accent4>
        <a:srgbClr val="DFAA28"/>
      </a:accent4>
      <a:accent5>
        <a:srgbClr val="2C4EB8"/>
      </a:accent5>
      <a:accent6>
        <a:srgbClr val="EA5430"/>
      </a:accent6>
      <a:hlink>
        <a:srgbClr val="3344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  <wetp:taskpane dockstate="right" visibility="0" width="438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8BAF362-A0AF-4709-8017-2BFA54B3AE05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86AD610-CF7B-4388-AAEB-0CDA8B64AA60}">
  <we:reference id="wa200005566" version="3.0.1.2" store="en-US" storeType="OMEX"/>
  <we:alternateReferences>
    <we:reference id="wa200005566" version="3.0.1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1561</Words>
  <Application>Microsoft Office PowerPoint</Application>
  <PresentationFormat>On-screen Show (16:9)</PresentationFormat>
  <Paragraphs>295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Anaheim</vt:lpstr>
      <vt:lpstr>Arial</vt:lpstr>
      <vt:lpstr>Bebas Neue</vt:lpstr>
      <vt:lpstr>Calibri</vt:lpstr>
      <vt:lpstr>Cambria Math</vt:lpstr>
      <vt:lpstr>Inter</vt:lpstr>
      <vt:lpstr>Montserrat ExtraBold</vt:lpstr>
      <vt:lpstr>Montserrat Medium</vt:lpstr>
      <vt:lpstr>Poppins SemiBold</vt:lpstr>
      <vt:lpstr>Wingdings</vt:lpstr>
      <vt:lpstr>Simple Style Thesis Defense XL by Slidesgo</vt:lpstr>
      <vt:lpstr>AN ULTRA LOW POWER 10 TRANSISTOR 1 BIT MAGNITUDE COMPARATOR USING GATE DIFFUSION INPUT TECHNIQUE </vt:lpstr>
      <vt:lpstr>INTRODUCTION</vt:lpstr>
      <vt:lpstr>PowerPoint Presentation</vt:lpstr>
      <vt:lpstr>INTRODUCTION</vt:lpstr>
      <vt:lpstr>PROBLEM STATEMENT</vt:lpstr>
      <vt:lpstr>OBJECTIVES</vt:lpstr>
      <vt:lpstr>METHODOLOGY</vt:lpstr>
      <vt:lpstr>LITERATURE REVIEW</vt:lpstr>
      <vt:lpstr>INTRODUCTION TO Comparator</vt:lpstr>
      <vt:lpstr>CMOS Logic Styles</vt:lpstr>
      <vt:lpstr>CIRCUIT DESIGN  COMPARE IN VARIOUS  TECHNIQUE</vt:lpstr>
      <vt:lpstr>CIRCUIT DESIGN  COMPARE IN VARIOUS  TECHNIQUE</vt:lpstr>
      <vt:lpstr>CIRCUIT DESIGN  COMPARE IN VARIOUS  TECHNIQUE</vt:lpstr>
      <vt:lpstr>CIRCUIT DESIGN  COMPARE IN VARIOUS  TECHNIQUE</vt:lpstr>
      <vt:lpstr>SIMULATION &amp; RESULTS </vt:lpstr>
      <vt:lpstr>SIMULATION &amp; RESULTS </vt:lpstr>
      <vt:lpstr>PERFORMANCE COMPARISON</vt:lpstr>
      <vt:lpstr>KEY FINDINGS</vt:lpstr>
      <vt:lpstr>CONCLUSION</vt:lpstr>
      <vt:lpstr>Future Work</vt:lpstr>
      <vt:lpstr>REFERENCES</vt:lpstr>
      <vt:lpstr>THANK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Shahrear hossain</cp:lastModifiedBy>
  <cp:revision>136</cp:revision>
  <dcterms:created xsi:type="dcterms:W3CDTF">2025-04-14T13:57:50Z</dcterms:created>
  <dcterms:modified xsi:type="dcterms:W3CDTF">2026-10-09T08:48:51Z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34C85A1C91D14FE3BDE3A3205F12D325_12</vt:lpwstr>
  </property>
  <property fmtid="{D5CDD505-2E9C-101B-9397-08002B2CF9AE}" pid="3" name="KSOProductBuildVer">
    <vt:lpwstr>1033-12.2.0.20795</vt:lpwstr>
  </property>
</Properties>
</file>