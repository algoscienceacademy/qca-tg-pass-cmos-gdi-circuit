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333" r:id="rId4"/>
    <p:sldId id="288" r:id="rId5"/>
    <p:sldId id="334" r:id="rId6"/>
    <p:sldId id="268" r:id="rId7"/>
    <p:sldId id="283" r:id="rId8"/>
    <p:sldId id="348" r:id="rId9"/>
    <p:sldId id="335" r:id="rId10"/>
    <p:sldId id="337" r:id="rId11"/>
    <p:sldId id="338" r:id="rId12"/>
    <p:sldId id="358" r:id="rId13"/>
    <p:sldId id="359" r:id="rId14"/>
    <p:sldId id="360" r:id="rId15"/>
    <p:sldId id="357" r:id="rId16"/>
    <p:sldId id="351" r:id="rId17"/>
    <p:sldId id="342" r:id="rId18"/>
    <p:sldId id="343" r:id="rId19"/>
    <p:sldId id="345" r:id="rId20"/>
    <p:sldId id="344" r:id="rId21"/>
    <p:sldId id="352" r:id="rId22"/>
    <p:sldId id="34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A28"/>
    <a:srgbClr val="334436"/>
    <a:srgbClr val="E3D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C18286-B338-40E4-A1DF-69A9D49425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9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2" name="Google Shape;3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524e77840e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3" name="Google Shape;513;g1524e77840e_1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6" name="Google Shape;916;g1524e77840e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>
          <a:extLst>
            <a:ext uri="{FF2B5EF4-FFF2-40B4-BE49-F238E27FC236}">
              <a16:creationId xmlns:a16="http://schemas.microsoft.com/office/drawing/2014/main" id="{6D6B41D8-E3B1-3603-1F98-09A575E8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>
            <a:extLst>
              <a:ext uri="{FF2B5EF4-FFF2-40B4-BE49-F238E27FC236}">
                <a16:creationId xmlns:a16="http://schemas.microsoft.com/office/drawing/2014/main" id="{1DF42778-B955-E3BE-340F-030799253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6" name="Google Shape;916;g1524e77840e_1_159:notes">
            <a:extLst>
              <a:ext uri="{FF2B5EF4-FFF2-40B4-BE49-F238E27FC236}">
                <a16:creationId xmlns:a16="http://schemas.microsoft.com/office/drawing/2014/main" id="{5C50185C-87E4-44B7-013C-5967869FD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885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D3FC58E1-15AB-4E6F-4521-9BE47A5B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EB2567B4-1D8D-014D-2060-B28670589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F7592C19-7ABD-F7B0-9871-BEA2F763C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527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5AA6AEEA-36D7-22F3-E17D-0A3C1EAA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47BF960E-E387-E16F-8687-4F47BFD6C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4AE0BFC0-F6F6-EE49-6A04-2E9B943A7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899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8F137517-B1CE-9AFD-D0B5-EED11784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586F1213-F05D-DB23-8C7C-38F798470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AC627CCB-5F0B-7068-E1B7-DADB66591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762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FA8C2F89-BD26-66BF-C9AC-8F2DBFD8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687D9728-C978-DADD-1ACB-C66867294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35640890-2C93-6ECA-67E3-93B002E90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29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9A9A4A60-1AF3-CC77-B1D8-EB58B225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A8C03556-2542-3088-1F73-CE846E91E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83D5800D-9BD8-9969-C392-65002FD41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070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0BD9DFAE-744C-9E62-36BF-964DC390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DBB6F03C-9DAF-B5BD-7B66-7819BB138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9296D8CC-694C-BB68-40E8-4977B545E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5808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 t="3688" r="62189"/>
          <a:stretch>
            <a:fillRect/>
          </a:stretch>
        </p:blipFill>
        <p:spPr>
          <a:xfrm>
            <a:off x="7764750" y="1521950"/>
            <a:ext cx="1379249" cy="2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955075"/>
            <a:ext cx="5294700" cy="17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2902750"/>
            <a:ext cx="3735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346300" y="759479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388100" y="1199575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 flipH="1">
            <a:off x="7271700" y="641925"/>
            <a:ext cx="1152300" cy="11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2"/>
          <a:srcRect l="35695" b="37830"/>
          <a:stretch>
            <a:fillRect/>
          </a:stretch>
        </p:blipFill>
        <p:spPr>
          <a:xfrm flipH="1">
            <a:off x="6705601" y="3443923"/>
            <a:ext cx="2438399" cy="16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2"/>
          <a:srcRect r="25317"/>
          <a:stretch>
            <a:fillRect/>
          </a:stretch>
        </p:blipFill>
        <p:spPr>
          <a:xfrm rot="5400000">
            <a:off x="174625" y="2495374"/>
            <a:ext cx="2726400" cy="2632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30705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2" hasCustomPrompt="1"/>
          </p:nvPr>
        </p:nvSpPr>
        <p:spPr>
          <a:xfrm>
            <a:off x="30705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30705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3"/>
          </p:nvPr>
        </p:nvSpPr>
        <p:spPr>
          <a:xfrm>
            <a:off x="57543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57543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5"/>
          </p:nvPr>
        </p:nvSpPr>
        <p:spPr>
          <a:xfrm>
            <a:off x="57543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30705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 hasCustomPrompt="1"/>
          </p:nvPr>
        </p:nvSpPr>
        <p:spPr>
          <a:xfrm>
            <a:off x="30705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30705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7543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3" hasCustomPrompt="1"/>
          </p:nvPr>
        </p:nvSpPr>
        <p:spPr>
          <a:xfrm>
            <a:off x="57543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4"/>
          </p:nvPr>
        </p:nvSpPr>
        <p:spPr>
          <a:xfrm>
            <a:off x="57543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738800" y="2805475"/>
            <a:ext cx="1484400" cy="148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8065250" y="-3038796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 idx="2"/>
          </p:nvPr>
        </p:nvSpPr>
        <p:spPr>
          <a:xfrm>
            <a:off x="1959975" y="12973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"/>
          </p:nvPr>
        </p:nvSpPr>
        <p:spPr>
          <a:xfrm>
            <a:off x="1959985" y="15613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 idx="3"/>
          </p:nvPr>
        </p:nvSpPr>
        <p:spPr>
          <a:xfrm>
            <a:off x="1959975" y="2125208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4"/>
          </p:nvPr>
        </p:nvSpPr>
        <p:spPr>
          <a:xfrm>
            <a:off x="1959985" y="23891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title" idx="5"/>
          </p:nvPr>
        </p:nvSpPr>
        <p:spPr>
          <a:xfrm>
            <a:off x="1959975" y="2953042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6"/>
          </p:nvPr>
        </p:nvSpPr>
        <p:spPr>
          <a:xfrm>
            <a:off x="1959985" y="32170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 idx="7"/>
          </p:nvPr>
        </p:nvSpPr>
        <p:spPr>
          <a:xfrm>
            <a:off x="1959975" y="37808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8"/>
          </p:nvPr>
        </p:nvSpPr>
        <p:spPr>
          <a:xfrm>
            <a:off x="1959985" y="40448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2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rot="10800000" flipH="1">
            <a:off x="-6008" y="3669179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7"/>
          <p:cNvSpPr/>
          <p:nvPr/>
        </p:nvSpPr>
        <p:spPr>
          <a:xfrm rot="10800000">
            <a:off x="-2010349" y="4551874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flipH="1">
            <a:off x="6484914" y="-280150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/>
          <p:nvPr/>
        </p:nvSpPr>
        <p:spPr>
          <a:xfrm>
            <a:off x="7421938" y="-3150721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/>
          <p:nvPr/>
        </p:nvSpPr>
        <p:spPr>
          <a:xfrm rot="10800000">
            <a:off x="5466157" y="38325"/>
            <a:ext cx="3545443" cy="1362071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/>
          <p:nvPr/>
        </p:nvSpPr>
        <p:spPr>
          <a:xfrm>
            <a:off x="127347" y="3686724"/>
            <a:ext cx="3791903" cy="1456754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5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ExtraBold"/>
              <a:buNone/>
              <a:defRPr sz="2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  <a:defRPr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>
            <a:spLocks noGrp="1"/>
          </p:cNvSpPr>
          <p:nvPr>
            <p:ph type="ctrTitle"/>
          </p:nvPr>
        </p:nvSpPr>
        <p:spPr>
          <a:xfrm>
            <a:off x="163547" y="312137"/>
            <a:ext cx="8702606" cy="730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000" dirty="0"/>
              <a:t>AN ULTRA LOW POWER 10 TRANSISTOR 1 BIT MAGNITUDE COMPARATOR USING GATE DIFFUSION INPUT TECHNIQUE </a:t>
            </a:r>
          </a:p>
        </p:txBody>
      </p:sp>
      <p:sp>
        <p:nvSpPr>
          <p:cNvPr id="365" name="Google Shape;365;p53"/>
          <p:cNvSpPr txBox="1">
            <a:spLocks noGrp="1"/>
          </p:cNvSpPr>
          <p:nvPr>
            <p:ph type="subTitle" idx="1"/>
          </p:nvPr>
        </p:nvSpPr>
        <p:spPr>
          <a:xfrm>
            <a:off x="3393281" y="3241281"/>
            <a:ext cx="2793963" cy="952102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400" b="1" dirty="0">
                <a:sym typeface="Poppins SemiBold"/>
              </a:rPr>
              <a:t>Supervised by: </a:t>
            </a:r>
          </a:p>
          <a:p>
            <a:pPr algn="ctr"/>
            <a:r>
              <a:rPr lang="en-US" sz="1400" b="1" dirty="0">
                <a:sym typeface="Poppins SemiBold"/>
              </a:rPr>
              <a:t>Riazul Islam</a:t>
            </a:r>
          </a:p>
          <a:p>
            <a:pPr algn="ctr"/>
            <a:r>
              <a:rPr lang="en-US" sz="1400" b="1" dirty="0">
                <a:sym typeface="Poppins SemiBold"/>
              </a:rPr>
              <a:t>Lecturer</a:t>
            </a:r>
          </a:p>
        </p:txBody>
      </p:sp>
      <p:sp>
        <p:nvSpPr>
          <p:cNvPr id="6" name="Google Shape;365;p53"/>
          <p:cNvSpPr txBox="1"/>
          <p:nvPr/>
        </p:nvSpPr>
        <p:spPr>
          <a:xfrm>
            <a:off x="2919572" y="1794269"/>
            <a:ext cx="3304856" cy="730850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z="1400" b="1" dirty="0"/>
              <a:t>Shahrear Hossain Shawon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ID: ET223104</a:t>
            </a:r>
          </a:p>
        </p:txBody>
      </p:sp>
      <p:sp>
        <p:nvSpPr>
          <p:cNvPr id="7" name="Google Shape;365;p53"/>
          <p:cNvSpPr txBox="1"/>
          <p:nvPr/>
        </p:nvSpPr>
        <p:spPr>
          <a:xfrm>
            <a:off x="78581" y="3992563"/>
            <a:ext cx="6502397" cy="95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b="1" dirty="0"/>
              <a:t>Department of</a:t>
            </a:r>
          </a:p>
          <a:p>
            <a:pPr>
              <a:lnSpc>
                <a:spcPct val="150000"/>
              </a:lnSpc>
            </a:pPr>
            <a:r>
              <a:rPr lang="en-GB" sz="1200" b="1" dirty="0"/>
              <a:t>Electrical and Electronic Engineering</a:t>
            </a: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GB" sz="1400" dirty="0"/>
              <a:t>INTERNATIONAL ISLAMIC UNIVERSITY CHITTAGONG</a:t>
            </a:r>
            <a:endParaRPr lang="en-US" sz="1400" dirty="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3246670" y="460950"/>
            <a:ext cx="1922640" cy="527700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INTRODUCTION</a:t>
            </a:r>
            <a:endParaRPr lang="en-US" sz="1600" dirty="0"/>
          </a:p>
        </p:txBody>
      </p:sp>
      <p:sp>
        <p:nvSpPr>
          <p:cNvPr id="32" name="Google Shape;380;p55">
            <a:hlinkClick r:id="rId4" action="ppaction://hlinksldjump"/>
          </p:cNvPr>
          <p:cNvSpPr txBox="1"/>
          <p:nvPr/>
        </p:nvSpPr>
        <p:spPr>
          <a:xfrm>
            <a:off x="3246670" y="988650"/>
            <a:ext cx="287391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PROBLEM STATEMENT</a:t>
            </a:r>
            <a:endParaRPr lang="en-US" sz="1600" dirty="0"/>
          </a:p>
        </p:txBody>
      </p:sp>
      <p:sp>
        <p:nvSpPr>
          <p:cNvPr id="33" name="Google Shape;380;p55">
            <a:hlinkClick r:id="rId4" action="ppaction://hlinksldjump"/>
          </p:cNvPr>
          <p:cNvSpPr txBox="1"/>
          <p:nvPr/>
        </p:nvSpPr>
        <p:spPr>
          <a:xfrm>
            <a:off x="3246670" y="1521355"/>
            <a:ext cx="1701414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OBJECTIVES</a:t>
            </a:r>
            <a:endParaRPr lang="en-US" sz="1600" dirty="0"/>
          </a:p>
        </p:txBody>
      </p:sp>
      <p:sp>
        <p:nvSpPr>
          <p:cNvPr id="34" name="Google Shape;380;p55">
            <a:hlinkClick r:id="rId4" action="ppaction://hlinksldjump"/>
          </p:cNvPr>
          <p:cNvSpPr txBox="1"/>
          <p:nvPr/>
        </p:nvSpPr>
        <p:spPr>
          <a:xfrm>
            <a:off x="3241709" y="2051424"/>
            <a:ext cx="251753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METHODOLOGY</a:t>
            </a:r>
            <a:endParaRPr lang="en-US" sz="1600" dirty="0"/>
          </a:p>
        </p:txBody>
      </p:sp>
      <p:sp>
        <p:nvSpPr>
          <p:cNvPr id="35" name="Google Shape;380;p55">
            <a:hlinkClick r:id="rId4" action="ppaction://hlinksldjump"/>
          </p:cNvPr>
          <p:cNvSpPr txBox="1"/>
          <p:nvPr/>
        </p:nvSpPr>
        <p:spPr>
          <a:xfrm>
            <a:off x="3241709" y="2579124"/>
            <a:ext cx="251753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LITERATURE REVIEW</a:t>
            </a:r>
            <a:endParaRPr lang="en-US" sz="1600" dirty="0"/>
          </a:p>
        </p:txBody>
      </p:sp>
      <p:sp>
        <p:nvSpPr>
          <p:cNvPr id="36" name="Google Shape;380;p55">
            <a:hlinkClick r:id="rId4" action="ppaction://hlinksldjump"/>
          </p:cNvPr>
          <p:cNvSpPr txBox="1"/>
          <p:nvPr/>
        </p:nvSpPr>
        <p:spPr>
          <a:xfrm>
            <a:off x="3241708" y="3106458"/>
            <a:ext cx="4036915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INTRODUCTION TO COMPARATOR</a:t>
            </a:r>
            <a:endParaRPr lang="en-US" sz="1600" dirty="0"/>
          </a:p>
        </p:txBody>
      </p:sp>
      <p:sp>
        <p:nvSpPr>
          <p:cNvPr id="37" name="Google Shape;380;p55">
            <a:hlinkClick r:id="rId4" action="ppaction://hlinksldjump"/>
          </p:cNvPr>
          <p:cNvSpPr txBox="1"/>
          <p:nvPr/>
        </p:nvSpPr>
        <p:spPr>
          <a:xfrm>
            <a:off x="3244524" y="3634158"/>
            <a:ext cx="251472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CMOS LOGIC STYLES</a:t>
            </a:r>
            <a:endParaRPr lang="en-US" sz="1600" dirty="0"/>
          </a:p>
        </p:txBody>
      </p:sp>
      <p:sp>
        <p:nvSpPr>
          <p:cNvPr id="38" name="Google Shape;380;p55">
            <a:hlinkClick r:id="rId4" action="ppaction://hlinksldjump"/>
          </p:cNvPr>
          <p:cNvSpPr txBox="1"/>
          <p:nvPr/>
        </p:nvSpPr>
        <p:spPr>
          <a:xfrm>
            <a:off x="3244524" y="4161858"/>
            <a:ext cx="5464399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VARIOUS COMPARATOR TECHNIQUE AND THEIR TRUTH TABLE  </a:t>
            </a:r>
          </a:p>
        </p:txBody>
      </p:sp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FB445-04BC-8C46-EF0F-3CEE7D621C3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01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380;p55">
            <a:hlinkClick r:id="rId4" action="ppaction://hlinksldjump"/>
          </p:cNvPr>
          <p:cNvSpPr txBox="1"/>
          <p:nvPr/>
        </p:nvSpPr>
        <p:spPr>
          <a:xfrm>
            <a:off x="3362494" y="2127964"/>
            <a:ext cx="281732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SIMULATION &amp; RESULTS </a:t>
            </a:r>
            <a:endParaRPr lang="en-US" sz="1600" dirty="0"/>
          </a:p>
        </p:txBody>
      </p:sp>
      <p:sp>
        <p:nvSpPr>
          <p:cNvPr id="19" name="Google Shape;380;p55">
            <a:hlinkClick r:id="rId4" action="ppaction://hlinksldjump"/>
          </p:cNvPr>
          <p:cNvSpPr txBox="1"/>
          <p:nvPr/>
        </p:nvSpPr>
        <p:spPr>
          <a:xfrm>
            <a:off x="3362494" y="2655664"/>
            <a:ext cx="375458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PERFORMANCE COMPARISON</a:t>
            </a:r>
            <a:endParaRPr lang="en-US" sz="1600" dirty="0"/>
          </a:p>
        </p:txBody>
      </p:sp>
      <p:sp>
        <p:nvSpPr>
          <p:cNvPr id="20" name="Google Shape;380;p55">
            <a:hlinkClick r:id="rId4" action="ppaction://hlinksldjump"/>
          </p:cNvPr>
          <p:cNvSpPr txBox="1"/>
          <p:nvPr/>
        </p:nvSpPr>
        <p:spPr>
          <a:xfrm>
            <a:off x="3362494" y="3188966"/>
            <a:ext cx="1828938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CONCLUSION</a:t>
            </a:r>
            <a:endParaRPr lang="en-US" sz="1600" dirty="0"/>
          </a:p>
        </p:txBody>
      </p:sp>
      <p:sp>
        <p:nvSpPr>
          <p:cNvPr id="21" name="Google Shape;380;p55">
            <a:hlinkClick r:id="rId4" action="ppaction://hlinksldjump"/>
          </p:cNvPr>
          <p:cNvSpPr txBox="1"/>
          <p:nvPr/>
        </p:nvSpPr>
        <p:spPr>
          <a:xfrm>
            <a:off x="3362494" y="3716666"/>
            <a:ext cx="1828938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FUTURE WORK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071F4E-829E-40B6-FFDD-714AA63B279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02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86616" y="294891"/>
            <a:ext cx="2140913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829056"/>
            <a:ext cx="6972058" cy="3633215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Magnitude comparators are fundamental building blocks in digital VLSI systems, used to compare two binary inputs and determine A greater than B, A less than B, or A equal to B.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play a crucial role in arithmetic logic units (ALUs), processors, memory address decoding, digital controllers, and embedded systems.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growing demand for ultra-low-power and high-speed integrated circuits has increased the need for comparator designs with lower transistor count, reduced power consumption, and faster propagation delay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thesis proposes and analyzes an Ultra-Low-Power 10-Transistor 1-Bit Magnitude Comparator using the Gate Diffusion Input (GDI) Technique, and evaluates its performance in terms of power, propagation delay, and power-delay product (PDP) across 180 nm, 90 nm, and 45 nm PTM technology nodes.</a:t>
            </a:r>
          </a:p>
          <a:p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74A48A-D195-F278-57C4-66F00CC5B1D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03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04401" y="327531"/>
            <a:ext cx="2941012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PROBLEM STATEMENT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110852"/>
            <a:ext cx="7445226" cy="351194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High transistor count in conventional CMOS comparators.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Increased power consumption and silicon area.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Higher propagation delay due to complex logic paths.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Leakage current and parasitic capacitance at scaled technology nodes.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Need for an ultra-low-power, high-speed comparator design.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GDI technique offers reduced transistor count and improved efficiency.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Comparative evaluation is required using Power, Delay, PDP, and Transistor Count.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2230E-4479-DBCD-1A9C-D79E8DDB0AC0}"/>
              </a:ext>
            </a:extLst>
          </p:cNvPr>
          <p:cNvSpPr txBox="1"/>
          <p:nvPr/>
        </p:nvSpPr>
        <p:spPr>
          <a:xfrm>
            <a:off x="8720498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/>
          <p:nvPr/>
        </p:nvSpPr>
        <p:spPr>
          <a:xfrm flipH="1">
            <a:off x="1301897" y="1289899"/>
            <a:ext cx="770250" cy="72325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17" name="Google Shape;517;p65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518" name="Google Shape;518;p65"/>
          <p:cNvSpPr txBox="1"/>
          <p:nvPr/>
        </p:nvSpPr>
        <p:spPr>
          <a:xfrm flipH="1">
            <a:off x="2202068" y="1295020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design and simulate 1 Bit Comparator using CMOS GDI technique.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Google Shape;515;p65"/>
          <p:cNvSpPr/>
          <p:nvPr/>
        </p:nvSpPr>
        <p:spPr>
          <a:xfrm flipH="1">
            <a:off x="1354768" y="2408306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" name="Google Shape;518;p65"/>
          <p:cNvSpPr txBox="1"/>
          <p:nvPr/>
        </p:nvSpPr>
        <p:spPr>
          <a:xfrm flipH="1">
            <a:off x="2202068" y="2452246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 Transistor Number of the Comparator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" name="Google Shape;515;p65"/>
          <p:cNvSpPr/>
          <p:nvPr/>
        </p:nvSpPr>
        <p:spPr>
          <a:xfrm flipH="1">
            <a:off x="1362141" y="3520598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518;p65"/>
          <p:cNvSpPr txBox="1"/>
          <p:nvPr/>
        </p:nvSpPr>
        <p:spPr>
          <a:xfrm flipH="1">
            <a:off x="2202068" y="3564538"/>
            <a:ext cx="6374119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evaluate and compare key performance parameters such as:</a:t>
            </a:r>
          </a:p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Rise time, Fall time, Propagation delay, Power consumption. PDP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19F9C-BB9F-59D3-9E6E-FCFA4DBC2016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05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/>
          <p:cNvSpPr txBox="1">
            <a:spLocks noGrp="1"/>
          </p:cNvSpPr>
          <p:nvPr>
            <p:ph type="title"/>
          </p:nvPr>
        </p:nvSpPr>
        <p:spPr>
          <a:xfrm>
            <a:off x="571156" y="101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METHODOLOGY</a:t>
            </a:r>
            <a:endParaRPr dirty="0"/>
          </a:p>
        </p:txBody>
      </p:sp>
      <p:grpSp>
        <p:nvGrpSpPr>
          <p:cNvPr id="949" name="Google Shape;949;p80"/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/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/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/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/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/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A363AB-28EB-5ADC-0AC7-072058187E6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613DD-0BFA-BE9C-0B2D-08CA42B3F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768" y="511462"/>
            <a:ext cx="5124868" cy="4547543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>
          <a:extLst>
            <a:ext uri="{FF2B5EF4-FFF2-40B4-BE49-F238E27FC236}">
              <a16:creationId xmlns:a16="http://schemas.microsoft.com/office/drawing/2014/main" id="{7B9C5598-26F8-C459-2077-F3239917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>
            <a:extLst>
              <a:ext uri="{FF2B5EF4-FFF2-40B4-BE49-F238E27FC236}">
                <a16:creationId xmlns:a16="http://schemas.microsoft.com/office/drawing/2014/main" id="{3BDC10E9-C654-B7D9-CF94-BE5B5E69B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869" y="2327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LITERATURE REVIEW</a:t>
            </a:r>
            <a:endParaRPr lang="en-US" dirty="0"/>
          </a:p>
        </p:txBody>
      </p:sp>
      <p:grpSp>
        <p:nvGrpSpPr>
          <p:cNvPr id="949" name="Google Shape;949;p80">
            <a:extLst>
              <a:ext uri="{FF2B5EF4-FFF2-40B4-BE49-F238E27FC236}">
                <a16:creationId xmlns:a16="http://schemas.microsoft.com/office/drawing/2014/main" id="{27BBB560-75E7-B02F-0F54-D7D38B381DDC}"/>
              </a:ext>
            </a:extLst>
          </p:cNvPr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>
              <a:extLst>
                <a:ext uri="{FF2B5EF4-FFF2-40B4-BE49-F238E27FC236}">
                  <a16:creationId xmlns:a16="http://schemas.microsoft.com/office/drawing/2014/main" id="{66B1F792-E889-18F6-E637-895619CDCD88}"/>
                </a:ext>
              </a:extLst>
            </p:cNvPr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>
              <a:extLst>
                <a:ext uri="{FF2B5EF4-FFF2-40B4-BE49-F238E27FC236}">
                  <a16:creationId xmlns:a16="http://schemas.microsoft.com/office/drawing/2014/main" id="{5B0BEA37-17DC-0EB2-FA8C-ED9A8BDFB98A}"/>
                </a:ext>
              </a:extLst>
            </p:cNvPr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>
              <a:extLst>
                <a:ext uri="{FF2B5EF4-FFF2-40B4-BE49-F238E27FC236}">
                  <a16:creationId xmlns:a16="http://schemas.microsoft.com/office/drawing/2014/main" id="{44ABC34D-D679-3600-F644-817905D76E55}"/>
                </a:ext>
              </a:extLst>
            </p:cNvPr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>
              <a:extLst>
                <a:ext uri="{FF2B5EF4-FFF2-40B4-BE49-F238E27FC236}">
                  <a16:creationId xmlns:a16="http://schemas.microsoft.com/office/drawing/2014/main" id="{3C986D49-6728-FD8B-9495-6A04FE0BD585}"/>
                </a:ext>
              </a:extLst>
            </p:cNvPr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>
              <a:extLst>
                <a:ext uri="{FF2B5EF4-FFF2-40B4-BE49-F238E27FC236}">
                  <a16:creationId xmlns:a16="http://schemas.microsoft.com/office/drawing/2014/main" id="{4951C076-E574-EEC1-82D7-389A54C21A40}"/>
                </a:ext>
              </a:extLst>
            </p:cNvPr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2606C12-86CA-9625-D62E-53AFA61076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684701"/>
                  </p:ext>
                </p:extLst>
              </p:nvPr>
            </p:nvGraphicFramePr>
            <p:xfrm>
              <a:off x="220614" y="750405"/>
              <a:ext cx="8583504" cy="4025138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4544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681333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Arvind Kumar, Manoj Kumar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         2017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Proposed a </a:t>
                          </a:r>
                          <a:r>
                            <a:rPr lang="en-US" sz="1100" b="1" dirty="0"/>
                            <a:t>1-bit CMOS comparator using transistor stacking</a:t>
                          </a:r>
                          <a:r>
                            <a:rPr lang="en-US" sz="1100" dirty="0"/>
                            <a:t> across its XNOR and AND gates to reduce active-mode leakage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Marginally higher propagation delay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u="none" strike="noStrike" cap="none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49.38</m:t>
                              </m:r>
                              <m:r>
                                <m:rPr>
                                  <m:nor/>
                                </m:rPr>
                                <a:rPr lang="en-US" sz="1100" b="0" i="0" u="none" strike="noStrike" cap="none">
                                  <a:solidFill>
                                    <a:srgbClr val="000000"/>
                                  </a:solidFill>
                                  <a:latin typeface="Arial" panose="020B0604020202090204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 ns</m:t>
                              </m:r>
                            </m:oMath>
                          </a14:m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) and increased transistor count due to splitting transistors into series pairs.</a:t>
                          </a:r>
                          <a:r>
                            <a:rPr lang="en-US" sz="11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681333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Dheeraj Tailor, Tavesh Sharma, Manoj </a:t>
                          </a:r>
                          <a:r>
                            <a:rPr lang="en-US" sz="1100" dirty="0" err="1"/>
                            <a:t>Mumar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Designed a </a:t>
                          </a:r>
                          <a:r>
                            <a:rPr lang="en-US" sz="1100" b="1" dirty="0"/>
                            <a:t>1-bit CMOS comparator utilizing MTCMOS (for NOR gates) and Forced Stacking (for inverters)</a:t>
                          </a:r>
                          <a:r>
                            <a:rPr lang="en-US" sz="1100" dirty="0"/>
                            <a:t> to minimize subthreshold leakage and active power.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MTCMOS is a </a:t>
                          </a:r>
                          <a:r>
                            <a:rPr lang="en-US" sz="1100" b="1" dirty="0"/>
                            <a:t>state-destructive technique</a:t>
                          </a:r>
                          <a:r>
                            <a:rPr lang="en-US" sz="1100" dirty="0"/>
                            <a:t> (outputs from active mode are lost in standby mode); requires additional sleep control signal routing.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  <a:tr h="6813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Samiha Lubaba, K. M. Faisal , Moumita Sadia Islam, Mehedi Hasan</a:t>
                          </a:r>
                          <a:r>
                            <a:rPr lang="en-US" sz="1100" b="1" dirty="0"/>
                            <a:t>.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Developed a </a:t>
                          </a:r>
                          <a:r>
                            <a:rPr lang="en-US" sz="1100" b="1" dirty="0"/>
                            <a:t>2-bit hybrid magnitude comparator</a:t>
                          </a:r>
                          <a:r>
                            <a:rPr lang="en-US" sz="1100" dirty="0"/>
                            <a:t> using PTL/TGL-based XNOR gates for low-latency internal signal generation combined with C-CMOS output logic for high driving power and full swing.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Requires a total of </a:t>
                          </a:r>
                          <a:r>
                            <a:rPr lang="en-US" sz="1100" b="1" dirty="0"/>
                            <a:t>46 transistors</a:t>
                          </a:r>
                          <a:r>
                            <a:rPr lang="en-US" sz="1100" dirty="0"/>
                            <a:t>; average power dissipation (7.792 µW) remains slightly higher than pure GDI-based architectures.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209286"/>
                      </a:ext>
                    </a:extLst>
                  </a:tr>
                  <a:tr h="846915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Yashmit Sharma, </a:t>
                          </a:r>
                          <a:r>
                            <a:rPr lang="en-US" sz="1100" dirty="0" err="1"/>
                            <a:t>Premananda</a:t>
                          </a:r>
                          <a:r>
                            <a:rPr lang="en-US" sz="1100" dirty="0"/>
                            <a:t> B.S, Divyanshu Ra, Kshitij Pandey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2025</a:t>
                          </a:r>
                        </a:p>
                        <a:p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Created a </a:t>
                          </a:r>
                          <a:r>
                            <a:rPr lang="en-US" sz="11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1-bit hybrid comparator combining a 6T-MUX PTL Full Adder with TGL output gates</a:t>
                          </a:r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, achieving a 22-transistor footprint and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u="none" strike="noStrike" cap="none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58.7</m:t>
                              </m:r>
                              <m:r>
                                <a:rPr lang="en-US" sz="11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power reduction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Pass-transistor pathways can exhibit threshold voltage drop unless carefully sized/driven; requires inverted input signals (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</m:ctrlPr>
                                </m:barPr>
                                <m:e>
                                  <m: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  <m:t>𝐴</m:t>
                                  </m:r>
                                </m:e>
                              </m:bar>
                              <m:r>
                                <a:rPr lang="en-US" sz="11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,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</m:ctrlPr>
                                </m:barPr>
                                <m:e>
                                  <m: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  <m:t>𝐵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).</a:t>
                          </a:r>
                          <a:r>
                            <a:rPr lang="en-US" sz="11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2457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2606C12-86CA-9625-D62E-53AFA61076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684701"/>
                  </p:ext>
                </p:extLst>
              </p:nvPr>
            </p:nvGraphicFramePr>
            <p:xfrm>
              <a:off x="220614" y="750405"/>
              <a:ext cx="8583504" cy="4025138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4544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Arvind Kumar, Manoj Kumar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         2017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Proposed a </a:t>
                          </a:r>
                          <a:r>
                            <a:rPr lang="en-US" sz="1100" b="1" dirty="0"/>
                            <a:t>1-bit CMOS comparator using transistor stacking</a:t>
                          </a:r>
                          <a:r>
                            <a:rPr lang="en-US" sz="1100" dirty="0"/>
                            <a:t> across its XNOR and AND gates to reduce active-mode leakage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271" t="-61600" r="-251" b="-374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929640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Dheeraj Tailor, Tavesh Sharma, Manoj </a:t>
                          </a:r>
                          <a:r>
                            <a:rPr lang="en-US" sz="1100" dirty="0" err="1"/>
                            <a:t>Mumar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Designed a </a:t>
                          </a:r>
                          <a:r>
                            <a:rPr lang="en-US" sz="1100" b="1" dirty="0"/>
                            <a:t>1-bit CMOS comparator utilizing MTCMOS (for NOR gates) and Forced Stacking (for inverters)</a:t>
                          </a:r>
                          <a:r>
                            <a:rPr lang="en-US" sz="1100" dirty="0"/>
                            <a:t> to minimize subthreshold leakage and active power.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MTCMOS is a </a:t>
                          </a:r>
                          <a:r>
                            <a:rPr lang="en-US" sz="1100" b="1" dirty="0"/>
                            <a:t>state-destructive technique</a:t>
                          </a:r>
                          <a:r>
                            <a:rPr lang="en-US" sz="1100" dirty="0"/>
                            <a:t> (outputs from active mode are lost in standby mode); requires additional sleep control signal routing.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  <a:tr h="9296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Samiha Lubaba, K. M. Faisal , Moumita Sadia Islam, Mehedi Hasan</a:t>
                          </a:r>
                          <a:r>
                            <a:rPr lang="en-US" sz="1100" b="1" dirty="0"/>
                            <a:t>.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Developed a </a:t>
                          </a:r>
                          <a:r>
                            <a:rPr lang="en-US" sz="1100" b="1" dirty="0"/>
                            <a:t>2-bit hybrid magnitude comparator</a:t>
                          </a:r>
                          <a:r>
                            <a:rPr lang="en-US" sz="1100" dirty="0"/>
                            <a:t> using PTL/TGL-based XNOR gates for low-latency internal signal generation combined with C-CMOS output logic for high driving power and full swing.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Requires a total of </a:t>
                          </a:r>
                          <a:r>
                            <a:rPr lang="en-US" sz="1100" b="1" dirty="0"/>
                            <a:t>46 transistors</a:t>
                          </a:r>
                          <a:r>
                            <a:rPr lang="en-US" sz="1100" dirty="0"/>
                            <a:t>; average power dissipation (7.792 µW) remains slightly higher than pure GDI-based architectures.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209286"/>
                      </a:ext>
                    </a:extLst>
                  </a:tr>
                  <a:tr h="949389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Yashmit Sharma, </a:t>
                          </a:r>
                          <a:r>
                            <a:rPr lang="en-US" sz="1100" dirty="0" err="1"/>
                            <a:t>Premananda</a:t>
                          </a:r>
                          <a:r>
                            <a:rPr lang="en-US" sz="1100" dirty="0"/>
                            <a:t> B.S, Divyanshu Ra, Kshitij Pandey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2025</a:t>
                          </a:r>
                        </a:p>
                        <a:p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030" t="-325000" r="-75712" b="-4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271" t="-325000" r="-251" b="-44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2457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9F5F6B-CABD-EC9F-74E9-2E3D2AFE8CF7}"/>
              </a:ext>
            </a:extLst>
          </p:cNvPr>
          <p:cNvSpPr txBox="1"/>
          <p:nvPr/>
        </p:nvSpPr>
        <p:spPr>
          <a:xfrm>
            <a:off x="8752079" y="4770930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27274097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191162" y="172501"/>
            <a:ext cx="444834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 TO Comparator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195;p86"/>
              <p:cNvSpPr txBox="1"/>
              <p:nvPr/>
            </p:nvSpPr>
            <p:spPr>
              <a:xfrm>
                <a:off x="652294" y="914400"/>
                <a:ext cx="6781852" cy="39997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34436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Definition</a:t>
                </a:r>
                <a:r>
                  <a:rPr lang="en-US" dirty="0"/>
                  <a:t>: A digital magnitude comparator is a combinational logic circuit used to compare two binary numbers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and determine their relative numerical values.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Output Signals</a:t>
                </a:r>
                <a:r>
                  <a:rPr lang="en-US" dirty="0"/>
                  <a:t>: It generates three distinct output signals to indicate the exact comparison result: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(Greater Than),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(Less Than),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(Equal To).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Implementation Techniques</a:t>
                </a:r>
                <a:r>
                  <a:rPr lang="en-US" dirty="0"/>
                  <a:t>: Designed using various CMOS logic styles such as Complementary CMOS (C-CMOS), Transmission Gate Logic (TGL), Pass Transistor Logic (PTL), and Gate Diffusion Input (GDI).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Applications</a:t>
                </a:r>
                <a:r>
                  <a:rPr lang="en-US" dirty="0"/>
                  <a:t>: Used in ALU, processors, memory circuits, address decoding, and digital control systems.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Google Shape;1195;p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94" y="914400"/>
                <a:ext cx="6781852" cy="3999725"/>
              </a:xfrm>
              <a:prstGeom prst="rect">
                <a:avLst/>
              </a:prstGeom>
              <a:blipFill>
                <a:blip r:embed="rId4"/>
                <a:stretch>
                  <a:fillRect r="-538"/>
                </a:stretch>
              </a:blipFill>
              <a:ln>
                <a:solidFill>
                  <a:srgbClr val="33443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277AD34-7C3D-2FCB-D840-6E0BE9534D79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08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79182" y="120462"/>
            <a:ext cx="246952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CMOS Logic Styles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49BC0-8570-9FD3-740D-EAF84695DD1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33C529-ACF7-B4EB-7EC6-288B54E89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378925"/>
              </p:ext>
            </p:extLst>
          </p:nvPr>
        </p:nvGraphicFramePr>
        <p:xfrm>
          <a:off x="556261" y="811500"/>
          <a:ext cx="7139939" cy="409219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13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9160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Logic Style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Key Features &amp; Characteristics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Static Logic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Uses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</a:rPr>
                        <a:t>pMOS</a:t>
                      </a: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 and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</a:rPr>
                        <a:t>nMOS</a:t>
                      </a: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 in complementary fashion
Stable output maintained without clock
Low power dissipation when idle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PTL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Passes signals directly through single MOS switches to save area
Uses fewer transistors, lowering overall dynamic power usage
Loses voltage level (Vth drop) when passing a logic 1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TG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Connects NMOS and PMOS in parallel to pass full logic levels
Prevents voltage drop, giving clean strong 0 and 1 outputs
Needs inverted control signals, which increases routing complexity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GDI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Uses a 3-input cell to implement complex functions in few transistors
Cuts down power and area for circuits like XOR and MUX
Needs special twin-well CMOS fabrication to avoid body </a:t>
                      </a:r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effect issues</a:t>
                      </a:r>
                      <a:r>
                        <a:rPr lang="en-US" sz="1200" b="0" u="none">
                          <a:solidFill>
                            <a:srgbClr val="000000"/>
                          </a:solidFill>
                        </a:rPr>
                        <a:t>.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1097439" y="91068"/>
            <a:ext cx="7895063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VARIOUS COMPARATOR TECHNIQUE AND THEIR TRUTH TABLE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10A42B-9A4A-F5F0-E125-35837D0977A7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08FF62ED-B7C8-281F-0567-D20DA0372FD2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7F05FDDD-7B54-9F97-40B7-097FEC6C0D03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689E5082-B555-093F-E478-A512DC2E6722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BDBCD7D7-D942-2E05-7A9A-84B2BB75CABB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   Static CMOS (32T)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3182D1-4600-9BEB-3AC2-5C6DB8DC11CF}"/>
              </a:ext>
            </a:extLst>
          </p:cNvPr>
          <p:cNvSpPr txBox="1"/>
          <p:nvPr/>
        </p:nvSpPr>
        <p:spPr>
          <a:xfrm>
            <a:off x="1631980" y="453566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01: Static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210BB-8BCD-E82B-B4CC-9EA6F9C5A9F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09EB70-70C2-F77E-1B5C-227674082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66" y="935148"/>
            <a:ext cx="3112203" cy="3122789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F9F3C63-07B8-A38C-D7F7-1876F803E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549850"/>
              </p:ext>
            </p:extLst>
          </p:nvPr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3E0285A0-4218-A050-A8F7-20763D6FA9F7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02: Truth table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DCB5E087-1DD1-EB3F-32B1-55C90C45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B8074F6A-10BC-99B1-8228-5983FAA01E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6190" y="53797"/>
            <a:ext cx="8036312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VARIOUS COMPARATOR TECHNIQUE AND THEIR TRUTH TABLE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1E366C-9B4F-EC42-B17C-E3C593327522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EB61020A-672B-364D-29A8-33D313FB958A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6830076A-504C-ACCA-045E-042EC5D541ED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0C24668C-436D-5F74-CAF3-3B971C7A49AA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7EE67AF7-FDAE-52FC-9A8A-2AF658E70611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   Transmission Gate (16T)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315BCA0-3C04-32B4-DB96-13F9E5A30149}"/>
              </a:ext>
            </a:extLst>
          </p:cNvPr>
          <p:cNvSpPr txBox="1"/>
          <p:nvPr/>
        </p:nvSpPr>
        <p:spPr>
          <a:xfrm>
            <a:off x="1631980" y="453566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03: TG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6B7A5-8183-E823-B1C7-EF80628EACCB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F4EE386-00EF-662D-05CB-074E1C26E3A4}"/>
              </a:ext>
            </a:extLst>
          </p:cNvPr>
          <p:cNvGraphicFramePr>
            <a:graphicFrameLocks noGrp="1"/>
          </p:cNvGraphicFramePr>
          <p:nvPr/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2A28169-907A-5032-C966-3C641A798C6A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04: Truth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D377F3-CA0A-B000-578B-8B5BAEC79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29" y="871633"/>
            <a:ext cx="2851169" cy="333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8697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F6F24558-05FA-3EA7-26F8-865DC6D6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9AE6925C-FC48-6F1C-777F-4CB5CF759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268" y="54581"/>
            <a:ext cx="790249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VARIOUS COMPARATOR TECHNIQUE AND THEIR TRUTH TABLE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3BE714-098C-DFAE-FF2C-CAA7387CD5F1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AE6611A6-349F-ECB0-6D69-6E022CE09E3E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30578230-1C7E-3898-3B4A-B4DF6A4A33F3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530DC8CA-7550-6230-BD25-BA6AAF12A82F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826E7546-AF7E-0C0E-F894-42DED08444DB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Pass Transistor (10T)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46FB27-5BB4-BDDA-615B-F614D83B6351}"/>
              </a:ext>
            </a:extLst>
          </p:cNvPr>
          <p:cNvSpPr txBox="1"/>
          <p:nvPr/>
        </p:nvSpPr>
        <p:spPr>
          <a:xfrm>
            <a:off x="1631980" y="453566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05: PTL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EB6C4-A344-7332-0DBA-71FFAA11F2E4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554219F-64C2-1BED-2479-CCA001C3BE5D}"/>
              </a:ext>
            </a:extLst>
          </p:cNvPr>
          <p:cNvGraphicFramePr>
            <a:graphicFrameLocks noGrp="1"/>
          </p:cNvGraphicFramePr>
          <p:nvPr/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4AE7711-3A27-5264-7AC7-3EA647DE0635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06: Truth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03C65-3FCB-D294-1899-966A46B30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1" y="875443"/>
            <a:ext cx="3949443" cy="328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48736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00FB3E10-7080-569E-C924-E6719A90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DB0B26CB-F7B5-DD75-4B36-830C6EA678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6966" y="54581"/>
            <a:ext cx="791736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VARIOUS COMPARATOR TECHNIQUE AND THEIR TRUTH TABLE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F5DFFB-91F1-4F40-45B9-07FE4F5C0202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3ABBFDFA-02A9-B4E0-EA84-982049D3792A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F1ED3D76-DA3F-0E96-8954-F01A9AF0BBD1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5FDF1238-96A8-2AB5-73FD-57F8F04A1348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EED78E8B-EE32-211A-7050-92B287633CD8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 Proposed 10 Transistor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CA1DF7-7D53-F442-D928-10CB796A5DA2}"/>
              </a:ext>
            </a:extLst>
          </p:cNvPr>
          <p:cNvSpPr txBox="1"/>
          <p:nvPr/>
        </p:nvSpPr>
        <p:spPr>
          <a:xfrm>
            <a:off x="1631980" y="4535669"/>
            <a:ext cx="2505680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07: Proposed GDI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D1E71-D496-06FA-2F9E-EC05A8337CC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8950481-5461-99D5-0AE5-EEDD30244F24}"/>
              </a:ext>
            </a:extLst>
          </p:cNvPr>
          <p:cNvGraphicFramePr>
            <a:graphicFrameLocks noGrp="1"/>
          </p:cNvGraphicFramePr>
          <p:nvPr/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A605812-3563-FF3C-F2FE-4C29A79DA6F1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08: Truth table</a:t>
            </a:r>
          </a:p>
        </p:txBody>
      </p:sp>
      <p:pic>
        <p:nvPicPr>
          <p:cNvPr id="4" name="Image 0" descr="C:\Users\shahrear\Downloads\LTSpice\Thesis\Thesis Book\my_Propose_GDI_Comparator.png">
            <a:extLst>
              <a:ext uri="{FF2B5EF4-FFF2-40B4-BE49-F238E27FC236}">
                <a16:creationId xmlns:a16="http://schemas.microsoft.com/office/drawing/2014/main" id="{89EABB62-046A-258B-59E2-A85E15BBF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" y="875443"/>
            <a:ext cx="4741807" cy="278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70942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904B48F4-98A8-5A63-20CB-A2B45981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5FFDFAAE-45FF-D21A-3E18-38AA6A3C0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1952" y="202238"/>
            <a:ext cx="422688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&amp; RESULTS 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A0942-8240-4971-33B6-E3EF84CD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67" y="629296"/>
            <a:ext cx="8474056" cy="3925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596036-E2C9-2145-1827-C777D8D172B8}"/>
              </a:ext>
            </a:extLst>
          </p:cNvPr>
          <p:cNvSpPr txBox="1"/>
          <p:nvPr/>
        </p:nvSpPr>
        <p:spPr>
          <a:xfrm>
            <a:off x="3301096" y="4689558"/>
            <a:ext cx="2943923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09 :  Output Waveshape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CE858E-D360-A302-5CFA-BE5A1E7B1802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67443396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6714EB39-A704-282C-7DA5-8B5E4367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DF23E43A-6736-0128-BFC3-F1A294D82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1952" y="202238"/>
            <a:ext cx="422688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&amp; RESULTS </a:t>
            </a: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0D559-DE62-1429-B4EC-092D2F989FD1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C15A8D-8144-CFA3-0A44-B6BBD08A6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979233"/>
              </p:ext>
            </p:extLst>
          </p:nvPr>
        </p:nvGraphicFramePr>
        <p:xfrm>
          <a:off x="230509" y="1234062"/>
          <a:ext cx="8372471" cy="23321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6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Design / Reference Paper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Propagation Delay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Average Power Dissipation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PDP (Power-Delay Product)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Static CMOS Paper (2017)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49.38 ns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174.352 pW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0.0086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MTCMOS Paper (2019)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330.61 ps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48.12 pW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0.0000159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Static, Pass, TG Paper (2020)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0.192 ns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7.792 µW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1.496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6T MUX Adder Comparator (2025)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5.5 ps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7.3 µW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0.04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85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My Proposed Design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336 ps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34.18 pW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0.0000114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</a:rPr>
                        <a:t>fJ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869803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1992351" y="109131"/>
            <a:ext cx="4534829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PERFORMANCE COMPARISON</a:t>
            </a:r>
            <a:endParaRPr lang="en-US" sz="18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34444C-C16B-9EBB-7986-D0E3FC1C40C0}"/>
              </a:ext>
            </a:extLst>
          </p:cNvPr>
          <p:cNvGrpSpPr/>
          <p:nvPr/>
        </p:nvGrpSpPr>
        <p:grpSpPr>
          <a:xfrm>
            <a:off x="142974" y="716313"/>
            <a:ext cx="2745005" cy="3443902"/>
            <a:chOff x="548640" y="1097280"/>
            <a:chExt cx="5669280" cy="5120640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9AE2D569-B64F-7F5D-0AC5-47B3EA6D6A8F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C91AC67A-D5BD-3735-0FBB-9D353BCB3E16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4A15870D-5682-2D82-A9C6-92743E39FF2F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28E6CF4-D9B2-8FA7-889E-60782DA17F3C}"/>
                </a:ext>
              </a:extLst>
            </p:cNvPr>
            <p:cNvSpPr/>
            <p:nvPr/>
          </p:nvSpPr>
          <p:spPr>
            <a:xfrm>
              <a:off x="731520" y="1170431"/>
              <a:ext cx="5303521" cy="2743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Propagation Delay Bar Chart</a:t>
              </a:r>
              <a:endParaRPr lang="en-US" sz="1100" dirty="0"/>
            </a:p>
          </p:txBody>
        </p:sp>
        <p:pic>
          <p:nvPicPr>
            <p:cNvPr id="15" name="Image 0" descr="C:\Users\shahrear\Downloads\LTSpice\Thesis\Thesis Book\Paper_02_Propagation_Delay_Bar_Chart.png">
              <a:extLst>
                <a:ext uri="{FF2B5EF4-FFF2-40B4-BE49-F238E27FC236}">
                  <a16:creationId xmlns:a16="http://schemas.microsoft.com/office/drawing/2014/main" id="{D615B2DB-60A9-FA07-0F4E-936DB6BB1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" y="1645920"/>
              <a:ext cx="5303520" cy="429768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7F374D-A36B-832C-8E24-D8DDFBB82E08}"/>
              </a:ext>
            </a:extLst>
          </p:cNvPr>
          <p:cNvGrpSpPr/>
          <p:nvPr/>
        </p:nvGrpSpPr>
        <p:grpSpPr>
          <a:xfrm>
            <a:off x="2991998" y="739710"/>
            <a:ext cx="2965087" cy="3420505"/>
            <a:chOff x="548640" y="1097280"/>
            <a:chExt cx="5669280" cy="5120640"/>
          </a:xfrm>
        </p:grpSpPr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F6D9E768-F7AF-42AF-EB49-2C633E70C02D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F6D84454-073D-D32A-B74D-4A87BF6B0CFD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051D7B9C-30DD-CB6B-91DF-858150654BD1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2D2DD766-59E3-B2DB-9198-419778769B77}"/>
                </a:ext>
              </a:extLst>
            </p:cNvPr>
            <p:cNvSpPr/>
            <p:nvPr/>
          </p:nvSpPr>
          <p:spPr>
            <a:xfrm>
              <a:off x="731520" y="117043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Average Power Dissipation Bar Chart</a:t>
              </a:r>
              <a:endParaRPr lang="en-US" sz="1100" dirty="0"/>
            </a:p>
          </p:txBody>
        </p:sp>
        <p:pic>
          <p:nvPicPr>
            <p:cNvPr id="26" name="Image 0" descr="C:\Users\shahrear\Downloads\LTSpice\Thesis\Thesis Book\Paper_03_Average_Power_Bar_Chart.png">
              <a:extLst>
                <a:ext uri="{FF2B5EF4-FFF2-40B4-BE49-F238E27FC236}">
                  <a16:creationId xmlns:a16="http://schemas.microsoft.com/office/drawing/2014/main" id="{1760B8C5-3E75-4F2A-C802-35FF6E519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1" y="1645921"/>
              <a:ext cx="5303520" cy="429768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C678D0-E720-EB13-7A89-CCD1134E3BF8}"/>
              </a:ext>
            </a:extLst>
          </p:cNvPr>
          <p:cNvGrpSpPr/>
          <p:nvPr/>
        </p:nvGrpSpPr>
        <p:grpSpPr>
          <a:xfrm>
            <a:off x="6061104" y="728011"/>
            <a:ext cx="2887977" cy="3420505"/>
            <a:chOff x="548640" y="1097280"/>
            <a:chExt cx="5669280" cy="5120640"/>
          </a:xfrm>
        </p:grpSpPr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2A251629-3856-2D53-661D-4C3B495DA21C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21BB578A-A1D4-58E9-53A0-75A4073042D2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ED3DE1EE-A606-A5D1-960F-BFE52856124C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254C1D89-8CD7-894E-8ED3-EA591B0C4EFE}"/>
                </a:ext>
              </a:extLst>
            </p:cNvPr>
            <p:cNvSpPr/>
            <p:nvPr/>
          </p:nvSpPr>
          <p:spPr>
            <a:xfrm>
              <a:off x="731520" y="117043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PDP (Energy per Operation) Bar Chart</a:t>
              </a:r>
              <a:endParaRPr lang="en-US" sz="1050" dirty="0"/>
            </a:p>
          </p:txBody>
        </p:sp>
        <p:pic>
          <p:nvPicPr>
            <p:cNvPr id="37" name="Image 0" descr="C:\Users\shahrear\Downloads\LTSpice\Thesis\Thesis Book\Paper_04_PDP_Bar_Chart.png">
              <a:extLst>
                <a:ext uri="{FF2B5EF4-FFF2-40B4-BE49-F238E27FC236}">
                  <a16:creationId xmlns:a16="http://schemas.microsoft.com/office/drawing/2014/main" id="{ECDB3754-8ED5-A8DB-489E-75BC63A66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521" y="1645920"/>
              <a:ext cx="5303520" cy="42976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228D3A-F48F-EFC2-30B4-74AFADBC2C2C}"/>
              </a:ext>
            </a:extLst>
          </p:cNvPr>
          <p:cNvSpPr txBox="1"/>
          <p:nvPr/>
        </p:nvSpPr>
        <p:spPr>
          <a:xfrm>
            <a:off x="143723" y="4312916"/>
            <a:ext cx="2391321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10 :  Propagation Delay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24DF7-4583-8C05-2AFD-1C444F587BB0}"/>
              </a:ext>
            </a:extLst>
          </p:cNvPr>
          <p:cNvSpPr txBox="1"/>
          <p:nvPr/>
        </p:nvSpPr>
        <p:spPr>
          <a:xfrm>
            <a:off x="3087646" y="4264052"/>
            <a:ext cx="2391321" cy="523220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11 :  Average Power Dissipation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5FDB8-8753-00C7-C113-EB60EA399876}"/>
              </a:ext>
            </a:extLst>
          </p:cNvPr>
          <p:cNvSpPr txBox="1"/>
          <p:nvPr/>
        </p:nvSpPr>
        <p:spPr>
          <a:xfrm>
            <a:off x="6239724" y="4230970"/>
            <a:ext cx="2391321" cy="523220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12: Product Delay Propagation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A9574-39B6-AF88-267C-D6960B896B60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165036" y="469868"/>
            <a:ext cx="214294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KEY FINDINGS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2"/>
            <a:ext cx="6833890" cy="2359367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GDI  Technique demonstrate: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Its </a:t>
            </a:r>
            <a:r>
              <a:rPr lang="en-US" b="1" dirty="0"/>
              <a:t>low power consumption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</a:t>
            </a:r>
            <a:r>
              <a:rPr lang="en-US" b="1" dirty="0"/>
              <a:t>short propagation delay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Requires </a:t>
            </a:r>
            <a:r>
              <a:rPr lang="en-US" b="1" dirty="0"/>
              <a:t>fewer transistors</a:t>
            </a:r>
            <a:r>
              <a:rPr lang="en-US" dirty="0"/>
              <a:t>.</a:t>
            </a:r>
          </a:p>
          <a:p>
            <a:pPr lvl="0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CMOS still viable for cost-sensitive applications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02E23-DEFA-F75D-3E5D-638A65C82EB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323347" y="343487"/>
            <a:ext cx="191248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CONCLUSION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3"/>
            <a:ext cx="6982573" cy="213076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CMOS faces scalability and performance limitations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GDI technique addresses these with superior design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future VLSI design, GDI technique offers better performance and efficiency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LTspice simulations confirm performance gains in GDI based designs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2F016-F24B-93BC-CF3C-49A64FE361A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231944" y="462433"/>
            <a:ext cx="185867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Future Work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337782"/>
            <a:ext cx="6749991" cy="297513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Study GDI Technique under varied temperatures and voltages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Analyze integration into larger digital blocks (e.g., ALUs)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hybrid logic families for ultra-low power designs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Investigate real-time implementations using FPGA or ASIC platforms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Evaluate GDI  performance in logic-intensive circuits like full adders or multiplexers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noise immunity and signal integrity analysis in GDI Technique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Extend simulations to  beyond to analyze scalability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A0CE6-CA47-490D-EFA4-D74F86BDADA1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F2460F85-664D-F5F9-A622-2502B823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8F1636A1-ACD3-F742-3338-1F4BFAD31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1944" y="462433"/>
            <a:ext cx="212807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REFERENCES</a:t>
            </a:r>
            <a:endParaRPr lang="en-US" sz="1800" dirty="0"/>
          </a:p>
        </p:txBody>
      </p:sp>
      <p:sp>
        <p:nvSpPr>
          <p:cNvPr id="3" name="Google Shape;1195;p86">
            <a:extLst>
              <a:ext uri="{FF2B5EF4-FFF2-40B4-BE49-F238E27FC236}">
                <a16:creationId xmlns:a16="http://schemas.microsoft.com/office/drawing/2014/main" id="{FA6812D1-98DF-EA7D-A476-D2189988EA42}"/>
              </a:ext>
            </a:extLst>
          </p:cNvPr>
          <p:cNvSpPr txBox="1"/>
          <p:nvPr/>
        </p:nvSpPr>
        <p:spPr>
          <a:xfrm>
            <a:off x="734071" y="995811"/>
            <a:ext cx="6749991" cy="3226784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[1] A. Kumar and M. Kumar, “Improved Design of CMOS 1-Bit Comparator with Stacking Technique,” International Journal of Current Engineering and Technology, Vol. 7, no. 3, pp. 1044–1047, 2017.</a:t>
            </a:r>
          </a:p>
          <a:p>
            <a:endParaRPr lang="en-US" sz="1200" dirty="0"/>
          </a:p>
          <a:p>
            <a:r>
              <a:rPr lang="en-US" sz="1200" dirty="0"/>
              <a:t>[2] D. Tailor, T. Sharma, and M. Kumar, “Design of CMOS Based 1-bit Comparator with MTCMOS and Forced Stack Technique in 180µm Technology,” in Proc. 2019 IEEE International Conference on Signal Processing and Communication (ICSC), NOIDA, India, pp. 330–334, 2019.</a:t>
            </a:r>
          </a:p>
          <a:p>
            <a:endParaRPr lang="en-US" sz="1200" dirty="0"/>
          </a:p>
          <a:p>
            <a:r>
              <a:rPr lang="en-US" sz="1200" dirty="0"/>
              <a:t> [3] S. Lubaba, M. S. Islam, K. M. Faisal, and M. Hasan, “Design of a Two-Bit Magnitude Comparator Based on Pass Transistor, Transmission Gate and Conventional Static CMOS Logic,” in Proc. 2020 IEEE Region 10 Symposium (TENSYMP), Dhaka, Bangladesh, pp. 1114–1117, 2020. </a:t>
            </a:r>
          </a:p>
          <a:p>
            <a:endParaRPr lang="en-US" sz="1200" dirty="0"/>
          </a:p>
          <a:p>
            <a:r>
              <a:rPr lang="en-US" sz="1200" dirty="0"/>
              <a:t>[4] Y. Sharma, B. S. Premananda, D. Raj, and K. Pandey, “Design and Analysis of a 1-bit Comparator for Low Power VLSI Systems,” in Proc. 2025 Third International Conference on Networks, Multimedia and Information Technology (NMITCON), Bengaluru, India, pp. 1–6, 2025.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BA2E4-6DA3-39C7-0FCE-0CD3D0ED53A5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15185698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745413" y="1971100"/>
            <a:ext cx="2969587" cy="600650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000" b="1" dirty="0"/>
              <a:t>THANK</a:t>
            </a:r>
            <a:endParaRPr lang="en-US" sz="4000" dirty="0"/>
          </a:p>
        </p:txBody>
      </p:sp>
      <p:sp>
        <p:nvSpPr>
          <p:cNvPr id="4" name="Google Shape;1133;p85"/>
          <p:cNvSpPr txBox="1"/>
          <p:nvPr/>
        </p:nvSpPr>
        <p:spPr>
          <a:xfrm>
            <a:off x="2745412" y="2571750"/>
            <a:ext cx="2969587" cy="600650"/>
          </a:xfrm>
          <a:prstGeom prst="rect">
            <a:avLst/>
          </a:prstGeom>
          <a:solidFill>
            <a:schemeClr val="bg2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56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YOU</a:t>
            </a:r>
            <a:endParaRPr lang="en-US" sz="4000"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Simple Style Thesis Defense XL by Slidesgo">
  <a:themeElements>
    <a:clrScheme name="Simple Light">
      <a:dk1>
        <a:srgbClr val="D4CAB7"/>
      </a:dk1>
      <a:lt1>
        <a:srgbClr val="E3DAC5"/>
      </a:lt1>
      <a:dk2>
        <a:srgbClr val="334436"/>
      </a:dk2>
      <a:lt2>
        <a:srgbClr val="DFAA28"/>
      </a:lt2>
      <a:accent1>
        <a:srgbClr val="2C4EB8"/>
      </a:accent1>
      <a:accent2>
        <a:srgbClr val="EA5430"/>
      </a:accent2>
      <a:accent3>
        <a:srgbClr val="334436"/>
      </a:accent3>
      <a:accent4>
        <a:srgbClr val="DFAA28"/>
      </a:accent4>
      <a:accent5>
        <a:srgbClr val="2C4EB8"/>
      </a:accent5>
      <a:accent6>
        <a:srgbClr val="EA5430"/>
      </a:accent6>
      <a:hlink>
        <a:srgbClr val="3344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8BAF362-A0AF-4709-8017-2BFA54B3AE05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86AD610-CF7B-4388-AAEB-0CDA8B64AA60}">
  <we:reference id="wa200005566" version="3.0.1.2" store="en-US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1566</Words>
  <Application>Microsoft Office PowerPoint</Application>
  <PresentationFormat>On-screen Show (16:9)</PresentationFormat>
  <Paragraphs>295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Anaheim</vt:lpstr>
      <vt:lpstr>Arial</vt:lpstr>
      <vt:lpstr>Bebas Neue</vt:lpstr>
      <vt:lpstr>Calibri</vt:lpstr>
      <vt:lpstr>Cambria Math</vt:lpstr>
      <vt:lpstr>Inter</vt:lpstr>
      <vt:lpstr>Montserrat ExtraBold</vt:lpstr>
      <vt:lpstr>Montserrat Medium</vt:lpstr>
      <vt:lpstr>Poppins SemiBold</vt:lpstr>
      <vt:lpstr>Wingdings</vt:lpstr>
      <vt:lpstr>Simple Style Thesis Defense XL by Slidesgo</vt:lpstr>
      <vt:lpstr>AN ULTRA LOW POWER 10 TRANSISTOR 1 BIT MAGNITUDE COMPARATOR USING GATE DIFFUSION INPUT TECHNIQUE </vt:lpstr>
      <vt:lpstr>INTRODUCTION</vt:lpstr>
      <vt:lpstr>PowerPoint Presentation</vt:lpstr>
      <vt:lpstr>INTRODUCTION</vt:lpstr>
      <vt:lpstr>PROBLEM STATEMENT</vt:lpstr>
      <vt:lpstr>OBJECTIVES</vt:lpstr>
      <vt:lpstr>METHODOLOGY</vt:lpstr>
      <vt:lpstr>LITERATURE REVIEW</vt:lpstr>
      <vt:lpstr>INTRODUCTION TO Comparator</vt:lpstr>
      <vt:lpstr>CMOS Logic Styles</vt:lpstr>
      <vt:lpstr>VARIOUS COMPARATOR TECHNIQUE AND THEIR TRUTH TABLE  </vt:lpstr>
      <vt:lpstr>VARIOUS COMPARATOR TECHNIQUE AND THEIR TRUTH TABLE  </vt:lpstr>
      <vt:lpstr>VARIOUS COMPARATOR TECHNIQUE AND THEIR TRUTH TABLE  </vt:lpstr>
      <vt:lpstr>VARIOUS COMPARATOR TECHNIQUE AND THEIR TRUTH TABLE  </vt:lpstr>
      <vt:lpstr>SIMULATION &amp; RESULTS </vt:lpstr>
      <vt:lpstr>SIMULATION &amp; RESULTS </vt:lpstr>
      <vt:lpstr>PERFORMANCE COMPARISON</vt:lpstr>
      <vt:lpstr>KEY FINDINGS</vt:lpstr>
      <vt:lpstr>CONCLUSION</vt:lpstr>
      <vt:lpstr>Future Work</vt:lpstr>
      <vt:lpstr>REFERENCES</vt:lpstr>
      <vt:lpstr>THANK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Shahrear hossain</cp:lastModifiedBy>
  <cp:revision>144</cp:revision>
  <dcterms:created xsi:type="dcterms:W3CDTF">2025-04-14T13:57:50Z</dcterms:created>
  <dcterms:modified xsi:type="dcterms:W3CDTF">2026-10-13T04:22:24Z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34C85A1C91D14FE3BDE3A3205F12D325_12</vt:lpwstr>
  </property>
  <property fmtid="{D5CDD505-2E9C-101B-9397-08002B2CF9AE}" pid="3" name="KSOProductBuildVer">
    <vt:lpwstr>1033-12.2.0.20795</vt:lpwstr>
  </property>
</Properties>
</file>