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66" d="100"/>
          <a:sy n="166" d="100"/>
        </p:scale>
        <p:origin x="816" y="1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spc="-20" dirty="0"/>
              <a:t>‹#›</a:t>
            </a:fld>
            <a:r>
              <a:rPr spc="-65" dirty="0"/>
              <a:t> </a:t>
            </a:r>
            <a:r>
              <a:rPr spc="75" dirty="0"/>
              <a:t>/</a:t>
            </a:r>
            <a:r>
              <a:rPr spc="-6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spc="-20" dirty="0"/>
              <a:t>‹#›</a:t>
            </a:fld>
            <a:r>
              <a:rPr spc="-65" dirty="0"/>
              <a:t> </a:t>
            </a:r>
            <a:r>
              <a:rPr spc="75" dirty="0"/>
              <a:t>/</a:t>
            </a:r>
            <a:r>
              <a:rPr spc="-6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spc="-20" dirty="0"/>
              <a:t>‹#›</a:t>
            </a:fld>
            <a:r>
              <a:rPr spc="-65" dirty="0"/>
              <a:t> </a:t>
            </a:r>
            <a:r>
              <a:rPr spc="75" dirty="0"/>
              <a:t>/</a:t>
            </a:r>
            <a:r>
              <a:rPr spc="-6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spc="-20" dirty="0"/>
              <a:t>‹#›</a:t>
            </a:fld>
            <a:r>
              <a:rPr spc="-65" dirty="0"/>
              <a:t> </a:t>
            </a:r>
            <a:r>
              <a:rPr spc="75" dirty="0"/>
              <a:t>/</a:t>
            </a:r>
            <a:r>
              <a:rPr spc="-6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spc="-20" dirty="0"/>
              <a:t>‹#›</a:t>
            </a:fld>
            <a:r>
              <a:rPr spc="-65" dirty="0"/>
              <a:t> </a:t>
            </a:r>
            <a:r>
              <a:rPr spc="75" dirty="0"/>
              <a:t>/</a:t>
            </a:r>
            <a:r>
              <a:rPr spc="-6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7"/>
            <a:ext cx="506603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7332" y="937463"/>
            <a:ext cx="5265420" cy="829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64225" y="3138668"/>
            <a:ext cx="241300" cy="89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spc="-20" dirty="0"/>
              <a:t>‹#›</a:t>
            </a:fld>
            <a:r>
              <a:rPr spc="-65" dirty="0"/>
              <a:t> </a:t>
            </a:r>
            <a:r>
              <a:rPr spc="75" dirty="0"/>
              <a:t>/</a:t>
            </a:r>
            <a:r>
              <a:rPr spc="-65" dirty="0"/>
              <a:t> </a:t>
            </a:r>
            <a:r>
              <a:rPr spc="-25" dirty="0"/>
              <a:t>12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slide" Target="slide20.xml"/><Relationship Id="rId3" Type="http://schemas.openxmlformats.org/officeDocument/2006/relationships/slide" Target="slide3.xml"/><Relationship Id="rId7" Type="http://schemas.openxmlformats.org/officeDocument/2006/relationships/slide" Target="slide11.xml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slide" Target="slide15.xml"/><Relationship Id="rId5" Type="http://schemas.openxmlformats.org/officeDocument/2006/relationships/slide" Target="slide8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40.png"/><Relationship Id="rId4" Type="http://schemas.openxmlformats.org/officeDocument/2006/relationships/image" Target="../media/image3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6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4.png"/><Relationship Id="rId5" Type="http://schemas.openxmlformats.org/officeDocument/2006/relationships/image" Target="../media/image49.png"/><Relationship Id="rId10" Type="http://schemas.openxmlformats.org/officeDocument/2006/relationships/image" Target="../media/image21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mailto:shahrear@iiuc.ac.bd" TargetMode="Externa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26530" y="290375"/>
            <a:ext cx="5608955" cy="855344"/>
          </a:xfrm>
          <a:custGeom>
            <a:avLst/>
            <a:gdLst/>
            <a:ahLst/>
            <a:cxnLst/>
            <a:rect l="l" t="t" r="r" b="b"/>
            <a:pathLst>
              <a:path w="5608955" h="855344">
                <a:moveTo>
                  <a:pt x="5608620" y="0"/>
                </a:moveTo>
                <a:lnTo>
                  <a:pt x="0" y="0"/>
                </a:lnTo>
                <a:lnTo>
                  <a:pt x="0" y="854848"/>
                </a:lnTo>
                <a:lnTo>
                  <a:pt x="5608620" y="854848"/>
                </a:lnTo>
                <a:lnTo>
                  <a:pt x="56086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53695" y="329702"/>
            <a:ext cx="5253355" cy="442878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 algn="ctr">
              <a:lnSpc>
                <a:spcPct val="106700"/>
              </a:lnSpc>
              <a:spcBef>
                <a:spcPts val="20"/>
              </a:spcBef>
            </a:pPr>
            <a:r>
              <a:rPr dirty="0"/>
              <a:t>An</a:t>
            </a:r>
            <a:r>
              <a:rPr spc="10" dirty="0"/>
              <a:t> </a:t>
            </a:r>
            <a:r>
              <a:rPr spc="-10" dirty="0"/>
              <a:t>Ultra-</a:t>
            </a:r>
            <a:r>
              <a:rPr spc="-25" dirty="0"/>
              <a:t>Low-</a:t>
            </a:r>
            <a:r>
              <a:rPr spc="-75" dirty="0"/>
              <a:t>Power</a:t>
            </a:r>
            <a:r>
              <a:rPr spc="15" dirty="0"/>
              <a:t> </a:t>
            </a:r>
            <a:r>
              <a:rPr spc="-70" dirty="0"/>
              <a:t>10-</a:t>
            </a:r>
            <a:r>
              <a:rPr spc="-35" dirty="0"/>
              <a:t>Transistor</a:t>
            </a:r>
            <a:r>
              <a:rPr spc="15" dirty="0"/>
              <a:t> </a:t>
            </a:r>
            <a:r>
              <a:rPr dirty="0"/>
              <a:t>1-Bit</a:t>
            </a:r>
            <a:r>
              <a:rPr spc="10" dirty="0"/>
              <a:t> </a:t>
            </a:r>
            <a:r>
              <a:rPr spc="-20" dirty="0"/>
              <a:t>Magnitude</a:t>
            </a:r>
            <a:r>
              <a:rPr spc="15" dirty="0"/>
              <a:t> </a:t>
            </a:r>
            <a:r>
              <a:rPr spc="-40" dirty="0"/>
              <a:t>Comparator</a:t>
            </a:r>
            <a:r>
              <a:rPr spc="15" dirty="0"/>
              <a:t> </a:t>
            </a:r>
            <a:r>
              <a:rPr spc="-10" dirty="0"/>
              <a:t>Using Gate</a:t>
            </a:r>
            <a:r>
              <a:rPr spc="-60" dirty="0"/>
              <a:t> </a:t>
            </a:r>
            <a:r>
              <a:rPr spc="-20" dirty="0"/>
              <a:t>Diffusion</a:t>
            </a:r>
            <a:r>
              <a:rPr spc="-60" dirty="0"/>
              <a:t> </a:t>
            </a:r>
            <a:r>
              <a:rPr spc="-35" dirty="0"/>
              <a:t>Input</a:t>
            </a:r>
            <a:r>
              <a:rPr spc="-60" dirty="0"/>
              <a:t> </a:t>
            </a:r>
            <a:r>
              <a:rPr dirty="0"/>
              <a:t>(GDI)</a:t>
            </a:r>
            <a:r>
              <a:rPr spc="-60" dirty="0"/>
              <a:t> </a:t>
            </a:r>
            <a:r>
              <a:rPr spc="-10" dirty="0"/>
              <a:t>Technique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43608" y="1223193"/>
            <a:ext cx="2072639" cy="119380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25"/>
              </a:spcBef>
            </a:pPr>
            <a:r>
              <a:rPr sz="1000" b="1" spc="-35" dirty="0">
                <a:latin typeface="Arial"/>
                <a:cs typeface="Arial"/>
              </a:rPr>
              <a:t>Shahrear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spc="-45" dirty="0">
                <a:latin typeface="Arial"/>
                <a:cs typeface="Arial"/>
              </a:rPr>
              <a:t>Hossain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(ID: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ET223104)</a:t>
            </a:r>
            <a:endParaRPr sz="1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sz="900" spc="-30" dirty="0">
                <a:latin typeface="Arial MT"/>
                <a:cs typeface="Arial MT"/>
              </a:rPr>
              <a:t>Supervisor:</a:t>
            </a:r>
            <a:r>
              <a:rPr sz="900" spc="7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Riazul Islam, Lecturer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900">
              <a:latin typeface="Arial MT"/>
              <a:cs typeface="Arial MT"/>
            </a:endParaRPr>
          </a:p>
          <a:p>
            <a:pPr marL="12065" marR="5080" algn="ctr">
              <a:lnSpc>
                <a:spcPts val="800"/>
              </a:lnSpc>
            </a:pPr>
            <a:r>
              <a:rPr sz="700" dirty="0">
                <a:latin typeface="Tahoma"/>
                <a:cs typeface="Tahoma"/>
              </a:rPr>
              <a:t>Department</a:t>
            </a:r>
            <a:r>
              <a:rPr sz="700" spc="4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of</a:t>
            </a:r>
            <a:r>
              <a:rPr sz="700" spc="4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Electrical</a:t>
            </a:r>
            <a:r>
              <a:rPr sz="700" spc="4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and</a:t>
            </a:r>
            <a:r>
              <a:rPr sz="700" spc="4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Electronic</a:t>
            </a:r>
            <a:r>
              <a:rPr sz="700" spc="50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Engineering </a:t>
            </a:r>
            <a:r>
              <a:rPr sz="700" dirty="0">
                <a:latin typeface="Tahoma"/>
                <a:cs typeface="Tahoma"/>
              </a:rPr>
              <a:t>International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Islamic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University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Chittagong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(IIUC)</a:t>
            </a:r>
            <a:endParaRPr sz="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000" spc="-20" dirty="0">
                <a:latin typeface="Arial MT"/>
                <a:cs typeface="Arial MT"/>
              </a:rPr>
              <a:t>October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2026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4015" y="2555794"/>
            <a:ext cx="431994" cy="43199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5563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Presentation</a:t>
            </a:r>
            <a:r>
              <a:rPr spc="5" dirty="0"/>
              <a:t> </a:t>
            </a:r>
            <a:r>
              <a:rPr spc="-10" dirty="0"/>
              <a:t>Outline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34" y="745578"/>
            <a:ext cx="146202" cy="1462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8414" y="718812"/>
            <a:ext cx="1787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aseline="7936" dirty="0">
                <a:solidFill>
                  <a:srgbClr val="E5E9EC"/>
                </a:solidFill>
                <a:latin typeface="Tahoma"/>
                <a:cs typeface="Tahoma"/>
              </a:rPr>
              <a:t>1</a:t>
            </a:r>
            <a:r>
              <a:rPr sz="1050" spc="225" baseline="7936" dirty="0">
                <a:solidFill>
                  <a:srgbClr val="E5E9EC"/>
                </a:solidFill>
                <a:latin typeface="Tahoma"/>
                <a:cs typeface="Tahoma"/>
              </a:rPr>
              <a:t>  </a:t>
            </a:r>
            <a:r>
              <a:rPr sz="1000" dirty="0">
                <a:solidFill>
                  <a:srgbClr val="002B48"/>
                </a:solidFill>
                <a:latin typeface="Arial MT"/>
                <a:cs typeface="Arial MT"/>
                <a:hlinkClick r:id="rId3" action="ppaction://hlinksldjump"/>
              </a:rPr>
              <a:t>1.</a:t>
            </a:r>
            <a:r>
              <a:rPr sz="1000" spc="125" dirty="0">
                <a:solidFill>
                  <a:srgbClr val="002B48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1000" dirty="0">
                <a:solidFill>
                  <a:srgbClr val="002B48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r>
              <a:rPr sz="1000" spc="20" dirty="0">
                <a:solidFill>
                  <a:srgbClr val="002B48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1000" spc="85" dirty="0">
                <a:solidFill>
                  <a:srgbClr val="002B48"/>
                </a:solidFill>
                <a:latin typeface="Arial MT"/>
                <a:cs typeface="Arial MT"/>
                <a:hlinkClick r:id="rId3" action="ppaction://hlinksldjump"/>
              </a:rPr>
              <a:t>&amp;</a:t>
            </a:r>
            <a:r>
              <a:rPr sz="1000" spc="25" dirty="0">
                <a:solidFill>
                  <a:srgbClr val="002B48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1000" spc="-35" dirty="0">
                <a:solidFill>
                  <a:srgbClr val="002B48"/>
                </a:solidFill>
                <a:latin typeface="Arial MT"/>
                <a:cs typeface="Arial MT"/>
                <a:hlinkClick r:id="rId3" action="ppaction://hlinksldjump"/>
              </a:rPr>
              <a:t>Background</a:t>
            </a:r>
            <a:endParaRPr sz="100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534" y="1091272"/>
            <a:ext cx="146202" cy="14620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8414" y="1092164"/>
            <a:ext cx="730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E5E9EC"/>
                </a:solidFill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465" y="1064506"/>
            <a:ext cx="21609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002B48"/>
                </a:solidFill>
                <a:latin typeface="Arial MT"/>
                <a:cs typeface="Arial MT"/>
                <a:hlinkClick r:id="rId5" action="ppaction://hlinksldjump"/>
              </a:rPr>
              <a:t>2.</a:t>
            </a:r>
            <a:r>
              <a:rPr sz="1000" spc="95" dirty="0">
                <a:solidFill>
                  <a:srgbClr val="002B48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1000" spc="-10" dirty="0">
                <a:solidFill>
                  <a:srgbClr val="002B48"/>
                </a:solidFill>
                <a:latin typeface="Arial MT"/>
                <a:cs typeface="Arial MT"/>
                <a:hlinkClick r:id="rId5" action="ppaction://hlinksldjump"/>
              </a:rPr>
              <a:t>Literature</a:t>
            </a:r>
            <a:r>
              <a:rPr sz="1000" spc="10" dirty="0">
                <a:solidFill>
                  <a:srgbClr val="002B48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1000" spc="-55" dirty="0">
                <a:solidFill>
                  <a:srgbClr val="002B48"/>
                </a:solidFill>
                <a:latin typeface="Arial MT"/>
                <a:cs typeface="Arial MT"/>
                <a:hlinkClick r:id="rId5" action="ppaction://hlinksldjump"/>
              </a:rPr>
              <a:t>Review</a:t>
            </a:r>
            <a:r>
              <a:rPr sz="1000" spc="5" dirty="0">
                <a:solidFill>
                  <a:srgbClr val="002B48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1000" spc="85" dirty="0">
                <a:solidFill>
                  <a:srgbClr val="002B48"/>
                </a:solidFill>
                <a:latin typeface="Arial MT"/>
                <a:cs typeface="Arial MT"/>
                <a:hlinkClick r:id="rId5" action="ppaction://hlinksldjump"/>
              </a:rPr>
              <a:t>&amp;</a:t>
            </a:r>
            <a:r>
              <a:rPr sz="1000" spc="5" dirty="0">
                <a:solidFill>
                  <a:srgbClr val="002B48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1000" spc="-45" dirty="0">
                <a:solidFill>
                  <a:srgbClr val="002B48"/>
                </a:solidFill>
                <a:latin typeface="Arial MT"/>
                <a:cs typeface="Arial MT"/>
                <a:hlinkClick r:id="rId5" action="ppaction://hlinksldjump"/>
              </a:rPr>
              <a:t>Baseline</a:t>
            </a:r>
            <a:r>
              <a:rPr sz="1000" spc="5" dirty="0">
                <a:solidFill>
                  <a:srgbClr val="002B48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1000" spc="-10" dirty="0">
                <a:solidFill>
                  <a:srgbClr val="002B48"/>
                </a:solidFill>
                <a:latin typeface="Arial MT"/>
                <a:cs typeface="Arial MT"/>
                <a:hlinkClick r:id="rId5" action="ppaction://hlinksldjump"/>
              </a:rPr>
              <a:t>Circuits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534" y="1436966"/>
            <a:ext cx="146202" cy="14620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8414" y="1410200"/>
            <a:ext cx="25336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aseline="7936" dirty="0">
                <a:solidFill>
                  <a:srgbClr val="E5E9EC"/>
                </a:solidFill>
                <a:latin typeface="Tahoma"/>
                <a:cs typeface="Tahoma"/>
              </a:rPr>
              <a:t>3</a:t>
            </a:r>
            <a:r>
              <a:rPr sz="1050" spc="209" baseline="7936" dirty="0">
                <a:solidFill>
                  <a:srgbClr val="E5E9EC"/>
                </a:solidFill>
                <a:latin typeface="Tahoma"/>
                <a:cs typeface="Tahoma"/>
              </a:rPr>
              <a:t>  </a:t>
            </a:r>
            <a:r>
              <a:rPr sz="1000" dirty="0">
                <a:solidFill>
                  <a:srgbClr val="002B48"/>
                </a:solidFill>
                <a:latin typeface="Arial MT"/>
                <a:cs typeface="Arial MT"/>
                <a:hlinkClick r:id="rId7" action="ppaction://hlinksldjump"/>
              </a:rPr>
              <a:t>3.</a:t>
            </a:r>
            <a:r>
              <a:rPr sz="1000" spc="114" dirty="0">
                <a:solidFill>
                  <a:srgbClr val="002B48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1000" spc="-40" dirty="0">
                <a:solidFill>
                  <a:srgbClr val="002B48"/>
                </a:solidFill>
                <a:latin typeface="Arial MT"/>
                <a:cs typeface="Arial MT"/>
                <a:hlinkClick r:id="rId7" action="ppaction://hlinksldjump"/>
              </a:rPr>
              <a:t>Gate</a:t>
            </a:r>
            <a:r>
              <a:rPr sz="1000" spc="15" dirty="0">
                <a:solidFill>
                  <a:srgbClr val="002B48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1000" spc="-10" dirty="0">
                <a:solidFill>
                  <a:srgbClr val="002B48"/>
                </a:solidFill>
                <a:latin typeface="Arial MT"/>
                <a:cs typeface="Arial MT"/>
                <a:hlinkClick r:id="rId7" action="ppaction://hlinksldjump"/>
              </a:rPr>
              <a:t>Diffusion</a:t>
            </a:r>
            <a:r>
              <a:rPr sz="1000" spc="10" dirty="0">
                <a:solidFill>
                  <a:srgbClr val="002B48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1000" dirty="0">
                <a:solidFill>
                  <a:srgbClr val="002B48"/>
                </a:solidFill>
                <a:latin typeface="Arial MT"/>
                <a:cs typeface="Arial MT"/>
                <a:hlinkClick r:id="rId7" action="ppaction://hlinksldjump"/>
              </a:rPr>
              <a:t>Input</a:t>
            </a:r>
            <a:r>
              <a:rPr sz="1000" spc="10" dirty="0">
                <a:solidFill>
                  <a:srgbClr val="002B48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1000" dirty="0">
                <a:solidFill>
                  <a:srgbClr val="002B48"/>
                </a:solidFill>
                <a:latin typeface="Arial MT"/>
                <a:cs typeface="Arial MT"/>
                <a:hlinkClick r:id="rId7" action="ppaction://hlinksldjump"/>
              </a:rPr>
              <a:t>(GDI)</a:t>
            </a:r>
            <a:r>
              <a:rPr sz="1000" spc="20" dirty="0">
                <a:solidFill>
                  <a:srgbClr val="002B48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1000" spc="-40" dirty="0">
                <a:solidFill>
                  <a:srgbClr val="002B48"/>
                </a:solidFill>
                <a:latin typeface="Arial MT"/>
                <a:cs typeface="Arial MT"/>
                <a:hlinkClick r:id="rId7" action="ppaction://hlinksldjump"/>
              </a:rPr>
              <a:t>Fundamentals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534" y="1782660"/>
            <a:ext cx="146202" cy="14620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8414" y="1783552"/>
            <a:ext cx="730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E5E9EC"/>
                </a:solidFill>
                <a:latin typeface="Tahoma"/>
                <a:cs typeface="Tahoma"/>
              </a:rPr>
              <a:t>4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8465" y="1755894"/>
            <a:ext cx="24460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002B48"/>
                </a:solidFill>
                <a:latin typeface="Arial MT"/>
                <a:cs typeface="Arial MT"/>
                <a:hlinkClick r:id="rId9" action="ppaction://hlinksldjump"/>
              </a:rPr>
              <a:t>4.</a:t>
            </a:r>
            <a:r>
              <a:rPr sz="1000" spc="80" dirty="0">
                <a:solidFill>
                  <a:srgbClr val="002B48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1000" spc="-45" dirty="0">
                <a:solidFill>
                  <a:srgbClr val="002B48"/>
                </a:solidFill>
                <a:latin typeface="Arial MT"/>
                <a:cs typeface="Arial MT"/>
                <a:hlinkClick r:id="rId9" action="ppaction://hlinksldjump"/>
              </a:rPr>
              <a:t>Proposed</a:t>
            </a:r>
            <a:r>
              <a:rPr sz="1000" spc="-10" dirty="0">
                <a:solidFill>
                  <a:srgbClr val="002B48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1000" dirty="0">
                <a:solidFill>
                  <a:srgbClr val="002B48"/>
                </a:solidFill>
                <a:latin typeface="Arial MT"/>
                <a:cs typeface="Arial MT"/>
                <a:hlinkClick r:id="rId9" action="ppaction://hlinksldjump"/>
              </a:rPr>
              <a:t>10T</a:t>
            </a:r>
            <a:r>
              <a:rPr sz="1000" spc="-5" dirty="0">
                <a:solidFill>
                  <a:srgbClr val="002B48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1000" spc="-10" dirty="0">
                <a:solidFill>
                  <a:srgbClr val="002B48"/>
                </a:solidFill>
                <a:latin typeface="Arial MT"/>
                <a:cs typeface="Arial MT"/>
                <a:hlinkClick r:id="rId9" action="ppaction://hlinksldjump"/>
              </a:rPr>
              <a:t>GDI </a:t>
            </a:r>
            <a:r>
              <a:rPr sz="1000" spc="-20" dirty="0">
                <a:solidFill>
                  <a:srgbClr val="002B48"/>
                </a:solidFill>
                <a:latin typeface="Arial MT"/>
                <a:cs typeface="Arial MT"/>
                <a:hlinkClick r:id="rId9" action="ppaction://hlinksldjump"/>
              </a:rPr>
              <a:t>Magnitude</a:t>
            </a:r>
            <a:r>
              <a:rPr sz="1000" spc="-10" dirty="0">
                <a:solidFill>
                  <a:srgbClr val="002B48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1000" spc="-30" dirty="0">
                <a:solidFill>
                  <a:srgbClr val="002B48"/>
                </a:solidFill>
                <a:latin typeface="Arial MT"/>
                <a:cs typeface="Arial MT"/>
                <a:hlinkClick r:id="rId9" action="ppaction://hlinksldjump"/>
              </a:rPr>
              <a:t>Comparator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1534" y="2128354"/>
            <a:ext cx="146202" cy="146202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18414" y="2101588"/>
            <a:ext cx="26168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aseline="7936" dirty="0">
                <a:solidFill>
                  <a:srgbClr val="E5E9EC"/>
                </a:solidFill>
                <a:latin typeface="Tahoma"/>
                <a:cs typeface="Tahoma"/>
              </a:rPr>
              <a:t>5</a:t>
            </a:r>
            <a:r>
              <a:rPr sz="1050" spc="240" baseline="7936" dirty="0">
                <a:solidFill>
                  <a:srgbClr val="E5E9EC"/>
                </a:solidFill>
                <a:latin typeface="Tahoma"/>
                <a:cs typeface="Tahoma"/>
              </a:rPr>
              <a:t>  </a:t>
            </a:r>
            <a:r>
              <a:rPr sz="1000" dirty="0">
                <a:solidFill>
                  <a:srgbClr val="002B48"/>
                </a:solidFill>
                <a:latin typeface="Arial MT"/>
                <a:cs typeface="Arial MT"/>
                <a:hlinkClick r:id="rId11" action="ppaction://hlinksldjump"/>
              </a:rPr>
              <a:t>5.</a:t>
            </a:r>
            <a:r>
              <a:rPr sz="1000" spc="140" dirty="0">
                <a:solidFill>
                  <a:srgbClr val="002B48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1000" spc="-20" dirty="0">
                <a:solidFill>
                  <a:srgbClr val="002B48"/>
                </a:solidFill>
                <a:latin typeface="Arial MT"/>
                <a:cs typeface="Arial MT"/>
                <a:hlinkClick r:id="rId11" action="ppaction://hlinksldjump"/>
              </a:rPr>
              <a:t>Simulation</a:t>
            </a:r>
            <a:r>
              <a:rPr sz="1000" spc="30" dirty="0">
                <a:solidFill>
                  <a:srgbClr val="002B48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1000" spc="-50" dirty="0">
                <a:solidFill>
                  <a:srgbClr val="002B48"/>
                </a:solidFill>
                <a:latin typeface="Arial MT"/>
                <a:cs typeface="Arial MT"/>
                <a:hlinkClick r:id="rId11" action="ppaction://hlinksldjump"/>
              </a:rPr>
              <a:t>Results</a:t>
            </a:r>
            <a:r>
              <a:rPr sz="1000" spc="30" dirty="0">
                <a:solidFill>
                  <a:srgbClr val="002B48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1000" spc="85" dirty="0">
                <a:solidFill>
                  <a:srgbClr val="002B48"/>
                </a:solidFill>
                <a:latin typeface="Arial MT"/>
                <a:cs typeface="Arial MT"/>
                <a:hlinkClick r:id="rId11" action="ppaction://hlinksldjump"/>
              </a:rPr>
              <a:t>&amp;</a:t>
            </a:r>
            <a:r>
              <a:rPr sz="1000" spc="30" dirty="0">
                <a:solidFill>
                  <a:srgbClr val="002B48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1000" spc="-50" dirty="0">
                <a:solidFill>
                  <a:srgbClr val="002B48"/>
                </a:solidFill>
                <a:latin typeface="Arial MT"/>
                <a:cs typeface="Arial MT"/>
                <a:hlinkClick r:id="rId11" action="ppaction://hlinksldjump"/>
              </a:rPr>
              <a:t>Performance</a:t>
            </a:r>
            <a:r>
              <a:rPr sz="1000" spc="25" dirty="0">
                <a:solidFill>
                  <a:srgbClr val="002B48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sz="1000" spc="-30" dirty="0">
                <a:solidFill>
                  <a:srgbClr val="002B48"/>
                </a:solidFill>
                <a:latin typeface="Arial MT"/>
                <a:cs typeface="Arial MT"/>
                <a:hlinkClick r:id="rId11" action="ppaction://hlinksldjump"/>
              </a:rPr>
              <a:t>Analysis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1534" y="2474036"/>
            <a:ext cx="146202" cy="14620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8414" y="2474927"/>
            <a:ext cx="730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E5E9EC"/>
                </a:solidFill>
                <a:latin typeface="Tahoma"/>
                <a:cs typeface="Tahoma"/>
              </a:rPr>
              <a:t>6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ts val="580"/>
              </a:lnSpc>
            </a:pPr>
            <a:fld id="{81D60167-4931-47E6-BA6A-407CBD079E47}" type="slidenum">
              <a:rPr spc="-20" dirty="0"/>
              <a:t>2</a:t>
            </a:fld>
            <a:r>
              <a:rPr spc="-65" dirty="0"/>
              <a:t> </a:t>
            </a:r>
            <a:r>
              <a:rPr spc="75" dirty="0"/>
              <a:t>/</a:t>
            </a:r>
            <a:r>
              <a:rPr spc="-65" dirty="0"/>
              <a:t> </a:t>
            </a:r>
            <a:r>
              <a:rPr spc="-25" dirty="0"/>
              <a:t>12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68465" y="2447282"/>
            <a:ext cx="16313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002B48"/>
                </a:solidFill>
                <a:latin typeface="Arial MT"/>
                <a:cs typeface="Arial MT"/>
                <a:hlinkClick r:id="rId13" action="ppaction://hlinksldjump"/>
              </a:rPr>
              <a:t>6.</a:t>
            </a:r>
            <a:r>
              <a:rPr sz="1000" spc="105" dirty="0">
                <a:solidFill>
                  <a:srgbClr val="002B48"/>
                </a:solidFill>
                <a:latin typeface="Arial MT"/>
                <a:cs typeface="Arial MT"/>
                <a:hlinkClick r:id="rId13" action="ppaction://hlinksldjump"/>
              </a:rPr>
              <a:t> </a:t>
            </a:r>
            <a:r>
              <a:rPr sz="1000" spc="-45" dirty="0">
                <a:solidFill>
                  <a:srgbClr val="002B48"/>
                </a:solidFill>
                <a:latin typeface="Arial MT"/>
                <a:cs typeface="Arial MT"/>
                <a:hlinkClick r:id="rId13" action="ppaction://hlinksldjump"/>
              </a:rPr>
              <a:t>Conclusion</a:t>
            </a:r>
            <a:r>
              <a:rPr sz="1000" spc="15" dirty="0">
                <a:solidFill>
                  <a:srgbClr val="002B48"/>
                </a:solidFill>
                <a:latin typeface="Arial MT"/>
                <a:cs typeface="Arial MT"/>
                <a:hlinkClick r:id="rId13" action="ppaction://hlinksldjump"/>
              </a:rPr>
              <a:t> </a:t>
            </a:r>
            <a:r>
              <a:rPr sz="1000" spc="85" dirty="0">
                <a:solidFill>
                  <a:srgbClr val="002B48"/>
                </a:solidFill>
                <a:latin typeface="Arial MT"/>
                <a:cs typeface="Arial MT"/>
                <a:hlinkClick r:id="rId13" action="ppaction://hlinksldjump"/>
              </a:rPr>
              <a:t>&amp;</a:t>
            </a:r>
            <a:r>
              <a:rPr sz="1000" spc="10" dirty="0">
                <a:solidFill>
                  <a:srgbClr val="002B48"/>
                </a:solidFill>
                <a:latin typeface="Arial MT"/>
                <a:cs typeface="Arial MT"/>
                <a:hlinkClick r:id="rId13" action="ppaction://hlinksldjump"/>
              </a:rPr>
              <a:t> </a:t>
            </a:r>
            <a:r>
              <a:rPr sz="1000" spc="-20" dirty="0">
                <a:solidFill>
                  <a:srgbClr val="002B48"/>
                </a:solidFill>
                <a:latin typeface="Arial MT"/>
                <a:cs typeface="Arial MT"/>
                <a:hlinkClick r:id="rId13" action="ppaction://hlinksldjump"/>
              </a:rPr>
              <a:t>Future</a:t>
            </a:r>
            <a:r>
              <a:rPr sz="1000" spc="15" dirty="0">
                <a:solidFill>
                  <a:srgbClr val="002B48"/>
                </a:solidFill>
                <a:latin typeface="Arial MT"/>
                <a:cs typeface="Arial MT"/>
                <a:hlinkClick r:id="rId13" action="ppaction://hlinksldjump"/>
              </a:rPr>
              <a:t> </a:t>
            </a:r>
            <a:r>
              <a:rPr sz="1000" spc="-40" dirty="0">
                <a:solidFill>
                  <a:srgbClr val="002B48"/>
                </a:solidFill>
                <a:latin typeface="Arial MT"/>
                <a:cs typeface="Arial MT"/>
                <a:hlinkClick r:id="rId13" action="ppaction://hlinksldjump"/>
              </a:rPr>
              <a:t>Scope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1.</a:t>
            </a:r>
            <a:r>
              <a:rPr spc="110" dirty="0"/>
              <a:t> </a:t>
            </a:r>
            <a:r>
              <a:rPr spc="-30" dirty="0"/>
              <a:t>Introduction</a:t>
            </a:r>
            <a:r>
              <a:rPr spc="-20" dirty="0"/>
              <a:t> </a:t>
            </a:r>
            <a:r>
              <a:rPr spc="120" dirty="0"/>
              <a:t>&amp;</a:t>
            </a:r>
            <a:r>
              <a:rPr spc="-25" dirty="0"/>
              <a:t> </a:t>
            </a:r>
            <a:r>
              <a:rPr spc="-10" dirty="0"/>
              <a:t>Motivation</a:t>
            </a:r>
          </a:p>
        </p:txBody>
      </p:sp>
      <p:sp>
        <p:nvSpPr>
          <p:cNvPr id="3" name="object 3"/>
          <p:cNvSpPr/>
          <p:nvPr/>
        </p:nvSpPr>
        <p:spPr>
          <a:xfrm>
            <a:off x="106958" y="565962"/>
            <a:ext cx="3296285" cy="198755"/>
          </a:xfrm>
          <a:custGeom>
            <a:avLst/>
            <a:gdLst/>
            <a:ahLst/>
            <a:cxnLst/>
            <a:rect l="l" t="t" r="r" b="b"/>
            <a:pathLst>
              <a:path w="3296285" h="198754">
                <a:moveTo>
                  <a:pt x="3244881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3295682" y="198367"/>
                </a:lnTo>
                <a:lnTo>
                  <a:pt x="3295682" y="50800"/>
                </a:lnTo>
                <a:lnTo>
                  <a:pt x="3291673" y="31075"/>
                </a:lnTo>
                <a:lnTo>
                  <a:pt x="3280759" y="14922"/>
                </a:lnTo>
                <a:lnTo>
                  <a:pt x="3264606" y="4008"/>
                </a:lnTo>
                <a:lnTo>
                  <a:pt x="3244881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57759" y="594410"/>
            <a:ext cx="2416175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chemeClr val="bg1"/>
                </a:solidFill>
                <a:latin typeface="Tahoma"/>
                <a:cs typeface="Tahoma"/>
              </a:rPr>
              <a:t>The</a:t>
            </a:r>
            <a:r>
              <a:rPr sz="1200" spc="-6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chemeClr val="bg1"/>
                </a:solidFill>
                <a:latin typeface="Tahoma"/>
                <a:cs typeface="Tahoma"/>
              </a:rPr>
              <a:t>Scaling</a:t>
            </a:r>
            <a:r>
              <a:rPr sz="1200" spc="-4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chemeClr val="bg1"/>
                </a:solidFill>
                <a:latin typeface="Tahoma"/>
                <a:cs typeface="Tahoma"/>
              </a:rPr>
              <a:t>Challenge</a:t>
            </a:r>
            <a:r>
              <a:rPr sz="1200" spc="-4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chemeClr val="bg1"/>
                </a:solidFill>
                <a:latin typeface="Tahoma"/>
                <a:cs typeface="Tahoma"/>
              </a:rPr>
              <a:t>in</a:t>
            </a:r>
            <a:r>
              <a:rPr sz="1200" spc="-4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chemeClr val="bg1"/>
                </a:solidFill>
                <a:latin typeface="Tahoma"/>
                <a:cs typeface="Tahoma"/>
              </a:rPr>
              <a:t>Modern</a:t>
            </a:r>
            <a:r>
              <a:rPr sz="1200" spc="-5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chemeClr val="bg1"/>
                </a:solidFill>
                <a:latin typeface="Tahoma"/>
                <a:cs typeface="Tahoma"/>
              </a:rPr>
              <a:t>VLSI</a:t>
            </a:r>
            <a:endParaRPr sz="1200" dirty="0">
              <a:solidFill>
                <a:schemeClr val="bg1"/>
              </a:solidFill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7759" y="769904"/>
            <a:ext cx="3296285" cy="1316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2729" marR="1143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latin typeface="Arial MT"/>
                <a:cs typeface="Arial MT"/>
              </a:rPr>
              <a:t>Rapid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growth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portable,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high-speed,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battery-</a:t>
            </a:r>
            <a:r>
              <a:rPr sz="1000" spc="-20" dirty="0">
                <a:latin typeface="Arial MT"/>
                <a:cs typeface="Arial MT"/>
              </a:rPr>
              <a:t>operated computing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devices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(IoT,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smartphones,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biomedical sensors).</a:t>
            </a:r>
            <a:endParaRPr sz="1000" dirty="0">
              <a:latin typeface="Arial MT"/>
              <a:cs typeface="Arial MT"/>
            </a:endParaRPr>
          </a:p>
          <a:p>
            <a:pPr marL="252729" marR="448309">
              <a:lnSpc>
                <a:spcPct val="100000"/>
              </a:lnSpc>
              <a:spcBef>
                <a:spcPts val="285"/>
              </a:spcBef>
            </a:pPr>
            <a:r>
              <a:rPr sz="1000" spc="-50" dirty="0">
                <a:latin typeface="Arial MT"/>
                <a:cs typeface="Arial MT"/>
              </a:rPr>
              <a:t>Sub-</a:t>
            </a:r>
            <a:r>
              <a:rPr sz="1000" spc="-30" dirty="0">
                <a:latin typeface="Arial MT"/>
                <a:cs typeface="Arial MT"/>
              </a:rPr>
              <a:t>micron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technology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scaling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leads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increased </a:t>
            </a:r>
            <a:r>
              <a:rPr sz="1000" spc="-65" dirty="0">
                <a:latin typeface="Arial MT"/>
                <a:cs typeface="Arial MT"/>
              </a:rPr>
              <a:t>leakage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current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high</a:t>
            </a:r>
            <a:r>
              <a:rPr sz="1000" spc="-10" dirty="0">
                <a:latin typeface="Arial MT"/>
                <a:cs typeface="Arial MT"/>
              </a:rPr>
              <a:t> static/dynamic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power </a:t>
            </a:r>
            <a:r>
              <a:rPr sz="1000" spc="-10" dirty="0">
                <a:latin typeface="Arial MT"/>
                <a:cs typeface="Arial MT"/>
              </a:rPr>
              <a:t>dissipation.</a:t>
            </a:r>
            <a:endParaRPr sz="1000" dirty="0">
              <a:latin typeface="Arial MT"/>
              <a:cs typeface="Arial MT"/>
            </a:endParaRPr>
          </a:p>
          <a:p>
            <a:pPr marL="252729" marR="189865">
              <a:lnSpc>
                <a:spcPct val="100000"/>
              </a:lnSpc>
              <a:spcBef>
                <a:spcPts val="285"/>
              </a:spcBef>
            </a:pPr>
            <a:r>
              <a:rPr sz="1000" spc="-45" dirty="0">
                <a:latin typeface="Arial MT"/>
                <a:cs typeface="Arial MT"/>
              </a:rPr>
              <a:t>Low-</a:t>
            </a:r>
            <a:r>
              <a:rPr sz="1000" spc="-50" dirty="0">
                <a:latin typeface="Arial MT"/>
                <a:cs typeface="Arial MT"/>
              </a:rPr>
              <a:t>power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design</a:t>
            </a:r>
            <a:r>
              <a:rPr sz="1000" dirty="0">
                <a:latin typeface="Arial MT"/>
                <a:cs typeface="Arial MT"/>
              </a:rPr>
              <a:t> is critical to </a:t>
            </a:r>
            <a:r>
              <a:rPr sz="1000" spc="-35" dirty="0">
                <a:latin typeface="Arial MT"/>
                <a:cs typeface="Arial MT"/>
              </a:rPr>
              <a:t>extend</a:t>
            </a:r>
            <a:r>
              <a:rPr sz="1000" dirty="0">
                <a:latin typeface="Arial MT"/>
                <a:cs typeface="Arial MT"/>
              </a:rPr>
              <a:t> battery life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and </a:t>
            </a:r>
            <a:r>
              <a:rPr sz="1000" spc="-30" dirty="0">
                <a:latin typeface="Arial MT"/>
                <a:cs typeface="Arial MT"/>
              </a:rPr>
              <a:t>prevent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thermally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induced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degradation.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ts val="580"/>
              </a:lnSpc>
            </a:pPr>
            <a:fld id="{81D60167-4931-47E6-BA6A-407CBD079E47}" type="slidenum">
              <a:rPr spc="-20" dirty="0"/>
              <a:t>3</a:t>
            </a:fld>
            <a:r>
              <a:rPr spc="-65" dirty="0"/>
              <a:t> </a:t>
            </a:r>
            <a:r>
              <a:rPr spc="75" dirty="0"/>
              <a:t>/</a:t>
            </a:r>
            <a:r>
              <a:rPr spc="-65" dirty="0"/>
              <a:t> </a:t>
            </a:r>
            <a:r>
              <a:rPr spc="-25" dirty="0"/>
              <a:t>12</a:t>
            </a:r>
          </a:p>
        </p:txBody>
      </p:sp>
      <p:sp>
        <p:nvSpPr>
          <p:cNvPr id="14" name="Arrow: Notched Right 13">
            <a:extLst>
              <a:ext uri="{FF2B5EF4-FFF2-40B4-BE49-F238E27FC236}">
                <a16:creationId xmlns:a16="http://schemas.microsoft.com/office/drawing/2014/main" id="{8DC716A7-3209-FE2C-9C46-5ABE4838DCB3}"/>
              </a:ext>
            </a:extLst>
          </p:cNvPr>
          <p:cNvSpPr/>
          <p:nvPr/>
        </p:nvSpPr>
        <p:spPr>
          <a:xfrm>
            <a:off x="215900" y="860425"/>
            <a:ext cx="152400" cy="45720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Notched Right 14">
            <a:extLst>
              <a:ext uri="{FF2B5EF4-FFF2-40B4-BE49-F238E27FC236}">
                <a16:creationId xmlns:a16="http://schemas.microsoft.com/office/drawing/2014/main" id="{6CA2602B-6F82-0182-3F31-B64050F8EAFC}"/>
              </a:ext>
            </a:extLst>
          </p:cNvPr>
          <p:cNvSpPr/>
          <p:nvPr/>
        </p:nvSpPr>
        <p:spPr>
          <a:xfrm>
            <a:off x="215900" y="1371697"/>
            <a:ext cx="152400" cy="45720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Notched Right 15">
            <a:extLst>
              <a:ext uri="{FF2B5EF4-FFF2-40B4-BE49-F238E27FC236}">
                <a16:creationId xmlns:a16="http://schemas.microsoft.com/office/drawing/2014/main" id="{31813169-0C67-376A-4218-F726B2C75AA9}"/>
              </a:ext>
            </a:extLst>
          </p:cNvPr>
          <p:cNvSpPr/>
          <p:nvPr/>
        </p:nvSpPr>
        <p:spPr>
          <a:xfrm>
            <a:off x="215900" y="1842001"/>
            <a:ext cx="152400" cy="45720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1.</a:t>
            </a:r>
            <a:r>
              <a:rPr spc="110" dirty="0"/>
              <a:t> </a:t>
            </a:r>
            <a:r>
              <a:rPr spc="-30" dirty="0"/>
              <a:t>Introduction</a:t>
            </a:r>
            <a:r>
              <a:rPr spc="-20" dirty="0"/>
              <a:t> </a:t>
            </a:r>
            <a:r>
              <a:rPr spc="120" dirty="0"/>
              <a:t>&amp;</a:t>
            </a:r>
            <a:r>
              <a:rPr spc="-25" dirty="0"/>
              <a:t> </a:t>
            </a:r>
            <a:r>
              <a:rPr spc="-10" dirty="0"/>
              <a:t>Motivation</a:t>
            </a:r>
          </a:p>
        </p:txBody>
      </p:sp>
      <p:sp>
        <p:nvSpPr>
          <p:cNvPr id="3" name="object 3"/>
          <p:cNvSpPr/>
          <p:nvPr/>
        </p:nvSpPr>
        <p:spPr>
          <a:xfrm>
            <a:off x="106958" y="565962"/>
            <a:ext cx="3296285" cy="198755"/>
          </a:xfrm>
          <a:custGeom>
            <a:avLst/>
            <a:gdLst/>
            <a:ahLst/>
            <a:cxnLst/>
            <a:rect l="l" t="t" r="r" b="b"/>
            <a:pathLst>
              <a:path w="3296285" h="198754">
                <a:moveTo>
                  <a:pt x="3244881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3295682" y="198367"/>
                </a:lnTo>
                <a:lnTo>
                  <a:pt x="3295682" y="50800"/>
                </a:lnTo>
                <a:lnTo>
                  <a:pt x="3291673" y="31075"/>
                </a:lnTo>
                <a:lnTo>
                  <a:pt x="3280759" y="14922"/>
                </a:lnTo>
                <a:lnTo>
                  <a:pt x="3264606" y="4008"/>
                </a:lnTo>
                <a:lnTo>
                  <a:pt x="3244881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7759" y="594410"/>
            <a:ext cx="241617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Scaling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Challenge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Modern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VLSI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6958" y="622879"/>
            <a:ext cx="3347085" cy="1544955"/>
            <a:chOff x="106958" y="622879"/>
            <a:chExt cx="3347085" cy="15449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958" y="751674"/>
              <a:ext cx="3295682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7759" y="622879"/>
              <a:ext cx="3296285" cy="1544955"/>
            </a:xfrm>
            <a:custGeom>
              <a:avLst/>
              <a:gdLst/>
              <a:ahLst/>
              <a:cxnLst/>
              <a:rect l="l" t="t" r="r" b="b"/>
              <a:pathLst>
                <a:path w="3296285" h="1544955">
                  <a:moveTo>
                    <a:pt x="3295682" y="0"/>
                  </a:moveTo>
                  <a:lnTo>
                    <a:pt x="0" y="0"/>
                  </a:lnTo>
                  <a:lnTo>
                    <a:pt x="0" y="1544808"/>
                  </a:lnTo>
                  <a:lnTo>
                    <a:pt x="3295682" y="1544808"/>
                  </a:lnTo>
                  <a:lnTo>
                    <a:pt x="32956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6958" y="795941"/>
              <a:ext cx="3296285" cy="1321435"/>
            </a:xfrm>
            <a:custGeom>
              <a:avLst/>
              <a:gdLst/>
              <a:ahLst/>
              <a:cxnLst/>
              <a:rect l="l" t="t" r="r" b="b"/>
              <a:pathLst>
                <a:path w="3296285" h="1321435">
                  <a:moveTo>
                    <a:pt x="3295682" y="0"/>
                  </a:moveTo>
                  <a:lnTo>
                    <a:pt x="0" y="0"/>
                  </a:lnTo>
                  <a:lnTo>
                    <a:pt x="0" y="1270144"/>
                  </a:lnTo>
                  <a:lnTo>
                    <a:pt x="4008" y="1289869"/>
                  </a:lnTo>
                  <a:lnTo>
                    <a:pt x="14922" y="1306022"/>
                  </a:lnTo>
                  <a:lnTo>
                    <a:pt x="31075" y="1316936"/>
                  </a:lnTo>
                  <a:lnTo>
                    <a:pt x="50800" y="1320945"/>
                  </a:lnTo>
                  <a:lnTo>
                    <a:pt x="3244881" y="1320945"/>
                  </a:lnTo>
                  <a:lnTo>
                    <a:pt x="3264606" y="1316936"/>
                  </a:lnTo>
                  <a:lnTo>
                    <a:pt x="3280759" y="1306022"/>
                  </a:lnTo>
                  <a:lnTo>
                    <a:pt x="3291673" y="1289869"/>
                  </a:lnTo>
                  <a:lnTo>
                    <a:pt x="3295682" y="1270144"/>
                  </a:lnTo>
                  <a:lnTo>
                    <a:pt x="3295682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7947" y="847000"/>
              <a:ext cx="59601" cy="596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7947" y="1340446"/>
              <a:ext cx="59601" cy="596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7947" y="1833892"/>
              <a:ext cx="59601" cy="5960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57759" y="769904"/>
            <a:ext cx="3296285" cy="1316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2729" marR="1143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latin typeface="Arial MT"/>
                <a:cs typeface="Arial MT"/>
              </a:rPr>
              <a:t>Rapid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growth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portable,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high-speed,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battery-</a:t>
            </a:r>
            <a:r>
              <a:rPr sz="1000" spc="-20" dirty="0">
                <a:latin typeface="Arial MT"/>
                <a:cs typeface="Arial MT"/>
              </a:rPr>
              <a:t>operated computing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devices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(IoT,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smartphones,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biomedical sensors).</a:t>
            </a:r>
            <a:endParaRPr sz="1000">
              <a:latin typeface="Arial MT"/>
              <a:cs typeface="Arial MT"/>
            </a:endParaRPr>
          </a:p>
          <a:p>
            <a:pPr marL="252729" marR="448309">
              <a:lnSpc>
                <a:spcPct val="100000"/>
              </a:lnSpc>
              <a:spcBef>
                <a:spcPts val="285"/>
              </a:spcBef>
            </a:pPr>
            <a:r>
              <a:rPr sz="1000" spc="-50" dirty="0">
                <a:latin typeface="Arial MT"/>
                <a:cs typeface="Arial MT"/>
              </a:rPr>
              <a:t>Sub-</a:t>
            </a:r>
            <a:r>
              <a:rPr sz="1000" spc="-30" dirty="0">
                <a:latin typeface="Arial MT"/>
                <a:cs typeface="Arial MT"/>
              </a:rPr>
              <a:t>micron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technology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scaling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leads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increased </a:t>
            </a:r>
            <a:r>
              <a:rPr sz="1000" spc="-65" dirty="0">
                <a:latin typeface="Arial MT"/>
                <a:cs typeface="Arial MT"/>
              </a:rPr>
              <a:t>leakage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current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high</a:t>
            </a:r>
            <a:r>
              <a:rPr sz="1000" spc="-10" dirty="0">
                <a:latin typeface="Arial MT"/>
                <a:cs typeface="Arial MT"/>
              </a:rPr>
              <a:t> static/dynamic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power </a:t>
            </a:r>
            <a:r>
              <a:rPr sz="1000" spc="-10" dirty="0">
                <a:latin typeface="Arial MT"/>
                <a:cs typeface="Arial MT"/>
              </a:rPr>
              <a:t>dissipation.</a:t>
            </a:r>
            <a:endParaRPr sz="1000">
              <a:latin typeface="Arial MT"/>
              <a:cs typeface="Arial MT"/>
            </a:endParaRPr>
          </a:p>
          <a:p>
            <a:pPr marL="252729" marR="189865">
              <a:lnSpc>
                <a:spcPct val="100000"/>
              </a:lnSpc>
              <a:spcBef>
                <a:spcPts val="285"/>
              </a:spcBef>
            </a:pPr>
            <a:r>
              <a:rPr sz="1000" spc="-45" dirty="0">
                <a:latin typeface="Arial MT"/>
                <a:cs typeface="Arial MT"/>
              </a:rPr>
              <a:t>Low-</a:t>
            </a:r>
            <a:r>
              <a:rPr sz="1000" spc="-50" dirty="0">
                <a:latin typeface="Arial MT"/>
                <a:cs typeface="Arial MT"/>
              </a:rPr>
              <a:t>power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design</a:t>
            </a:r>
            <a:r>
              <a:rPr sz="1000" dirty="0">
                <a:latin typeface="Arial MT"/>
                <a:cs typeface="Arial MT"/>
              </a:rPr>
              <a:t> is critical to </a:t>
            </a:r>
            <a:r>
              <a:rPr sz="1000" spc="-35" dirty="0">
                <a:latin typeface="Arial MT"/>
                <a:cs typeface="Arial MT"/>
              </a:rPr>
              <a:t>extend</a:t>
            </a:r>
            <a:r>
              <a:rPr sz="1000" dirty="0">
                <a:latin typeface="Arial MT"/>
                <a:cs typeface="Arial MT"/>
              </a:rPr>
              <a:t> battery life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and </a:t>
            </a:r>
            <a:r>
              <a:rPr sz="1000" spc="-30" dirty="0">
                <a:latin typeface="Arial MT"/>
                <a:cs typeface="Arial MT"/>
              </a:rPr>
              <a:t>prevent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thermally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induced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degradation.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6958" y="2268816"/>
            <a:ext cx="3296285" cy="198755"/>
          </a:xfrm>
          <a:custGeom>
            <a:avLst/>
            <a:gdLst/>
            <a:ahLst/>
            <a:cxnLst/>
            <a:rect l="l" t="t" r="r" b="b"/>
            <a:pathLst>
              <a:path w="3296285" h="198755">
                <a:moveTo>
                  <a:pt x="3244881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3295682" y="198367"/>
                </a:lnTo>
                <a:lnTo>
                  <a:pt x="3295682" y="50800"/>
                </a:lnTo>
                <a:lnTo>
                  <a:pt x="3291673" y="31075"/>
                </a:lnTo>
                <a:lnTo>
                  <a:pt x="3280759" y="14922"/>
                </a:lnTo>
                <a:lnTo>
                  <a:pt x="3264606" y="4008"/>
                </a:lnTo>
                <a:lnTo>
                  <a:pt x="3244881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7759" y="2297264"/>
            <a:ext cx="1980564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Role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Magnitude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Comparators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6958" y="2325731"/>
            <a:ext cx="3347085" cy="914400"/>
            <a:chOff x="106958" y="2325731"/>
            <a:chExt cx="3347085" cy="91440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958" y="2454528"/>
              <a:ext cx="3295682" cy="5060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57759" y="2325731"/>
              <a:ext cx="3296285" cy="914400"/>
            </a:xfrm>
            <a:custGeom>
              <a:avLst/>
              <a:gdLst/>
              <a:ahLst/>
              <a:cxnLst/>
              <a:rect l="l" t="t" r="r" b="b"/>
              <a:pathLst>
                <a:path w="3296285" h="914400">
                  <a:moveTo>
                    <a:pt x="3295682" y="0"/>
                  </a:moveTo>
                  <a:lnTo>
                    <a:pt x="0" y="0"/>
                  </a:lnTo>
                  <a:lnTo>
                    <a:pt x="0" y="914267"/>
                  </a:lnTo>
                  <a:lnTo>
                    <a:pt x="3295682" y="914267"/>
                  </a:lnTo>
                  <a:lnTo>
                    <a:pt x="32956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6958" y="2498793"/>
              <a:ext cx="3296285" cy="741680"/>
            </a:xfrm>
            <a:custGeom>
              <a:avLst/>
              <a:gdLst/>
              <a:ahLst/>
              <a:cxnLst/>
              <a:rect l="l" t="t" r="r" b="b"/>
              <a:pathLst>
                <a:path w="3296285" h="741680">
                  <a:moveTo>
                    <a:pt x="3295682" y="0"/>
                  </a:moveTo>
                  <a:lnTo>
                    <a:pt x="0" y="0"/>
                  </a:lnTo>
                  <a:lnTo>
                    <a:pt x="0" y="741205"/>
                  </a:lnTo>
                  <a:lnTo>
                    <a:pt x="3295682" y="741205"/>
                  </a:lnTo>
                  <a:lnTo>
                    <a:pt x="3295682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7947" y="2549842"/>
              <a:ext cx="59601" cy="5960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7947" y="3043300"/>
              <a:ext cx="59601" cy="5960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57759" y="2472758"/>
            <a:ext cx="3245485" cy="822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2729" marR="414655" algn="just">
              <a:lnSpc>
                <a:spcPct val="100000"/>
              </a:lnSpc>
              <a:spcBef>
                <a:spcPts val="95"/>
              </a:spcBef>
            </a:pPr>
            <a:r>
              <a:rPr sz="1000" spc="-35" dirty="0">
                <a:latin typeface="Arial MT"/>
                <a:cs typeface="Arial MT"/>
              </a:rPr>
              <a:t>Fundamental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block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</a:t>
            </a:r>
            <a:r>
              <a:rPr sz="1000" spc="-20" dirty="0">
                <a:latin typeface="Arial MT"/>
                <a:cs typeface="Arial MT"/>
              </a:rPr>
              <a:t> ALUs, DSP </a:t>
            </a:r>
            <a:r>
              <a:rPr sz="1000" spc="-10" dirty="0">
                <a:latin typeface="Arial MT"/>
                <a:cs typeface="Arial MT"/>
              </a:rPr>
              <a:t>architectures, </a:t>
            </a:r>
            <a:r>
              <a:rPr sz="1000" spc="-30" dirty="0">
                <a:latin typeface="Arial MT"/>
                <a:cs typeface="Arial MT"/>
              </a:rPr>
              <a:t>analog-</a:t>
            </a:r>
            <a:r>
              <a:rPr sz="1000" spc="-25" dirty="0">
                <a:latin typeface="Arial MT"/>
                <a:cs typeface="Arial MT"/>
              </a:rPr>
              <a:t>to-</a:t>
            </a:r>
            <a:r>
              <a:rPr sz="1000" spc="-10" dirty="0">
                <a:latin typeface="Arial MT"/>
                <a:cs typeface="Arial MT"/>
              </a:rPr>
              <a:t>digital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converters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(ADC),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memory </a:t>
            </a:r>
            <a:r>
              <a:rPr sz="1000" spc="-70" dirty="0">
                <a:latin typeface="Arial MT"/>
                <a:cs typeface="Arial MT"/>
              </a:rPr>
              <a:t>address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decoders.</a:t>
            </a:r>
            <a:endParaRPr sz="1000">
              <a:latin typeface="Arial MT"/>
              <a:cs typeface="Arial MT"/>
            </a:endParaRPr>
          </a:p>
          <a:p>
            <a:pPr marL="252729" marR="405765" algn="just">
              <a:lnSpc>
                <a:spcPct val="100000"/>
              </a:lnSpc>
              <a:spcBef>
                <a:spcPts val="285"/>
              </a:spcBef>
            </a:pPr>
            <a:r>
              <a:rPr sz="1000" spc="-35" dirty="0">
                <a:latin typeface="Arial MT"/>
                <a:cs typeface="Arial MT"/>
              </a:rPr>
              <a:t>Transistor</a:t>
            </a:r>
            <a:r>
              <a:rPr sz="1000" dirty="0">
                <a:latin typeface="Arial MT"/>
                <a:cs typeface="Arial MT"/>
              </a:rPr>
              <a:t> count </a:t>
            </a:r>
            <a:r>
              <a:rPr sz="1000" spc="-10" dirty="0">
                <a:latin typeface="Arial MT"/>
                <a:cs typeface="Arial MT"/>
              </a:rPr>
              <a:t>directly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impacts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total </a:t>
            </a:r>
            <a:r>
              <a:rPr sz="1000" spc="-10" dirty="0">
                <a:latin typeface="Arial MT"/>
                <a:cs typeface="Arial MT"/>
              </a:rPr>
              <a:t>chip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area, </a:t>
            </a:r>
            <a:r>
              <a:rPr sz="1000" spc="-30" dirty="0">
                <a:latin typeface="Arial MT"/>
                <a:cs typeface="Arial MT"/>
              </a:rPr>
              <a:t>propagation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latency,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dynamic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power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density.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509568" y="477350"/>
            <a:ext cx="2092662" cy="1167997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715042" y="1729950"/>
            <a:ext cx="1682114" cy="3016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91770" marR="5080" indent="-179705">
              <a:lnSpc>
                <a:spcPct val="101499"/>
              </a:lnSpc>
              <a:spcBef>
                <a:spcPts val="80"/>
              </a:spcBef>
            </a:pPr>
            <a:r>
              <a:rPr sz="900" i="1" spc="-10" dirty="0">
                <a:latin typeface="Arial"/>
                <a:cs typeface="Arial"/>
              </a:rPr>
              <a:t>Figure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1.1: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i="1" spc="-35" dirty="0">
                <a:latin typeface="Arial"/>
                <a:cs typeface="Arial"/>
              </a:rPr>
              <a:t>Power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and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integration </a:t>
            </a:r>
            <a:r>
              <a:rPr sz="900" i="1" spc="-40" dirty="0">
                <a:latin typeface="Arial"/>
                <a:cs typeface="Arial"/>
              </a:rPr>
              <a:t>challenges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VLSI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scaling.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523242" y="3123548"/>
            <a:ext cx="1822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latin typeface="Tahoma"/>
                <a:cs typeface="Tahoma"/>
              </a:rPr>
              <a:t>3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75" dirty="0">
                <a:latin typeface="Tahoma"/>
                <a:cs typeface="Tahoma"/>
              </a:rPr>
              <a:t>/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-25" dirty="0">
                <a:latin typeface="Tahoma"/>
                <a:cs typeface="Tahoma"/>
              </a:rPr>
              <a:t>12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Research</a:t>
            </a:r>
            <a:r>
              <a:rPr spc="10" dirty="0"/>
              <a:t> </a:t>
            </a:r>
            <a:r>
              <a:rPr spc="-40" dirty="0"/>
              <a:t>Objectives</a:t>
            </a:r>
            <a:r>
              <a:rPr spc="10" dirty="0"/>
              <a:t> </a:t>
            </a:r>
            <a:r>
              <a:rPr spc="120" dirty="0"/>
              <a:t>&amp;</a:t>
            </a:r>
            <a:r>
              <a:rPr spc="15" dirty="0"/>
              <a:t> </a:t>
            </a:r>
            <a:r>
              <a:rPr spc="-20" dirty="0"/>
              <a:t>Scope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617410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645857"/>
            <a:ext cx="941069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Main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Objective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5729" y="674335"/>
            <a:ext cx="5659755" cy="572135"/>
            <a:chOff x="75729" y="674335"/>
            <a:chExt cx="5659755" cy="5721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803122"/>
              <a:ext cx="560862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6530" y="674335"/>
              <a:ext cx="5608955" cy="572135"/>
            </a:xfrm>
            <a:custGeom>
              <a:avLst/>
              <a:gdLst/>
              <a:ahLst/>
              <a:cxnLst/>
              <a:rect l="l" t="t" r="r" b="b"/>
              <a:pathLst>
                <a:path w="5608955" h="572135">
                  <a:moveTo>
                    <a:pt x="5608620" y="0"/>
                  </a:moveTo>
                  <a:lnTo>
                    <a:pt x="0" y="0"/>
                  </a:lnTo>
                  <a:lnTo>
                    <a:pt x="0" y="571954"/>
                  </a:lnTo>
                  <a:lnTo>
                    <a:pt x="5608620" y="571954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29" y="847397"/>
              <a:ext cx="5608955" cy="348615"/>
            </a:xfrm>
            <a:custGeom>
              <a:avLst/>
              <a:gdLst/>
              <a:ahLst/>
              <a:cxnLst/>
              <a:rect l="l" t="t" r="r" b="b"/>
              <a:pathLst>
                <a:path w="5608955" h="348615">
                  <a:moveTo>
                    <a:pt x="5608620" y="0"/>
                  </a:moveTo>
                  <a:lnTo>
                    <a:pt x="0" y="0"/>
                  </a:lnTo>
                  <a:lnTo>
                    <a:pt x="0" y="297291"/>
                  </a:lnTo>
                  <a:lnTo>
                    <a:pt x="4008" y="317016"/>
                  </a:lnTo>
                  <a:lnTo>
                    <a:pt x="14922" y="333169"/>
                  </a:lnTo>
                  <a:lnTo>
                    <a:pt x="31075" y="344083"/>
                  </a:lnTo>
                  <a:lnTo>
                    <a:pt x="50800" y="348091"/>
                  </a:lnTo>
                  <a:lnTo>
                    <a:pt x="5557819" y="348091"/>
                  </a:lnTo>
                  <a:lnTo>
                    <a:pt x="5577544" y="344083"/>
                  </a:lnTo>
                  <a:lnTo>
                    <a:pt x="5593697" y="333169"/>
                  </a:lnTo>
                  <a:lnTo>
                    <a:pt x="5604611" y="317016"/>
                  </a:lnTo>
                  <a:lnTo>
                    <a:pt x="5608620" y="297291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26530" y="828375"/>
            <a:ext cx="560895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39445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To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design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evaluate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ultra-</a:t>
            </a:r>
            <a:r>
              <a:rPr sz="1000" spc="-35" dirty="0">
                <a:latin typeface="Arial MT"/>
                <a:cs typeface="Arial MT"/>
              </a:rPr>
              <a:t>low-power,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compact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b="1" dirty="0">
                <a:latin typeface="Arial"/>
                <a:cs typeface="Arial"/>
              </a:rPr>
              <a:t>10-</a:t>
            </a:r>
            <a:r>
              <a:rPr sz="1000" b="1" spc="-45" dirty="0">
                <a:latin typeface="Arial"/>
                <a:cs typeface="Arial"/>
              </a:rPr>
              <a:t>Transistor</a:t>
            </a:r>
            <a:r>
              <a:rPr sz="1000" b="1" spc="55" dirty="0">
                <a:latin typeface="Arial"/>
                <a:cs typeface="Arial"/>
              </a:rPr>
              <a:t> (10T)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1-Bit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Magnitude </a:t>
            </a:r>
            <a:r>
              <a:rPr sz="1000" b="1" spc="-30" dirty="0">
                <a:latin typeface="Arial"/>
                <a:cs typeface="Arial"/>
              </a:rPr>
              <a:t>Comparator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utilizing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b="1" dirty="0">
                <a:latin typeface="Arial"/>
                <a:cs typeface="Arial"/>
              </a:rPr>
              <a:t>Gate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Diffusion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Input</a:t>
            </a:r>
            <a:r>
              <a:rPr sz="1000" b="1" spc="7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(GDI)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spc="-10" dirty="0">
                <a:latin typeface="Arial MT"/>
                <a:cs typeface="Arial MT"/>
              </a:rPr>
              <a:t>technique.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23242" y="3138668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latin typeface="Tahoma"/>
                <a:cs typeface="Tahoma"/>
              </a:rPr>
              <a:t>4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75" dirty="0">
                <a:latin typeface="Tahoma"/>
                <a:cs typeface="Tahoma"/>
              </a:rPr>
              <a:t>/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-25" dirty="0">
                <a:latin typeface="Tahoma"/>
                <a:cs typeface="Tahoma"/>
              </a:rPr>
              <a:t>12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Research</a:t>
            </a:r>
            <a:r>
              <a:rPr spc="10" dirty="0"/>
              <a:t> </a:t>
            </a:r>
            <a:r>
              <a:rPr spc="-40" dirty="0"/>
              <a:t>Objectives</a:t>
            </a:r>
            <a:r>
              <a:rPr spc="10" dirty="0"/>
              <a:t> </a:t>
            </a:r>
            <a:r>
              <a:rPr spc="120" dirty="0"/>
              <a:t>&amp;</a:t>
            </a:r>
            <a:r>
              <a:rPr spc="15" dirty="0"/>
              <a:t> </a:t>
            </a:r>
            <a:r>
              <a:rPr spc="-20" dirty="0"/>
              <a:t>Scope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617410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645857"/>
            <a:ext cx="941069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Main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Objective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5729" y="674335"/>
            <a:ext cx="5659755" cy="572135"/>
            <a:chOff x="75729" y="674335"/>
            <a:chExt cx="5659755" cy="5721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803122"/>
              <a:ext cx="560862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6530" y="674335"/>
              <a:ext cx="5608955" cy="572135"/>
            </a:xfrm>
            <a:custGeom>
              <a:avLst/>
              <a:gdLst/>
              <a:ahLst/>
              <a:cxnLst/>
              <a:rect l="l" t="t" r="r" b="b"/>
              <a:pathLst>
                <a:path w="5608955" h="572135">
                  <a:moveTo>
                    <a:pt x="5608620" y="0"/>
                  </a:moveTo>
                  <a:lnTo>
                    <a:pt x="0" y="0"/>
                  </a:lnTo>
                  <a:lnTo>
                    <a:pt x="0" y="571954"/>
                  </a:lnTo>
                  <a:lnTo>
                    <a:pt x="5608620" y="571954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29" y="847397"/>
              <a:ext cx="5608955" cy="348615"/>
            </a:xfrm>
            <a:custGeom>
              <a:avLst/>
              <a:gdLst/>
              <a:ahLst/>
              <a:cxnLst/>
              <a:rect l="l" t="t" r="r" b="b"/>
              <a:pathLst>
                <a:path w="5608955" h="348615">
                  <a:moveTo>
                    <a:pt x="5608620" y="0"/>
                  </a:moveTo>
                  <a:lnTo>
                    <a:pt x="0" y="0"/>
                  </a:lnTo>
                  <a:lnTo>
                    <a:pt x="0" y="297291"/>
                  </a:lnTo>
                  <a:lnTo>
                    <a:pt x="4008" y="317016"/>
                  </a:lnTo>
                  <a:lnTo>
                    <a:pt x="14922" y="333169"/>
                  </a:lnTo>
                  <a:lnTo>
                    <a:pt x="31075" y="344083"/>
                  </a:lnTo>
                  <a:lnTo>
                    <a:pt x="50800" y="348091"/>
                  </a:lnTo>
                  <a:lnTo>
                    <a:pt x="5557819" y="348091"/>
                  </a:lnTo>
                  <a:lnTo>
                    <a:pt x="5577544" y="344083"/>
                  </a:lnTo>
                  <a:lnTo>
                    <a:pt x="5593697" y="333169"/>
                  </a:lnTo>
                  <a:lnTo>
                    <a:pt x="5604611" y="317016"/>
                  </a:lnTo>
                  <a:lnTo>
                    <a:pt x="5608620" y="297291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26530" y="828375"/>
            <a:ext cx="560895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39445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To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design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evaluate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ultra-</a:t>
            </a:r>
            <a:r>
              <a:rPr sz="1000" spc="-35" dirty="0">
                <a:latin typeface="Arial MT"/>
                <a:cs typeface="Arial MT"/>
              </a:rPr>
              <a:t>low-power,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compact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b="1" dirty="0">
                <a:latin typeface="Arial"/>
                <a:cs typeface="Arial"/>
              </a:rPr>
              <a:t>10-</a:t>
            </a:r>
            <a:r>
              <a:rPr sz="1000" b="1" spc="-45" dirty="0">
                <a:latin typeface="Arial"/>
                <a:cs typeface="Arial"/>
              </a:rPr>
              <a:t>Transistor</a:t>
            </a:r>
            <a:r>
              <a:rPr sz="1000" b="1" spc="55" dirty="0">
                <a:latin typeface="Arial"/>
                <a:cs typeface="Arial"/>
              </a:rPr>
              <a:t> (10T)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1-Bit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Magnitude </a:t>
            </a:r>
            <a:r>
              <a:rPr sz="1000" b="1" spc="-30" dirty="0">
                <a:latin typeface="Arial"/>
                <a:cs typeface="Arial"/>
              </a:rPr>
              <a:t>Comparator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utilizing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b="1" dirty="0">
                <a:latin typeface="Arial"/>
                <a:cs typeface="Arial"/>
              </a:rPr>
              <a:t>Gate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Diffusion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Input</a:t>
            </a:r>
            <a:r>
              <a:rPr sz="1000" b="1" spc="7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(GDI)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spc="-10" dirty="0">
                <a:latin typeface="Arial MT"/>
                <a:cs typeface="Arial MT"/>
              </a:rPr>
              <a:t>technique.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6996" y="1430362"/>
            <a:ext cx="2745105" cy="198755"/>
          </a:xfrm>
          <a:custGeom>
            <a:avLst/>
            <a:gdLst/>
            <a:ahLst/>
            <a:cxnLst/>
            <a:rect l="l" t="t" r="r" b="b"/>
            <a:pathLst>
              <a:path w="2745105" h="198755">
                <a:moveTo>
                  <a:pt x="269414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744947" y="198367"/>
                </a:lnTo>
                <a:lnTo>
                  <a:pt x="2744947" y="50800"/>
                </a:lnTo>
                <a:lnTo>
                  <a:pt x="2740938" y="31075"/>
                </a:lnTo>
                <a:lnTo>
                  <a:pt x="2730024" y="14922"/>
                </a:lnTo>
                <a:lnTo>
                  <a:pt x="2713871" y="4008"/>
                </a:lnTo>
                <a:lnTo>
                  <a:pt x="2694146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7797" y="1458810"/>
            <a:ext cx="86233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Specific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Goals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6996" y="1487282"/>
            <a:ext cx="2795905" cy="1246505"/>
            <a:chOff x="106996" y="1487282"/>
            <a:chExt cx="2795905" cy="124650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996" y="1616075"/>
              <a:ext cx="2744947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57797" y="1487282"/>
              <a:ext cx="2745105" cy="1246505"/>
            </a:xfrm>
            <a:custGeom>
              <a:avLst/>
              <a:gdLst/>
              <a:ahLst/>
              <a:cxnLst/>
              <a:rect l="l" t="t" r="r" b="b"/>
              <a:pathLst>
                <a:path w="2745105" h="1246505">
                  <a:moveTo>
                    <a:pt x="2744947" y="0"/>
                  </a:moveTo>
                  <a:lnTo>
                    <a:pt x="0" y="0"/>
                  </a:lnTo>
                  <a:lnTo>
                    <a:pt x="0" y="1246062"/>
                  </a:lnTo>
                  <a:lnTo>
                    <a:pt x="2744947" y="1246062"/>
                  </a:lnTo>
                  <a:lnTo>
                    <a:pt x="27449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6996" y="1660345"/>
              <a:ext cx="2745105" cy="1022350"/>
            </a:xfrm>
            <a:custGeom>
              <a:avLst/>
              <a:gdLst/>
              <a:ahLst/>
              <a:cxnLst/>
              <a:rect l="l" t="t" r="r" b="b"/>
              <a:pathLst>
                <a:path w="2745105" h="1022350">
                  <a:moveTo>
                    <a:pt x="2744947" y="0"/>
                  </a:moveTo>
                  <a:lnTo>
                    <a:pt x="0" y="0"/>
                  </a:lnTo>
                  <a:lnTo>
                    <a:pt x="0" y="971399"/>
                  </a:lnTo>
                  <a:lnTo>
                    <a:pt x="4008" y="991124"/>
                  </a:lnTo>
                  <a:lnTo>
                    <a:pt x="14922" y="1007277"/>
                  </a:lnTo>
                  <a:lnTo>
                    <a:pt x="31075" y="1018191"/>
                  </a:lnTo>
                  <a:lnTo>
                    <a:pt x="50800" y="1022200"/>
                  </a:lnTo>
                  <a:lnTo>
                    <a:pt x="2694146" y="1022200"/>
                  </a:lnTo>
                  <a:lnTo>
                    <a:pt x="2713871" y="1018191"/>
                  </a:lnTo>
                  <a:lnTo>
                    <a:pt x="2730024" y="1007277"/>
                  </a:lnTo>
                  <a:lnTo>
                    <a:pt x="2740938" y="991124"/>
                  </a:lnTo>
                  <a:lnTo>
                    <a:pt x="2744947" y="971399"/>
                  </a:lnTo>
                  <a:lnTo>
                    <a:pt x="2744947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191" y="1689750"/>
              <a:ext cx="104301" cy="10430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9191" y="2031368"/>
              <a:ext cx="104301" cy="10430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191" y="2372985"/>
              <a:ext cx="104301" cy="10430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74548" y="1680371"/>
            <a:ext cx="46355" cy="784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23242" y="3138668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latin typeface="Tahoma"/>
                <a:cs typeface="Tahoma"/>
              </a:rPr>
              <a:t>4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75" dirty="0">
                <a:latin typeface="Tahoma"/>
                <a:cs typeface="Tahoma"/>
              </a:rPr>
              <a:t>/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-25" dirty="0">
                <a:latin typeface="Tahoma"/>
                <a:cs typeface="Tahoma"/>
              </a:rPr>
              <a:t>12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5445" y="1639219"/>
            <a:ext cx="2453640" cy="1012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marR="8001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Arial MT"/>
                <a:cs typeface="Arial MT"/>
              </a:rPr>
              <a:t>Minimize transistor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count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from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conventional </a:t>
            </a:r>
            <a:r>
              <a:rPr sz="1000" dirty="0">
                <a:latin typeface="Arial MT"/>
                <a:cs typeface="Arial MT"/>
              </a:rPr>
              <a:t>26T/16T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implementations</a:t>
            </a:r>
            <a:r>
              <a:rPr sz="1000" spc="7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down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7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10T.</a:t>
            </a:r>
            <a:endParaRPr sz="1000">
              <a:latin typeface="Arial MT"/>
              <a:cs typeface="Arial MT"/>
            </a:endParaRPr>
          </a:p>
          <a:p>
            <a:pPr marL="25400" marR="466725">
              <a:lnSpc>
                <a:spcPct val="100000"/>
              </a:lnSpc>
              <a:spcBef>
                <a:spcPts val="290"/>
              </a:spcBef>
            </a:pPr>
            <a:r>
              <a:rPr sz="1000" spc="-75" dirty="0">
                <a:latin typeface="Arial MT"/>
                <a:cs typeface="Arial MT"/>
              </a:rPr>
              <a:t>Reduce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power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dissipation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spc="70" dirty="0">
                <a:latin typeface="Arial MT"/>
                <a:cs typeface="Arial MT"/>
              </a:rPr>
              <a:t>(</a:t>
            </a:r>
            <a:r>
              <a:rPr sz="1000" i="1" spc="70" dirty="0">
                <a:latin typeface="Calibri"/>
                <a:cs typeface="Calibri"/>
              </a:rPr>
              <a:t>P</a:t>
            </a:r>
            <a:r>
              <a:rPr sz="1050" i="1" spc="104" baseline="-11904" dirty="0">
                <a:latin typeface="Calibri"/>
                <a:cs typeface="Calibri"/>
              </a:rPr>
              <a:t>avg</a:t>
            </a:r>
            <a:r>
              <a:rPr sz="1050" i="1" spc="-127" baseline="-11904" dirty="0">
                <a:latin typeface="Calibri"/>
                <a:cs typeface="Calibri"/>
              </a:rPr>
              <a:t> </a:t>
            </a:r>
            <a:r>
              <a:rPr sz="1000" dirty="0">
                <a:latin typeface="Arial MT"/>
                <a:cs typeface="Arial MT"/>
              </a:rPr>
              <a:t>)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and </a:t>
            </a:r>
            <a:r>
              <a:rPr sz="1000" spc="-30" dirty="0">
                <a:latin typeface="Arial MT"/>
                <a:cs typeface="Arial MT"/>
              </a:rPr>
              <a:t>propagation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delay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(</a:t>
            </a:r>
            <a:r>
              <a:rPr sz="1000" i="1" spc="-10" dirty="0">
                <a:latin typeface="Calibri"/>
                <a:cs typeface="Calibri"/>
              </a:rPr>
              <a:t>t</a:t>
            </a:r>
            <a:r>
              <a:rPr sz="1050" i="1" spc="-15" baseline="-11904" dirty="0">
                <a:latin typeface="Calibri"/>
                <a:cs typeface="Calibri"/>
              </a:rPr>
              <a:t>pd</a:t>
            </a:r>
            <a:r>
              <a:rPr sz="1000" spc="-10" dirty="0">
                <a:latin typeface="Arial MT"/>
                <a:cs typeface="Arial MT"/>
              </a:rPr>
              <a:t>).</a:t>
            </a:r>
            <a:endParaRPr sz="1000">
              <a:latin typeface="Arial MT"/>
              <a:cs typeface="Arial MT"/>
            </a:endParaRPr>
          </a:p>
          <a:p>
            <a:pPr marL="25400" marR="30480">
              <a:lnSpc>
                <a:spcPct val="100000"/>
              </a:lnSpc>
              <a:spcBef>
                <a:spcPts val="290"/>
              </a:spcBef>
            </a:pPr>
            <a:r>
              <a:rPr sz="1000" spc="-20" dirty="0">
                <a:latin typeface="Arial MT"/>
                <a:cs typeface="Arial MT"/>
              </a:rPr>
              <a:t>Minimize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Power-</a:t>
            </a:r>
            <a:r>
              <a:rPr sz="1000" spc="-40" dirty="0">
                <a:latin typeface="Arial MT"/>
                <a:cs typeface="Arial MT"/>
              </a:rPr>
              <a:t>Delay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Product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(PDP)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across deep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submicron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nodes.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Research</a:t>
            </a:r>
            <a:r>
              <a:rPr spc="10" dirty="0"/>
              <a:t> </a:t>
            </a:r>
            <a:r>
              <a:rPr spc="-40" dirty="0"/>
              <a:t>Objectives</a:t>
            </a:r>
            <a:r>
              <a:rPr spc="10" dirty="0"/>
              <a:t> </a:t>
            </a:r>
            <a:r>
              <a:rPr spc="120" dirty="0"/>
              <a:t>&amp;</a:t>
            </a:r>
            <a:r>
              <a:rPr spc="15" dirty="0"/>
              <a:t> </a:t>
            </a:r>
            <a:r>
              <a:rPr spc="-20" dirty="0"/>
              <a:t>Scope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617410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645857"/>
            <a:ext cx="941069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Main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Objective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5729" y="674335"/>
            <a:ext cx="5659755" cy="572135"/>
            <a:chOff x="75729" y="674335"/>
            <a:chExt cx="5659755" cy="5721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803122"/>
              <a:ext cx="560862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6530" y="674335"/>
              <a:ext cx="5608955" cy="572135"/>
            </a:xfrm>
            <a:custGeom>
              <a:avLst/>
              <a:gdLst/>
              <a:ahLst/>
              <a:cxnLst/>
              <a:rect l="l" t="t" r="r" b="b"/>
              <a:pathLst>
                <a:path w="5608955" h="572135">
                  <a:moveTo>
                    <a:pt x="5608620" y="0"/>
                  </a:moveTo>
                  <a:lnTo>
                    <a:pt x="0" y="0"/>
                  </a:lnTo>
                  <a:lnTo>
                    <a:pt x="0" y="571954"/>
                  </a:lnTo>
                  <a:lnTo>
                    <a:pt x="5608620" y="571954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29" y="847397"/>
              <a:ext cx="5608955" cy="348615"/>
            </a:xfrm>
            <a:custGeom>
              <a:avLst/>
              <a:gdLst/>
              <a:ahLst/>
              <a:cxnLst/>
              <a:rect l="l" t="t" r="r" b="b"/>
              <a:pathLst>
                <a:path w="5608955" h="348615">
                  <a:moveTo>
                    <a:pt x="5608620" y="0"/>
                  </a:moveTo>
                  <a:lnTo>
                    <a:pt x="0" y="0"/>
                  </a:lnTo>
                  <a:lnTo>
                    <a:pt x="0" y="297291"/>
                  </a:lnTo>
                  <a:lnTo>
                    <a:pt x="4008" y="317016"/>
                  </a:lnTo>
                  <a:lnTo>
                    <a:pt x="14922" y="333169"/>
                  </a:lnTo>
                  <a:lnTo>
                    <a:pt x="31075" y="344083"/>
                  </a:lnTo>
                  <a:lnTo>
                    <a:pt x="50800" y="348091"/>
                  </a:lnTo>
                  <a:lnTo>
                    <a:pt x="5557819" y="348091"/>
                  </a:lnTo>
                  <a:lnTo>
                    <a:pt x="5577544" y="344083"/>
                  </a:lnTo>
                  <a:lnTo>
                    <a:pt x="5593697" y="333169"/>
                  </a:lnTo>
                  <a:lnTo>
                    <a:pt x="5604611" y="317016"/>
                  </a:lnTo>
                  <a:lnTo>
                    <a:pt x="5608620" y="297291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26530" y="828375"/>
            <a:ext cx="560895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39445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To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design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evaluate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ultra-</a:t>
            </a:r>
            <a:r>
              <a:rPr sz="1000" spc="-35" dirty="0">
                <a:latin typeface="Arial MT"/>
                <a:cs typeface="Arial MT"/>
              </a:rPr>
              <a:t>low-power,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compact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b="1" dirty="0">
                <a:latin typeface="Arial"/>
                <a:cs typeface="Arial"/>
              </a:rPr>
              <a:t>10-</a:t>
            </a:r>
            <a:r>
              <a:rPr sz="1000" b="1" spc="-45" dirty="0">
                <a:latin typeface="Arial"/>
                <a:cs typeface="Arial"/>
              </a:rPr>
              <a:t>Transistor</a:t>
            </a:r>
            <a:r>
              <a:rPr sz="1000" b="1" spc="55" dirty="0">
                <a:latin typeface="Arial"/>
                <a:cs typeface="Arial"/>
              </a:rPr>
              <a:t> (10T)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1-Bit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Magnitude </a:t>
            </a:r>
            <a:r>
              <a:rPr sz="1000" b="1" spc="-30" dirty="0">
                <a:latin typeface="Arial"/>
                <a:cs typeface="Arial"/>
              </a:rPr>
              <a:t>Comparator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utilizing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b="1" dirty="0">
                <a:latin typeface="Arial"/>
                <a:cs typeface="Arial"/>
              </a:rPr>
              <a:t>Gate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Diffusion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Input</a:t>
            </a:r>
            <a:r>
              <a:rPr sz="1000" b="1" spc="7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(GDI)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spc="-10" dirty="0">
                <a:latin typeface="Arial MT"/>
                <a:cs typeface="Arial MT"/>
              </a:rPr>
              <a:t>technique.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6996" y="1430362"/>
            <a:ext cx="2745105" cy="198755"/>
          </a:xfrm>
          <a:custGeom>
            <a:avLst/>
            <a:gdLst/>
            <a:ahLst/>
            <a:cxnLst/>
            <a:rect l="l" t="t" r="r" b="b"/>
            <a:pathLst>
              <a:path w="2745105" h="198755">
                <a:moveTo>
                  <a:pt x="269414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744947" y="198367"/>
                </a:lnTo>
                <a:lnTo>
                  <a:pt x="2744947" y="50800"/>
                </a:lnTo>
                <a:lnTo>
                  <a:pt x="2740938" y="31075"/>
                </a:lnTo>
                <a:lnTo>
                  <a:pt x="2730024" y="14922"/>
                </a:lnTo>
                <a:lnTo>
                  <a:pt x="2713871" y="4008"/>
                </a:lnTo>
                <a:lnTo>
                  <a:pt x="2694146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7797" y="1458810"/>
            <a:ext cx="86233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Specific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Goals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6996" y="1487282"/>
            <a:ext cx="2795905" cy="1246505"/>
            <a:chOff x="106996" y="1487282"/>
            <a:chExt cx="2795905" cy="124650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996" y="1616075"/>
              <a:ext cx="2744947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57797" y="1487282"/>
              <a:ext cx="2745105" cy="1246505"/>
            </a:xfrm>
            <a:custGeom>
              <a:avLst/>
              <a:gdLst/>
              <a:ahLst/>
              <a:cxnLst/>
              <a:rect l="l" t="t" r="r" b="b"/>
              <a:pathLst>
                <a:path w="2745105" h="1246505">
                  <a:moveTo>
                    <a:pt x="2744947" y="0"/>
                  </a:moveTo>
                  <a:lnTo>
                    <a:pt x="0" y="0"/>
                  </a:lnTo>
                  <a:lnTo>
                    <a:pt x="0" y="1246062"/>
                  </a:lnTo>
                  <a:lnTo>
                    <a:pt x="2744947" y="1246062"/>
                  </a:lnTo>
                  <a:lnTo>
                    <a:pt x="27449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6996" y="1660345"/>
              <a:ext cx="2745105" cy="1022350"/>
            </a:xfrm>
            <a:custGeom>
              <a:avLst/>
              <a:gdLst/>
              <a:ahLst/>
              <a:cxnLst/>
              <a:rect l="l" t="t" r="r" b="b"/>
              <a:pathLst>
                <a:path w="2745105" h="1022350">
                  <a:moveTo>
                    <a:pt x="2744947" y="0"/>
                  </a:moveTo>
                  <a:lnTo>
                    <a:pt x="0" y="0"/>
                  </a:lnTo>
                  <a:lnTo>
                    <a:pt x="0" y="971399"/>
                  </a:lnTo>
                  <a:lnTo>
                    <a:pt x="4008" y="991124"/>
                  </a:lnTo>
                  <a:lnTo>
                    <a:pt x="14922" y="1007277"/>
                  </a:lnTo>
                  <a:lnTo>
                    <a:pt x="31075" y="1018191"/>
                  </a:lnTo>
                  <a:lnTo>
                    <a:pt x="50800" y="1022200"/>
                  </a:lnTo>
                  <a:lnTo>
                    <a:pt x="2694146" y="1022200"/>
                  </a:lnTo>
                  <a:lnTo>
                    <a:pt x="2713871" y="1018191"/>
                  </a:lnTo>
                  <a:lnTo>
                    <a:pt x="2730024" y="1007277"/>
                  </a:lnTo>
                  <a:lnTo>
                    <a:pt x="2740938" y="991124"/>
                  </a:lnTo>
                  <a:lnTo>
                    <a:pt x="2744947" y="971399"/>
                  </a:lnTo>
                  <a:lnTo>
                    <a:pt x="2744947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191" y="1689750"/>
              <a:ext cx="104301" cy="104301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61848" y="1680371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9191" y="2031368"/>
            <a:ext cx="104301" cy="104301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61848" y="2021988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9191" y="2372985"/>
            <a:ext cx="104301" cy="104301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61848" y="2363605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2745" y="1639219"/>
            <a:ext cx="2466340" cy="1012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8001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Arial MT"/>
                <a:cs typeface="Arial MT"/>
              </a:rPr>
              <a:t>Minimize transistor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count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from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conventional </a:t>
            </a:r>
            <a:r>
              <a:rPr sz="1000" dirty="0">
                <a:latin typeface="Arial MT"/>
                <a:cs typeface="Arial MT"/>
              </a:rPr>
              <a:t>26T/16T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implementations</a:t>
            </a:r>
            <a:r>
              <a:rPr sz="1000" spc="7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down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7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10T.</a:t>
            </a:r>
            <a:endParaRPr sz="1000">
              <a:latin typeface="Arial MT"/>
              <a:cs typeface="Arial MT"/>
            </a:endParaRPr>
          </a:p>
          <a:p>
            <a:pPr marL="38100" marR="466725">
              <a:lnSpc>
                <a:spcPct val="100000"/>
              </a:lnSpc>
              <a:spcBef>
                <a:spcPts val="290"/>
              </a:spcBef>
            </a:pPr>
            <a:r>
              <a:rPr sz="1000" spc="-75" dirty="0">
                <a:latin typeface="Arial MT"/>
                <a:cs typeface="Arial MT"/>
              </a:rPr>
              <a:t>Reduce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power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dissipation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spc="70" dirty="0">
                <a:latin typeface="Arial MT"/>
                <a:cs typeface="Arial MT"/>
              </a:rPr>
              <a:t>(</a:t>
            </a:r>
            <a:r>
              <a:rPr sz="1000" i="1" spc="70" dirty="0">
                <a:latin typeface="Calibri"/>
                <a:cs typeface="Calibri"/>
              </a:rPr>
              <a:t>P</a:t>
            </a:r>
            <a:r>
              <a:rPr sz="1050" i="1" spc="104" baseline="-11904" dirty="0">
                <a:latin typeface="Calibri"/>
                <a:cs typeface="Calibri"/>
              </a:rPr>
              <a:t>avg</a:t>
            </a:r>
            <a:r>
              <a:rPr sz="1050" i="1" spc="-127" baseline="-11904" dirty="0">
                <a:latin typeface="Calibri"/>
                <a:cs typeface="Calibri"/>
              </a:rPr>
              <a:t> </a:t>
            </a:r>
            <a:r>
              <a:rPr sz="1000" dirty="0">
                <a:latin typeface="Arial MT"/>
                <a:cs typeface="Arial MT"/>
              </a:rPr>
              <a:t>)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and </a:t>
            </a:r>
            <a:r>
              <a:rPr sz="1000" spc="-30" dirty="0">
                <a:latin typeface="Arial MT"/>
                <a:cs typeface="Arial MT"/>
              </a:rPr>
              <a:t>propagation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delay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(</a:t>
            </a:r>
            <a:r>
              <a:rPr sz="1000" i="1" spc="-10" dirty="0">
                <a:latin typeface="Calibri"/>
                <a:cs typeface="Calibri"/>
              </a:rPr>
              <a:t>t</a:t>
            </a:r>
            <a:r>
              <a:rPr sz="1050" i="1" spc="-15" baseline="-11904" dirty="0">
                <a:latin typeface="Calibri"/>
                <a:cs typeface="Calibri"/>
              </a:rPr>
              <a:t>pd</a:t>
            </a:r>
            <a:r>
              <a:rPr sz="1000" spc="-10" dirty="0">
                <a:latin typeface="Arial MT"/>
                <a:cs typeface="Arial MT"/>
              </a:rPr>
              <a:t>).</a:t>
            </a:r>
            <a:endParaRPr sz="1000">
              <a:latin typeface="Arial MT"/>
              <a:cs typeface="Arial MT"/>
            </a:endParaRPr>
          </a:p>
          <a:p>
            <a:pPr marL="38100" marR="30480">
              <a:lnSpc>
                <a:spcPct val="100000"/>
              </a:lnSpc>
              <a:spcBef>
                <a:spcPts val="290"/>
              </a:spcBef>
            </a:pPr>
            <a:r>
              <a:rPr sz="1000" spc="-20" dirty="0">
                <a:latin typeface="Arial MT"/>
                <a:cs typeface="Arial MT"/>
              </a:rPr>
              <a:t>Minimize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Power-</a:t>
            </a:r>
            <a:r>
              <a:rPr sz="1000" spc="-40" dirty="0">
                <a:latin typeface="Arial MT"/>
                <a:cs typeface="Arial MT"/>
              </a:rPr>
              <a:t>Delay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Product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(PDP)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across deep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submicron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nodes.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908096" y="1430362"/>
            <a:ext cx="2745105" cy="198755"/>
          </a:xfrm>
          <a:custGeom>
            <a:avLst/>
            <a:gdLst/>
            <a:ahLst/>
            <a:cxnLst/>
            <a:rect l="l" t="t" r="r" b="b"/>
            <a:pathLst>
              <a:path w="2745104" h="198755">
                <a:moveTo>
                  <a:pt x="269414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744947" y="198367"/>
                </a:lnTo>
                <a:lnTo>
                  <a:pt x="2744947" y="50800"/>
                </a:lnTo>
                <a:lnTo>
                  <a:pt x="2740938" y="31075"/>
                </a:lnTo>
                <a:lnTo>
                  <a:pt x="2730024" y="14922"/>
                </a:lnTo>
                <a:lnTo>
                  <a:pt x="2713871" y="4008"/>
                </a:lnTo>
                <a:lnTo>
                  <a:pt x="2694146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958896" y="1458810"/>
            <a:ext cx="180340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Technology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Evaluation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Setup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908096" y="1487286"/>
            <a:ext cx="2795905" cy="1445260"/>
            <a:chOff x="2908096" y="1487286"/>
            <a:chExt cx="2795905" cy="1445260"/>
          </a:xfrm>
        </p:grpSpPr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08096" y="1616074"/>
              <a:ext cx="2744947" cy="5060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958896" y="1487286"/>
              <a:ext cx="2745105" cy="1445260"/>
            </a:xfrm>
            <a:custGeom>
              <a:avLst/>
              <a:gdLst/>
              <a:ahLst/>
              <a:cxnLst/>
              <a:rect l="l" t="t" r="r" b="b"/>
              <a:pathLst>
                <a:path w="2745104" h="1445260">
                  <a:moveTo>
                    <a:pt x="2744947" y="0"/>
                  </a:moveTo>
                  <a:lnTo>
                    <a:pt x="0" y="0"/>
                  </a:lnTo>
                  <a:lnTo>
                    <a:pt x="0" y="1444992"/>
                  </a:lnTo>
                  <a:lnTo>
                    <a:pt x="2744947" y="1444992"/>
                  </a:lnTo>
                  <a:lnTo>
                    <a:pt x="27449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908096" y="1660348"/>
              <a:ext cx="2745105" cy="1221740"/>
            </a:xfrm>
            <a:custGeom>
              <a:avLst/>
              <a:gdLst/>
              <a:ahLst/>
              <a:cxnLst/>
              <a:rect l="l" t="t" r="r" b="b"/>
              <a:pathLst>
                <a:path w="2745104" h="1221739">
                  <a:moveTo>
                    <a:pt x="2744947" y="0"/>
                  </a:moveTo>
                  <a:lnTo>
                    <a:pt x="0" y="0"/>
                  </a:lnTo>
                  <a:lnTo>
                    <a:pt x="0" y="1170329"/>
                  </a:lnTo>
                  <a:lnTo>
                    <a:pt x="4008" y="1190053"/>
                  </a:lnTo>
                  <a:lnTo>
                    <a:pt x="14922" y="1206206"/>
                  </a:lnTo>
                  <a:lnTo>
                    <a:pt x="31075" y="1217120"/>
                  </a:lnTo>
                  <a:lnTo>
                    <a:pt x="50800" y="1221129"/>
                  </a:lnTo>
                  <a:lnTo>
                    <a:pt x="2694146" y="1221129"/>
                  </a:lnTo>
                  <a:lnTo>
                    <a:pt x="2713871" y="1217120"/>
                  </a:lnTo>
                  <a:lnTo>
                    <a:pt x="2730024" y="1206206"/>
                  </a:lnTo>
                  <a:lnTo>
                    <a:pt x="2740938" y="1190053"/>
                  </a:lnTo>
                  <a:lnTo>
                    <a:pt x="2744947" y="1170329"/>
                  </a:lnTo>
                  <a:lnTo>
                    <a:pt x="2744947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89084" y="1718424"/>
              <a:ext cx="59601" cy="5960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89071" y="2060041"/>
              <a:ext cx="59601" cy="5960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89071" y="2249830"/>
              <a:ext cx="59601" cy="5960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89071" y="2439619"/>
              <a:ext cx="59601" cy="59601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3199244" y="1641327"/>
            <a:ext cx="2225040" cy="1202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sz="1000" spc="-25" dirty="0">
                <a:latin typeface="Arial MT"/>
                <a:cs typeface="Arial MT"/>
              </a:rPr>
              <a:t>Predictive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Technology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Model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(PTM):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ts val="1200"/>
              </a:lnSpc>
            </a:pPr>
            <a:r>
              <a:rPr sz="1000" b="1" dirty="0">
                <a:latin typeface="Arial"/>
                <a:cs typeface="Arial"/>
              </a:rPr>
              <a:t>180nm,</a:t>
            </a:r>
            <a:r>
              <a:rPr sz="1000" b="1" spc="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90nm,</a:t>
            </a:r>
            <a:r>
              <a:rPr sz="1000" b="1" spc="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and</a:t>
            </a:r>
            <a:r>
              <a:rPr sz="1000" b="1" spc="5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45nm</a:t>
            </a:r>
            <a:r>
              <a:rPr sz="1000" spc="-20" dirty="0"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  <a:p>
            <a:pPr marL="12700" marR="160655">
              <a:lnSpc>
                <a:spcPct val="124500"/>
              </a:lnSpc>
            </a:pPr>
            <a:r>
              <a:rPr sz="1000" spc="-20" dirty="0">
                <a:latin typeface="Arial MT"/>
                <a:cs typeface="Arial MT"/>
              </a:rPr>
              <a:t>Simulation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Tool:</a:t>
            </a:r>
            <a:r>
              <a:rPr sz="1000" spc="75" dirty="0">
                <a:latin typeface="Arial MT"/>
                <a:cs typeface="Arial MT"/>
              </a:rPr>
              <a:t> </a:t>
            </a:r>
            <a:r>
              <a:rPr sz="1000" b="1" spc="-25" dirty="0">
                <a:latin typeface="Arial"/>
                <a:cs typeface="Arial"/>
              </a:rPr>
              <a:t>LTSpice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spc="40" dirty="0">
                <a:latin typeface="Arial"/>
                <a:cs typeface="Arial"/>
              </a:rPr>
              <a:t>XVII</a:t>
            </a:r>
            <a:r>
              <a:rPr sz="1000" spc="40" dirty="0">
                <a:latin typeface="Arial MT"/>
                <a:cs typeface="Arial MT"/>
              </a:rPr>
              <a:t>. </a:t>
            </a:r>
            <a:r>
              <a:rPr sz="1000" spc="-35" dirty="0">
                <a:latin typeface="Arial MT"/>
                <a:cs typeface="Arial MT"/>
              </a:rPr>
              <a:t>Supply </a:t>
            </a:r>
            <a:r>
              <a:rPr sz="1000" spc="-20" dirty="0">
                <a:latin typeface="Arial MT"/>
                <a:cs typeface="Arial MT"/>
              </a:rPr>
              <a:t>Voltage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Scaling:</a:t>
            </a:r>
            <a:r>
              <a:rPr sz="1000" spc="100" dirty="0">
                <a:latin typeface="Arial MT"/>
                <a:cs typeface="Arial MT"/>
              </a:rPr>
              <a:t> </a:t>
            </a:r>
            <a:r>
              <a:rPr sz="1000" dirty="0">
                <a:latin typeface="Calibri"/>
                <a:cs typeface="Calibri"/>
              </a:rPr>
              <a:t>0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dirty="0">
                <a:latin typeface="Calibri"/>
                <a:cs typeface="Calibri"/>
              </a:rPr>
              <a:t>8</a:t>
            </a:r>
            <a:r>
              <a:rPr sz="1000" dirty="0">
                <a:latin typeface="Arial MT"/>
                <a:cs typeface="Arial MT"/>
              </a:rPr>
              <a:t>V</a:t>
            </a:r>
            <a:r>
              <a:rPr sz="1000" spc="-70" dirty="0">
                <a:latin typeface="Arial MT"/>
                <a:cs typeface="Arial MT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spc="-20" dirty="0">
                <a:latin typeface="Calibri"/>
                <a:cs typeface="Calibri"/>
              </a:rPr>
              <a:t>1</a:t>
            </a:r>
            <a:r>
              <a:rPr sz="1000" i="1" spc="-20" dirty="0">
                <a:latin typeface="Calibri"/>
                <a:cs typeface="Calibri"/>
              </a:rPr>
              <a:t>.</a:t>
            </a:r>
            <a:r>
              <a:rPr sz="1000" spc="-20" dirty="0">
                <a:latin typeface="Calibri"/>
                <a:cs typeface="Calibri"/>
              </a:rPr>
              <a:t>8</a:t>
            </a:r>
            <a:r>
              <a:rPr sz="1000" spc="-20" dirty="0">
                <a:latin typeface="Arial MT"/>
                <a:cs typeface="Arial MT"/>
              </a:rPr>
              <a:t>V. </a:t>
            </a:r>
            <a:r>
              <a:rPr sz="1000" spc="-65" dirty="0">
                <a:latin typeface="Arial MT"/>
                <a:cs typeface="Arial MT"/>
              </a:rPr>
              <a:t>Comprehensive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comparison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with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Static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ts val="1200"/>
              </a:lnSpc>
              <a:spcBef>
                <a:spcPts val="35"/>
              </a:spcBef>
            </a:pPr>
            <a:r>
              <a:rPr sz="1000" spc="-30" dirty="0">
                <a:latin typeface="Arial MT"/>
                <a:cs typeface="Arial MT"/>
              </a:rPr>
              <a:t>CMOS,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90" dirty="0">
                <a:latin typeface="Arial MT"/>
                <a:cs typeface="Arial MT"/>
              </a:rPr>
              <a:t>Pass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Transistor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Logic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(PTL),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and </a:t>
            </a:r>
            <a:r>
              <a:rPr sz="1000" spc="-50" dirty="0">
                <a:latin typeface="Arial MT"/>
                <a:cs typeface="Arial MT"/>
              </a:rPr>
              <a:t>Transmission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Gate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(TG)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topologies.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523242" y="3138668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latin typeface="Tahoma"/>
                <a:cs typeface="Tahoma"/>
              </a:rPr>
              <a:t>4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75" dirty="0">
                <a:latin typeface="Tahoma"/>
                <a:cs typeface="Tahoma"/>
              </a:rPr>
              <a:t>/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-25" dirty="0">
                <a:latin typeface="Tahoma"/>
                <a:cs typeface="Tahoma"/>
              </a:rPr>
              <a:t>12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2.</a:t>
            </a:r>
            <a:r>
              <a:rPr spc="114" dirty="0"/>
              <a:t> </a:t>
            </a:r>
            <a:r>
              <a:rPr spc="-35" dirty="0"/>
              <a:t>Baseline</a:t>
            </a:r>
            <a:r>
              <a:rPr spc="-20" dirty="0"/>
              <a:t> </a:t>
            </a:r>
            <a:r>
              <a:rPr dirty="0"/>
              <a:t>1-Bit</a:t>
            </a:r>
            <a:r>
              <a:rPr spc="-25" dirty="0"/>
              <a:t> </a:t>
            </a:r>
            <a:r>
              <a:rPr spc="-20" dirty="0"/>
              <a:t>Magnitude </a:t>
            </a:r>
            <a:r>
              <a:rPr spc="-40" dirty="0"/>
              <a:t>Comparator</a:t>
            </a:r>
            <a:r>
              <a:rPr spc="-20" dirty="0"/>
              <a:t> </a:t>
            </a:r>
            <a:r>
              <a:rPr spc="-30" dirty="0"/>
              <a:t>Topologies</a:t>
            </a:r>
          </a:p>
        </p:txBody>
      </p:sp>
      <p:sp>
        <p:nvSpPr>
          <p:cNvPr id="3" name="object 3"/>
          <p:cNvSpPr/>
          <p:nvPr/>
        </p:nvSpPr>
        <p:spPr>
          <a:xfrm>
            <a:off x="67499" y="565962"/>
            <a:ext cx="1864360" cy="392430"/>
          </a:xfrm>
          <a:custGeom>
            <a:avLst/>
            <a:gdLst/>
            <a:ahLst/>
            <a:cxnLst/>
            <a:rect l="l" t="t" r="r" b="b"/>
            <a:pathLst>
              <a:path w="1864360" h="392430">
                <a:moveTo>
                  <a:pt x="181308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392376"/>
                </a:lnTo>
                <a:lnTo>
                  <a:pt x="1863887" y="392376"/>
                </a:lnTo>
                <a:lnTo>
                  <a:pt x="1863887" y="50800"/>
                </a:lnTo>
                <a:lnTo>
                  <a:pt x="1859879" y="31075"/>
                </a:lnTo>
                <a:lnTo>
                  <a:pt x="1848964" y="14922"/>
                </a:lnTo>
                <a:lnTo>
                  <a:pt x="1832811" y="4008"/>
                </a:lnTo>
                <a:lnTo>
                  <a:pt x="1813087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8300" y="602842"/>
            <a:ext cx="108458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25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Static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CMOS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(26</a:t>
            </a:r>
            <a:endParaRPr sz="1200">
              <a:latin typeface="Tahoma"/>
              <a:cs typeface="Tahoma"/>
            </a:endParaRPr>
          </a:p>
          <a:p>
            <a:pPr>
              <a:lnSpc>
                <a:spcPts val="1415"/>
              </a:lnSpc>
            </a:pP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Transistors)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7499" y="622858"/>
            <a:ext cx="1915160" cy="2617470"/>
            <a:chOff x="67499" y="622858"/>
            <a:chExt cx="1915160" cy="26174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99" y="945680"/>
              <a:ext cx="1863887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8300" y="622858"/>
              <a:ext cx="1864360" cy="2617470"/>
            </a:xfrm>
            <a:custGeom>
              <a:avLst/>
              <a:gdLst/>
              <a:ahLst/>
              <a:cxnLst/>
              <a:rect l="l" t="t" r="r" b="b"/>
              <a:pathLst>
                <a:path w="1864360" h="2617470">
                  <a:moveTo>
                    <a:pt x="1863887" y="0"/>
                  </a:moveTo>
                  <a:lnTo>
                    <a:pt x="0" y="0"/>
                  </a:lnTo>
                  <a:lnTo>
                    <a:pt x="0" y="2617139"/>
                  </a:lnTo>
                  <a:lnTo>
                    <a:pt x="1863887" y="2617139"/>
                  </a:lnTo>
                  <a:lnTo>
                    <a:pt x="18638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499" y="989929"/>
              <a:ext cx="1864360" cy="2250440"/>
            </a:xfrm>
            <a:custGeom>
              <a:avLst/>
              <a:gdLst/>
              <a:ahLst/>
              <a:cxnLst/>
              <a:rect l="l" t="t" r="r" b="b"/>
              <a:pathLst>
                <a:path w="1864360" h="2250440">
                  <a:moveTo>
                    <a:pt x="1863887" y="0"/>
                  </a:moveTo>
                  <a:lnTo>
                    <a:pt x="0" y="0"/>
                  </a:lnTo>
                  <a:lnTo>
                    <a:pt x="0" y="2250068"/>
                  </a:lnTo>
                  <a:lnTo>
                    <a:pt x="1863887" y="2250068"/>
                  </a:lnTo>
                  <a:lnTo>
                    <a:pt x="1863887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331" y="1015276"/>
              <a:ext cx="1586016" cy="161491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8488" y="2757842"/>
              <a:ext cx="59601" cy="596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8488" y="3099460"/>
              <a:ext cx="59601" cy="5960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18300" y="2680746"/>
            <a:ext cx="1813560" cy="519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2729" marR="21209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latin typeface="Arial"/>
                <a:cs typeface="Arial"/>
              </a:rPr>
              <a:t>Pros:</a:t>
            </a:r>
            <a:r>
              <a:rPr sz="1000" b="1" spc="60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Full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voltage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swing, </a:t>
            </a:r>
            <a:r>
              <a:rPr sz="1000" dirty="0">
                <a:latin typeface="Arial MT"/>
                <a:cs typeface="Arial MT"/>
              </a:rPr>
              <a:t>high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noise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margins.</a:t>
            </a:r>
            <a:endParaRPr sz="1000">
              <a:latin typeface="Arial MT"/>
              <a:cs typeface="Arial MT"/>
            </a:endParaRPr>
          </a:p>
          <a:p>
            <a:pPr marL="252729">
              <a:lnSpc>
                <a:spcPct val="100000"/>
              </a:lnSpc>
              <a:spcBef>
                <a:spcPts val="290"/>
              </a:spcBef>
            </a:pPr>
            <a:r>
              <a:rPr sz="1000" b="1" spc="-40" dirty="0">
                <a:latin typeface="Arial"/>
                <a:cs typeface="Arial"/>
              </a:rPr>
              <a:t>Cons: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High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transistor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23229" y="3138668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latin typeface="Tahoma"/>
                <a:cs typeface="Tahoma"/>
              </a:rPr>
              <a:t>5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75" dirty="0">
                <a:latin typeface="Tahoma"/>
                <a:cs typeface="Tahoma"/>
              </a:rPr>
              <a:t>/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-25" dirty="0">
                <a:latin typeface="Tahoma"/>
                <a:cs typeface="Tahoma"/>
              </a:rPr>
              <a:t>12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2.</a:t>
            </a:r>
            <a:r>
              <a:rPr spc="114" dirty="0"/>
              <a:t> </a:t>
            </a:r>
            <a:r>
              <a:rPr spc="-35" dirty="0"/>
              <a:t>Baseline</a:t>
            </a:r>
            <a:r>
              <a:rPr spc="-20" dirty="0"/>
              <a:t> </a:t>
            </a:r>
            <a:r>
              <a:rPr dirty="0"/>
              <a:t>1-Bit</a:t>
            </a:r>
            <a:r>
              <a:rPr spc="-25" dirty="0"/>
              <a:t> </a:t>
            </a:r>
            <a:r>
              <a:rPr spc="-20" dirty="0"/>
              <a:t>Magnitude </a:t>
            </a:r>
            <a:r>
              <a:rPr spc="-40" dirty="0"/>
              <a:t>Comparator</a:t>
            </a:r>
            <a:r>
              <a:rPr spc="-20" dirty="0"/>
              <a:t> </a:t>
            </a:r>
            <a:r>
              <a:rPr spc="-30" dirty="0"/>
              <a:t>Topologies</a:t>
            </a:r>
          </a:p>
        </p:txBody>
      </p:sp>
      <p:sp>
        <p:nvSpPr>
          <p:cNvPr id="3" name="object 3"/>
          <p:cNvSpPr/>
          <p:nvPr/>
        </p:nvSpPr>
        <p:spPr>
          <a:xfrm>
            <a:off x="67499" y="565962"/>
            <a:ext cx="1864360" cy="392430"/>
          </a:xfrm>
          <a:custGeom>
            <a:avLst/>
            <a:gdLst/>
            <a:ahLst/>
            <a:cxnLst/>
            <a:rect l="l" t="t" r="r" b="b"/>
            <a:pathLst>
              <a:path w="1864360" h="392430">
                <a:moveTo>
                  <a:pt x="181308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392376"/>
                </a:lnTo>
                <a:lnTo>
                  <a:pt x="1863887" y="392376"/>
                </a:lnTo>
                <a:lnTo>
                  <a:pt x="1863887" y="50800"/>
                </a:lnTo>
                <a:lnTo>
                  <a:pt x="1859879" y="31075"/>
                </a:lnTo>
                <a:lnTo>
                  <a:pt x="1848964" y="14922"/>
                </a:lnTo>
                <a:lnTo>
                  <a:pt x="1832811" y="4008"/>
                </a:lnTo>
                <a:lnTo>
                  <a:pt x="1813087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8300" y="602842"/>
            <a:ext cx="108458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25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Static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CMOS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(26</a:t>
            </a:r>
            <a:endParaRPr sz="1200">
              <a:latin typeface="Tahoma"/>
              <a:cs typeface="Tahoma"/>
            </a:endParaRPr>
          </a:p>
          <a:p>
            <a:pPr>
              <a:lnSpc>
                <a:spcPts val="1415"/>
              </a:lnSpc>
            </a:pP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Transistors)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7499" y="622858"/>
            <a:ext cx="1915160" cy="2617470"/>
            <a:chOff x="67499" y="622858"/>
            <a:chExt cx="1915160" cy="26174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99" y="945680"/>
              <a:ext cx="1863887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8300" y="622858"/>
              <a:ext cx="1864360" cy="2617470"/>
            </a:xfrm>
            <a:custGeom>
              <a:avLst/>
              <a:gdLst/>
              <a:ahLst/>
              <a:cxnLst/>
              <a:rect l="l" t="t" r="r" b="b"/>
              <a:pathLst>
                <a:path w="1864360" h="2617470">
                  <a:moveTo>
                    <a:pt x="1863887" y="0"/>
                  </a:moveTo>
                  <a:lnTo>
                    <a:pt x="0" y="0"/>
                  </a:lnTo>
                  <a:lnTo>
                    <a:pt x="0" y="2617139"/>
                  </a:lnTo>
                  <a:lnTo>
                    <a:pt x="1863887" y="2617139"/>
                  </a:lnTo>
                  <a:lnTo>
                    <a:pt x="18638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499" y="989929"/>
              <a:ext cx="1864360" cy="2250440"/>
            </a:xfrm>
            <a:custGeom>
              <a:avLst/>
              <a:gdLst/>
              <a:ahLst/>
              <a:cxnLst/>
              <a:rect l="l" t="t" r="r" b="b"/>
              <a:pathLst>
                <a:path w="1864360" h="2250440">
                  <a:moveTo>
                    <a:pt x="1863887" y="0"/>
                  </a:moveTo>
                  <a:lnTo>
                    <a:pt x="0" y="0"/>
                  </a:lnTo>
                  <a:lnTo>
                    <a:pt x="0" y="2250068"/>
                  </a:lnTo>
                  <a:lnTo>
                    <a:pt x="1863887" y="2250068"/>
                  </a:lnTo>
                  <a:lnTo>
                    <a:pt x="1863887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331" y="1015276"/>
              <a:ext cx="1586016" cy="161491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8488" y="2757842"/>
              <a:ext cx="59601" cy="596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8488" y="3099460"/>
              <a:ext cx="59601" cy="5960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58647" y="2680746"/>
            <a:ext cx="1365250" cy="519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latin typeface="Arial"/>
                <a:cs typeface="Arial"/>
              </a:rPr>
              <a:t>Pros:</a:t>
            </a:r>
            <a:r>
              <a:rPr sz="1000" b="1" spc="60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Full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voltage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swing, </a:t>
            </a:r>
            <a:r>
              <a:rPr sz="1000" dirty="0">
                <a:latin typeface="Arial MT"/>
                <a:cs typeface="Arial MT"/>
              </a:rPr>
              <a:t>high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noise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margins.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00" b="1" spc="-40" dirty="0">
                <a:latin typeface="Arial"/>
                <a:cs typeface="Arial"/>
              </a:rPr>
              <a:t>Cons: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High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transistor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48065" y="565962"/>
            <a:ext cx="1864360" cy="215265"/>
          </a:xfrm>
          <a:custGeom>
            <a:avLst/>
            <a:gdLst/>
            <a:ahLst/>
            <a:cxnLst/>
            <a:rect l="l" t="t" r="r" b="b"/>
            <a:pathLst>
              <a:path w="1864360" h="215265">
                <a:moveTo>
                  <a:pt x="181308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1863887" y="215238"/>
                </a:lnTo>
                <a:lnTo>
                  <a:pt x="1863887" y="50800"/>
                </a:lnTo>
                <a:lnTo>
                  <a:pt x="1859879" y="31075"/>
                </a:lnTo>
                <a:lnTo>
                  <a:pt x="1848964" y="14922"/>
                </a:lnTo>
                <a:lnTo>
                  <a:pt x="1832811" y="4008"/>
                </a:lnTo>
                <a:lnTo>
                  <a:pt x="1813087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998865" y="602842"/>
            <a:ext cx="155067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Transmission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Gate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(16T)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948065" y="622866"/>
            <a:ext cx="1915160" cy="2617470"/>
            <a:chOff x="1948065" y="622866"/>
            <a:chExt cx="1915160" cy="261747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48065" y="768540"/>
              <a:ext cx="1863887" cy="5060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998865" y="622866"/>
              <a:ext cx="1864360" cy="2617470"/>
            </a:xfrm>
            <a:custGeom>
              <a:avLst/>
              <a:gdLst/>
              <a:ahLst/>
              <a:cxnLst/>
              <a:rect l="l" t="t" r="r" b="b"/>
              <a:pathLst>
                <a:path w="1864360" h="2617470">
                  <a:moveTo>
                    <a:pt x="1863887" y="0"/>
                  </a:moveTo>
                  <a:lnTo>
                    <a:pt x="0" y="0"/>
                  </a:lnTo>
                  <a:lnTo>
                    <a:pt x="0" y="2617132"/>
                  </a:lnTo>
                  <a:lnTo>
                    <a:pt x="1863887" y="2617132"/>
                  </a:lnTo>
                  <a:lnTo>
                    <a:pt x="18638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48065" y="812799"/>
              <a:ext cx="1864360" cy="2427605"/>
            </a:xfrm>
            <a:custGeom>
              <a:avLst/>
              <a:gdLst/>
              <a:ahLst/>
              <a:cxnLst/>
              <a:rect l="l" t="t" r="r" b="b"/>
              <a:pathLst>
                <a:path w="1864360" h="2427605">
                  <a:moveTo>
                    <a:pt x="1863887" y="0"/>
                  </a:moveTo>
                  <a:lnTo>
                    <a:pt x="0" y="0"/>
                  </a:lnTo>
                  <a:lnTo>
                    <a:pt x="0" y="2427199"/>
                  </a:lnTo>
                  <a:lnTo>
                    <a:pt x="1863887" y="2427199"/>
                  </a:lnTo>
                  <a:lnTo>
                    <a:pt x="1863887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65896" y="838128"/>
              <a:ext cx="1586001" cy="171511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29053" y="2680893"/>
              <a:ext cx="59601" cy="5960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29053" y="3174352"/>
              <a:ext cx="59601" cy="59601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2239213" y="2603809"/>
            <a:ext cx="1526540" cy="671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latin typeface="Arial"/>
                <a:cs typeface="Arial"/>
              </a:rPr>
              <a:t>Pros: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Full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signal </a:t>
            </a:r>
            <a:r>
              <a:rPr sz="1000" spc="-25" dirty="0">
                <a:latin typeface="Arial MT"/>
                <a:cs typeface="Arial MT"/>
              </a:rPr>
              <a:t>restoration,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lower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delay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than </a:t>
            </a:r>
            <a:r>
              <a:rPr sz="1000" spc="-10" dirty="0">
                <a:latin typeface="Arial MT"/>
                <a:cs typeface="Arial MT"/>
              </a:rPr>
              <a:t>CMOS.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000" b="1" spc="-40" dirty="0">
                <a:latin typeface="Arial"/>
                <a:cs typeface="Arial"/>
              </a:rPr>
              <a:t>Cons: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spc="-30" dirty="0">
                <a:latin typeface="Arial MT"/>
                <a:cs typeface="Arial MT"/>
              </a:rPr>
              <a:t>Double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control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lines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23229" y="3123548"/>
            <a:ext cx="1822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latin typeface="Tahoma"/>
                <a:cs typeface="Tahoma"/>
              </a:rPr>
              <a:t>5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75" dirty="0">
                <a:latin typeface="Tahoma"/>
                <a:cs typeface="Tahoma"/>
              </a:rPr>
              <a:t>/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-25" dirty="0">
                <a:latin typeface="Tahoma"/>
                <a:cs typeface="Tahoma"/>
              </a:rPr>
              <a:t>12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2.</a:t>
            </a:r>
            <a:r>
              <a:rPr spc="114" dirty="0"/>
              <a:t> </a:t>
            </a:r>
            <a:r>
              <a:rPr spc="-35" dirty="0"/>
              <a:t>Baseline</a:t>
            </a:r>
            <a:r>
              <a:rPr spc="-20" dirty="0"/>
              <a:t> </a:t>
            </a:r>
            <a:r>
              <a:rPr dirty="0"/>
              <a:t>1-Bit</a:t>
            </a:r>
            <a:r>
              <a:rPr spc="-25" dirty="0"/>
              <a:t> </a:t>
            </a:r>
            <a:r>
              <a:rPr spc="-20" dirty="0"/>
              <a:t>Magnitude </a:t>
            </a:r>
            <a:r>
              <a:rPr spc="-40" dirty="0"/>
              <a:t>Comparator</a:t>
            </a:r>
            <a:r>
              <a:rPr spc="-20" dirty="0"/>
              <a:t> </a:t>
            </a:r>
            <a:r>
              <a:rPr spc="-30" dirty="0"/>
              <a:t>Topologies</a:t>
            </a:r>
          </a:p>
        </p:txBody>
      </p:sp>
      <p:sp>
        <p:nvSpPr>
          <p:cNvPr id="3" name="object 3"/>
          <p:cNvSpPr/>
          <p:nvPr/>
        </p:nvSpPr>
        <p:spPr>
          <a:xfrm>
            <a:off x="67499" y="565962"/>
            <a:ext cx="1864360" cy="392430"/>
          </a:xfrm>
          <a:custGeom>
            <a:avLst/>
            <a:gdLst/>
            <a:ahLst/>
            <a:cxnLst/>
            <a:rect l="l" t="t" r="r" b="b"/>
            <a:pathLst>
              <a:path w="1864360" h="392430">
                <a:moveTo>
                  <a:pt x="181308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392376"/>
                </a:lnTo>
                <a:lnTo>
                  <a:pt x="1863887" y="392376"/>
                </a:lnTo>
                <a:lnTo>
                  <a:pt x="1863887" y="50800"/>
                </a:lnTo>
                <a:lnTo>
                  <a:pt x="1859879" y="31075"/>
                </a:lnTo>
                <a:lnTo>
                  <a:pt x="1848964" y="14922"/>
                </a:lnTo>
                <a:lnTo>
                  <a:pt x="1832811" y="4008"/>
                </a:lnTo>
                <a:lnTo>
                  <a:pt x="1813087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8300" y="602842"/>
            <a:ext cx="108458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25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Static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CMOS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(26</a:t>
            </a:r>
            <a:endParaRPr sz="1200">
              <a:latin typeface="Tahoma"/>
              <a:cs typeface="Tahoma"/>
            </a:endParaRPr>
          </a:p>
          <a:p>
            <a:pPr>
              <a:lnSpc>
                <a:spcPts val="1415"/>
              </a:lnSpc>
            </a:pP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Transistors)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7499" y="622858"/>
            <a:ext cx="1915160" cy="2617470"/>
            <a:chOff x="67499" y="622858"/>
            <a:chExt cx="1915160" cy="26174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99" y="945680"/>
              <a:ext cx="1863887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8300" y="622858"/>
              <a:ext cx="1864360" cy="2617470"/>
            </a:xfrm>
            <a:custGeom>
              <a:avLst/>
              <a:gdLst/>
              <a:ahLst/>
              <a:cxnLst/>
              <a:rect l="l" t="t" r="r" b="b"/>
              <a:pathLst>
                <a:path w="1864360" h="2617470">
                  <a:moveTo>
                    <a:pt x="1863887" y="0"/>
                  </a:moveTo>
                  <a:lnTo>
                    <a:pt x="0" y="0"/>
                  </a:lnTo>
                  <a:lnTo>
                    <a:pt x="0" y="2617139"/>
                  </a:lnTo>
                  <a:lnTo>
                    <a:pt x="1863887" y="2617139"/>
                  </a:lnTo>
                  <a:lnTo>
                    <a:pt x="18638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499" y="989929"/>
              <a:ext cx="1864360" cy="2250440"/>
            </a:xfrm>
            <a:custGeom>
              <a:avLst/>
              <a:gdLst/>
              <a:ahLst/>
              <a:cxnLst/>
              <a:rect l="l" t="t" r="r" b="b"/>
              <a:pathLst>
                <a:path w="1864360" h="2250440">
                  <a:moveTo>
                    <a:pt x="1863887" y="0"/>
                  </a:moveTo>
                  <a:lnTo>
                    <a:pt x="0" y="0"/>
                  </a:lnTo>
                  <a:lnTo>
                    <a:pt x="0" y="2250068"/>
                  </a:lnTo>
                  <a:lnTo>
                    <a:pt x="1863887" y="2250068"/>
                  </a:lnTo>
                  <a:lnTo>
                    <a:pt x="1863887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331" y="1015276"/>
              <a:ext cx="1586016" cy="161491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8488" y="2757842"/>
              <a:ext cx="59601" cy="596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8488" y="3099460"/>
              <a:ext cx="59601" cy="5960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58647" y="2680746"/>
            <a:ext cx="1365250" cy="519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latin typeface="Arial"/>
                <a:cs typeface="Arial"/>
              </a:rPr>
              <a:t>Pros:</a:t>
            </a:r>
            <a:r>
              <a:rPr sz="1000" b="1" spc="60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Full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voltage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swing, </a:t>
            </a:r>
            <a:r>
              <a:rPr sz="1000" dirty="0">
                <a:latin typeface="Arial MT"/>
                <a:cs typeface="Arial MT"/>
              </a:rPr>
              <a:t>high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noise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margins.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00" b="1" spc="-40" dirty="0">
                <a:latin typeface="Arial"/>
                <a:cs typeface="Arial"/>
              </a:rPr>
              <a:t>Cons: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High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transistor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48065" y="565962"/>
            <a:ext cx="1864360" cy="215265"/>
          </a:xfrm>
          <a:custGeom>
            <a:avLst/>
            <a:gdLst/>
            <a:ahLst/>
            <a:cxnLst/>
            <a:rect l="l" t="t" r="r" b="b"/>
            <a:pathLst>
              <a:path w="1864360" h="215265">
                <a:moveTo>
                  <a:pt x="181308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1863887" y="215238"/>
                </a:lnTo>
                <a:lnTo>
                  <a:pt x="1863887" y="50800"/>
                </a:lnTo>
                <a:lnTo>
                  <a:pt x="1859879" y="31075"/>
                </a:lnTo>
                <a:lnTo>
                  <a:pt x="1848964" y="14922"/>
                </a:lnTo>
                <a:lnTo>
                  <a:pt x="1832811" y="4008"/>
                </a:lnTo>
                <a:lnTo>
                  <a:pt x="1813087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998865" y="602842"/>
            <a:ext cx="155067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Transmission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Gate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(16T)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948065" y="622866"/>
            <a:ext cx="1915160" cy="2617470"/>
            <a:chOff x="1948065" y="622866"/>
            <a:chExt cx="1915160" cy="261747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48065" y="768540"/>
              <a:ext cx="1863887" cy="5060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998865" y="622866"/>
              <a:ext cx="1864360" cy="2617470"/>
            </a:xfrm>
            <a:custGeom>
              <a:avLst/>
              <a:gdLst/>
              <a:ahLst/>
              <a:cxnLst/>
              <a:rect l="l" t="t" r="r" b="b"/>
              <a:pathLst>
                <a:path w="1864360" h="2617470">
                  <a:moveTo>
                    <a:pt x="1863887" y="0"/>
                  </a:moveTo>
                  <a:lnTo>
                    <a:pt x="0" y="0"/>
                  </a:lnTo>
                  <a:lnTo>
                    <a:pt x="0" y="2617132"/>
                  </a:lnTo>
                  <a:lnTo>
                    <a:pt x="1863887" y="2617132"/>
                  </a:lnTo>
                  <a:lnTo>
                    <a:pt x="18638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48065" y="812799"/>
              <a:ext cx="1864360" cy="2427605"/>
            </a:xfrm>
            <a:custGeom>
              <a:avLst/>
              <a:gdLst/>
              <a:ahLst/>
              <a:cxnLst/>
              <a:rect l="l" t="t" r="r" b="b"/>
              <a:pathLst>
                <a:path w="1864360" h="2427605">
                  <a:moveTo>
                    <a:pt x="1863887" y="0"/>
                  </a:moveTo>
                  <a:lnTo>
                    <a:pt x="0" y="0"/>
                  </a:lnTo>
                  <a:lnTo>
                    <a:pt x="0" y="2427199"/>
                  </a:lnTo>
                  <a:lnTo>
                    <a:pt x="1863887" y="2427199"/>
                  </a:lnTo>
                  <a:lnTo>
                    <a:pt x="1863887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65896" y="838128"/>
              <a:ext cx="1586001" cy="171511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29053" y="2680893"/>
              <a:ext cx="59601" cy="5960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29053" y="3174352"/>
              <a:ext cx="59601" cy="59601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2239213" y="2603809"/>
            <a:ext cx="1526540" cy="671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latin typeface="Arial"/>
                <a:cs typeface="Arial"/>
              </a:rPr>
              <a:t>Pros: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Full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signal </a:t>
            </a:r>
            <a:r>
              <a:rPr sz="1000" spc="-25" dirty="0">
                <a:latin typeface="Arial MT"/>
                <a:cs typeface="Arial MT"/>
              </a:rPr>
              <a:t>restoration,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lower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delay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than </a:t>
            </a:r>
            <a:r>
              <a:rPr sz="1000" spc="-10" dirty="0">
                <a:latin typeface="Arial MT"/>
                <a:cs typeface="Arial MT"/>
              </a:rPr>
              <a:t>CMOS.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000" b="1" spc="-40" dirty="0">
                <a:latin typeface="Arial"/>
                <a:cs typeface="Arial"/>
              </a:rPr>
              <a:t>Cons: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spc="-30" dirty="0">
                <a:latin typeface="Arial MT"/>
                <a:cs typeface="Arial MT"/>
              </a:rPr>
              <a:t>Double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control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lines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828630" y="565962"/>
            <a:ext cx="1864360" cy="215265"/>
          </a:xfrm>
          <a:custGeom>
            <a:avLst/>
            <a:gdLst/>
            <a:ahLst/>
            <a:cxnLst/>
            <a:rect l="l" t="t" r="r" b="b"/>
            <a:pathLst>
              <a:path w="1864360" h="215265">
                <a:moveTo>
                  <a:pt x="181308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1863887" y="215238"/>
                </a:lnTo>
                <a:lnTo>
                  <a:pt x="1863887" y="50800"/>
                </a:lnTo>
                <a:lnTo>
                  <a:pt x="1859879" y="31075"/>
                </a:lnTo>
                <a:lnTo>
                  <a:pt x="1848964" y="14922"/>
                </a:lnTo>
                <a:lnTo>
                  <a:pt x="1832811" y="4008"/>
                </a:lnTo>
                <a:lnTo>
                  <a:pt x="1813087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879431" y="602842"/>
            <a:ext cx="165100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Pass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Transistor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 (12T-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14T)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828630" y="622864"/>
            <a:ext cx="1915160" cy="2341245"/>
            <a:chOff x="3828630" y="622864"/>
            <a:chExt cx="1915160" cy="2341245"/>
          </a:xfrm>
        </p:grpSpPr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28630" y="768540"/>
              <a:ext cx="1863887" cy="5060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879431" y="622864"/>
              <a:ext cx="1864360" cy="2341245"/>
            </a:xfrm>
            <a:custGeom>
              <a:avLst/>
              <a:gdLst/>
              <a:ahLst/>
              <a:cxnLst/>
              <a:rect l="l" t="t" r="r" b="b"/>
              <a:pathLst>
                <a:path w="1864360" h="2341245">
                  <a:moveTo>
                    <a:pt x="1863887" y="0"/>
                  </a:moveTo>
                  <a:lnTo>
                    <a:pt x="0" y="0"/>
                  </a:lnTo>
                  <a:lnTo>
                    <a:pt x="0" y="2340986"/>
                  </a:lnTo>
                  <a:lnTo>
                    <a:pt x="1863887" y="2340986"/>
                  </a:lnTo>
                  <a:lnTo>
                    <a:pt x="18638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28630" y="812797"/>
              <a:ext cx="1864360" cy="2100580"/>
            </a:xfrm>
            <a:custGeom>
              <a:avLst/>
              <a:gdLst/>
              <a:ahLst/>
              <a:cxnLst/>
              <a:rect l="l" t="t" r="r" b="b"/>
              <a:pathLst>
                <a:path w="1864360" h="2100580">
                  <a:moveTo>
                    <a:pt x="1863887" y="0"/>
                  </a:moveTo>
                  <a:lnTo>
                    <a:pt x="0" y="0"/>
                  </a:lnTo>
                  <a:lnTo>
                    <a:pt x="0" y="2049452"/>
                  </a:lnTo>
                  <a:lnTo>
                    <a:pt x="4008" y="2069176"/>
                  </a:lnTo>
                  <a:lnTo>
                    <a:pt x="14922" y="2085329"/>
                  </a:lnTo>
                  <a:lnTo>
                    <a:pt x="31075" y="2096243"/>
                  </a:lnTo>
                  <a:lnTo>
                    <a:pt x="50800" y="2100252"/>
                  </a:lnTo>
                  <a:lnTo>
                    <a:pt x="1813087" y="2100252"/>
                  </a:lnTo>
                  <a:lnTo>
                    <a:pt x="1832811" y="2096243"/>
                  </a:lnTo>
                  <a:lnTo>
                    <a:pt x="1848964" y="2085329"/>
                  </a:lnTo>
                  <a:lnTo>
                    <a:pt x="1859879" y="2069176"/>
                  </a:lnTo>
                  <a:lnTo>
                    <a:pt x="1863887" y="2049452"/>
                  </a:lnTo>
                  <a:lnTo>
                    <a:pt x="1863887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46461" y="838102"/>
              <a:ext cx="1585946" cy="117085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09618" y="2136609"/>
              <a:ext cx="59601" cy="5960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09618" y="2478239"/>
              <a:ext cx="59601" cy="59601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4094378" y="2059526"/>
            <a:ext cx="1409700" cy="822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 algn="just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Arial"/>
                <a:cs typeface="Arial"/>
              </a:rPr>
              <a:t>Pros: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spc="-70" dirty="0">
                <a:latin typeface="Arial MT"/>
                <a:cs typeface="Arial MT"/>
              </a:rPr>
              <a:t>Reduced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transistor </a:t>
            </a:r>
            <a:r>
              <a:rPr sz="1000" spc="-10" dirty="0">
                <a:latin typeface="Arial MT"/>
                <a:cs typeface="Arial MT"/>
              </a:rPr>
              <a:t>count.</a:t>
            </a:r>
            <a:endParaRPr sz="1000">
              <a:latin typeface="Arial MT"/>
              <a:cs typeface="Arial MT"/>
            </a:endParaRPr>
          </a:p>
          <a:p>
            <a:pPr marL="38100" marR="30480" algn="just">
              <a:lnSpc>
                <a:spcPct val="100000"/>
              </a:lnSpc>
              <a:spcBef>
                <a:spcPts val="290"/>
              </a:spcBef>
            </a:pPr>
            <a:r>
              <a:rPr sz="1000" b="1" spc="-25" dirty="0">
                <a:latin typeface="Arial"/>
                <a:cs typeface="Arial"/>
              </a:rPr>
              <a:t>Cons: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spc="-30" dirty="0">
                <a:latin typeface="Arial MT"/>
                <a:cs typeface="Arial MT"/>
              </a:rPr>
              <a:t>Threshold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voltage </a:t>
            </a:r>
            <a:r>
              <a:rPr sz="1000" spc="-10" dirty="0">
                <a:latin typeface="Arial MT"/>
                <a:cs typeface="Arial MT"/>
              </a:rPr>
              <a:t>drop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55" dirty="0">
                <a:latin typeface="Arial MT"/>
                <a:cs typeface="Arial MT"/>
              </a:rPr>
              <a:t>(</a:t>
            </a:r>
            <a:r>
              <a:rPr sz="1000" i="1" spc="55" dirty="0">
                <a:latin typeface="Calibri"/>
                <a:cs typeface="Calibri"/>
              </a:rPr>
              <a:t>V</a:t>
            </a:r>
            <a:r>
              <a:rPr sz="1050" i="1" spc="82" baseline="-11904" dirty="0">
                <a:latin typeface="Calibri"/>
                <a:cs typeface="Calibri"/>
              </a:rPr>
              <a:t>th</a:t>
            </a:r>
            <a:r>
              <a:rPr sz="1050" i="1" spc="247" baseline="-11904" dirty="0">
                <a:latin typeface="Calibri"/>
                <a:cs typeface="Calibri"/>
              </a:rPr>
              <a:t> </a:t>
            </a:r>
            <a:r>
              <a:rPr sz="1000" spc="-30" dirty="0">
                <a:latin typeface="Arial MT"/>
                <a:cs typeface="Arial MT"/>
              </a:rPr>
              <a:t>loss),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potential </a:t>
            </a:r>
            <a:r>
              <a:rPr sz="1000" spc="-30" dirty="0">
                <a:latin typeface="Arial MT"/>
                <a:cs typeface="Arial MT"/>
              </a:rPr>
              <a:t>signal </a:t>
            </a:r>
            <a:r>
              <a:rPr sz="1000" spc="-10" dirty="0">
                <a:latin typeface="Arial MT"/>
                <a:cs typeface="Arial MT"/>
              </a:rPr>
              <a:t>degradation.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523229" y="3123548"/>
            <a:ext cx="1822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latin typeface="Tahoma"/>
                <a:cs typeface="Tahoma"/>
              </a:rPr>
              <a:t>5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75" dirty="0">
                <a:latin typeface="Tahoma"/>
                <a:cs typeface="Tahoma"/>
              </a:rPr>
              <a:t>/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-25" dirty="0">
                <a:latin typeface="Tahoma"/>
                <a:cs typeface="Tahoma"/>
              </a:rPr>
              <a:t>12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30619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3.</a:t>
            </a:r>
            <a:r>
              <a:rPr sz="14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Gate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Diffusion</a:t>
            </a: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Input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(GDI)</a:t>
            </a: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Technique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0268" y="565962"/>
            <a:ext cx="2855595" cy="187960"/>
          </a:xfrm>
          <a:custGeom>
            <a:avLst/>
            <a:gdLst/>
            <a:ahLst/>
            <a:cxnLst/>
            <a:rect l="l" t="t" r="r" b="b"/>
            <a:pathLst>
              <a:path w="2855595" h="187959">
                <a:moveTo>
                  <a:pt x="28043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855110" y="187823"/>
                </a:lnTo>
                <a:lnTo>
                  <a:pt x="2855110" y="50800"/>
                </a:lnTo>
                <a:lnTo>
                  <a:pt x="2851102" y="31075"/>
                </a:lnTo>
                <a:lnTo>
                  <a:pt x="2840188" y="14922"/>
                </a:lnTo>
                <a:lnTo>
                  <a:pt x="2824035" y="4008"/>
                </a:lnTo>
                <a:lnTo>
                  <a:pt x="2804310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1069" y="594410"/>
            <a:ext cx="152971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Basic</a:t>
            </a:r>
            <a:r>
              <a:rPr sz="12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GDI</a:t>
            </a:r>
            <a:r>
              <a:rPr sz="12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Cell</a:t>
            </a:r>
            <a:r>
              <a:rPr sz="12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Structure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0268" y="622879"/>
            <a:ext cx="2906395" cy="2030730"/>
            <a:chOff x="70268" y="622879"/>
            <a:chExt cx="2906395" cy="20307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268" y="741133"/>
              <a:ext cx="285511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1069" y="622879"/>
              <a:ext cx="2855595" cy="2030730"/>
            </a:xfrm>
            <a:custGeom>
              <a:avLst/>
              <a:gdLst/>
              <a:ahLst/>
              <a:cxnLst/>
              <a:rect l="l" t="t" r="r" b="b"/>
              <a:pathLst>
                <a:path w="2855595" h="2030730">
                  <a:moveTo>
                    <a:pt x="2855110" y="0"/>
                  </a:moveTo>
                  <a:lnTo>
                    <a:pt x="0" y="0"/>
                  </a:lnTo>
                  <a:lnTo>
                    <a:pt x="0" y="2030621"/>
                  </a:lnTo>
                  <a:lnTo>
                    <a:pt x="2855110" y="2030621"/>
                  </a:lnTo>
                  <a:lnTo>
                    <a:pt x="28551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268" y="785398"/>
              <a:ext cx="2855595" cy="1817370"/>
            </a:xfrm>
            <a:custGeom>
              <a:avLst/>
              <a:gdLst/>
              <a:ahLst/>
              <a:cxnLst/>
              <a:rect l="l" t="t" r="r" b="b"/>
              <a:pathLst>
                <a:path w="2855595" h="1817370">
                  <a:moveTo>
                    <a:pt x="2855110" y="0"/>
                  </a:moveTo>
                  <a:lnTo>
                    <a:pt x="0" y="0"/>
                  </a:lnTo>
                  <a:lnTo>
                    <a:pt x="0" y="1766501"/>
                  </a:lnTo>
                  <a:lnTo>
                    <a:pt x="4008" y="1786226"/>
                  </a:lnTo>
                  <a:lnTo>
                    <a:pt x="14922" y="1802379"/>
                  </a:lnTo>
                  <a:lnTo>
                    <a:pt x="31075" y="1813293"/>
                  </a:lnTo>
                  <a:lnTo>
                    <a:pt x="50800" y="1817302"/>
                  </a:lnTo>
                  <a:lnTo>
                    <a:pt x="2804310" y="1817302"/>
                  </a:lnTo>
                  <a:lnTo>
                    <a:pt x="2824035" y="1813293"/>
                  </a:lnTo>
                  <a:lnTo>
                    <a:pt x="2840188" y="1802379"/>
                  </a:lnTo>
                  <a:lnTo>
                    <a:pt x="2851102" y="1786226"/>
                  </a:lnTo>
                  <a:lnTo>
                    <a:pt x="2855110" y="1766501"/>
                  </a:lnTo>
                  <a:lnTo>
                    <a:pt x="2855110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571" y="810690"/>
              <a:ext cx="2340498" cy="1747572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1256" y="2781007"/>
            <a:ext cx="59601" cy="5960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61416" y="2703911"/>
            <a:ext cx="24472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Arial MT"/>
                <a:cs typeface="Arial MT"/>
              </a:rPr>
              <a:t>Consists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 a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simple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2-</a:t>
            </a:r>
            <a:r>
              <a:rPr sz="1000" spc="-20" dirty="0">
                <a:latin typeface="Arial MT"/>
                <a:cs typeface="Arial MT"/>
              </a:rPr>
              <a:t>transistor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configuration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1256" y="3122625"/>
            <a:ext cx="59601" cy="5960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61416" y="2886244"/>
            <a:ext cx="10610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dirty="0">
                <a:latin typeface="Arial MT"/>
                <a:cs typeface="Arial MT"/>
              </a:rPr>
              <a:t>(PMOS </a:t>
            </a:r>
            <a:r>
              <a:rPr sz="1000" spc="180" dirty="0">
                <a:latin typeface="Arial MT"/>
                <a:cs typeface="Arial MT"/>
              </a:rPr>
              <a:t>+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NMOS).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1416" y="3076021"/>
            <a:ext cx="219265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5" dirty="0">
                <a:latin typeface="Arial MT"/>
                <a:cs typeface="Arial MT"/>
              </a:rPr>
              <a:t>Unlike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standard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CMOS,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10" dirty="0">
                <a:latin typeface="Arial MT"/>
                <a:cs typeface="Arial MT"/>
              </a:rPr>
              <a:t> source/drain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23229" y="3138668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latin typeface="Tahoma"/>
                <a:cs typeface="Tahoma"/>
              </a:rPr>
              <a:t>6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75" dirty="0">
                <a:latin typeface="Tahoma"/>
                <a:cs typeface="Tahoma"/>
              </a:rPr>
              <a:t>/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-25" dirty="0">
                <a:latin typeface="Tahoma"/>
                <a:cs typeface="Tahoma"/>
              </a:rPr>
              <a:t>12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3.</a:t>
            </a:r>
            <a:r>
              <a:rPr spc="70" dirty="0"/>
              <a:t> </a:t>
            </a:r>
            <a:r>
              <a:rPr spc="-10" dirty="0"/>
              <a:t>Gate</a:t>
            </a:r>
            <a:r>
              <a:rPr spc="-50" dirty="0"/>
              <a:t> </a:t>
            </a:r>
            <a:r>
              <a:rPr spc="-25" dirty="0"/>
              <a:t>Diffusion</a:t>
            </a:r>
            <a:r>
              <a:rPr spc="-55" dirty="0"/>
              <a:t> </a:t>
            </a:r>
            <a:r>
              <a:rPr spc="-35" dirty="0"/>
              <a:t>Input</a:t>
            </a:r>
            <a:r>
              <a:rPr spc="-50" dirty="0"/>
              <a:t> </a:t>
            </a:r>
            <a:r>
              <a:rPr dirty="0"/>
              <a:t>(GDI)</a:t>
            </a:r>
            <a:r>
              <a:rPr spc="-55" dirty="0"/>
              <a:t> </a:t>
            </a:r>
            <a:r>
              <a:rPr spc="-40" dirty="0"/>
              <a:t>Technique</a:t>
            </a:r>
          </a:p>
        </p:txBody>
      </p:sp>
      <p:sp>
        <p:nvSpPr>
          <p:cNvPr id="3" name="object 3"/>
          <p:cNvSpPr/>
          <p:nvPr/>
        </p:nvSpPr>
        <p:spPr>
          <a:xfrm>
            <a:off x="70268" y="565962"/>
            <a:ext cx="2855595" cy="187960"/>
          </a:xfrm>
          <a:custGeom>
            <a:avLst/>
            <a:gdLst/>
            <a:ahLst/>
            <a:cxnLst/>
            <a:rect l="l" t="t" r="r" b="b"/>
            <a:pathLst>
              <a:path w="2855595" h="187959">
                <a:moveTo>
                  <a:pt x="28043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855110" y="187823"/>
                </a:lnTo>
                <a:lnTo>
                  <a:pt x="2855110" y="50800"/>
                </a:lnTo>
                <a:lnTo>
                  <a:pt x="2851102" y="31075"/>
                </a:lnTo>
                <a:lnTo>
                  <a:pt x="2840188" y="14922"/>
                </a:lnTo>
                <a:lnTo>
                  <a:pt x="2824035" y="4008"/>
                </a:lnTo>
                <a:lnTo>
                  <a:pt x="2804310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1069" y="594410"/>
            <a:ext cx="152971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Basic</a:t>
            </a:r>
            <a:r>
              <a:rPr sz="12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GDI</a:t>
            </a:r>
            <a:r>
              <a:rPr sz="12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Cell</a:t>
            </a:r>
            <a:r>
              <a:rPr sz="12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Structure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256" y="2781007"/>
            <a:ext cx="59601" cy="5960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70268" y="565962"/>
            <a:ext cx="5619750" cy="2087880"/>
            <a:chOff x="70268" y="565962"/>
            <a:chExt cx="5619750" cy="208788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268" y="741133"/>
              <a:ext cx="285511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1069" y="622879"/>
              <a:ext cx="2855595" cy="2030730"/>
            </a:xfrm>
            <a:custGeom>
              <a:avLst/>
              <a:gdLst/>
              <a:ahLst/>
              <a:cxnLst/>
              <a:rect l="l" t="t" r="r" b="b"/>
              <a:pathLst>
                <a:path w="2855595" h="2030730">
                  <a:moveTo>
                    <a:pt x="2855110" y="0"/>
                  </a:moveTo>
                  <a:lnTo>
                    <a:pt x="0" y="0"/>
                  </a:lnTo>
                  <a:lnTo>
                    <a:pt x="0" y="2030621"/>
                  </a:lnTo>
                  <a:lnTo>
                    <a:pt x="2855110" y="2030621"/>
                  </a:lnTo>
                  <a:lnTo>
                    <a:pt x="28551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0268" y="785398"/>
              <a:ext cx="2855595" cy="1817370"/>
            </a:xfrm>
            <a:custGeom>
              <a:avLst/>
              <a:gdLst/>
              <a:ahLst/>
              <a:cxnLst/>
              <a:rect l="l" t="t" r="r" b="b"/>
              <a:pathLst>
                <a:path w="2855595" h="1817370">
                  <a:moveTo>
                    <a:pt x="2855110" y="0"/>
                  </a:moveTo>
                  <a:lnTo>
                    <a:pt x="0" y="0"/>
                  </a:lnTo>
                  <a:lnTo>
                    <a:pt x="0" y="1766501"/>
                  </a:lnTo>
                  <a:lnTo>
                    <a:pt x="4008" y="1786226"/>
                  </a:lnTo>
                  <a:lnTo>
                    <a:pt x="14922" y="1802379"/>
                  </a:lnTo>
                  <a:lnTo>
                    <a:pt x="31075" y="1813293"/>
                  </a:lnTo>
                  <a:lnTo>
                    <a:pt x="50800" y="1817302"/>
                  </a:lnTo>
                  <a:lnTo>
                    <a:pt x="2804310" y="1817302"/>
                  </a:lnTo>
                  <a:lnTo>
                    <a:pt x="2824035" y="1813293"/>
                  </a:lnTo>
                  <a:lnTo>
                    <a:pt x="2840188" y="1802379"/>
                  </a:lnTo>
                  <a:lnTo>
                    <a:pt x="2851102" y="1786226"/>
                  </a:lnTo>
                  <a:lnTo>
                    <a:pt x="2855110" y="1766501"/>
                  </a:lnTo>
                  <a:lnTo>
                    <a:pt x="2855110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7571" y="810690"/>
              <a:ext cx="2340498" cy="17475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944811" y="565962"/>
              <a:ext cx="2745105" cy="187960"/>
            </a:xfrm>
            <a:custGeom>
              <a:avLst/>
              <a:gdLst/>
              <a:ahLst/>
              <a:cxnLst/>
              <a:rect l="l" t="t" r="r" b="b"/>
              <a:pathLst>
                <a:path w="2745104" h="187959">
                  <a:moveTo>
                    <a:pt x="269414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23"/>
                  </a:lnTo>
                  <a:lnTo>
                    <a:pt x="2744947" y="187823"/>
                  </a:lnTo>
                  <a:lnTo>
                    <a:pt x="2744947" y="50800"/>
                  </a:lnTo>
                  <a:lnTo>
                    <a:pt x="2740938" y="31075"/>
                  </a:lnTo>
                  <a:lnTo>
                    <a:pt x="2730024" y="14922"/>
                  </a:lnTo>
                  <a:lnTo>
                    <a:pt x="2713871" y="4008"/>
                  </a:lnTo>
                  <a:lnTo>
                    <a:pt x="2694146" y="0"/>
                  </a:lnTo>
                  <a:close/>
                </a:path>
              </a:pathLst>
            </a:custGeom>
            <a:solidFill>
              <a:srgbClr val="002B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61416" y="2703911"/>
            <a:ext cx="24472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Arial MT"/>
                <a:cs typeface="Arial MT"/>
              </a:rPr>
              <a:t>Consists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 a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simple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2-</a:t>
            </a:r>
            <a:r>
              <a:rPr sz="1000" spc="-20" dirty="0">
                <a:latin typeface="Arial MT"/>
                <a:cs typeface="Arial MT"/>
              </a:rPr>
              <a:t>transistor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configuration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1256" y="3122625"/>
            <a:ext cx="59601" cy="5960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995612" y="594410"/>
            <a:ext cx="211645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GDI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Cell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Truth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Table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Functions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944811" y="622878"/>
            <a:ext cx="2815590" cy="1402080"/>
            <a:chOff x="2944811" y="622878"/>
            <a:chExt cx="2815590" cy="140208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44811" y="741133"/>
              <a:ext cx="2744947" cy="5060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995612" y="622878"/>
              <a:ext cx="2745105" cy="1402080"/>
            </a:xfrm>
            <a:custGeom>
              <a:avLst/>
              <a:gdLst/>
              <a:ahLst/>
              <a:cxnLst/>
              <a:rect l="l" t="t" r="r" b="b"/>
              <a:pathLst>
                <a:path w="2745104" h="1402080">
                  <a:moveTo>
                    <a:pt x="2744947" y="0"/>
                  </a:moveTo>
                  <a:lnTo>
                    <a:pt x="0" y="0"/>
                  </a:lnTo>
                  <a:lnTo>
                    <a:pt x="0" y="1401972"/>
                  </a:lnTo>
                  <a:lnTo>
                    <a:pt x="2744947" y="1401972"/>
                  </a:lnTo>
                  <a:lnTo>
                    <a:pt x="27449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44811" y="785397"/>
              <a:ext cx="2745105" cy="1188720"/>
            </a:xfrm>
            <a:custGeom>
              <a:avLst/>
              <a:gdLst/>
              <a:ahLst/>
              <a:cxnLst/>
              <a:rect l="l" t="t" r="r" b="b"/>
              <a:pathLst>
                <a:path w="2745104" h="1188720">
                  <a:moveTo>
                    <a:pt x="2744947" y="0"/>
                  </a:moveTo>
                  <a:lnTo>
                    <a:pt x="0" y="0"/>
                  </a:lnTo>
                  <a:lnTo>
                    <a:pt x="0" y="1137852"/>
                  </a:lnTo>
                  <a:lnTo>
                    <a:pt x="4008" y="1157577"/>
                  </a:lnTo>
                  <a:lnTo>
                    <a:pt x="14922" y="1173730"/>
                  </a:lnTo>
                  <a:lnTo>
                    <a:pt x="31075" y="1184644"/>
                  </a:lnTo>
                  <a:lnTo>
                    <a:pt x="50800" y="1188653"/>
                  </a:lnTo>
                  <a:lnTo>
                    <a:pt x="2694146" y="1188653"/>
                  </a:lnTo>
                  <a:lnTo>
                    <a:pt x="2713871" y="1184644"/>
                  </a:lnTo>
                  <a:lnTo>
                    <a:pt x="2730024" y="1173730"/>
                  </a:lnTo>
                  <a:lnTo>
                    <a:pt x="2740938" y="1157577"/>
                  </a:lnTo>
                  <a:lnTo>
                    <a:pt x="2744947" y="1137852"/>
                  </a:lnTo>
                  <a:lnTo>
                    <a:pt x="2744947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95612" y="810723"/>
              <a:ext cx="2764790" cy="10160"/>
            </a:xfrm>
            <a:custGeom>
              <a:avLst/>
              <a:gdLst/>
              <a:ahLst/>
              <a:cxnLst/>
              <a:rect l="l" t="t" r="r" b="b"/>
              <a:pathLst>
                <a:path w="2764790" h="10159">
                  <a:moveTo>
                    <a:pt x="2764383" y="0"/>
                  </a:moveTo>
                  <a:lnTo>
                    <a:pt x="0" y="0"/>
                  </a:lnTo>
                  <a:lnTo>
                    <a:pt x="0" y="10121"/>
                  </a:lnTo>
                  <a:lnTo>
                    <a:pt x="2764383" y="10121"/>
                  </a:lnTo>
                  <a:lnTo>
                    <a:pt x="27643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075368" y="828250"/>
            <a:ext cx="6457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2735" algn="l"/>
                <a:tab pos="548640" algn="l"/>
              </a:tabLst>
            </a:pPr>
            <a:r>
              <a:rPr sz="900" b="1" spc="5" dirty="0">
                <a:latin typeface="Arial"/>
                <a:cs typeface="Arial"/>
              </a:rPr>
              <a:t>N</a:t>
            </a:r>
            <a:r>
              <a:rPr sz="900" b="1" dirty="0">
                <a:latin typeface="Arial"/>
                <a:cs typeface="Arial"/>
              </a:rPr>
              <a:t>	</a:t>
            </a:r>
            <a:r>
              <a:rPr sz="900" b="1" spc="-50" dirty="0">
                <a:latin typeface="Arial"/>
                <a:cs typeface="Arial"/>
              </a:rPr>
              <a:t>P</a:t>
            </a:r>
            <a:r>
              <a:rPr sz="900" b="1" dirty="0">
                <a:latin typeface="Arial"/>
                <a:cs typeface="Arial"/>
              </a:rPr>
              <a:t>	</a:t>
            </a:r>
            <a:r>
              <a:rPr sz="900" b="1" spc="-50" dirty="0">
                <a:latin typeface="Arial"/>
                <a:cs typeface="Arial"/>
              </a:rPr>
              <a:t>G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01226" y="828250"/>
            <a:ext cx="2260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5" dirty="0">
                <a:latin typeface="Arial"/>
                <a:cs typeface="Arial"/>
              </a:rPr>
              <a:t>Out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05411" y="828250"/>
            <a:ext cx="476884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30" dirty="0">
                <a:latin typeface="Arial"/>
                <a:cs typeface="Arial"/>
              </a:rPr>
              <a:t>Function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49380" y="828250"/>
            <a:ext cx="4699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45" dirty="0">
                <a:latin typeface="Arial"/>
                <a:cs typeface="Arial"/>
              </a:rPr>
              <a:t>Remarks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995612" y="1019060"/>
            <a:ext cx="2764790" cy="6350"/>
          </a:xfrm>
          <a:custGeom>
            <a:avLst/>
            <a:gdLst/>
            <a:ahLst/>
            <a:cxnLst/>
            <a:rect l="l" t="t" r="r" b="b"/>
            <a:pathLst>
              <a:path w="2764790" h="6350">
                <a:moveTo>
                  <a:pt x="2764383" y="0"/>
                </a:moveTo>
                <a:lnTo>
                  <a:pt x="0" y="0"/>
                </a:lnTo>
                <a:lnTo>
                  <a:pt x="0" y="6324"/>
                </a:lnTo>
                <a:lnTo>
                  <a:pt x="2764383" y="6324"/>
                </a:lnTo>
                <a:lnTo>
                  <a:pt x="2764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120576" y="1032797"/>
            <a:ext cx="62420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160" dirty="0">
                <a:latin typeface="Calibri"/>
                <a:cs typeface="Calibri"/>
              </a:rPr>
              <a:t>A</a:t>
            </a:r>
            <a:r>
              <a:rPr sz="900" i="1" spc="50" dirty="0">
                <a:latin typeface="Calibri"/>
                <a:cs typeface="Calibri"/>
              </a:rPr>
              <a:t> </a:t>
            </a:r>
            <a:r>
              <a:rPr sz="900" i="1" spc="265" dirty="0">
                <a:latin typeface="Calibri"/>
                <a:cs typeface="Calibri"/>
              </a:rPr>
              <a:t>&lt;</a:t>
            </a:r>
            <a:r>
              <a:rPr sz="900" i="1" spc="50" dirty="0">
                <a:latin typeface="Calibri"/>
                <a:cs typeface="Calibri"/>
              </a:rPr>
              <a:t> </a:t>
            </a:r>
            <a:r>
              <a:rPr sz="900" i="1" spc="200" dirty="0">
                <a:latin typeface="Calibri"/>
                <a:cs typeface="Calibri"/>
              </a:rPr>
              <a:t>B</a:t>
            </a:r>
            <a:r>
              <a:rPr sz="900" i="1" spc="150" dirty="0">
                <a:latin typeface="Calibri"/>
                <a:cs typeface="Calibri"/>
              </a:rPr>
              <a:t> </a:t>
            </a:r>
            <a:r>
              <a:rPr sz="900" spc="-20" dirty="0">
                <a:latin typeface="Arial MT"/>
                <a:cs typeface="Arial MT"/>
              </a:rPr>
              <a:t>outp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08423" y="1171976"/>
            <a:ext cx="6908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 MT"/>
                <a:cs typeface="Arial MT"/>
              </a:rPr>
              <a:t>Logic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Functio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40223" y="1311155"/>
            <a:ext cx="4883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 MT"/>
                <a:cs typeface="Arial MT"/>
              </a:rPr>
              <a:t>Logic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OR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98569" y="1450334"/>
            <a:ext cx="57086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 MT"/>
                <a:cs typeface="Arial MT"/>
              </a:rPr>
              <a:t>Logic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AND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97516" y="1589501"/>
            <a:ext cx="5721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 MT"/>
                <a:cs typeface="Arial MT"/>
              </a:rPr>
              <a:t>Multiplexer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033433" y="1032797"/>
            <a:ext cx="1401445" cy="8585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27660" algn="l"/>
                <a:tab pos="588645" algn="l"/>
                <a:tab pos="989330" algn="l"/>
              </a:tabLst>
            </a:pPr>
            <a:r>
              <a:rPr sz="900" spc="-25" dirty="0">
                <a:latin typeface="Arial MT"/>
                <a:cs typeface="Arial MT"/>
              </a:rPr>
              <a:t>’0’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i="1" spc="150" dirty="0">
                <a:latin typeface="Calibri"/>
                <a:cs typeface="Calibri"/>
              </a:rPr>
              <a:t>B</a:t>
            </a:r>
            <a:r>
              <a:rPr sz="900" i="1" dirty="0">
                <a:latin typeface="Calibri"/>
                <a:cs typeface="Calibri"/>
              </a:rPr>
              <a:t>	</a:t>
            </a:r>
            <a:r>
              <a:rPr sz="900" i="1" spc="110" dirty="0">
                <a:latin typeface="Calibri"/>
                <a:cs typeface="Calibri"/>
              </a:rPr>
              <a:t>A</a:t>
            </a:r>
            <a:r>
              <a:rPr sz="900" i="1" dirty="0">
                <a:latin typeface="Calibri"/>
                <a:cs typeface="Calibri"/>
              </a:rPr>
              <a:t>	</a:t>
            </a:r>
            <a:r>
              <a:rPr sz="900" i="1" spc="-25" dirty="0">
                <a:latin typeface="Calibri"/>
                <a:cs typeface="Calibri"/>
              </a:rPr>
              <a:t>A</a:t>
            </a:r>
            <a:r>
              <a:rPr sz="1350" spc="-37" baseline="15432" dirty="0">
                <a:latin typeface="Calibri"/>
                <a:cs typeface="Calibri"/>
              </a:rPr>
              <a:t>¯</a:t>
            </a:r>
            <a:r>
              <a:rPr sz="900" i="1" spc="-25" dirty="0">
                <a:latin typeface="Calibri"/>
                <a:cs typeface="Calibri"/>
              </a:rPr>
              <a:t>B</a:t>
            </a:r>
            <a:endParaRPr sz="900">
              <a:latin typeface="Calibri"/>
              <a:cs typeface="Calibri"/>
            </a:endParaRPr>
          </a:p>
          <a:p>
            <a:pPr marL="52705">
              <a:lnSpc>
                <a:spcPct val="100000"/>
              </a:lnSpc>
              <a:spcBef>
                <a:spcPts val="15"/>
              </a:spcBef>
              <a:tabLst>
                <a:tab pos="313055" algn="l"/>
                <a:tab pos="588645" algn="l"/>
                <a:tab pos="917575" algn="l"/>
              </a:tabLst>
            </a:pPr>
            <a:r>
              <a:rPr sz="900" i="1" spc="150" dirty="0">
                <a:latin typeface="Calibri"/>
                <a:cs typeface="Calibri"/>
              </a:rPr>
              <a:t>B</a:t>
            </a:r>
            <a:r>
              <a:rPr sz="900" i="1" dirty="0">
                <a:latin typeface="Calibri"/>
                <a:cs typeface="Calibri"/>
              </a:rPr>
              <a:t>	</a:t>
            </a:r>
            <a:r>
              <a:rPr sz="900" spc="-25" dirty="0">
                <a:latin typeface="Arial MT"/>
                <a:cs typeface="Arial MT"/>
              </a:rPr>
              <a:t>’1’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i="1" spc="110" dirty="0">
                <a:latin typeface="Calibri"/>
                <a:cs typeface="Calibri"/>
              </a:rPr>
              <a:t>A</a:t>
            </a:r>
            <a:r>
              <a:rPr sz="900" i="1" dirty="0">
                <a:latin typeface="Calibri"/>
                <a:cs typeface="Calibri"/>
              </a:rPr>
              <a:t>	</a:t>
            </a:r>
            <a:r>
              <a:rPr sz="900" i="1" spc="-95" dirty="0">
                <a:latin typeface="Calibri"/>
                <a:cs typeface="Calibri"/>
              </a:rPr>
              <a:t>A</a:t>
            </a:r>
            <a:r>
              <a:rPr sz="1350" spc="-142" baseline="15432" dirty="0">
                <a:latin typeface="Calibri"/>
                <a:cs typeface="Calibri"/>
              </a:rPr>
              <a:t>¯</a:t>
            </a:r>
            <a:r>
              <a:rPr sz="1350" spc="-15" baseline="15432" dirty="0">
                <a:latin typeface="Calibri"/>
                <a:cs typeface="Calibri"/>
              </a:rPr>
              <a:t> </a:t>
            </a:r>
            <a:r>
              <a:rPr sz="900" spc="265" dirty="0">
                <a:latin typeface="Calibri"/>
                <a:cs typeface="Calibri"/>
              </a:rPr>
              <a:t>+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i="1" spc="150" dirty="0">
                <a:latin typeface="Calibri"/>
                <a:cs typeface="Calibri"/>
              </a:rPr>
              <a:t>B</a:t>
            </a:r>
            <a:endParaRPr sz="9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5"/>
              </a:spcBef>
              <a:tabLst>
                <a:tab pos="327660" algn="l"/>
                <a:tab pos="588645" algn="l"/>
                <a:tab pos="917575" algn="l"/>
              </a:tabLst>
            </a:pPr>
            <a:r>
              <a:rPr sz="900" spc="-25" dirty="0">
                <a:latin typeface="Arial MT"/>
                <a:cs typeface="Arial MT"/>
              </a:rPr>
              <a:t>’1’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i="1" spc="150" dirty="0">
                <a:latin typeface="Calibri"/>
                <a:cs typeface="Calibri"/>
              </a:rPr>
              <a:t>B</a:t>
            </a:r>
            <a:r>
              <a:rPr sz="900" i="1" dirty="0">
                <a:latin typeface="Calibri"/>
                <a:cs typeface="Calibri"/>
              </a:rPr>
              <a:t>	</a:t>
            </a:r>
            <a:r>
              <a:rPr sz="900" i="1" spc="110" dirty="0">
                <a:latin typeface="Calibri"/>
                <a:cs typeface="Calibri"/>
              </a:rPr>
              <a:t>A</a:t>
            </a:r>
            <a:r>
              <a:rPr sz="900" i="1" dirty="0">
                <a:latin typeface="Calibri"/>
                <a:cs typeface="Calibri"/>
              </a:rPr>
              <a:t>	</a:t>
            </a:r>
            <a:r>
              <a:rPr sz="900" i="1" spc="160" dirty="0">
                <a:latin typeface="Calibri"/>
                <a:cs typeface="Calibri"/>
              </a:rPr>
              <a:t>A</a:t>
            </a:r>
            <a:r>
              <a:rPr sz="900" i="1" dirty="0">
                <a:latin typeface="Calibri"/>
                <a:cs typeface="Calibri"/>
              </a:rPr>
              <a:t> </a:t>
            </a:r>
            <a:r>
              <a:rPr sz="900" spc="265" dirty="0">
                <a:latin typeface="Calibri"/>
                <a:cs typeface="Calibri"/>
              </a:rPr>
              <a:t>+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i="1" spc="150" dirty="0">
                <a:latin typeface="Calibri"/>
                <a:cs typeface="Calibri"/>
              </a:rPr>
              <a:t>B</a:t>
            </a:r>
            <a:endParaRPr sz="900">
              <a:latin typeface="Calibri"/>
              <a:cs typeface="Calibri"/>
            </a:endParaRPr>
          </a:p>
          <a:p>
            <a:pPr marL="313055" indent="-260350">
              <a:lnSpc>
                <a:spcPct val="100000"/>
              </a:lnSpc>
              <a:spcBef>
                <a:spcPts val="20"/>
              </a:spcBef>
              <a:buFont typeface="Calibri"/>
              <a:buAutoNum type="alphaUcPeriod" startAt="2"/>
              <a:tabLst>
                <a:tab pos="313055" algn="l"/>
                <a:tab pos="588645" algn="l"/>
                <a:tab pos="989330" algn="l"/>
              </a:tabLst>
            </a:pPr>
            <a:r>
              <a:rPr sz="900" spc="-25" dirty="0">
                <a:latin typeface="Arial MT"/>
                <a:cs typeface="Arial MT"/>
              </a:rPr>
              <a:t>’0’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i="1" spc="110" dirty="0">
                <a:latin typeface="Calibri"/>
                <a:cs typeface="Calibri"/>
              </a:rPr>
              <a:t>A</a:t>
            </a:r>
            <a:r>
              <a:rPr sz="900" i="1" dirty="0">
                <a:latin typeface="Calibri"/>
                <a:cs typeface="Calibri"/>
              </a:rPr>
              <a:t>	</a:t>
            </a:r>
            <a:r>
              <a:rPr sz="900" i="1" spc="155" dirty="0">
                <a:latin typeface="Calibri"/>
                <a:cs typeface="Calibri"/>
              </a:rPr>
              <a:t>AB</a:t>
            </a:r>
            <a:endParaRPr sz="900">
              <a:latin typeface="Calibri"/>
              <a:cs typeface="Calibri"/>
            </a:endParaRPr>
          </a:p>
          <a:p>
            <a:pPr marL="327660" indent="-273685">
              <a:lnSpc>
                <a:spcPct val="100000"/>
              </a:lnSpc>
              <a:spcBef>
                <a:spcPts val="15"/>
              </a:spcBef>
              <a:buAutoNum type="alphaUcPeriod" startAt="2"/>
              <a:tabLst>
                <a:tab pos="327660" algn="l"/>
                <a:tab pos="588645" algn="l"/>
                <a:tab pos="828040" algn="l"/>
              </a:tabLst>
            </a:pPr>
            <a:r>
              <a:rPr sz="900" i="1" spc="150" dirty="0">
                <a:latin typeface="Calibri"/>
                <a:cs typeface="Calibri"/>
              </a:rPr>
              <a:t>B</a:t>
            </a:r>
            <a:r>
              <a:rPr sz="900" i="1" dirty="0">
                <a:latin typeface="Calibri"/>
                <a:cs typeface="Calibri"/>
              </a:rPr>
              <a:t>	</a:t>
            </a:r>
            <a:r>
              <a:rPr sz="900" i="1" spc="110" dirty="0">
                <a:latin typeface="Calibri"/>
                <a:cs typeface="Calibri"/>
              </a:rPr>
              <a:t>A</a:t>
            </a:r>
            <a:r>
              <a:rPr sz="900" i="1" dirty="0">
                <a:latin typeface="Calibri"/>
                <a:cs typeface="Calibri"/>
              </a:rPr>
              <a:t>	A</a:t>
            </a:r>
            <a:r>
              <a:rPr sz="1350" baseline="15432" dirty="0">
                <a:latin typeface="Calibri"/>
                <a:cs typeface="Calibri"/>
              </a:rPr>
              <a:t>¯</a:t>
            </a:r>
            <a:r>
              <a:rPr sz="900" i="1" dirty="0">
                <a:latin typeface="Calibri"/>
                <a:cs typeface="Calibri"/>
              </a:rPr>
              <a:t>B</a:t>
            </a:r>
            <a:r>
              <a:rPr sz="900" i="1" spc="50" dirty="0">
                <a:latin typeface="Calibri"/>
                <a:cs typeface="Calibri"/>
              </a:rPr>
              <a:t> </a:t>
            </a:r>
            <a:r>
              <a:rPr sz="900" spc="265" dirty="0">
                <a:latin typeface="Calibri"/>
                <a:cs typeface="Calibri"/>
              </a:rPr>
              <a:t>+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i="1" spc="145" dirty="0">
                <a:latin typeface="Calibri"/>
                <a:cs typeface="Calibri"/>
              </a:rPr>
              <a:t>AC</a:t>
            </a:r>
            <a:endParaRPr sz="9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5"/>
              </a:spcBef>
              <a:tabLst>
                <a:tab pos="313055" algn="l"/>
                <a:tab pos="588645" algn="l"/>
                <a:tab pos="1036319" algn="l"/>
              </a:tabLst>
            </a:pPr>
            <a:r>
              <a:rPr sz="900" spc="-25" dirty="0">
                <a:latin typeface="Arial MT"/>
                <a:cs typeface="Arial MT"/>
              </a:rPr>
              <a:t>’0’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25" dirty="0">
                <a:latin typeface="Arial MT"/>
                <a:cs typeface="Arial MT"/>
              </a:rPr>
              <a:t>’1’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i="1" spc="110" dirty="0">
                <a:latin typeface="Calibri"/>
                <a:cs typeface="Calibri"/>
              </a:rPr>
              <a:t>A</a:t>
            </a:r>
            <a:r>
              <a:rPr sz="900" i="1" dirty="0">
                <a:latin typeface="Calibri"/>
                <a:cs typeface="Calibri"/>
              </a:rPr>
              <a:t>	</a:t>
            </a:r>
            <a:r>
              <a:rPr sz="900" i="1" spc="-25" dirty="0">
                <a:latin typeface="Calibri"/>
                <a:cs typeface="Calibri"/>
              </a:rPr>
              <a:t>A</a:t>
            </a:r>
            <a:r>
              <a:rPr sz="1350" spc="-37" baseline="15432" dirty="0">
                <a:latin typeface="Calibri"/>
                <a:cs typeface="Calibri"/>
              </a:rPr>
              <a:t>¯</a:t>
            </a:r>
            <a:endParaRPr sz="1350" baseline="15432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90127" y="1032797"/>
            <a:ext cx="307340" cy="85851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ctr">
              <a:lnSpc>
                <a:spcPct val="101499"/>
              </a:lnSpc>
              <a:spcBef>
                <a:spcPts val="80"/>
              </a:spcBef>
            </a:pPr>
            <a:r>
              <a:rPr sz="900" b="1" spc="-25" dirty="0">
                <a:latin typeface="Arial"/>
                <a:cs typeface="Arial"/>
              </a:rPr>
              <a:t>F1</a:t>
            </a:r>
            <a:r>
              <a:rPr sz="900" b="1" spc="500" dirty="0">
                <a:latin typeface="Arial"/>
                <a:cs typeface="Arial"/>
              </a:rPr>
              <a:t> </a:t>
            </a:r>
            <a:r>
              <a:rPr sz="900" b="1" spc="-25" dirty="0">
                <a:latin typeface="Arial"/>
                <a:cs typeface="Arial"/>
              </a:rPr>
              <a:t>F2 OR AND </a:t>
            </a:r>
            <a:r>
              <a:rPr sz="900" b="1" spc="40" dirty="0">
                <a:latin typeface="Arial"/>
                <a:cs typeface="Arial"/>
              </a:rPr>
              <a:t>MUX </a:t>
            </a:r>
            <a:r>
              <a:rPr sz="900" b="1" spc="30" dirty="0">
                <a:latin typeface="Arial"/>
                <a:cs typeface="Arial"/>
              </a:rPr>
              <a:t>NOT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84664" y="1728680"/>
            <a:ext cx="3987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 MT"/>
                <a:cs typeface="Arial MT"/>
              </a:rPr>
              <a:t>Inverter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944811" y="1919509"/>
            <a:ext cx="2815590" cy="405130"/>
            <a:chOff x="2944811" y="1919509"/>
            <a:chExt cx="2815590" cy="405130"/>
          </a:xfrm>
        </p:grpSpPr>
        <p:sp>
          <p:nvSpPr>
            <p:cNvPr id="34" name="object 34"/>
            <p:cNvSpPr/>
            <p:nvPr/>
          </p:nvSpPr>
          <p:spPr>
            <a:xfrm>
              <a:off x="2995612" y="1919509"/>
              <a:ext cx="2764790" cy="10160"/>
            </a:xfrm>
            <a:custGeom>
              <a:avLst/>
              <a:gdLst/>
              <a:ahLst/>
              <a:cxnLst/>
              <a:rect l="l" t="t" r="r" b="b"/>
              <a:pathLst>
                <a:path w="2764790" h="10160">
                  <a:moveTo>
                    <a:pt x="2764383" y="0"/>
                  </a:moveTo>
                  <a:lnTo>
                    <a:pt x="0" y="0"/>
                  </a:lnTo>
                  <a:lnTo>
                    <a:pt x="0" y="10121"/>
                  </a:lnTo>
                  <a:lnTo>
                    <a:pt x="2764383" y="10121"/>
                  </a:lnTo>
                  <a:lnTo>
                    <a:pt x="27643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944811" y="2125979"/>
              <a:ext cx="2745105" cy="198755"/>
            </a:xfrm>
            <a:custGeom>
              <a:avLst/>
              <a:gdLst/>
              <a:ahLst/>
              <a:cxnLst/>
              <a:rect l="l" t="t" r="r" b="b"/>
              <a:pathLst>
                <a:path w="2745104" h="198755">
                  <a:moveTo>
                    <a:pt x="269414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2744947" y="198367"/>
                  </a:lnTo>
                  <a:lnTo>
                    <a:pt x="2744947" y="50800"/>
                  </a:lnTo>
                  <a:lnTo>
                    <a:pt x="2740938" y="31075"/>
                  </a:lnTo>
                  <a:lnTo>
                    <a:pt x="2730024" y="14922"/>
                  </a:lnTo>
                  <a:lnTo>
                    <a:pt x="2713871" y="4008"/>
                  </a:lnTo>
                  <a:lnTo>
                    <a:pt x="2694146" y="0"/>
                  </a:lnTo>
                  <a:close/>
                </a:path>
              </a:pathLst>
            </a:custGeom>
            <a:solidFill>
              <a:srgbClr val="00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995612" y="2154427"/>
            <a:ext cx="941069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 Advantage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944811" y="2182902"/>
            <a:ext cx="2795905" cy="685165"/>
            <a:chOff x="2944811" y="2182902"/>
            <a:chExt cx="2795905" cy="685165"/>
          </a:xfrm>
        </p:grpSpPr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44811" y="2311692"/>
              <a:ext cx="2744947" cy="5060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995612" y="2182902"/>
              <a:ext cx="2745105" cy="685165"/>
            </a:xfrm>
            <a:custGeom>
              <a:avLst/>
              <a:gdLst/>
              <a:ahLst/>
              <a:cxnLst/>
              <a:rect l="l" t="t" r="r" b="b"/>
              <a:pathLst>
                <a:path w="2745104" h="685164">
                  <a:moveTo>
                    <a:pt x="2744947" y="0"/>
                  </a:moveTo>
                  <a:lnTo>
                    <a:pt x="0" y="0"/>
                  </a:lnTo>
                  <a:lnTo>
                    <a:pt x="0" y="685126"/>
                  </a:lnTo>
                  <a:lnTo>
                    <a:pt x="2744947" y="685126"/>
                  </a:lnTo>
                  <a:lnTo>
                    <a:pt x="27449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944811" y="2355965"/>
              <a:ext cx="2745105" cy="461645"/>
            </a:xfrm>
            <a:custGeom>
              <a:avLst/>
              <a:gdLst/>
              <a:ahLst/>
              <a:cxnLst/>
              <a:rect l="l" t="t" r="r" b="b"/>
              <a:pathLst>
                <a:path w="2745104" h="461644">
                  <a:moveTo>
                    <a:pt x="2744947" y="0"/>
                  </a:moveTo>
                  <a:lnTo>
                    <a:pt x="0" y="0"/>
                  </a:lnTo>
                  <a:lnTo>
                    <a:pt x="0" y="410462"/>
                  </a:lnTo>
                  <a:lnTo>
                    <a:pt x="4008" y="430187"/>
                  </a:lnTo>
                  <a:lnTo>
                    <a:pt x="14922" y="446340"/>
                  </a:lnTo>
                  <a:lnTo>
                    <a:pt x="31075" y="457254"/>
                  </a:lnTo>
                  <a:lnTo>
                    <a:pt x="50800" y="461263"/>
                  </a:lnTo>
                  <a:lnTo>
                    <a:pt x="2694146" y="461263"/>
                  </a:lnTo>
                  <a:lnTo>
                    <a:pt x="2713871" y="457254"/>
                  </a:lnTo>
                  <a:lnTo>
                    <a:pt x="2730024" y="446340"/>
                  </a:lnTo>
                  <a:lnTo>
                    <a:pt x="2740938" y="430187"/>
                  </a:lnTo>
                  <a:lnTo>
                    <a:pt x="2744947" y="410462"/>
                  </a:lnTo>
                  <a:lnTo>
                    <a:pt x="2744947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982912" y="2329921"/>
            <a:ext cx="2608580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Arial MT"/>
                <a:cs typeface="Arial MT"/>
              </a:rPr>
              <a:t>Allows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complex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multi-input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logic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implementation </a:t>
            </a:r>
            <a:r>
              <a:rPr sz="1000" dirty="0">
                <a:latin typeface="Arial MT"/>
                <a:cs typeface="Arial MT"/>
              </a:rPr>
              <a:t>with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significantly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fewer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transistors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compared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to </a:t>
            </a:r>
            <a:r>
              <a:rPr sz="1000" dirty="0">
                <a:latin typeface="Arial MT"/>
                <a:cs typeface="Arial MT"/>
              </a:rPr>
              <a:t>static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CMOS.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61416" y="2886244"/>
            <a:ext cx="10610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dirty="0">
                <a:latin typeface="Arial MT"/>
                <a:cs typeface="Arial MT"/>
              </a:rPr>
              <a:t>(PMOS </a:t>
            </a:r>
            <a:r>
              <a:rPr sz="1000" spc="180" dirty="0">
                <a:latin typeface="Arial MT"/>
                <a:cs typeface="Arial MT"/>
              </a:rPr>
              <a:t>+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NMOS).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61416" y="3076021"/>
            <a:ext cx="219265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25" dirty="0">
                <a:latin typeface="Arial MT"/>
                <a:cs typeface="Arial MT"/>
              </a:rPr>
              <a:t>Unlike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standard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CMOS,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10" dirty="0">
                <a:latin typeface="Arial MT"/>
                <a:cs typeface="Arial MT"/>
              </a:rPr>
              <a:t> source/drain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523229" y="3138668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latin typeface="Tahoma"/>
                <a:cs typeface="Tahoma"/>
              </a:rPr>
              <a:t>6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75" dirty="0">
                <a:latin typeface="Tahoma"/>
                <a:cs typeface="Tahoma"/>
              </a:rPr>
              <a:t>/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-25" dirty="0">
                <a:latin typeface="Tahoma"/>
                <a:cs typeface="Tahoma"/>
              </a:rPr>
              <a:t>12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4.</a:t>
            </a:r>
            <a:r>
              <a:rPr spc="90" dirty="0"/>
              <a:t> </a:t>
            </a:r>
            <a:r>
              <a:rPr spc="-30" dirty="0"/>
              <a:t>Proposed</a:t>
            </a:r>
            <a:r>
              <a:rPr spc="-40" dirty="0"/>
              <a:t> </a:t>
            </a:r>
            <a:r>
              <a:rPr spc="-70" dirty="0"/>
              <a:t>10-</a:t>
            </a:r>
            <a:r>
              <a:rPr spc="-35" dirty="0"/>
              <a:t>Transistor </a:t>
            </a:r>
            <a:r>
              <a:rPr dirty="0"/>
              <a:t>GDI</a:t>
            </a:r>
            <a:r>
              <a:rPr spc="-40" dirty="0"/>
              <a:t> </a:t>
            </a:r>
            <a:r>
              <a:rPr spc="-20" dirty="0"/>
              <a:t>Magnitude</a:t>
            </a:r>
            <a:r>
              <a:rPr spc="-40" dirty="0"/>
              <a:t> Comparator </a:t>
            </a:r>
            <a:r>
              <a:rPr spc="-10" dirty="0"/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038" y="508798"/>
            <a:ext cx="5368925" cy="2106295"/>
            <a:chOff x="24038" y="508798"/>
            <a:chExt cx="5368925" cy="21062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38" y="508798"/>
              <a:ext cx="2995141" cy="210573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78035" y="597420"/>
              <a:ext cx="2414905" cy="198755"/>
            </a:xfrm>
            <a:custGeom>
              <a:avLst/>
              <a:gdLst/>
              <a:ahLst/>
              <a:cxnLst/>
              <a:rect l="l" t="t" r="r" b="b"/>
              <a:pathLst>
                <a:path w="2414904" h="198754">
                  <a:moveTo>
                    <a:pt x="2363738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2414539" y="198367"/>
                  </a:lnTo>
                  <a:lnTo>
                    <a:pt x="2414539" y="50800"/>
                  </a:lnTo>
                  <a:lnTo>
                    <a:pt x="2410530" y="31075"/>
                  </a:lnTo>
                  <a:lnTo>
                    <a:pt x="2399616" y="14922"/>
                  </a:lnTo>
                  <a:lnTo>
                    <a:pt x="2383463" y="4008"/>
                  </a:lnTo>
                  <a:lnTo>
                    <a:pt x="2363738" y="0"/>
                  </a:lnTo>
                  <a:close/>
                </a:path>
              </a:pathLst>
            </a:custGeom>
            <a:solidFill>
              <a:srgbClr val="002B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3840" y="2711152"/>
            <a:ext cx="2840990" cy="3016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011555" marR="5080" indent="-999490">
              <a:lnSpc>
                <a:spcPct val="101499"/>
              </a:lnSpc>
              <a:spcBef>
                <a:spcPts val="80"/>
              </a:spcBef>
            </a:pPr>
            <a:r>
              <a:rPr sz="900" i="1" spc="-10" dirty="0">
                <a:latin typeface="Arial"/>
                <a:cs typeface="Arial"/>
              </a:rPr>
              <a:t>Figure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4.1:</a:t>
            </a:r>
            <a:r>
              <a:rPr sz="900" i="1" spc="105" dirty="0">
                <a:latin typeface="Arial"/>
                <a:cs typeface="Arial"/>
              </a:rPr>
              <a:t> </a:t>
            </a:r>
            <a:r>
              <a:rPr sz="900" i="1" spc="-30" dirty="0">
                <a:latin typeface="Arial"/>
                <a:cs typeface="Arial"/>
              </a:rPr>
              <a:t>Schematic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diagram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spc="-40" dirty="0">
                <a:latin typeface="Arial"/>
                <a:cs typeface="Arial"/>
              </a:rPr>
              <a:t>proposed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10T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1-</a:t>
            </a:r>
            <a:r>
              <a:rPr sz="900" i="1" spc="-25" dirty="0">
                <a:latin typeface="Arial"/>
                <a:cs typeface="Arial"/>
              </a:rPr>
              <a:t>bit </a:t>
            </a:r>
            <a:r>
              <a:rPr sz="900" i="1" dirty="0">
                <a:latin typeface="Arial"/>
                <a:cs typeface="Arial"/>
              </a:rPr>
              <a:t>GDI</a:t>
            </a:r>
            <a:r>
              <a:rPr sz="900" i="1" spc="-10" dirty="0">
                <a:latin typeface="Arial"/>
                <a:cs typeface="Arial"/>
              </a:rPr>
              <a:t> comparator.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28835" y="625868"/>
            <a:ext cx="108140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Logic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Tahoma"/>
                <a:cs typeface="Tahoma"/>
              </a:rPr>
              <a:t>Expressions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978035" y="654335"/>
            <a:ext cx="2465705" cy="1337310"/>
            <a:chOff x="2978035" y="654335"/>
            <a:chExt cx="2465705" cy="133731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8035" y="783132"/>
              <a:ext cx="2414539" cy="5060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028835" y="654335"/>
              <a:ext cx="2414905" cy="1337310"/>
            </a:xfrm>
            <a:custGeom>
              <a:avLst/>
              <a:gdLst/>
              <a:ahLst/>
              <a:cxnLst/>
              <a:rect l="l" t="t" r="r" b="b"/>
              <a:pathLst>
                <a:path w="2414904" h="1337310">
                  <a:moveTo>
                    <a:pt x="2414539" y="0"/>
                  </a:moveTo>
                  <a:lnTo>
                    <a:pt x="0" y="0"/>
                  </a:lnTo>
                  <a:lnTo>
                    <a:pt x="0" y="1336809"/>
                  </a:lnTo>
                  <a:lnTo>
                    <a:pt x="2414539" y="1336809"/>
                  </a:lnTo>
                  <a:lnTo>
                    <a:pt x="24145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78035" y="827397"/>
              <a:ext cx="2414905" cy="1113155"/>
            </a:xfrm>
            <a:custGeom>
              <a:avLst/>
              <a:gdLst/>
              <a:ahLst/>
              <a:cxnLst/>
              <a:rect l="l" t="t" r="r" b="b"/>
              <a:pathLst>
                <a:path w="2414904" h="1113155">
                  <a:moveTo>
                    <a:pt x="2414539" y="0"/>
                  </a:moveTo>
                  <a:lnTo>
                    <a:pt x="0" y="0"/>
                  </a:lnTo>
                  <a:lnTo>
                    <a:pt x="0" y="1062146"/>
                  </a:lnTo>
                  <a:lnTo>
                    <a:pt x="4008" y="1081871"/>
                  </a:lnTo>
                  <a:lnTo>
                    <a:pt x="14922" y="1098024"/>
                  </a:lnTo>
                  <a:lnTo>
                    <a:pt x="31075" y="1108938"/>
                  </a:lnTo>
                  <a:lnTo>
                    <a:pt x="50800" y="1112946"/>
                  </a:lnTo>
                  <a:lnTo>
                    <a:pt x="2363738" y="1112946"/>
                  </a:lnTo>
                  <a:lnTo>
                    <a:pt x="2383463" y="1108938"/>
                  </a:lnTo>
                  <a:lnTo>
                    <a:pt x="2399616" y="1098024"/>
                  </a:lnTo>
                  <a:lnTo>
                    <a:pt x="2410530" y="1081871"/>
                  </a:lnTo>
                  <a:lnTo>
                    <a:pt x="2414539" y="1062146"/>
                  </a:lnTo>
                  <a:lnTo>
                    <a:pt x="2414539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63454" y="1512481"/>
              <a:ext cx="1083310" cy="0"/>
            </a:xfrm>
            <a:custGeom>
              <a:avLst/>
              <a:gdLst/>
              <a:ahLst/>
              <a:cxnLst/>
              <a:rect l="l" t="t" r="r" b="b"/>
              <a:pathLst>
                <a:path w="1083310">
                  <a:moveTo>
                    <a:pt x="0" y="0"/>
                  </a:moveTo>
                  <a:lnTo>
                    <a:pt x="108328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952635" y="801362"/>
            <a:ext cx="1998345" cy="862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 algn="just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Arial MT"/>
                <a:cs typeface="Arial MT"/>
              </a:rPr>
              <a:t>For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1-bit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input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inputs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i="1" spc="165" dirty="0">
                <a:latin typeface="Calibri"/>
                <a:cs typeface="Calibri"/>
              </a:rPr>
              <a:t>A</a:t>
            </a:r>
            <a:r>
              <a:rPr sz="1000" i="1" spc="60" dirty="0">
                <a:latin typeface="Calibri"/>
                <a:cs typeface="Calibri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i="1" spc="90" dirty="0">
                <a:latin typeface="Calibri"/>
                <a:cs typeface="Calibri"/>
              </a:rPr>
              <a:t>B</a:t>
            </a:r>
            <a:r>
              <a:rPr sz="1000" spc="90" dirty="0">
                <a:latin typeface="Arial MT"/>
                <a:cs typeface="Arial MT"/>
              </a:rPr>
              <a:t>:</a:t>
            </a:r>
            <a:endParaRPr sz="1000">
              <a:latin typeface="Arial MT"/>
              <a:cs typeface="Arial MT"/>
            </a:endParaRPr>
          </a:p>
          <a:p>
            <a:pPr marL="75565" marR="68580" algn="just">
              <a:lnSpc>
                <a:spcPct val="133300"/>
              </a:lnSpc>
              <a:spcBef>
                <a:spcPts val="590"/>
              </a:spcBef>
            </a:pPr>
            <a:r>
              <a:rPr sz="1000" i="1" spc="165" dirty="0">
                <a:latin typeface="Calibri"/>
                <a:cs typeface="Calibri"/>
              </a:rPr>
              <a:t>A</a:t>
            </a:r>
            <a:r>
              <a:rPr sz="1000" i="1" spc="50" dirty="0">
                <a:latin typeface="Calibri"/>
                <a:cs typeface="Calibri"/>
              </a:rPr>
              <a:t> </a:t>
            </a:r>
            <a:r>
              <a:rPr sz="1000" i="1" spc="270" dirty="0">
                <a:latin typeface="Calibri"/>
                <a:cs typeface="Calibri"/>
              </a:rPr>
              <a:t>&lt;</a:t>
            </a:r>
            <a:r>
              <a:rPr sz="1000" i="1" spc="50" dirty="0">
                <a:latin typeface="Calibri"/>
                <a:cs typeface="Calibri"/>
              </a:rPr>
              <a:t> </a:t>
            </a:r>
            <a:r>
              <a:rPr sz="1000" i="1" spc="200" dirty="0">
                <a:latin typeface="Calibri"/>
                <a:cs typeface="Calibri"/>
              </a:rPr>
              <a:t>B</a:t>
            </a:r>
            <a:r>
              <a:rPr sz="1000" i="1" spc="100" dirty="0">
                <a:latin typeface="Calibri"/>
                <a:cs typeface="Calibri"/>
              </a:rPr>
              <a:t> </a:t>
            </a:r>
            <a:r>
              <a:rPr sz="1000" spc="270" dirty="0">
                <a:latin typeface="Calibri"/>
                <a:cs typeface="Calibri"/>
              </a:rPr>
              <a:t>=</a:t>
            </a:r>
            <a:r>
              <a:rPr sz="1000" spc="50" dirty="0">
                <a:latin typeface="Calibri"/>
                <a:cs typeface="Calibri"/>
              </a:rPr>
              <a:t> </a:t>
            </a:r>
            <a:r>
              <a:rPr sz="1000" i="1" spc="-114" dirty="0">
                <a:latin typeface="Calibri"/>
                <a:cs typeface="Calibri"/>
              </a:rPr>
              <a:t>A</a:t>
            </a:r>
            <a:r>
              <a:rPr sz="1500" spc="-172" baseline="13888" dirty="0">
                <a:latin typeface="Calibri"/>
                <a:cs typeface="Calibri"/>
              </a:rPr>
              <a:t>¯</a:t>
            </a:r>
            <a:r>
              <a:rPr sz="1500" spc="-30" baseline="13888" dirty="0">
                <a:latin typeface="Calibri"/>
                <a:cs typeface="Calibri"/>
              </a:rPr>
              <a:t> </a:t>
            </a: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i="1" spc="200" dirty="0">
                <a:latin typeface="Calibri"/>
                <a:cs typeface="Calibri"/>
              </a:rPr>
              <a:t>B</a:t>
            </a:r>
            <a:r>
              <a:rPr sz="1000" i="1" spc="815" dirty="0">
                <a:latin typeface="Calibri"/>
                <a:cs typeface="Calibri"/>
              </a:rPr>
              <a:t> </a:t>
            </a:r>
            <a:r>
              <a:rPr sz="1000" spc="-25" dirty="0">
                <a:latin typeface="Arial MT"/>
                <a:cs typeface="Arial MT"/>
              </a:rPr>
              <a:t>(GDI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Cell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1:</a:t>
            </a:r>
            <a:r>
              <a:rPr sz="1000" spc="160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2T)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i="1" spc="165" dirty="0">
                <a:latin typeface="Calibri"/>
                <a:cs typeface="Calibri"/>
              </a:rPr>
              <a:t>A</a:t>
            </a:r>
            <a:r>
              <a:rPr sz="1000" i="1" spc="50" dirty="0">
                <a:latin typeface="Calibri"/>
                <a:cs typeface="Calibri"/>
              </a:rPr>
              <a:t> </a:t>
            </a:r>
            <a:r>
              <a:rPr sz="1000" i="1" spc="270" dirty="0">
                <a:latin typeface="Calibri"/>
                <a:cs typeface="Calibri"/>
              </a:rPr>
              <a:t>&gt;</a:t>
            </a:r>
            <a:r>
              <a:rPr sz="1000" i="1" spc="50" dirty="0">
                <a:latin typeface="Calibri"/>
                <a:cs typeface="Calibri"/>
              </a:rPr>
              <a:t> </a:t>
            </a:r>
            <a:r>
              <a:rPr sz="1000" i="1" spc="200" dirty="0">
                <a:latin typeface="Calibri"/>
                <a:cs typeface="Calibri"/>
              </a:rPr>
              <a:t>B</a:t>
            </a:r>
            <a:r>
              <a:rPr sz="1000" i="1" spc="100" dirty="0">
                <a:latin typeface="Calibri"/>
                <a:cs typeface="Calibri"/>
              </a:rPr>
              <a:t> </a:t>
            </a:r>
            <a:r>
              <a:rPr sz="1000" spc="270" dirty="0">
                <a:latin typeface="Calibri"/>
                <a:cs typeface="Calibri"/>
              </a:rPr>
              <a:t>=</a:t>
            </a:r>
            <a:r>
              <a:rPr sz="1000" spc="50" dirty="0">
                <a:latin typeface="Calibri"/>
                <a:cs typeface="Calibri"/>
              </a:rPr>
              <a:t> </a:t>
            </a:r>
            <a:r>
              <a:rPr sz="1000" i="1" spc="165" dirty="0">
                <a:latin typeface="Calibri"/>
                <a:cs typeface="Calibri"/>
              </a:rPr>
              <a:t>A</a:t>
            </a:r>
            <a:r>
              <a:rPr sz="1000" i="1" spc="-5" dirty="0">
                <a:latin typeface="Calibri"/>
                <a:cs typeface="Calibri"/>
              </a:rPr>
              <a:t> </a:t>
            </a: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i="1" spc="-114" dirty="0">
                <a:latin typeface="Calibri"/>
                <a:cs typeface="Calibri"/>
              </a:rPr>
              <a:t>B</a:t>
            </a:r>
            <a:r>
              <a:rPr sz="1500" spc="-172" baseline="13888" dirty="0">
                <a:latin typeface="Calibri"/>
                <a:cs typeface="Calibri"/>
              </a:rPr>
              <a:t>¯</a:t>
            </a:r>
            <a:r>
              <a:rPr sz="1500" spc="1252" baseline="13888" dirty="0">
                <a:latin typeface="Calibri"/>
                <a:cs typeface="Calibri"/>
              </a:rPr>
              <a:t> </a:t>
            </a:r>
            <a:r>
              <a:rPr sz="1000" spc="-25" dirty="0">
                <a:latin typeface="Arial MT"/>
                <a:cs typeface="Arial MT"/>
              </a:rPr>
              <a:t>(GDI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Cell</a:t>
            </a:r>
            <a:r>
              <a:rPr sz="1000" spc="5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2:</a:t>
            </a:r>
            <a:r>
              <a:rPr sz="1000" spc="160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2T)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i="1" spc="165" dirty="0">
                <a:latin typeface="Calibri"/>
                <a:cs typeface="Calibri"/>
              </a:rPr>
              <a:t>A</a:t>
            </a:r>
            <a:r>
              <a:rPr sz="1000" i="1" spc="50" dirty="0">
                <a:latin typeface="Calibri"/>
                <a:cs typeface="Calibri"/>
              </a:rPr>
              <a:t> </a:t>
            </a:r>
            <a:r>
              <a:rPr sz="1000" spc="270" dirty="0">
                <a:latin typeface="Calibri"/>
                <a:cs typeface="Calibri"/>
              </a:rPr>
              <a:t>=</a:t>
            </a:r>
            <a:r>
              <a:rPr sz="1000" spc="50" dirty="0">
                <a:latin typeface="Calibri"/>
                <a:cs typeface="Calibri"/>
              </a:rPr>
              <a:t> </a:t>
            </a:r>
            <a:r>
              <a:rPr sz="1000" i="1" spc="200" dirty="0">
                <a:latin typeface="Calibri"/>
                <a:cs typeface="Calibri"/>
              </a:rPr>
              <a:t>B</a:t>
            </a:r>
            <a:r>
              <a:rPr sz="1000" i="1" spc="100" dirty="0">
                <a:latin typeface="Calibri"/>
                <a:cs typeface="Calibri"/>
              </a:rPr>
              <a:t> </a:t>
            </a:r>
            <a:r>
              <a:rPr sz="1000" spc="270" dirty="0">
                <a:latin typeface="Calibri"/>
                <a:cs typeface="Calibri"/>
              </a:rPr>
              <a:t>=</a:t>
            </a:r>
            <a:r>
              <a:rPr sz="1000" spc="50" dirty="0">
                <a:latin typeface="Calibri"/>
                <a:cs typeface="Calibri"/>
              </a:rPr>
              <a:t> </a:t>
            </a:r>
            <a:r>
              <a:rPr sz="1000" spc="125" dirty="0">
                <a:latin typeface="Calibri"/>
                <a:cs typeface="Calibri"/>
              </a:rPr>
              <a:t>(</a:t>
            </a:r>
            <a:r>
              <a:rPr sz="1000" i="1" spc="125" dirty="0">
                <a:latin typeface="Calibri"/>
                <a:cs typeface="Calibri"/>
              </a:rPr>
              <a:t>A</a:t>
            </a:r>
            <a:r>
              <a:rPr sz="1000" i="1" spc="50" dirty="0">
                <a:latin typeface="Calibri"/>
                <a:cs typeface="Calibri"/>
              </a:rPr>
              <a:t> </a:t>
            </a:r>
            <a:r>
              <a:rPr sz="1000" i="1" spc="270" dirty="0">
                <a:latin typeface="Calibri"/>
                <a:cs typeface="Calibri"/>
              </a:rPr>
              <a:t>&lt;</a:t>
            </a:r>
            <a:r>
              <a:rPr sz="1000" i="1" spc="50" dirty="0">
                <a:latin typeface="Calibri"/>
                <a:cs typeface="Calibri"/>
              </a:rPr>
              <a:t> </a:t>
            </a:r>
            <a:r>
              <a:rPr sz="1000" i="1" spc="165" dirty="0">
                <a:latin typeface="Calibri"/>
                <a:cs typeface="Calibri"/>
              </a:rPr>
              <a:t>B</a:t>
            </a:r>
            <a:r>
              <a:rPr sz="1000" spc="165" dirty="0">
                <a:latin typeface="Calibri"/>
                <a:cs typeface="Calibri"/>
              </a:rPr>
              <a:t>)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270" dirty="0">
                <a:latin typeface="Calibri"/>
                <a:cs typeface="Calibri"/>
              </a:rPr>
              <a:t>+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125" dirty="0">
                <a:latin typeface="Calibri"/>
                <a:cs typeface="Calibri"/>
              </a:rPr>
              <a:t>(</a:t>
            </a:r>
            <a:r>
              <a:rPr sz="1000" i="1" spc="125" dirty="0">
                <a:latin typeface="Calibri"/>
                <a:cs typeface="Calibri"/>
              </a:rPr>
              <a:t>A</a:t>
            </a:r>
            <a:r>
              <a:rPr sz="1000" i="1" spc="50" dirty="0">
                <a:latin typeface="Calibri"/>
                <a:cs typeface="Calibri"/>
              </a:rPr>
              <a:t> </a:t>
            </a:r>
            <a:r>
              <a:rPr sz="1000" i="1" spc="270" dirty="0">
                <a:latin typeface="Calibri"/>
                <a:cs typeface="Calibri"/>
              </a:rPr>
              <a:t>&gt;</a:t>
            </a:r>
            <a:r>
              <a:rPr sz="1000" i="1" spc="50" dirty="0">
                <a:latin typeface="Calibri"/>
                <a:cs typeface="Calibri"/>
              </a:rPr>
              <a:t> </a:t>
            </a:r>
            <a:r>
              <a:rPr sz="1000" i="1" spc="165" dirty="0">
                <a:latin typeface="Calibri"/>
                <a:cs typeface="Calibri"/>
              </a:rPr>
              <a:t>B</a:t>
            </a:r>
            <a:r>
              <a:rPr sz="1000" spc="165" dirty="0">
                <a:latin typeface="Calibri"/>
                <a:cs typeface="Calibri"/>
              </a:rPr>
              <a:t>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563454" y="1728838"/>
            <a:ext cx="549275" cy="0"/>
          </a:xfrm>
          <a:custGeom>
            <a:avLst/>
            <a:gdLst/>
            <a:ahLst/>
            <a:cxnLst/>
            <a:rect l="l" t="t" r="r" b="b"/>
            <a:pathLst>
              <a:path w="549275">
                <a:moveTo>
                  <a:pt x="0" y="0"/>
                </a:moveTo>
                <a:lnTo>
                  <a:pt x="54907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391801" y="1711152"/>
            <a:ext cx="12731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270" dirty="0">
                <a:latin typeface="Calibri"/>
                <a:cs typeface="Calibri"/>
              </a:rPr>
              <a:t>=</a:t>
            </a:r>
            <a:r>
              <a:rPr sz="1000" spc="2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A</a:t>
            </a:r>
            <a:r>
              <a:rPr sz="1500" baseline="13888" dirty="0">
                <a:latin typeface="Calibri"/>
                <a:cs typeface="Calibri"/>
              </a:rPr>
              <a:t>¯</a:t>
            </a:r>
            <a:r>
              <a:rPr sz="1000" i="1" dirty="0">
                <a:latin typeface="Calibri"/>
                <a:cs typeface="Calibri"/>
              </a:rPr>
              <a:t>B</a:t>
            </a:r>
            <a:r>
              <a:rPr sz="1000" i="1" spc="35" dirty="0">
                <a:latin typeface="Calibri"/>
                <a:cs typeface="Calibri"/>
              </a:rPr>
              <a:t> </a:t>
            </a:r>
            <a:r>
              <a:rPr sz="1000" spc="270" dirty="0">
                <a:latin typeface="Calibri"/>
                <a:cs typeface="Calibri"/>
              </a:rPr>
              <a:t>+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AB</a:t>
            </a:r>
            <a:r>
              <a:rPr sz="1500" baseline="13888" dirty="0">
                <a:latin typeface="Calibri"/>
                <a:cs typeface="Calibri"/>
              </a:rPr>
              <a:t>¯</a:t>
            </a:r>
            <a:r>
              <a:rPr sz="1500" spc="150" baseline="13888" dirty="0">
                <a:latin typeface="Calibri"/>
                <a:cs typeface="Calibri"/>
              </a:rPr>
              <a:t> </a:t>
            </a:r>
            <a:r>
              <a:rPr sz="1000" spc="270" dirty="0">
                <a:latin typeface="Calibri"/>
                <a:cs typeface="Calibri"/>
              </a:rPr>
              <a:t>=</a:t>
            </a:r>
            <a:r>
              <a:rPr sz="1000" spc="40" dirty="0">
                <a:latin typeface="Calibri"/>
                <a:cs typeface="Calibri"/>
              </a:rPr>
              <a:t> </a:t>
            </a:r>
            <a:r>
              <a:rPr sz="1000" i="1" spc="165" dirty="0">
                <a:latin typeface="Calibri"/>
                <a:cs typeface="Calibri"/>
              </a:rPr>
              <a:t>A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⊙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i="1" spc="150" dirty="0">
                <a:latin typeface="Calibri"/>
                <a:cs typeface="Calibri"/>
              </a:rPr>
              <a:t>B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23242" y="3138668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latin typeface="Tahoma"/>
                <a:cs typeface="Tahoma"/>
              </a:rPr>
              <a:t>7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75" dirty="0">
                <a:latin typeface="Tahoma"/>
                <a:cs typeface="Tahoma"/>
              </a:rPr>
              <a:t>/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-25" dirty="0">
                <a:latin typeface="Tahoma"/>
                <a:cs typeface="Tahoma"/>
              </a:rPr>
              <a:t>12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46859" y="1711152"/>
            <a:ext cx="103314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(NOR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220" dirty="0">
                <a:latin typeface="Arial MT"/>
                <a:cs typeface="Arial MT"/>
              </a:rPr>
              <a:t>/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XNOR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sta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4.</a:t>
            </a:r>
            <a:r>
              <a:rPr spc="90" dirty="0"/>
              <a:t> </a:t>
            </a:r>
            <a:r>
              <a:rPr spc="-30" dirty="0"/>
              <a:t>Proposed</a:t>
            </a:r>
            <a:r>
              <a:rPr spc="-40" dirty="0"/>
              <a:t> </a:t>
            </a:r>
            <a:r>
              <a:rPr spc="-70" dirty="0"/>
              <a:t>10-</a:t>
            </a:r>
            <a:r>
              <a:rPr spc="-35" dirty="0"/>
              <a:t>Transistor </a:t>
            </a:r>
            <a:r>
              <a:rPr dirty="0"/>
              <a:t>GDI</a:t>
            </a:r>
            <a:r>
              <a:rPr spc="-40" dirty="0"/>
              <a:t> </a:t>
            </a:r>
            <a:r>
              <a:rPr spc="-20" dirty="0"/>
              <a:t>Magnitude</a:t>
            </a:r>
            <a:r>
              <a:rPr spc="-40" dirty="0"/>
              <a:t> Comparator </a:t>
            </a:r>
            <a:r>
              <a:rPr spc="-10" dirty="0"/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038" y="508798"/>
            <a:ext cx="5368925" cy="2106295"/>
            <a:chOff x="24038" y="508798"/>
            <a:chExt cx="5368925" cy="21062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38" y="508798"/>
              <a:ext cx="2995141" cy="210573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78035" y="597420"/>
              <a:ext cx="2414905" cy="198755"/>
            </a:xfrm>
            <a:custGeom>
              <a:avLst/>
              <a:gdLst/>
              <a:ahLst/>
              <a:cxnLst/>
              <a:rect l="l" t="t" r="r" b="b"/>
              <a:pathLst>
                <a:path w="2414904" h="198754">
                  <a:moveTo>
                    <a:pt x="2363738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2414539" y="198367"/>
                  </a:lnTo>
                  <a:lnTo>
                    <a:pt x="2414539" y="50800"/>
                  </a:lnTo>
                  <a:lnTo>
                    <a:pt x="2410530" y="31075"/>
                  </a:lnTo>
                  <a:lnTo>
                    <a:pt x="2399616" y="14922"/>
                  </a:lnTo>
                  <a:lnTo>
                    <a:pt x="2383463" y="4008"/>
                  </a:lnTo>
                  <a:lnTo>
                    <a:pt x="2363738" y="0"/>
                  </a:lnTo>
                  <a:close/>
                </a:path>
              </a:pathLst>
            </a:custGeom>
            <a:solidFill>
              <a:srgbClr val="002B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3840" y="2711152"/>
            <a:ext cx="2840990" cy="3016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011555" marR="5080" indent="-999490">
              <a:lnSpc>
                <a:spcPct val="101499"/>
              </a:lnSpc>
              <a:spcBef>
                <a:spcPts val="80"/>
              </a:spcBef>
            </a:pPr>
            <a:r>
              <a:rPr sz="900" i="1" spc="-10" dirty="0">
                <a:latin typeface="Arial"/>
                <a:cs typeface="Arial"/>
              </a:rPr>
              <a:t>Figure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4.1:</a:t>
            </a:r>
            <a:r>
              <a:rPr sz="900" i="1" spc="105" dirty="0">
                <a:latin typeface="Arial"/>
                <a:cs typeface="Arial"/>
              </a:rPr>
              <a:t> </a:t>
            </a:r>
            <a:r>
              <a:rPr sz="900" i="1" spc="-30" dirty="0">
                <a:latin typeface="Arial"/>
                <a:cs typeface="Arial"/>
              </a:rPr>
              <a:t>Schematic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diagram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spc="-40" dirty="0">
                <a:latin typeface="Arial"/>
                <a:cs typeface="Arial"/>
              </a:rPr>
              <a:t>proposed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10T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1-</a:t>
            </a:r>
            <a:r>
              <a:rPr sz="900" i="1" spc="-25" dirty="0">
                <a:latin typeface="Arial"/>
                <a:cs typeface="Arial"/>
              </a:rPr>
              <a:t>bit </a:t>
            </a:r>
            <a:r>
              <a:rPr sz="900" i="1" dirty="0">
                <a:latin typeface="Arial"/>
                <a:cs typeface="Arial"/>
              </a:rPr>
              <a:t>GDI</a:t>
            </a:r>
            <a:r>
              <a:rPr sz="900" i="1" spc="-10" dirty="0">
                <a:latin typeface="Arial"/>
                <a:cs typeface="Arial"/>
              </a:rPr>
              <a:t> comparator.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28835" y="625868"/>
            <a:ext cx="108140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Logic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Tahoma"/>
                <a:cs typeface="Tahoma"/>
              </a:rPr>
              <a:t>Expressions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978035" y="654335"/>
            <a:ext cx="2465705" cy="1337310"/>
            <a:chOff x="2978035" y="654335"/>
            <a:chExt cx="2465705" cy="133731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8035" y="783132"/>
              <a:ext cx="2414539" cy="5060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028835" y="654335"/>
              <a:ext cx="2414905" cy="1337310"/>
            </a:xfrm>
            <a:custGeom>
              <a:avLst/>
              <a:gdLst/>
              <a:ahLst/>
              <a:cxnLst/>
              <a:rect l="l" t="t" r="r" b="b"/>
              <a:pathLst>
                <a:path w="2414904" h="1337310">
                  <a:moveTo>
                    <a:pt x="2414539" y="0"/>
                  </a:moveTo>
                  <a:lnTo>
                    <a:pt x="0" y="0"/>
                  </a:lnTo>
                  <a:lnTo>
                    <a:pt x="0" y="1336809"/>
                  </a:lnTo>
                  <a:lnTo>
                    <a:pt x="2414539" y="1336809"/>
                  </a:lnTo>
                  <a:lnTo>
                    <a:pt x="24145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78035" y="827397"/>
              <a:ext cx="2414905" cy="1113155"/>
            </a:xfrm>
            <a:custGeom>
              <a:avLst/>
              <a:gdLst/>
              <a:ahLst/>
              <a:cxnLst/>
              <a:rect l="l" t="t" r="r" b="b"/>
              <a:pathLst>
                <a:path w="2414904" h="1113155">
                  <a:moveTo>
                    <a:pt x="2414539" y="0"/>
                  </a:moveTo>
                  <a:lnTo>
                    <a:pt x="0" y="0"/>
                  </a:lnTo>
                  <a:lnTo>
                    <a:pt x="0" y="1062146"/>
                  </a:lnTo>
                  <a:lnTo>
                    <a:pt x="4008" y="1081871"/>
                  </a:lnTo>
                  <a:lnTo>
                    <a:pt x="14922" y="1098024"/>
                  </a:lnTo>
                  <a:lnTo>
                    <a:pt x="31075" y="1108938"/>
                  </a:lnTo>
                  <a:lnTo>
                    <a:pt x="50800" y="1112946"/>
                  </a:lnTo>
                  <a:lnTo>
                    <a:pt x="2363738" y="1112946"/>
                  </a:lnTo>
                  <a:lnTo>
                    <a:pt x="2383463" y="1108938"/>
                  </a:lnTo>
                  <a:lnTo>
                    <a:pt x="2399616" y="1098024"/>
                  </a:lnTo>
                  <a:lnTo>
                    <a:pt x="2410530" y="1081871"/>
                  </a:lnTo>
                  <a:lnTo>
                    <a:pt x="2414539" y="1062146"/>
                  </a:lnTo>
                  <a:lnTo>
                    <a:pt x="2414539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63454" y="1512481"/>
              <a:ext cx="1083310" cy="0"/>
            </a:xfrm>
            <a:custGeom>
              <a:avLst/>
              <a:gdLst/>
              <a:ahLst/>
              <a:cxnLst/>
              <a:rect l="l" t="t" r="r" b="b"/>
              <a:pathLst>
                <a:path w="1083310">
                  <a:moveTo>
                    <a:pt x="0" y="0"/>
                  </a:moveTo>
                  <a:lnTo>
                    <a:pt x="108328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952635" y="801362"/>
            <a:ext cx="1998345" cy="862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 algn="just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Arial MT"/>
                <a:cs typeface="Arial MT"/>
              </a:rPr>
              <a:t>For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1-bit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input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inputs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i="1" spc="165" dirty="0">
                <a:latin typeface="Calibri"/>
                <a:cs typeface="Calibri"/>
              </a:rPr>
              <a:t>A</a:t>
            </a:r>
            <a:r>
              <a:rPr sz="1000" i="1" spc="60" dirty="0">
                <a:latin typeface="Calibri"/>
                <a:cs typeface="Calibri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i="1" spc="90" dirty="0">
                <a:latin typeface="Calibri"/>
                <a:cs typeface="Calibri"/>
              </a:rPr>
              <a:t>B</a:t>
            </a:r>
            <a:r>
              <a:rPr sz="1000" spc="90" dirty="0">
                <a:latin typeface="Arial MT"/>
                <a:cs typeface="Arial MT"/>
              </a:rPr>
              <a:t>:</a:t>
            </a:r>
            <a:endParaRPr sz="1000">
              <a:latin typeface="Arial MT"/>
              <a:cs typeface="Arial MT"/>
            </a:endParaRPr>
          </a:p>
          <a:p>
            <a:pPr marL="75565" marR="68580" algn="just">
              <a:lnSpc>
                <a:spcPct val="133300"/>
              </a:lnSpc>
              <a:spcBef>
                <a:spcPts val="590"/>
              </a:spcBef>
            </a:pPr>
            <a:r>
              <a:rPr sz="1000" i="1" spc="165" dirty="0">
                <a:latin typeface="Calibri"/>
                <a:cs typeface="Calibri"/>
              </a:rPr>
              <a:t>A</a:t>
            </a:r>
            <a:r>
              <a:rPr sz="1000" i="1" spc="50" dirty="0">
                <a:latin typeface="Calibri"/>
                <a:cs typeface="Calibri"/>
              </a:rPr>
              <a:t> </a:t>
            </a:r>
            <a:r>
              <a:rPr sz="1000" i="1" spc="270" dirty="0">
                <a:latin typeface="Calibri"/>
                <a:cs typeface="Calibri"/>
              </a:rPr>
              <a:t>&lt;</a:t>
            </a:r>
            <a:r>
              <a:rPr sz="1000" i="1" spc="50" dirty="0">
                <a:latin typeface="Calibri"/>
                <a:cs typeface="Calibri"/>
              </a:rPr>
              <a:t> </a:t>
            </a:r>
            <a:r>
              <a:rPr sz="1000" i="1" spc="200" dirty="0">
                <a:latin typeface="Calibri"/>
                <a:cs typeface="Calibri"/>
              </a:rPr>
              <a:t>B</a:t>
            </a:r>
            <a:r>
              <a:rPr sz="1000" i="1" spc="100" dirty="0">
                <a:latin typeface="Calibri"/>
                <a:cs typeface="Calibri"/>
              </a:rPr>
              <a:t> </a:t>
            </a:r>
            <a:r>
              <a:rPr sz="1000" spc="270" dirty="0">
                <a:latin typeface="Calibri"/>
                <a:cs typeface="Calibri"/>
              </a:rPr>
              <a:t>=</a:t>
            </a:r>
            <a:r>
              <a:rPr sz="1000" spc="50" dirty="0">
                <a:latin typeface="Calibri"/>
                <a:cs typeface="Calibri"/>
              </a:rPr>
              <a:t> </a:t>
            </a:r>
            <a:r>
              <a:rPr sz="1000" i="1" spc="-114" dirty="0">
                <a:latin typeface="Calibri"/>
                <a:cs typeface="Calibri"/>
              </a:rPr>
              <a:t>A</a:t>
            </a:r>
            <a:r>
              <a:rPr sz="1500" spc="-172" baseline="13888" dirty="0">
                <a:latin typeface="Calibri"/>
                <a:cs typeface="Calibri"/>
              </a:rPr>
              <a:t>¯</a:t>
            </a:r>
            <a:r>
              <a:rPr sz="1500" spc="-30" baseline="13888" dirty="0">
                <a:latin typeface="Calibri"/>
                <a:cs typeface="Calibri"/>
              </a:rPr>
              <a:t> </a:t>
            </a: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i="1" spc="200" dirty="0">
                <a:latin typeface="Calibri"/>
                <a:cs typeface="Calibri"/>
              </a:rPr>
              <a:t>B</a:t>
            </a:r>
            <a:r>
              <a:rPr sz="1000" i="1" spc="815" dirty="0">
                <a:latin typeface="Calibri"/>
                <a:cs typeface="Calibri"/>
              </a:rPr>
              <a:t> </a:t>
            </a:r>
            <a:r>
              <a:rPr sz="1000" spc="-25" dirty="0">
                <a:latin typeface="Arial MT"/>
                <a:cs typeface="Arial MT"/>
              </a:rPr>
              <a:t>(GDI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Cell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1:</a:t>
            </a:r>
            <a:r>
              <a:rPr sz="1000" spc="160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2T)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i="1" spc="165" dirty="0">
                <a:latin typeface="Calibri"/>
                <a:cs typeface="Calibri"/>
              </a:rPr>
              <a:t>A</a:t>
            </a:r>
            <a:r>
              <a:rPr sz="1000" i="1" spc="50" dirty="0">
                <a:latin typeface="Calibri"/>
                <a:cs typeface="Calibri"/>
              </a:rPr>
              <a:t> </a:t>
            </a:r>
            <a:r>
              <a:rPr sz="1000" i="1" spc="270" dirty="0">
                <a:latin typeface="Calibri"/>
                <a:cs typeface="Calibri"/>
              </a:rPr>
              <a:t>&gt;</a:t>
            </a:r>
            <a:r>
              <a:rPr sz="1000" i="1" spc="50" dirty="0">
                <a:latin typeface="Calibri"/>
                <a:cs typeface="Calibri"/>
              </a:rPr>
              <a:t> </a:t>
            </a:r>
            <a:r>
              <a:rPr sz="1000" i="1" spc="200" dirty="0">
                <a:latin typeface="Calibri"/>
                <a:cs typeface="Calibri"/>
              </a:rPr>
              <a:t>B</a:t>
            </a:r>
            <a:r>
              <a:rPr sz="1000" i="1" spc="100" dirty="0">
                <a:latin typeface="Calibri"/>
                <a:cs typeface="Calibri"/>
              </a:rPr>
              <a:t> </a:t>
            </a:r>
            <a:r>
              <a:rPr sz="1000" spc="270" dirty="0">
                <a:latin typeface="Calibri"/>
                <a:cs typeface="Calibri"/>
              </a:rPr>
              <a:t>=</a:t>
            </a:r>
            <a:r>
              <a:rPr sz="1000" spc="50" dirty="0">
                <a:latin typeface="Calibri"/>
                <a:cs typeface="Calibri"/>
              </a:rPr>
              <a:t> </a:t>
            </a:r>
            <a:r>
              <a:rPr sz="1000" i="1" spc="165" dirty="0">
                <a:latin typeface="Calibri"/>
                <a:cs typeface="Calibri"/>
              </a:rPr>
              <a:t>A</a:t>
            </a:r>
            <a:r>
              <a:rPr sz="1000" i="1" spc="-5" dirty="0">
                <a:latin typeface="Calibri"/>
                <a:cs typeface="Calibri"/>
              </a:rPr>
              <a:t> </a:t>
            </a: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i="1" spc="-114" dirty="0">
                <a:latin typeface="Calibri"/>
                <a:cs typeface="Calibri"/>
              </a:rPr>
              <a:t>B</a:t>
            </a:r>
            <a:r>
              <a:rPr sz="1500" spc="-172" baseline="13888" dirty="0">
                <a:latin typeface="Calibri"/>
                <a:cs typeface="Calibri"/>
              </a:rPr>
              <a:t>¯</a:t>
            </a:r>
            <a:r>
              <a:rPr sz="1500" spc="1252" baseline="13888" dirty="0">
                <a:latin typeface="Calibri"/>
                <a:cs typeface="Calibri"/>
              </a:rPr>
              <a:t> </a:t>
            </a:r>
            <a:r>
              <a:rPr sz="1000" spc="-25" dirty="0">
                <a:latin typeface="Arial MT"/>
                <a:cs typeface="Arial MT"/>
              </a:rPr>
              <a:t>(GDI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Cell</a:t>
            </a:r>
            <a:r>
              <a:rPr sz="1000" spc="5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2:</a:t>
            </a:r>
            <a:r>
              <a:rPr sz="1000" spc="160" dirty="0">
                <a:latin typeface="Arial MT"/>
                <a:cs typeface="Arial MT"/>
              </a:rPr>
              <a:t> </a:t>
            </a:r>
            <a:r>
              <a:rPr sz="1000" spc="20" dirty="0">
                <a:latin typeface="Arial MT"/>
                <a:cs typeface="Arial MT"/>
              </a:rPr>
              <a:t>2T)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i="1" spc="165" dirty="0">
                <a:latin typeface="Calibri"/>
                <a:cs typeface="Calibri"/>
              </a:rPr>
              <a:t>A</a:t>
            </a:r>
            <a:r>
              <a:rPr sz="1000" i="1" spc="50" dirty="0">
                <a:latin typeface="Calibri"/>
                <a:cs typeface="Calibri"/>
              </a:rPr>
              <a:t> </a:t>
            </a:r>
            <a:r>
              <a:rPr sz="1000" spc="270" dirty="0">
                <a:latin typeface="Calibri"/>
                <a:cs typeface="Calibri"/>
              </a:rPr>
              <a:t>=</a:t>
            </a:r>
            <a:r>
              <a:rPr sz="1000" spc="50" dirty="0">
                <a:latin typeface="Calibri"/>
                <a:cs typeface="Calibri"/>
              </a:rPr>
              <a:t> </a:t>
            </a:r>
            <a:r>
              <a:rPr sz="1000" i="1" spc="200" dirty="0">
                <a:latin typeface="Calibri"/>
                <a:cs typeface="Calibri"/>
              </a:rPr>
              <a:t>B</a:t>
            </a:r>
            <a:r>
              <a:rPr sz="1000" i="1" spc="100" dirty="0">
                <a:latin typeface="Calibri"/>
                <a:cs typeface="Calibri"/>
              </a:rPr>
              <a:t> </a:t>
            </a:r>
            <a:r>
              <a:rPr sz="1000" spc="270" dirty="0">
                <a:latin typeface="Calibri"/>
                <a:cs typeface="Calibri"/>
              </a:rPr>
              <a:t>=</a:t>
            </a:r>
            <a:r>
              <a:rPr sz="1000" spc="50" dirty="0">
                <a:latin typeface="Calibri"/>
                <a:cs typeface="Calibri"/>
              </a:rPr>
              <a:t> </a:t>
            </a:r>
            <a:r>
              <a:rPr sz="1000" spc="125" dirty="0">
                <a:latin typeface="Calibri"/>
                <a:cs typeface="Calibri"/>
              </a:rPr>
              <a:t>(</a:t>
            </a:r>
            <a:r>
              <a:rPr sz="1000" i="1" spc="125" dirty="0">
                <a:latin typeface="Calibri"/>
                <a:cs typeface="Calibri"/>
              </a:rPr>
              <a:t>A</a:t>
            </a:r>
            <a:r>
              <a:rPr sz="1000" i="1" spc="50" dirty="0">
                <a:latin typeface="Calibri"/>
                <a:cs typeface="Calibri"/>
              </a:rPr>
              <a:t> </a:t>
            </a:r>
            <a:r>
              <a:rPr sz="1000" i="1" spc="270" dirty="0">
                <a:latin typeface="Calibri"/>
                <a:cs typeface="Calibri"/>
              </a:rPr>
              <a:t>&lt;</a:t>
            </a:r>
            <a:r>
              <a:rPr sz="1000" i="1" spc="50" dirty="0">
                <a:latin typeface="Calibri"/>
                <a:cs typeface="Calibri"/>
              </a:rPr>
              <a:t> </a:t>
            </a:r>
            <a:r>
              <a:rPr sz="1000" i="1" spc="165" dirty="0">
                <a:latin typeface="Calibri"/>
                <a:cs typeface="Calibri"/>
              </a:rPr>
              <a:t>B</a:t>
            </a:r>
            <a:r>
              <a:rPr sz="1000" spc="165" dirty="0">
                <a:latin typeface="Calibri"/>
                <a:cs typeface="Calibri"/>
              </a:rPr>
              <a:t>)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270" dirty="0">
                <a:latin typeface="Calibri"/>
                <a:cs typeface="Calibri"/>
              </a:rPr>
              <a:t>+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125" dirty="0">
                <a:latin typeface="Calibri"/>
                <a:cs typeface="Calibri"/>
              </a:rPr>
              <a:t>(</a:t>
            </a:r>
            <a:r>
              <a:rPr sz="1000" i="1" spc="125" dirty="0">
                <a:latin typeface="Calibri"/>
                <a:cs typeface="Calibri"/>
              </a:rPr>
              <a:t>A</a:t>
            </a:r>
            <a:r>
              <a:rPr sz="1000" i="1" spc="50" dirty="0">
                <a:latin typeface="Calibri"/>
                <a:cs typeface="Calibri"/>
              </a:rPr>
              <a:t> </a:t>
            </a:r>
            <a:r>
              <a:rPr sz="1000" i="1" spc="270" dirty="0">
                <a:latin typeface="Calibri"/>
                <a:cs typeface="Calibri"/>
              </a:rPr>
              <a:t>&gt;</a:t>
            </a:r>
            <a:r>
              <a:rPr sz="1000" i="1" spc="50" dirty="0">
                <a:latin typeface="Calibri"/>
                <a:cs typeface="Calibri"/>
              </a:rPr>
              <a:t> </a:t>
            </a:r>
            <a:r>
              <a:rPr sz="1000" i="1" spc="165" dirty="0">
                <a:latin typeface="Calibri"/>
                <a:cs typeface="Calibri"/>
              </a:rPr>
              <a:t>B</a:t>
            </a:r>
            <a:r>
              <a:rPr sz="1000" spc="165" dirty="0">
                <a:latin typeface="Calibri"/>
                <a:cs typeface="Calibri"/>
              </a:rPr>
              <a:t>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563454" y="1728838"/>
            <a:ext cx="549275" cy="0"/>
          </a:xfrm>
          <a:custGeom>
            <a:avLst/>
            <a:gdLst/>
            <a:ahLst/>
            <a:cxnLst/>
            <a:rect l="l" t="t" r="r" b="b"/>
            <a:pathLst>
              <a:path w="549275">
                <a:moveTo>
                  <a:pt x="0" y="0"/>
                </a:moveTo>
                <a:lnTo>
                  <a:pt x="54907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391801" y="1711152"/>
            <a:ext cx="12731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270" dirty="0">
                <a:latin typeface="Calibri"/>
                <a:cs typeface="Calibri"/>
              </a:rPr>
              <a:t>=</a:t>
            </a:r>
            <a:r>
              <a:rPr sz="1000" spc="2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A</a:t>
            </a:r>
            <a:r>
              <a:rPr sz="1500" baseline="13888" dirty="0">
                <a:latin typeface="Calibri"/>
                <a:cs typeface="Calibri"/>
              </a:rPr>
              <a:t>¯</a:t>
            </a:r>
            <a:r>
              <a:rPr sz="1000" i="1" dirty="0">
                <a:latin typeface="Calibri"/>
                <a:cs typeface="Calibri"/>
              </a:rPr>
              <a:t>B</a:t>
            </a:r>
            <a:r>
              <a:rPr sz="1000" i="1" spc="35" dirty="0">
                <a:latin typeface="Calibri"/>
                <a:cs typeface="Calibri"/>
              </a:rPr>
              <a:t> </a:t>
            </a:r>
            <a:r>
              <a:rPr sz="1000" spc="270" dirty="0">
                <a:latin typeface="Calibri"/>
                <a:cs typeface="Calibri"/>
              </a:rPr>
              <a:t>+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AB</a:t>
            </a:r>
            <a:r>
              <a:rPr sz="1500" baseline="13888" dirty="0">
                <a:latin typeface="Calibri"/>
                <a:cs typeface="Calibri"/>
              </a:rPr>
              <a:t>¯</a:t>
            </a:r>
            <a:r>
              <a:rPr sz="1500" spc="150" baseline="13888" dirty="0">
                <a:latin typeface="Calibri"/>
                <a:cs typeface="Calibri"/>
              </a:rPr>
              <a:t> </a:t>
            </a:r>
            <a:r>
              <a:rPr sz="1000" spc="270" dirty="0">
                <a:latin typeface="Calibri"/>
                <a:cs typeface="Calibri"/>
              </a:rPr>
              <a:t>=</a:t>
            </a:r>
            <a:r>
              <a:rPr sz="1000" spc="40" dirty="0">
                <a:latin typeface="Calibri"/>
                <a:cs typeface="Calibri"/>
              </a:rPr>
              <a:t> </a:t>
            </a:r>
            <a:r>
              <a:rPr sz="1000" i="1" spc="165" dirty="0">
                <a:latin typeface="Calibri"/>
                <a:cs typeface="Calibri"/>
              </a:rPr>
              <a:t>A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⊙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i="1" spc="150" dirty="0">
                <a:latin typeface="Calibri"/>
                <a:cs typeface="Calibri"/>
              </a:rPr>
              <a:t>B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46859" y="1711152"/>
            <a:ext cx="103314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(NOR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220" dirty="0">
                <a:latin typeface="Arial MT"/>
                <a:cs typeface="Arial MT"/>
              </a:rPr>
              <a:t>/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XNOR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sta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978035" y="2092273"/>
            <a:ext cx="2414905" cy="198755"/>
          </a:xfrm>
          <a:custGeom>
            <a:avLst/>
            <a:gdLst/>
            <a:ahLst/>
            <a:cxnLst/>
            <a:rect l="l" t="t" r="r" b="b"/>
            <a:pathLst>
              <a:path w="2414904" h="198755">
                <a:moveTo>
                  <a:pt x="2363738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414539" y="198367"/>
                </a:lnTo>
                <a:lnTo>
                  <a:pt x="2414539" y="50800"/>
                </a:lnTo>
                <a:lnTo>
                  <a:pt x="2410530" y="31075"/>
                </a:lnTo>
                <a:lnTo>
                  <a:pt x="2399616" y="14922"/>
                </a:lnTo>
                <a:lnTo>
                  <a:pt x="2383463" y="4008"/>
                </a:lnTo>
                <a:lnTo>
                  <a:pt x="2363738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028835" y="2120721"/>
            <a:ext cx="173482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Transistor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Budget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Summary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978035" y="2149194"/>
            <a:ext cx="2465705" cy="937894"/>
            <a:chOff x="2978035" y="2149194"/>
            <a:chExt cx="2465705" cy="937894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8035" y="2277986"/>
              <a:ext cx="2414539" cy="5060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028835" y="2149194"/>
              <a:ext cx="2414905" cy="937894"/>
            </a:xfrm>
            <a:custGeom>
              <a:avLst/>
              <a:gdLst/>
              <a:ahLst/>
              <a:cxnLst/>
              <a:rect l="l" t="t" r="r" b="b"/>
              <a:pathLst>
                <a:path w="2414904" h="937894">
                  <a:moveTo>
                    <a:pt x="2414539" y="0"/>
                  </a:moveTo>
                  <a:lnTo>
                    <a:pt x="0" y="0"/>
                  </a:lnTo>
                  <a:lnTo>
                    <a:pt x="0" y="937477"/>
                  </a:lnTo>
                  <a:lnTo>
                    <a:pt x="2414539" y="937477"/>
                  </a:lnTo>
                  <a:lnTo>
                    <a:pt x="24145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78035" y="2322257"/>
              <a:ext cx="2414905" cy="713740"/>
            </a:xfrm>
            <a:custGeom>
              <a:avLst/>
              <a:gdLst/>
              <a:ahLst/>
              <a:cxnLst/>
              <a:rect l="l" t="t" r="r" b="b"/>
              <a:pathLst>
                <a:path w="2414904" h="713739">
                  <a:moveTo>
                    <a:pt x="2414539" y="0"/>
                  </a:moveTo>
                  <a:lnTo>
                    <a:pt x="0" y="0"/>
                  </a:lnTo>
                  <a:lnTo>
                    <a:pt x="0" y="662814"/>
                  </a:lnTo>
                  <a:lnTo>
                    <a:pt x="4008" y="682539"/>
                  </a:lnTo>
                  <a:lnTo>
                    <a:pt x="14922" y="698692"/>
                  </a:lnTo>
                  <a:lnTo>
                    <a:pt x="31075" y="709606"/>
                  </a:lnTo>
                  <a:lnTo>
                    <a:pt x="50800" y="713614"/>
                  </a:lnTo>
                  <a:lnTo>
                    <a:pt x="2363738" y="713614"/>
                  </a:lnTo>
                  <a:lnTo>
                    <a:pt x="2383463" y="709606"/>
                  </a:lnTo>
                  <a:lnTo>
                    <a:pt x="2399616" y="698692"/>
                  </a:lnTo>
                  <a:lnTo>
                    <a:pt x="2410530" y="682539"/>
                  </a:lnTo>
                  <a:lnTo>
                    <a:pt x="2414539" y="662814"/>
                  </a:lnTo>
                  <a:lnTo>
                    <a:pt x="2414539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59023" y="2373312"/>
              <a:ext cx="59601" cy="5960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59023" y="2563101"/>
              <a:ext cx="59601" cy="5960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59023" y="2752890"/>
              <a:ext cx="59601" cy="59601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3028835" y="2258257"/>
            <a:ext cx="2414905" cy="74676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52729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Arial MT"/>
                <a:cs typeface="Arial MT"/>
              </a:rPr>
              <a:t>Total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Transistors:</a:t>
            </a:r>
            <a:r>
              <a:rPr sz="1000" spc="105" dirty="0">
                <a:latin typeface="Arial MT"/>
                <a:cs typeface="Arial MT"/>
              </a:rPr>
              <a:t> </a:t>
            </a:r>
            <a:r>
              <a:rPr sz="1000" b="1" dirty="0">
                <a:latin typeface="Arial"/>
                <a:cs typeface="Arial"/>
              </a:rPr>
              <a:t>10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Transistors</a:t>
            </a:r>
            <a:endParaRPr sz="1000">
              <a:latin typeface="Arial"/>
              <a:cs typeface="Arial"/>
            </a:endParaRPr>
          </a:p>
          <a:p>
            <a:pPr marL="252729">
              <a:lnSpc>
                <a:spcPct val="100000"/>
              </a:lnSpc>
              <a:spcBef>
                <a:spcPts val="295"/>
              </a:spcBef>
            </a:pPr>
            <a:r>
              <a:rPr sz="1000" spc="-35" dirty="0">
                <a:latin typeface="Arial MT"/>
                <a:cs typeface="Arial MT"/>
              </a:rPr>
              <a:t>Eliminates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unnecessary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internal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nodes.</a:t>
            </a:r>
            <a:endParaRPr sz="1000">
              <a:latin typeface="Arial MT"/>
              <a:cs typeface="Arial MT"/>
            </a:endParaRPr>
          </a:p>
          <a:p>
            <a:pPr marL="252729" marR="268605">
              <a:lnSpc>
                <a:spcPct val="100000"/>
              </a:lnSpc>
              <a:spcBef>
                <a:spcPts val="290"/>
              </a:spcBef>
            </a:pPr>
            <a:r>
              <a:rPr sz="1000" spc="-35" dirty="0">
                <a:latin typeface="Arial MT"/>
                <a:cs typeface="Arial MT"/>
              </a:rPr>
              <a:t>Superior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compactness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-10" dirty="0">
                <a:latin typeface="Arial MT"/>
                <a:cs typeface="Arial MT"/>
              </a:rPr>
              <a:t> ultra-</a:t>
            </a:r>
            <a:r>
              <a:rPr sz="1000" spc="-25" dirty="0">
                <a:latin typeface="Arial MT"/>
                <a:cs typeface="Arial MT"/>
              </a:rPr>
              <a:t>low </a:t>
            </a:r>
            <a:r>
              <a:rPr sz="1000" spc="-20" dirty="0">
                <a:latin typeface="Arial MT"/>
                <a:cs typeface="Arial MT"/>
              </a:rPr>
              <a:t>switching </a:t>
            </a:r>
            <a:r>
              <a:rPr sz="1000" spc="-10" dirty="0">
                <a:latin typeface="Arial MT"/>
                <a:cs typeface="Arial MT"/>
              </a:rPr>
              <a:t>capacitance.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23242" y="3138668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latin typeface="Tahoma"/>
                <a:cs typeface="Tahoma"/>
              </a:rPr>
              <a:t>7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75" dirty="0">
                <a:latin typeface="Tahoma"/>
                <a:cs typeface="Tahoma"/>
              </a:rPr>
              <a:t>/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-25" dirty="0">
                <a:latin typeface="Tahoma"/>
                <a:cs typeface="Tahoma"/>
              </a:rPr>
              <a:t>12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5.</a:t>
            </a:r>
            <a:r>
              <a:rPr spc="120" dirty="0"/>
              <a:t> </a:t>
            </a:r>
            <a:r>
              <a:rPr spc="-20" dirty="0"/>
              <a:t>Simulation</a:t>
            </a:r>
            <a:r>
              <a:rPr spc="-15" dirty="0"/>
              <a:t> </a:t>
            </a:r>
            <a:r>
              <a:rPr spc="-30" dirty="0"/>
              <a:t>Methodology</a:t>
            </a:r>
            <a:r>
              <a:rPr spc="-20" dirty="0"/>
              <a:t> </a:t>
            </a:r>
            <a:r>
              <a:rPr spc="120" dirty="0"/>
              <a:t>&amp;</a:t>
            </a:r>
            <a:r>
              <a:rPr spc="-15" dirty="0"/>
              <a:t> </a:t>
            </a:r>
            <a:r>
              <a:rPr spc="-10" dirty="0"/>
              <a:t>Setup</a:t>
            </a:r>
          </a:p>
        </p:txBody>
      </p:sp>
      <p:sp>
        <p:nvSpPr>
          <p:cNvPr id="3" name="object 3"/>
          <p:cNvSpPr/>
          <p:nvPr/>
        </p:nvSpPr>
        <p:spPr>
          <a:xfrm>
            <a:off x="106996" y="772908"/>
            <a:ext cx="2745105" cy="198755"/>
          </a:xfrm>
          <a:custGeom>
            <a:avLst/>
            <a:gdLst/>
            <a:ahLst/>
            <a:cxnLst/>
            <a:rect l="l" t="t" r="r" b="b"/>
            <a:pathLst>
              <a:path w="2745105" h="198755">
                <a:moveTo>
                  <a:pt x="269414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744947" y="198367"/>
                </a:lnTo>
                <a:lnTo>
                  <a:pt x="2744947" y="50800"/>
                </a:lnTo>
                <a:lnTo>
                  <a:pt x="2740938" y="31075"/>
                </a:lnTo>
                <a:lnTo>
                  <a:pt x="2730024" y="14922"/>
                </a:lnTo>
                <a:lnTo>
                  <a:pt x="2713871" y="4008"/>
                </a:lnTo>
                <a:lnTo>
                  <a:pt x="2694146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7797" y="801356"/>
            <a:ext cx="194056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LTSpice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Simulation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Parameters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6996" y="829829"/>
            <a:ext cx="2795905" cy="1564640"/>
            <a:chOff x="106996" y="829829"/>
            <a:chExt cx="2795905" cy="15646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996" y="958621"/>
              <a:ext cx="2744947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7797" y="829829"/>
              <a:ext cx="2745105" cy="1564640"/>
            </a:xfrm>
            <a:custGeom>
              <a:avLst/>
              <a:gdLst/>
              <a:ahLst/>
              <a:cxnLst/>
              <a:rect l="l" t="t" r="r" b="b"/>
              <a:pathLst>
                <a:path w="2745105" h="1564639">
                  <a:moveTo>
                    <a:pt x="2744947" y="0"/>
                  </a:moveTo>
                  <a:lnTo>
                    <a:pt x="0" y="0"/>
                  </a:lnTo>
                  <a:lnTo>
                    <a:pt x="0" y="1564490"/>
                  </a:lnTo>
                  <a:lnTo>
                    <a:pt x="2744947" y="1564490"/>
                  </a:lnTo>
                  <a:lnTo>
                    <a:pt x="27449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6996" y="1002891"/>
              <a:ext cx="2745105" cy="1341120"/>
            </a:xfrm>
            <a:custGeom>
              <a:avLst/>
              <a:gdLst/>
              <a:ahLst/>
              <a:cxnLst/>
              <a:rect l="l" t="t" r="r" b="b"/>
              <a:pathLst>
                <a:path w="2745105" h="1341120">
                  <a:moveTo>
                    <a:pt x="2744947" y="0"/>
                  </a:moveTo>
                  <a:lnTo>
                    <a:pt x="0" y="0"/>
                  </a:lnTo>
                  <a:lnTo>
                    <a:pt x="0" y="1289826"/>
                  </a:lnTo>
                  <a:lnTo>
                    <a:pt x="4008" y="1309551"/>
                  </a:lnTo>
                  <a:lnTo>
                    <a:pt x="14922" y="1325704"/>
                  </a:lnTo>
                  <a:lnTo>
                    <a:pt x="31075" y="1336618"/>
                  </a:lnTo>
                  <a:lnTo>
                    <a:pt x="50800" y="1340627"/>
                  </a:lnTo>
                  <a:lnTo>
                    <a:pt x="2694146" y="1340627"/>
                  </a:lnTo>
                  <a:lnTo>
                    <a:pt x="2713871" y="1336618"/>
                  </a:lnTo>
                  <a:lnTo>
                    <a:pt x="2730024" y="1325704"/>
                  </a:lnTo>
                  <a:lnTo>
                    <a:pt x="2740938" y="1309551"/>
                  </a:lnTo>
                  <a:lnTo>
                    <a:pt x="2744947" y="1289826"/>
                  </a:lnTo>
                  <a:lnTo>
                    <a:pt x="2744947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7972" y="1053947"/>
              <a:ext cx="59601" cy="596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7972" y="1382903"/>
              <a:ext cx="59601" cy="596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2615" y="1558975"/>
              <a:ext cx="48018" cy="4801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2615" y="1698155"/>
              <a:ext cx="48018" cy="4801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615" y="1837334"/>
              <a:ext cx="48018" cy="4801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7972" y="2015540"/>
              <a:ext cx="59601" cy="5960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7972" y="2205329"/>
              <a:ext cx="59601" cy="5960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32397" y="976850"/>
            <a:ext cx="2795905" cy="1329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8130" marR="214629">
              <a:lnSpc>
                <a:spcPct val="100000"/>
              </a:lnSpc>
              <a:spcBef>
                <a:spcPts val="95"/>
              </a:spcBef>
            </a:pPr>
            <a:r>
              <a:rPr sz="1000" b="1" spc="-45" dirty="0">
                <a:latin typeface="Arial"/>
                <a:cs typeface="Arial"/>
              </a:rPr>
              <a:t>Technology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Models:</a:t>
            </a:r>
            <a:r>
              <a:rPr sz="1000" b="1" spc="100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PTM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180nm,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90nm,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45nm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Berkeley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BSIM4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models.</a:t>
            </a:r>
            <a:endParaRPr sz="1000">
              <a:latin typeface="Arial MT"/>
              <a:cs typeface="Arial MT"/>
            </a:endParaRPr>
          </a:p>
          <a:p>
            <a:pPr marL="530860" marR="1189990" indent="-253365">
              <a:lnSpc>
                <a:spcPct val="108900"/>
              </a:lnSpc>
              <a:spcBef>
                <a:spcPts val="85"/>
              </a:spcBef>
            </a:pPr>
            <a:r>
              <a:rPr sz="1000" b="1" spc="-35" dirty="0">
                <a:latin typeface="Arial"/>
                <a:cs typeface="Arial"/>
              </a:rPr>
              <a:t>Supply</a:t>
            </a:r>
            <a:r>
              <a:rPr sz="1000" b="1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Voltage</a:t>
            </a:r>
            <a:r>
              <a:rPr sz="1000" b="1" spc="5" dirty="0">
                <a:latin typeface="Arial"/>
                <a:cs typeface="Arial"/>
              </a:rPr>
              <a:t> </a:t>
            </a:r>
            <a:r>
              <a:rPr sz="1000" b="1" spc="105" dirty="0">
                <a:latin typeface="Arial"/>
                <a:cs typeface="Arial"/>
              </a:rPr>
              <a:t>(</a:t>
            </a:r>
            <a:r>
              <a:rPr sz="1000" i="1" spc="105" dirty="0">
                <a:latin typeface="Calibri"/>
                <a:cs typeface="Calibri"/>
              </a:rPr>
              <a:t>V</a:t>
            </a:r>
            <a:r>
              <a:rPr sz="1050" i="1" spc="157" baseline="-11904" dirty="0">
                <a:latin typeface="Calibri"/>
                <a:cs typeface="Calibri"/>
              </a:rPr>
              <a:t>DD</a:t>
            </a:r>
            <a:r>
              <a:rPr sz="1000" b="1" spc="105" dirty="0">
                <a:latin typeface="Arial"/>
                <a:cs typeface="Arial"/>
              </a:rPr>
              <a:t>): </a:t>
            </a:r>
            <a:r>
              <a:rPr sz="900" spc="-20" dirty="0">
                <a:latin typeface="Arial MT"/>
                <a:cs typeface="Arial MT"/>
              </a:rPr>
              <a:t>180nm </a:t>
            </a:r>
            <a:r>
              <a:rPr sz="900" spc="-10" dirty="0">
                <a:latin typeface="Arial MT"/>
                <a:cs typeface="Arial MT"/>
              </a:rPr>
              <a:t>node: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20" dirty="0">
                <a:latin typeface="Calibri"/>
                <a:cs typeface="Calibri"/>
              </a:rPr>
              <a:t>1</a:t>
            </a:r>
            <a:r>
              <a:rPr sz="900" i="1" spc="-20" dirty="0">
                <a:latin typeface="Calibri"/>
                <a:cs typeface="Calibri"/>
              </a:rPr>
              <a:t>.</a:t>
            </a:r>
            <a:r>
              <a:rPr sz="900" spc="-20" dirty="0">
                <a:latin typeface="Calibri"/>
                <a:cs typeface="Calibri"/>
              </a:rPr>
              <a:t>8</a:t>
            </a:r>
            <a:r>
              <a:rPr sz="900" spc="-20" dirty="0">
                <a:latin typeface="Arial MT"/>
                <a:cs typeface="Arial MT"/>
              </a:rPr>
              <a:t>V </a:t>
            </a:r>
            <a:r>
              <a:rPr sz="900" spc="-10" dirty="0">
                <a:latin typeface="Arial MT"/>
                <a:cs typeface="Arial MT"/>
              </a:rPr>
              <a:t>90nm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node:</a:t>
            </a:r>
            <a:r>
              <a:rPr sz="900" spc="45" dirty="0">
                <a:latin typeface="Arial MT"/>
                <a:cs typeface="Arial MT"/>
              </a:rPr>
              <a:t> </a:t>
            </a:r>
            <a:r>
              <a:rPr sz="900" spc="-20" dirty="0">
                <a:latin typeface="Calibri"/>
                <a:cs typeface="Calibri"/>
              </a:rPr>
              <a:t>1</a:t>
            </a:r>
            <a:r>
              <a:rPr sz="900" i="1" spc="-20" dirty="0">
                <a:latin typeface="Calibri"/>
                <a:cs typeface="Calibri"/>
              </a:rPr>
              <a:t>.</a:t>
            </a:r>
            <a:r>
              <a:rPr sz="900" spc="-20" dirty="0">
                <a:latin typeface="Calibri"/>
                <a:cs typeface="Calibri"/>
              </a:rPr>
              <a:t>2</a:t>
            </a:r>
            <a:r>
              <a:rPr sz="900" spc="-20" dirty="0">
                <a:latin typeface="Arial MT"/>
                <a:cs typeface="Arial MT"/>
              </a:rPr>
              <a:t>V</a:t>
            </a:r>
            <a:endParaRPr sz="900">
              <a:latin typeface="Arial MT"/>
              <a:cs typeface="Arial MT"/>
            </a:endParaRPr>
          </a:p>
          <a:p>
            <a:pPr marL="53086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Arial MT"/>
                <a:cs typeface="Arial MT"/>
              </a:rPr>
              <a:t>45nm</a:t>
            </a:r>
            <a:r>
              <a:rPr sz="90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node:</a:t>
            </a:r>
            <a:r>
              <a:rPr sz="900" spc="110" dirty="0">
                <a:latin typeface="Arial MT"/>
                <a:cs typeface="Arial MT"/>
              </a:rPr>
              <a:t> </a:t>
            </a:r>
            <a:r>
              <a:rPr sz="900" dirty="0">
                <a:latin typeface="Calibri"/>
                <a:cs typeface="Calibri"/>
              </a:rPr>
              <a:t>0</a:t>
            </a:r>
            <a:r>
              <a:rPr sz="900" i="1" dirty="0">
                <a:latin typeface="Calibri"/>
                <a:cs typeface="Calibri"/>
              </a:rPr>
              <a:t>.</a:t>
            </a:r>
            <a:r>
              <a:rPr sz="900" dirty="0">
                <a:latin typeface="Calibri"/>
                <a:cs typeface="Calibri"/>
              </a:rPr>
              <a:t>8</a:t>
            </a:r>
            <a:r>
              <a:rPr sz="900" dirty="0">
                <a:latin typeface="Arial MT"/>
                <a:cs typeface="Arial MT"/>
              </a:rPr>
              <a:t>V</a:t>
            </a:r>
            <a:r>
              <a:rPr sz="900" spc="-65" dirty="0">
                <a:latin typeface="Arial MT"/>
                <a:cs typeface="Arial MT"/>
              </a:rPr>
              <a:t> </a:t>
            </a:r>
            <a:r>
              <a:rPr sz="900" i="1" spc="185" dirty="0">
                <a:latin typeface="Arial"/>
                <a:cs typeface="Arial"/>
              </a:rPr>
              <a:t>−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spc="-20" dirty="0">
                <a:latin typeface="Calibri"/>
                <a:cs typeface="Calibri"/>
              </a:rPr>
              <a:t>1</a:t>
            </a:r>
            <a:r>
              <a:rPr sz="900" i="1" spc="-20" dirty="0">
                <a:latin typeface="Calibri"/>
                <a:cs typeface="Calibri"/>
              </a:rPr>
              <a:t>.</a:t>
            </a:r>
            <a:r>
              <a:rPr sz="900" spc="-20" dirty="0">
                <a:latin typeface="Calibri"/>
                <a:cs typeface="Calibri"/>
              </a:rPr>
              <a:t>0</a:t>
            </a:r>
            <a:r>
              <a:rPr sz="900" spc="-20" dirty="0">
                <a:latin typeface="Arial MT"/>
                <a:cs typeface="Arial MT"/>
              </a:rPr>
              <a:t>V</a:t>
            </a:r>
            <a:endParaRPr sz="900">
              <a:latin typeface="Arial MT"/>
              <a:cs typeface="Arial MT"/>
            </a:endParaRPr>
          </a:p>
          <a:p>
            <a:pPr marL="278130">
              <a:lnSpc>
                <a:spcPct val="100000"/>
              </a:lnSpc>
              <a:spcBef>
                <a:spcPts val="315"/>
              </a:spcBef>
            </a:pPr>
            <a:r>
              <a:rPr sz="1000" b="1" dirty="0">
                <a:latin typeface="Arial"/>
                <a:cs typeface="Arial"/>
              </a:rPr>
              <a:t>Input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spc="-40" dirty="0">
                <a:latin typeface="Arial"/>
                <a:cs typeface="Arial"/>
              </a:rPr>
              <a:t>Frequency:</a:t>
            </a:r>
            <a:r>
              <a:rPr sz="1000" b="1" spc="125" dirty="0">
                <a:latin typeface="Arial"/>
                <a:cs typeface="Arial"/>
              </a:rPr>
              <a:t> </a:t>
            </a:r>
            <a:r>
              <a:rPr sz="1000" dirty="0">
                <a:latin typeface="Calibri"/>
                <a:cs typeface="Calibri"/>
              </a:rPr>
              <a:t>100</a:t>
            </a:r>
            <a:r>
              <a:rPr sz="1000" spc="75" dirty="0">
                <a:latin typeface="Calibri"/>
                <a:cs typeface="Calibri"/>
              </a:rPr>
              <a:t> </a:t>
            </a:r>
            <a:r>
              <a:rPr sz="1000" spc="-25" dirty="0">
                <a:latin typeface="Arial MT"/>
                <a:cs typeface="Arial MT"/>
              </a:rPr>
              <a:t>MHz</a:t>
            </a:r>
            <a:r>
              <a:rPr sz="1000" spc="-60" dirty="0">
                <a:latin typeface="Arial MT"/>
                <a:cs typeface="Arial MT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Calibri"/>
                <a:cs typeface="Calibri"/>
              </a:rPr>
              <a:t>1</a:t>
            </a:r>
            <a:r>
              <a:rPr sz="1000" spc="80" dirty="0">
                <a:latin typeface="Calibri"/>
                <a:cs typeface="Calibri"/>
              </a:rPr>
              <a:t> </a:t>
            </a:r>
            <a:r>
              <a:rPr sz="1000" spc="-20" dirty="0">
                <a:latin typeface="Arial MT"/>
                <a:cs typeface="Arial MT"/>
              </a:rPr>
              <a:t>GHz.</a:t>
            </a:r>
            <a:endParaRPr sz="1000">
              <a:latin typeface="Arial MT"/>
              <a:cs typeface="Arial MT"/>
            </a:endParaRPr>
          </a:p>
          <a:p>
            <a:pPr marL="278130">
              <a:lnSpc>
                <a:spcPct val="100000"/>
              </a:lnSpc>
              <a:spcBef>
                <a:spcPts val="295"/>
              </a:spcBef>
            </a:pPr>
            <a:r>
              <a:rPr sz="1000" b="1" spc="-25" dirty="0">
                <a:latin typeface="Arial"/>
                <a:cs typeface="Arial"/>
              </a:rPr>
              <a:t>Load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Capacitance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b="1" spc="120" dirty="0">
                <a:latin typeface="Arial"/>
                <a:cs typeface="Arial"/>
              </a:rPr>
              <a:t>(</a:t>
            </a:r>
            <a:r>
              <a:rPr sz="1000" i="1" spc="120" dirty="0">
                <a:latin typeface="Calibri"/>
                <a:cs typeface="Calibri"/>
              </a:rPr>
              <a:t>C</a:t>
            </a:r>
            <a:r>
              <a:rPr sz="1050" i="1" spc="179" baseline="-11904" dirty="0">
                <a:latin typeface="Calibri"/>
                <a:cs typeface="Calibri"/>
              </a:rPr>
              <a:t>L</a:t>
            </a:r>
            <a:r>
              <a:rPr sz="1000" b="1" spc="120" dirty="0">
                <a:latin typeface="Arial"/>
                <a:cs typeface="Arial"/>
              </a:rPr>
              <a:t>):</a:t>
            </a:r>
            <a:r>
              <a:rPr sz="1000" b="1" spc="140" dirty="0">
                <a:latin typeface="Arial"/>
                <a:cs typeface="Arial"/>
              </a:rPr>
              <a:t> </a:t>
            </a:r>
            <a:r>
              <a:rPr sz="1000" dirty="0">
                <a:latin typeface="Calibri"/>
                <a:cs typeface="Calibri"/>
              </a:rPr>
              <a:t>1</a:t>
            </a:r>
            <a:r>
              <a:rPr sz="1000" spc="85" dirty="0">
                <a:latin typeface="Calibri"/>
                <a:cs typeface="Calibri"/>
              </a:rPr>
              <a:t> </a:t>
            </a:r>
            <a:r>
              <a:rPr sz="1000" spc="-10" dirty="0">
                <a:latin typeface="Arial MT"/>
                <a:cs typeface="Arial MT"/>
              </a:rPr>
              <a:t>fF</a:t>
            </a:r>
            <a:r>
              <a:rPr sz="1000" spc="-60" dirty="0">
                <a:latin typeface="Arial MT"/>
                <a:cs typeface="Arial MT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Calibri"/>
                <a:cs typeface="Calibri"/>
              </a:rPr>
              <a:t>5</a:t>
            </a:r>
            <a:r>
              <a:rPr sz="1000" spc="90" dirty="0">
                <a:latin typeface="Calibri"/>
                <a:cs typeface="Calibri"/>
              </a:rPr>
              <a:t> </a:t>
            </a:r>
            <a:r>
              <a:rPr sz="1000" spc="-25" dirty="0">
                <a:latin typeface="Arial MT"/>
                <a:cs typeface="Arial MT"/>
              </a:rPr>
              <a:t>fF.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23242" y="3138668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latin typeface="Tahoma"/>
                <a:cs typeface="Tahoma"/>
              </a:rPr>
              <a:t>8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75" dirty="0">
                <a:latin typeface="Tahoma"/>
                <a:cs typeface="Tahoma"/>
              </a:rPr>
              <a:t>/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-25" dirty="0">
                <a:latin typeface="Tahoma"/>
                <a:cs typeface="Tahoma"/>
              </a:rPr>
              <a:t>12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5.</a:t>
            </a:r>
            <a:r>
              <a:rPr spc="120" dirty="0"/>
              <a:t> </a:t>
            </a:r>
            <a:r>
              <a:rPr spc="-20" dirty="0"/>
              <a:t>Simulation</a:t>
            </a:r>
            <a:r>
              <a:rPr spc="-15" dirty="0"/>
              <a:t> </a:t>
            </a:r>
            <a:r>
              <a:rPr spc="-30" dirty="0"/>
              <a:t>Methodology</a:t>
            </a:r>
            <a:r>
              <a:rPr spc="-20" dirty="0"/>
              <a:t> </a:t>
            </a:r>
            <a:r>
              <a:rPr spc="120" dirty="0"/>
              <a:t>&amp;</a:t>
            </a:r>
            <a:r>
              <a:rPr spc="-15" dirty="0"/>
              <a:t> </a:t>
            </a:r>
            <a:r>
              <a:rPr spc="-10" dirty="0"/>
              <a:t>Setup</a:t>
            </a:r>
          </a:p>
        </p:txBody>
      </p:sp>
      <p:sp>
        <p:nvSpPr>
          <p:cNvPr id="3" name="object 3"/>
          <p:cNvSpPr/>
          <p:nvPr/>
        </p:nvSpPr>
        <p:spPr>
          <a:xfrm>
            <a:off x="106996" y="772908"/>
            <a:ext cx="2745105" cy="198755"/>
          </a:xfrm>
          <a:custGeom>
            <a:avLst/>
            <a:gdLst/>
            <a:ahLst/>
            <a:cxnLst/>
            <a:rect l="l" t="t" r="r" b="b"/>
            <a:pathLst>
              <a:path w="2745105" h="198755">
                <a:moveTo>
                  <a:pt x="269414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744947" y="198367"/>
                </a:lnTo>
                <a:lnTo>
                  <a:pt x="2744947" y="50800"/>
                </a:lnTo>
                <a:lnTo>
                  <a:pt x="2740938" y="31075"/>
                </a:lnTo>
                <a:lnTo>
                  <a:pt x="2730024" y="14922"/>
                </a:lnTo>
                <a:lnTo>
                  <a:pt x="2713871" y="4008"/>
                </a:lnTo>
                <a:lnTo>
                  <a:pt x="2694146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7797" y="801356"/>
            <a:ext cx="194056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LTSpice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Simulation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Parameters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6996" y="829829"/>
            <a:ext cx="2795905" cy="1564640"/>
            <a:chOff x="106996" y="829829"/>
            <a:chExt cx="2795905" cy="15646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996" y="958621"/>
              <a:ext cx="2744947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7797" y="829829"/>
              <a:ext cx="2745105" cy="1564640"/>
            </a:xfrm>
            <a:custGeom>
              <a:avLst/>
              <a:gdLst/>
              <a:ahLst/>
              <a:cxnLst/>
              <a:rect l="l" t="t" r="r" b="b"/>
              <a:pathLst>
                <a:path w="2745105" h="1564639">
                  <a:moveTo>
                    <a:pt x="2744947" y="0"/>
                  </a:moveTo>
                  <a:lnTo>
                    <a:pt x="0" y="0"/>
                  </a:lnTo>
                  <a:lnTo>
                    <a:pt x="0" y="1564490"/>
                  </a:lnTo>
                  <a:lnTo>
                    <a:pt x="2744947" y="1564490"/>
                  </a:lnTo>
                  <a:lnTo>
                    <a:pt x="27449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6996" y="1002891"/>
              <a:ext cx="2745105" cy="1341120"/>
            </a:xfrm>
            <a:custGeom>
              <a:avLst/>
              <a:gdLst/>
              <a:ahLst/>
              <a:cxnLst/>
              <a:rect l="l" t="t" r="r" b="b"/>
              <a:pathLst>
                <a:path w="2745105" h="1341120">
                  <a:moveTo>
                    <a:pt x="2744947" y="0"/>
                  </a:moveTo>
                  <a:lnTo>
                    <a:pt x="0" y="0"/>
                  </a:lnTo>
                  <a:lnTo>
                    <a:pt x="0" y="1289826"/>
                  </a:lnTo>
                  <a:lnTo>
                    <a:pt x="4008" y="1309551"/>
                  </a:lnTo>
                  <a:lnTo>
                    <a:pt x="14922" y="1325704"/>
                  </a:lnTo>
                  <a:lnTo>
                    <a:pt x="31075" y="1336618"/>
                  </a:lnTo>
                  <a:lnTo>
                    <a:pt x="50800" y="1340627"/>
                  </a:lnTo>
                  <a:lnTo>
                    <a:pt x="2694146" y="1340627"/>
                  </a:lnTo>
                  <a:lnTo>
                    <a:pt x="2713871" y="1336618"/>
                  </a:lnTo>
                  <a:lnTo>
                    <a:pt x="2730024" y="1325704"/>
                  </a:lnTo>
                  <a:lnTo>
                    <a:pt x="2740938" y="1309551"/>
                  </a:lnTo>
                  <a:lnTo>
                    <a:pt x="2744947" y="1289826"/>
                  </a:lnTo>
                  <a:lnTo>
                    <a:pt x="2744947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7972" y="1053947"/>
              <a:ext cx="59601" cy="596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7972" y="1382903"/>
              <a:ext cx="59601" cy="596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2615" y="1558975"/>
              <a:ext cx="48018" cy="4801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2615" y="1698155"/>
              <a:ext cx="48018" cy="4801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615" y="1837334"/>
              <a:ext cx="48018" cy="4801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7972" y="2015540"/>
              <a:ext cx="59601" cy="5960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7972" y="2205329"/>
              <a:ext cx="59601" cy="5960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72745" y="976850"/>
            <a:ext cx="2371090" cy="1329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1000" b="1" spc="-45" dirty="0">
                <a:latin typeface="Arial"/>
                <a:cs typeface="Arial"/>
              </a:rPr>
              <a:t>Technology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Models:</a:t>
            </a:r>
            <a:r>
              <a:rPr sz="1000" b="1" spc="100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PTM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180nm,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90nm,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45nm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Berkeley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BSIM4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models.</a:t>
            </a:r>
            <a:endParaRPr sz="1000">
              <a:latin typeface="Arial MT"/>
              <a:cs typeface="Arial MT"/>
            </a:endParaRPr>
          </a:p>
          <a:p>
            <a:pPr marL="290830" marR="1005205" indent="-253365">
              <a:lnSpc>
                <a:spcPct val="108900"/>
              </a:lnSpc>
              <a:spcBef>
                <a:spcPts val="85"/>
              </a:spcBef>
            </a:pPr>
            <a:r>
              <a:rPr sz="1000" b="1" spc="-35" dirty="0">
                <a:latin typeface="Arial"/>
                <a:cs typeface="Arial"/>
              </a:rPr>
              <a:t>Supply</a:t>
            </a:r>
            <a:r>
              <a:rPr sz="1000" b="1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Voltage</a:t>
            </a:r>
            <a:r>
              <a:rPr sz="1000" b="1" spc="5" dirty="0">
                <a:latin typeface="Arial"/>
                <a:cs typeface="Arial"/>
              </a:rPr>
              <a:t> </a:t>
            </a:r>
            <a:r>
              <a:rPr sz="1000" b="1" spc="105" dirty="0">
                <a:latin typeface="Arial"/>
                <a:cs typeface="Arial"/>
              </a:rPr>
              <a:t>(</a:t>
            </a:r>
            <a:r>
              <a:rPr sz="1000" i="1" spc="105" dirty="0">
                <a:latin typeface="Calibri"/>
                <a:cs typeface="Calibri"/>
              </a:rPr>
              <a:t>V</a:t>
            </a:r>
            <a:r>
              <a:rPr sz="1050" i="1" spc="157" baseline="-11904" dirty="0">
                <a:latin typeface="Calibri"/>
                <a:cs typeface="Calibri"/>
              </a:rPr>
              <a:t>DD</a:t>
            </a:r>
            <a:r>
              <a:rPr sz="1000" b="1" spc="105" dirty="0">
                <a:latin typeface="Arial"/>
                <a:cs typeface="Arial"/>
              </a:rPr>
              <a:t>): </a:t>
            </a:r>
            <a:r>
              <a:rPr sz="900" spc="-20" dirty="0">
                <a:latin typeface="Arial MT"/>
                <a:cs typeface="Arial MT"/>
              </a:rPr>
              <a:t>180nm </a:t>
            </a:r>
            <a:r>
              <a:rPr sz="900" spc="-10" dirty="0">
                <a:latin typeface="Arial MT"/>
                <a:cs typeface="Arial MT"/>
              </a:rPr>
              <a:t>node: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20" dirty="0">
                <a:latin typeface="Calibri"/>
                <a:cs typeface="Calibri"/>
              </a:rPr>
              <a:t>1</a:t>
            </a:r>
            <a:r>
              <a:rPr sz="900" i="1" spc="-20" dirty="0">
                <a:latin typeface="Calibri"/>
                <a:cs typeface="Calibri"/>
              </a:rPr>
              <a:t>.</a:t>
            </a:r>
            <a:r>
              <a:rPr sz="900" spc="-20" dirty="0">
                <a:latin typeface="Calibri"/>
                <a:cs typeface="Calibri"/>
              </a:rPr>
              <a:t>8</a:t>
            </a:r>
            <a:r>
              <a:rPr sz="900" spc="-20" dirty="0">
                <a:latin typeface="Arial MT"/>
                <a:cs typeface="Arial MT"/>
              </a:rPr>
              <a:t>V </a:t>
            </a:r>
            <a:r>
              <a:rPr sz="900" spc="-10" dirty="0">
                <a:latin typeface="Arial MT"/>
                <a:cs typeface="Arial MT"/>
              </a:rPr>
              <a:t>90nm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node:</a:t>
            </a:r>
            <a:r>
              <a:rPr sz="900" spc="45" dirty="0">
                <a:latin typeface="Arial MT"/>
                <a:cs typeface="Arial MT"/>
              </a:rPr>
              <a:t> </a:t>
            </a:r>
            <a:r>
              <a:rPr sz="900" spc="-20" dirty="0">
                <a:latin typeface="Calibri"/>
                <a:cs typeface="Calibri"/>
              </a:rPr>
              <a:t>1</a:t>
            </a:r>
            <a:r>
              <a:rPr sz="900" i="1" spc="-20" dirty="0">
                <a:latin typeface="Calibri"/>
                <a:cs typeface="Calibri"/>
              </a:rPr>
              <a:t>.</a:t>
            </a:r>
            <a:r>
              <a:rPr sz="900" spc="-20" dirty="0">
                <a:latin typeface="Calibri"/>
                <a:cs typeface="Calibri"/>
              </a:rPr>
              <a:t>2</a:t>
            </a:r>
            <a:r>
              <a:rPr sz="900" spc="-20" dirty="0">
                <a:latin typeface="Arial MT"/>
                <a:cs typeface="Arial MT"/>
              </a:rPr>
              <a:t>V</a:t>
            </a:r>
            <a:endParaRPr sz="900">
              <a:latin typeface="Arial MT"/>
              <a:cs typeface="Arial MT"/>
            </a:endParaRPr>
          </a:p>
          <a:p>
            <a:pPr marL="29083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Arial MT"/>
                <a:cs typeface="Arial MT"/>
              </a:rPr>
              <a:t>45nm</a:t>
            </a:r>
            <a:r>
              <a:rPr sz="90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node:</a:t>
            </a:r>
            <a:r>
              <a:rPr sz="900" spc="110" dirty="0">
                <a:latin typeface="Arial MT"/>
                <a:cs typeface="Arial MT"/>
              </a:rPr>
              <a:t> </a:t>
            </a:r>
            <a:r>
              <a:rPr sz="900" dirty="0">
                <a:latin typeface="Calibri"/>
                <a:cs typeface="Calibri"/>
              </a:rPr>
              <a:t>0</a:t>
            </a:r>
            <a:r>
              <a:rPr sz="900" i="1" dirty="0">
                <a:latin typeface="Calibri"/>
                <a:cs typeface="Calibri"/>
              </a:rPr>
              <a:t>.</a:t>
            </a:r>
            <a:r>
              <a:rPr sz="900" dirty="0">
                <a:latin typeface="Calibri"/>
                <a:cs typeface="Calibri"/>
              </a:rPr>
              <a:t>8</a:t>
            </a:r>
            <a:r>
              <a:rPr sz="900" dirty="0">
                <a:latin typeface="Arial MT"/>
                <a:cs typeface="Arial MT"/>
              </a:rPr>
              <a:t>V</a:t>
            </a:r>
            <a:r>
              <a:rPr sz="900" spc="-65" dirty="0">
                <a:latin typeface="Arial MT"/>
                <a:cs typeface="Arial MT"/>
              </a:rPr>
              <a:t> </a:t>
            </a:r>
            <a:r>
              <a:rPr sz="900" i="1" spc="185" dirty="0">
                <a:latin typeface="Arial"/>
                <a:cs typeface="Arial"/>
              </a:rPr>
              <a:t>−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spc="-20" dirty="0">
                <a:latin typeface="Calibri"/>
                <a:cs typeface="Calibri"/>
              </a:rPr>
              <a:t>1</a:t>
            </a:r>
            <a:r>
              <a:rPr sz="900" i="1" spc="-20" dirty="0">
                <a:latin typeface="Calibri"/>
                <a:cs typeface="Calibri"/>
              </a:rPr>
              <a:t>.</a:t>
            </a:r>
            <a:r>
              <a:rPr sz="900" spc="-20" dirty="0">
                <a:latin typeface="Calibri"/>
                <a:cs typeface="Calibri"/>
              </a:rPr>
              <a:t>0</a:t>
            </a:r>
            <a:r>
              <a:rPr sz="900" spc="-20" dirty="0">
                <a:latin typeface="Arial MT"/>
                <a:cs typeface="Arial MT"/>
              </a:rPr>
              <a:t>V</a:t>
            </a:r>
            <a:endParaRPr sz="9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15"/>
              </a:spcBef>
            </a:pPr>
            <a:r>
              <a:rPr sz="1000" b="1" dirty="0">
                <a:latin typeface="Arial"/>
                <a:cs typeface="Arial"/>
              </a:rPr>
              <a:t>Input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spc="-40" dirty="0">
                <a:latin typeface="Arial"/>
                <a:cs typeface="Arial"/>
              </a:rPr>
              <a:t>Frequency:</a:t>
            </a:r>
            <a:r>
              <a:rPr sz="1000" b="1" spc="125" dirty="0">
                <a:latin typeface="Arial"/>
                <a:cs typeface="Arial"/>
              </a:rPr>
              <a:t> </a:t>
            </a:r>
            <a:r>
              <a:rPr sz="1000" dirty="0">
                <a:latin typeface="Calibri"/>
                <a:cs typeface="Calibri"/>
              </a:rPr>
              <a:t>100</a:t>
            </a:r>
            <a:r>
              <a:rPr sz="1000" spc="75" dirty="0">
                <a:latin typeface="Calibri"/>
                <a:cs typeface="Calibri"/>
              </a:rPr>
              <a:t> </a:t>
            </a:r>
            <a:r>
              <a:rPr sz="1000" spc="-25" dirty="0">
                <a:latin typeface="Arial MT"/>
                <a:cs typeface="Arial MT"/>
              </a:rPr>
              <a:t>MHz</a:t>
            </a:r>
            <a:r>
              <a:rPr sz="1000" spc="-60" dirty="0">
                <a:latin typeface="Arial MT"/>
                <a:cs typeface="Arial MT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Calibri"/>
                <a:cs typeface="Calibri"/>
              </a:rPr>
              <a:t>1</a:t>
            </a:r>
            <a:r>
              <a:rPr sz="1000" spc="80" dirty="0">
                <a:latin typeface="Calibri"/>
                <a:cs typeface="Calibri"/>
              </a:rPr>
              <a:t> </a:t>
            </a:r>
            <a:r>
              <a:rPr sz="1000" spc="-20" dirty="0">
                <a:latin typeface="Arial MT"/>
                <a:cs typeface="Arial MT"/>
              </a:rPr>
              <a:t>GHz.</a:t>
            </a:r>
            <a:endParaRPr sz="10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b="1" spc="-25" dirty="0">
                <a:latin typeface="Arial"/>
                <a:cs typeface="Arial"/>
              </a:rPr>
              <a:t>Load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Capacitance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b="1" spc="120" dirty="0">
                <a:latin typeface="Arial"/>
                <a:cs typeface="Arial"/>
              </a:rPr>
              <a:t>(</a:t>
            </a:r>
            <a:r>
              <a:rPr sz="1000" i="1" spc="120" dirty="0">
                <a:latin typeface="Calibri"/>
                <a:cs typeface="Calibri"/>
              </a:rPr>
              <a:t>C</a:t>
            </a:r>
            <a:r>
              <a:rPr sz="1050" i="1" spc="179" baseline="-11904" dirty="0">
                <a:latin typeface="Calibri"/>
                <a:cs typeface="Calibri"/>
              </a:rPr>
              <a:t>L</a:t>
            </a:r>
            <a:r>
              <a:rPr sz="1000" b="1" spc="120" dirty="0">
                <a:latin typeface="Arial"/>
                <a:cs typeface="Arial"/>
              </a:rPr>
              <a:t>):</a:t>
            </a:r>
            <a:r>
              <a:rPr sz="1000" b="1" spc="140" dirty="0">
                <a:latin typeface="Arial"/>
                <a:cs typeface="Arial"/>
              </a:rPr>
              <a:t> </a:t>
            </a:r>
            <a:r>
              <a:rPr sz="1000" dirty="0">
                <a:latin typeface="Calibri"/>
                <a:cs typeface="Calibri"/>
              </a:rPr>
              <a:t>1</a:t>
            </a:r>
            <a:r>
              <a:rPr sz="1000" spc="85" dirty="0">
                <a:latin typeface="Calibri"/>
                <a:cs typeface="Calibri"/>
              </a:rPr>
              <a:t> </a:t>
            </a:r>
            <a:r>
              <a:rPr sz="1000" spc="-10" dirty="0">
                <a:latin typeface="Arial MT"/>
                <a:cs typeface="Arial MT"/>
              </a:rPr>
              <a:t>fF</a:t>
            </a:r>
            <a:r>
              <a:rPr sz="1000" spc="-60" dirty="0">
                <a:latin typeface="Arial MT"/>
                <a:cs typeface="Arial MT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Calibri"/>
                <a:cs typeface="Calibri"/>
              </a:rPr>
              <a:t>5</a:t>
            </a:r>
            <a:r>
              <a:rPr sz="1000" spc="90" dirty="0">
                <a:latin typeface="Calibri"/>
                <a:cs typeface="Calibri"/>
              </a:rPr>
              <a:t> </a:t>
            </a:r>
            <a:r>
              <a:rPr sz="1000" spc="-25" dirty="0">
                <a:latin typeface="Arial MT"/>
                <a:cs typeface="Arial MT"/>
              </a:rPr>
              <a:t>fF.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908096" y="772908"/>
            <a:ext cx="2745105" cy="198755"/>
          </a:xfrm>
          <a:custGeom>
            <a:avLst/>
            <a:gdLst/>
            <a:ahLst/>
            <a:cxnLst/>
            <a:rect l="l" t="t" r="r" b="b"/>
            <a:pathLst>
              <a:path w="2745104" h="198755">
                <a:moveTo>
                  <a:pt x="269414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744947" y="198367"/>
                </a:lnTo>
                <a:lnTo>
                  <a:pt x="2744947" y="50800"/>
                </a:lnTo>
                <a:lnTo>
                  <a:pt x="2740938" y="31075"/>
                </a:lnTo>
                <a:lnTo>
                  <a:pt x="2730024" y="14922"/>
                </a:lnTo>
                <a:lnTo>
                  <a:pt x="2713871" y="4008"/>
                </a:lnTo>
                <a:lnTo>
                  <a:pt x="2694146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958896" y="801356"/>
            <a:ext cx="106235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Metrics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Analyzed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908096" y="829824"/>
            <a:ext cx="2795905" cy="1993900"/>
            <a:chOff x="2908096" y="829824"/>
            <a:chExt cx="2795905" cy="1993900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08096" y="958621"/>
              <a:ext cx="2744947" cy="5060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958896" y="829824"/>
              <a:ext cx="2745105" cy="1993900"/>
            </a:xfrm>
            <a:custGeom>
              <a:avLst/>
              <a:gdLst/>
              <a:ahLst/>
              <a:cxnLst/>
              <a:rect l="l" t="t" r="r" b="b"/>
              <a:pathLst>
                <a:path w="2745104" h="1993900">
                  <a:moveTo>
                    <a:pt x="2744947" y="0"/>
                  </a:moveTo>
                  <a:lnTo>
                    <a:pt x="0" y="0"/>
                  </a:lnTo>
                  <a:lnTo>
                    <a:pt x="0" y="1993627"/>
                  </a:lnTo>
                  <a:lnTo>
                    <a:pt x="2744947" y="1993627"/>
                  </a:lnTo>
                  <a:lnTo>
                    <a:pt x="27449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08096" y="1002886"/>
              <a:ext cx="2745105" cy="1770380"/>
            </a:xfrm>
            <a:custGeom>
              <a:avLst/>
              <a:gdLst/>
              <a:ahLst/>
              <a:cxnLst/>
              <a:rect l="l" t="t" r="r" b="b"/>
              <a:pathLst>
                <a:path w="2745104" h="1770380">
                  <a:moveTo>
                    <a:pt x="2744947" y="0"/>
                  </a:moveTo>
                  <a:lnTo>
                    <a:pt x="0" y="0"/>
                  </a:lnTo>
                  <a:lnTo>
                    <a:pt x="0" y="1718964"/>
                  </a:lnTo>
                  <a:lnTo>
                    <a:pt x="4008" y="1738689"/>
                  </a:lnTo>
                  <a:lnTo>
                    <a:pt x="14922" y="1754841"/>
                  </a:lnTo>
                  <a:lnTo>
                    <a:pt x="31075" y="1765756"/>
                  </a:lnTo>
                  <a:lnTo>
                    <a:pt x="50800" y="1769764"/>
                  </a:lnTo>
                  <a:lnTo>
                    <a:pt x="2694146" y="1769764"/>
                  </a:lnTo>
                  <a:lnTo>
                    <a:pt x="2713871" y="1765756"/>
                  </a:lnTo>
                  <a:lnTo>
                    <a:pt x="2730024" y="1754841"/>
                  </a:lnTo>
                  <a:lnTo>
                    <a:pt x="2740938" y="1738689"/>
                  </a:lnTo>
                  <a:lnTo>
                    <a:pt x="2744947" y="1718964"/>
                  </a:lnTo>
                  <a:lnTo>
                    <a:pt x="2744947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40291" y="1034405"/>
              <a:ext cx="104301" cy="104301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3062947" y="1025025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040291" y="1527851"/>
            <a:ext cx="104301" cy="104301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062947" y="1518471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040291" y="2021309"/>
            <a:ext cx="104301" cy="104301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3062947" y="2011917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23242" y="3138668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latin typeface="Tahoma"/>
                <a:cs typeface="Tahoma"/>
              </a:rPr>
              <a:t>8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75" dirty="0">
                <a:latin typeface="Tahoma"/>
                <a:cs typeface="Tahoma"/>
              </a:rPr>
              <a:t>/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-25" dirty="0">
                <a:latin typeface="Tahoma"/>
                <a:cs typeface="Tahoma"/>
              </a:rPr>
              <a:t>12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173844" y="983874"/>
            <a:ext cx="2453640" cy="1468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85725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Average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Power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Dissipation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b="1" spc="80" dirty="0">
                <a:latin typeface="Arial"/>
                <a:cs typeface="Arial"/>
              </a:rPr>
              <a:t>(</a:t>
            </a:r>
            <a:r>
              <a:rPr sz="1000" i="1" spc="80" dirty="0">
                <a:latin typeface="Calibri"/>
                <a:cs typeface="Calibri"/>
              </a:rPr>
              <a:t>P</a:t>
            </a:r>
            <a:r>
              <a:rPr sz="1050" i="1" spc="120" baseline="-11904" dirty="0">
                <a:latin typeface="Calibri"/>
                <a:cs typeface="Calibri"/>
              </a:rPr>
              <a:t>avg</a:t>
            </a:r>
            <a:r>
              <a:rPr sz="1050" i="1" spc="-127" baseline="-11904" dirty="0">
                <a:latin typeface="Calibri"/>
                <a:cs typeface="Calibri"/>
              </a:rPr>
              <a:t> </a:t>
            </a:r>
            <a:r>
              <a:rPr sz="1000" b="1" dirty="0">
                <a:latin typeface="Arial"/>
                <a:cs typeface="Arial"/>
              </a:rPr>
              <a:t>):</a:t>
            </a:r>
            <a:r>
              <a:rPr sz="1000" b="1" spc="125" dirty="0">
                <a:latin typeface="Arial"/>
                <a:cs typeface="Arial"/>
              </a:rPr>
              <a:t> </a:t>
            </a:r>
            <a:r>
              <a:rPr sz="1000" spc="-10" dirty="0">
                <a:latin typeface="Arial MT"/>
                <a:cs typeface="Arial MT"/>
              </a:rPr>
              <a:t>Total </a:t>
            </a:r>
            <a:r>
              <a:rPr sz="1000" dirty="0">
                <a:latin typeface="Arial MT"/>
                <a:cs typeface="Arial MT"/>
              </a:rPr>
              <a:t>static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dynamic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power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measured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over </a:t>
            </a:r>
            <a:r>
              <a:rPr sz="1000" spc="-10" dirty="0">
                <a:latin typeface="Arial MT"/>
                <a:cs typeface="Arial MT"/>
              </a:rPr>
              <a:t>multiple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input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clock cycles.</a:t>
            </a:r>
            <a:endParaRPr sz="1000">
              <a:latin typeface="Arial MT"/>
              <a:cs typeface="Arial MT"/>
            </a:endParaRPr>
          </a:p>
          <a:p>
            <a:pPr marL="38100" marR="207010">
              <a:lnSpc>
                <a:spcPct val="100000"/>
              </a:lnSpc>
              <a:spcBef>
                <a:spcPts val="285"/>
              </a:spcBef>
            </a:pPr>
            <a:r>
              <a:rPr sz="1000" b="1" spc="-25" dirty="0">
                <a:latin typeface="Arial"/>
                <a:cs typeface="Arial"/>
              </a:rPr>
              <a:t>Propagation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Delay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b="1" spc="50" dirty="0">
                <a:latin typeface="Arial"/>
                <a:cs typeface="Arial"/>
              </a:rPr>
              <a:t>(</a:t>
            </a:r>
            <a:r>
              <a:rPr sz="1000" i="1" spc="50" dirty="0">
                <a:latin typeface="Calibri"/>
                <a:cs typeface="Calibri"/>
              </a:rPr>
              <a:t>t</a:t>
            </a:r>
            <a:r>
              <a:rPr sz="1050" i="1" spc="75" baseline="-11904" dirty="0">
                <a:latin typeface="Calibri"/>
                <a:cs typeface="Calibri"/>
              </a:rPr>
              <a:t>pd</a:t>
            </a:r>
            <a:r>
              <a:rPr sz="1000" b="1" spc="50" dirty="0">
                <a:latin typeface="Arial"/>
                <a:cs typeface="Arial"/>
              </a:rPr>
              <a:t>):</a:t>
            </a:r>
            <a:r>
              <a:rPr sz="1000" b="1" spc="125" dirty="0">
                <a:latin typeface="Arial"/>
                <a:cs typeface="Arial"/>
              </a:rPr>
              <a:t> </a:t>
            </a:r>
            <a:r>
              <a:rPr sz="1000" spc="-10" dirty="0">
                <a:latin typeface="Arial MT"/>
                <a:cs typeface="Arial MT"/>
              </a:rPr>
              <a:t>Maximum </a:t>
            </a:r>
            <a:r>
              <a:rPr sz="1000" spc="-30" dirty="0">
                <a:latin typeface="Arial MT"/>
                <a:cs typeface="Arial MT"/>
              </a:rPr>
              <a:t>propagation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time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measured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at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dirty="0">
                <a:latin typeface="Calibri"/>
                <a:cs typeface="Calibri"/>
              </a:rPr>
              <a:t>50%</a:t>
            </a:r>
            <a:r>
              <a:rPr sz="1000" spc="95" dirty="0">
                <a:latin typeface="Calibri"/>
                <a:cs typeface="Calibri"/>
              </a:rPr>
              <a:t> </a:t>
            </a:r>
            <a:r>
              <a:rPr sz="1000" spc="-40" dirty="0">
                <a:latin typeface="Arial MT"/>
                <a:cs typeface="Arial MT"/>
              </a:rPr>
              <a:t>signal </a:t>
            </a:r>
            <a:r>
              <a:rPr sz="1000" spc="-10" dirty="0">
                <a:latin typeface="Arial MT"/>
                <a:cs typeface="Arial MT"/>
              </a:rPr>
              <a:t>transitions.</a:t>
            </a:r>
            <a:endParaRPr sz="1000">
              <a:latin typeface="Arial MT"/>
              <a:cs typeface="Arial MT"/>
            </a:endParaRPr>
          </a:p>
          <a:p>
            <a:pPr marL="38100">
              <a:lnSpc>
                <a:spcPts val="1200"/>
              </a:lnSpc>
              <a:spcBef>
                <a:spcPts val="285"/>
              </a:spcBef>
            </a:pPr>
            <a:r>
              <a:rPr sz="1000" b="1" spc="-40" dirty="0">
                <a:latin typeface="Arial"/>
                <a:cs typeface="Arial"/>
              </a:rPr>
              <a:t>Power-</a:t>
            </a:r>
            <a:r>
              <a:rPr sz="1000" b="1" spc="-10" dirty="0">
                <a:latin typeface="Arial"/>
                <a:cs typeface="Arial"/>
              </a:rPr>
              <a:t>Delay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Product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(PDP):</a:t>
            </a:r>
            <a:endParaRPr sz="1000">
              <a:latin typeface="Arial"/>
              <a:cs typeface="Arial"/>
            </a:endParaRPr>
          </a:p>
          <a:p>
            <a:pPr marL="38100" marR="30480">
              <a:lnSpc>
                <a:spcPts val="1200"/>
              </a:lnSpc>
              <a:spcBef>
                <a:spcPts val="40"/>
              </a:spcBef>
            </a:pPr>
            <a:r>
              <a:rPr sz="1000" spc="-30" dirty="0">
                <a:latin typeface="Arial MT"/>
                <a:cs typeface="Arial MT"/>
              </a:rPr>
              <a:t>Figure-</a:t>
            </a:r>
            <a:r>
              <a:rPr sz="1000" spc="-25" dirty="0">
                <a:latin typeface="Arial MT"/>
                <a:cs typeface="Arial MT"/>
              </a:rPr>
              <a:t>of-</a:t>
            </a:r>
            <a:r>
              <a:rPr sz="1000" dirty="0">
                <a:latin typeface="Arial MT"/>
                <a:cs typeface="Arial MT"/>
              </a:rPr>
              <a:t>merit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representing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energy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efficiency </a:t>
            </a:r>
            <a:r>
              <a:rPr sz="1000" spc="-10" dirty="0">
                <a:latin typeface="Arial MT"/>
                <a:cs typeface="Arial MT"/>
              </a:rPr>
              <a:t>per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switching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operation: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73844" y="2552793"/>
            <a:ext cx="24720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090295" algn="l"/>
              </a:tabLst>
            </a:pPr>
            <a:r>
              <a:rPr sz="1000" dirty="0">
                <a:latin typeface="Arial MT"/>
                <a:cs typeface="Arial MT"/>
              </a:rPr>
              <a:t>PDP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270" dirty="0">
                <a:latin typeface="Calibri"/>
                <a:cs typeface="Calibri"/>
              </a:rPr>
              <a:t>=</a:t>
            </a:r>
            <a:r>
              <a:rPr sz="1000" spc="35" dirty="0">
                <a:latin typeface="Calibri"/>
                <a:cs typeface="Calibri"/>
              </a:rPr>
              <a:t> </a:t>
            </a:r>
            <a:r>
              <a:rPr sz="1000" i="1" spc="75" dirty="0">
                <a:latin typeface="Calibri"/>
                <a:cs typeface="Calibri"/>
              </a:rPr>
              <a:t>P</a:t>
            </a:r>
            <a:r>
              <a:rPr sz="1050" i="1" spc="112" baseline="-11904" dirty="0">
                <a:latin typeface="Calibri"/>
                <a:cs typeface="Calibri"/>
              </a:rPr>
              <a:t>avg</a:t>
            </a:r>
            <a:r>
              <a:rPr sz="1050" i="1" spc="-127" baseline="-11904" dirty="0">
                <a:latin typeface="Calibri"/>
                <a:cs typeface="Calibri"/>
              </a:rPr>
              <a:t> </a:t>
            </a:r>
            <a:r>
              <a:rPr sz="1000" spc="-20" dirty="0">
                <a:latin typeface="Lucida Sans Unicode"/>
                <a:cs typeface="Lucida Sans Unicode"/>
              </a:rPr>
              <a:t>×</a:t>
            </a:r>
            <a:r>
              <a:rPr sz="1000" i="1" spc="-20" dirty="0">
                <a:latin typeface="Calibri"/>
                <a:cs typeface="Calibri"/>
              </a:rPr>
              <a:t>t</a:t>
            </a:r>
            <a:r>
              <a:rPr sz="1050" i="1" spc="-30" baseline="-11904" dirty="0">
                <a:latin typeface="Calibri"/>
                <a:cs typeface="Calibri"/>
              </a:rPr>
              <a:t>pd</a:t>
            </a:r>
            <a:r>
              <a:rPr sz="1050" i="1" baseline="-11904" dirty="0">
                <a:latin typeface="Calibri"/>
                <a:cs typeface="Calibri"/>
              </a:rPr>
              <a:t>	</a:t>
            </a:r>
            <a:r>
              <a:rPr sz="1000" spc="-30" dirty="0">
                <a:latin typeface="Calibri"/>
                <a:cs typeface="Calibri"/>
              </a:rPr>
              <a:t>(</a:t>
            </a:r>
            <a:r>
              <a:rPr sz="1000" spc="-30" dirty="0">
                <a:latin typeface="Arial MT"/>
                <a:cs typeface="Arial MT"/>
              </a:rPr>
              <a:t>Joules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or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Joules</a:t>
            </a:r>
            <a:r>
              <a:rPr sz="1000" spc="-10" dirty="0">
                <a:latin typeface="Lucida Sans Unicode"/>
                <a:cs typeface="Lucida Sans Unicode"/>
              </a:rPr>
              <a:t>×</a:t>
            </a:r>
            <a:r>
              <a:rPr sz="1000" spc="-10" dirty="0">
                <a:latin typeface="Calibri"/>
                <a:cs typeface="Calibri"/>
              </a:rPr>
              <a:t>10</a:t>
            </a:r>
            <a:r>
              <a:rPr sz="1050" i="1" spc="-15" baseline="31746" dirty="0">
                <a:latin typeface="Arial"/>
                <a:cs typeface="Arial"/>
              </a:rPr>
              <a:t>−</a:t>
            </a:r>
            <a:r>
              <a:rPr sz="1050" spc="-15" baseline="31746" dirty="0">
                <a:latin typeface="Roboto"/>
                <a:cs typeface="Roboto"/>
              </a:rPr>
              <a:t>18</a:t>
            </a:r>
            <a:r>
              <a:rPr sz="1000" spc="-10" dirty="0">
                <a:latin typeface="Calibri"/>
                <a:cs typeface="Calibri"/>
              </a:rPr>
              <a:t>)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Quantitative</a:t>
            </a:r>
            <a:r>
              <a:rPr spc="-45" dirty="0"/>
              <a:t> Performance Comparison </a:t>
            </a:r>
            <a:r>
              <a:rPr spc="-30" dirty="0"/>
              <a:t>(45nm</a:t>
            </a:r>
            <a:r>
              <a:rPr spc="-40" dirty="0"/>
              <a:t> </a:t>
            </a:r>
            <a:r>
              <a:rPr spc="-10" dirty="0"/>
              <a:t>Node)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23242" y="3138668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latin typeface="Tahoma"/>
                <a:cs typeface="Tahoma"/>
              </a:rPr>
              <a:t>9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75" dirty="0">
                <a:latin typeface="Tahoma"/>
                <a:cs typeface="Tahoma"/>
              </a:rPr>
              <a:t>/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-25" dirty="0">
                <a:latin typeface="Tahoma"/>
                <a:cs typeface="Tahoma"/>
              </a:rPr>
              <a:t>12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5226" y="688792"/>
            <a:ext cx="50298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spc="-15" baseline="6172" dirty="0">
                <a:solidFill>
                  <a:srgbClr val="002B48"/>
                </a:solidFill>
                <a:latin typeface="Arial MT"/>
                <a:cs typeface="Arial MT"/>
              </a:rPr>
              <a:t>Table:</a:t>
            </a:r>
            <a:r>
              <a:rPr sz="1350" spc="52" baseline="6172" dirty="0">
                <a:solidFill>
                  <a:srgbClr val="002B48"/>
                </a:solidFill>
                <a:latin typeface="Arial MT"/>
                <a:cs typeface="Arial MT"/>
              </a:rPr>
              <a:t> </a:t>
            </a:r>
            <a:r>
              <a:rPr sz="1350" spc="-52" baseline="6172" dirty="0">
                <a:latin typeface="Arial MT"/>
                <a:cs typeface="Arial MT"/>
              </a:rPr>
              <a:t>Performance</a:t>
            </a:r>
            <a:r>
              <a:rPr sz="1350" spc="52" baseline="6172" dirty="0">
                <a:latin typeface="Arial MT"/>
                <a:cs typeface="Arial MT"/>
              </a:rPr>
              <a:t> </a:t>
            </a:r>
            <a:r>
              <a:rPr sz="1350" spc="-44" baseline="6172" dirty="0">
                <a:latin typeface="Arial MT"/>
                <a:cs typeface="Arial MT"/>
              </a:rPr>
              <a:t>comparison</a:t>
            </a:r>
            <a:r>
              <a:rPr sz="1350" spc="60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of</a:t>
            </a:r>
            <a:r>
              <a:rPr sz="1350" spc="52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1-Bit</a:t>
            </a:r>
            <a:r>
              <a:rPr sz="1350" spc="52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Magnitude</a:t>
            </a:r>
            <a:r>
              <a:rPr sz="1350" spc="60" baseline="6172" dirty="0">
                <a:latin typeface="Arial MT"/>
                <a:cs typeface="Arial MT"/>
              </a:rPr>
              <a:t> </a:t>
            </a:r>
            <a:r>
              <a:rPr sz="1350" spc="-44" baseline="6172" dirty="0">
                <a:latin typeface="Arial MT"/>
                <a:cs typeface="Arial MT"/>
              </a:rPr>
              <a:t>Comparators</a:t>
            </a:r>
            <a:r>
              <a:rPr sz="1350" spc="52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at</a:t>
            </a:r>
            <a:r>
              <a:rPr sz="1350" spc="60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45nm</a:t>
            </a:r>
            <a:r>
              <a:rPr sz="1350" spc="52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PTM</a:t>
            </a:r>
            <a:r>
              <a:rPr sz="1350" spc="52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Node</a:t>
            </a:r>
            <a:r>
              <a:rPr sz="1350" spc="60" baseline="6172" dirty="0">
                <a:latin typeface="Arial MT"/>
                <a:cs typeface="Arial MT"/>
              </a:rPr>
              <a:t> </a:t>
            </a:r>
            <a:r>
              <a:rPr sz="1350" spc="195" baseline="6172" dirty="0">
                <a:latin typeface="Arial MT"/>
                <a:cs typeface="Arial MT"/>
              </a:rPr>
              <a:t>(</a:t>
            </a:r>
            <a:r>
              <a:rPr sz="1350" i="1" spc="195" baseline="6172" dirty="0">
                <a:latin typeface="Calibri"/>
                <a:cs typeface="Calibri"/>
              </a:rPr>
              <a:t>V</a:t>
            </a:r>
            <a:r>
              <a:rPr sz="600" i="1" spc="130" dirty="0">
                <a:latin typeface="Calibri"/>
                <a:cs typeface="Calibri"/>
              </a:rPr>
              <a:t>DD</a:t>
            </a:r>
            <a:r>
              <a:rPr sz="600" i="1" spc="165" dirty="0">
                <a:latin typeface="Calibri"/>
                <a:cs typeface="Calibri"/>
              </a:rPr>
              <a:t> </a:t>
            </a:r>
            <a:r>
              <a:rPr sz="1350" spc="397" baseline="6172" dirty="0">
                <a:latin typeface="Calibri"/>
                <a:cs typeface="Calibri"/>
              </a:rPr>
              <a:t>=</a:t>
            </a:r>
            <a:r>
              <a:rPr sz="1350" spc="52" baseline="6172" dirty="0">
                <a:latin typeface="Calibri"/>
                <a:cs typeface="Calibri"/>
              </a:rPr>
              <a:t> </a:t>
            </a:r>
            <a:r>
              <a:rPr sz="1350" spc="-15" baseline="6172" dirty="0">
                <a:latin typeface="Calibri"/>
                <a:cs typeface="Calibri"/>
              </a:rPr>
              <a:t>1</a:t>
            </a:r>
            <a:r>
              <a:rPr sz="1350" i="1" spc="-15" baseline="6172" dirty="0">
                <a:latin typeface="Calibri"/>
                <a:cs typeface="Calibri"/>
              </a:rPr>
              <a:t>.</a:t>
            </a:r>
            <a:r>
              <a:rPr sz="1350" spc="-15" baseline="6172" dirty="0">
                <a:latin typeface="Calibri"/>
                <a:cs typeface="Calibri"/>
              </a:rPr>
              <a:t>0</a:t>
            </a:r>
            <a:r>
              <a:rPr sz="1350" spc="-15" baseline="6172" dirty="0">
                <a:latin typeface="Arial MT"/>
                <a:cs typeface="Arial MT"/>
              </a:rPr>
              <a:t>V)</a:t>
            </a:r>
            <a:endParaRPr sz="1350" baseline="6172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85432" y="937463"/>
          <a:ext cx="5265420" cy="829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7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1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8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637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900" b="1" spc="-30" dirty="0">
                          <a:latin typeface="Arial"/>
                          <a:cs typeface="Arial"/>
                        </a:rPr>
                        <a:t>Design</a:t>
                      </a:r>
                      <a:r>
                        <a:rPr sz="900" b="1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Architecture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900" b="1" spc="-35" dirty="0">
                          <a:latin typeface="Arial"/>
                          <a:cs typeface="Arial"/>
                        </a:rPr>
                        <a:t>Transistor</a:t>
                      </a:r>
                      <a:r>
                        <a:rPr sz="9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Count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Delay</a:t>
                      </a:r>
                      <a:r>
                        <a:rPr sz="900" b="1" spc="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7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i="1" spc="7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900" i="1" spc="112" baseline="-9259" dirty="0">
                          <a:latin typeface="Calibri"/>
                          <a:cs typeface="Calibri"/>
                        </a:rPr>
                        <a:t>pd</a:t>
                      </a:r>
                      <a:r>
                        <a:rPr sz="900" b="1" spc="7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900" b="1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[ps]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350" b="1" spc="-44" baseline="6172" dirty="0">
                          <a:latin typeface="Arial"/>
                          <a:cs typeface="Arial"/>
                        </a:rPr>
                        <a:t>Power</a:t>
                      </a:r>
                      <a:r>
                        <a:rPr sz="1350" b="1" spc="52" baseline="6172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spc="142" baseline="6172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350" i="1" spc="142" baseline="6172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600" i="1" spc="95" dirty="0">
                          <a:latin typeface="Calibri"/>
                          <a:cs typeface="Calibri"/>
                        </a:rPr>
                        <a:t>avg</a:t>
                      </a:r>
                      <a:r>
                        <a:rPr sz="600" i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spc="120" baseline="6172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1350" b="1" spc="67" baseline="6172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spc="-30" baseline="6172" dirty="0">
                          <a:latin typeface="Arial"/>
                          <a:cs typeface="Arial"/>
                        </a:rPr>
                        <a:t>[</a:t>
                      </a:r>
                      <a:r>
                        <a:rPr sz="1350" i="1" spc="-30" baseline="6172" dirty="0">
                          <a:latin typeface="Calibri"/>
                          <a:cs typeface="Calibri"/>
                        </a:rPr>
                        <a:t>µ</a:t>
                      </a:r>
                      <a:r>
                        <a:rPr sz="1350" b="1" spc="-30" baseline="6172" dirty="0">
                          <a:latin typeface="Arial"/>
                          <a:cs typeface="Arial"/>
                        </a:rPr>
                        <a:t>W]</a:t>
                      </a:r>
                      <a:endParaRPr sz="1350" baseline="6172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PDP</a:t>
                      </a:r>
                      <a:r>
                        <a:rPr sz="900" b="1" spc="1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[aJ]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Static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CMOS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Comparator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286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26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286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48.2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286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14.82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286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714.3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286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900" spc="-35" dirty="0">
                          <a:latin typeface="Arial MT"/>
                          <a:cs typeface="Arial MT"/>
                        </a:rPr>
                        <a:t>Transmission</a:t>
                      </a:r>
                      <a:r>
                        <a:rPr sz="9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Gate</a:t>
                      </a:r>
                      <a:r>
                        <a:rPr sz="9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(TG)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95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16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955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31.5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955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8.94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95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281.6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900" spc="-70" dirty="0">
                          <a:latin typeface="Arial MT"/>
                          <a:cs typeface="Arial MT"/>
                        </a:rPr>
                        <a:t>Pass</a:t>
                      </a:r>
                      <a:r>
                        <a:rPr sz="9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Transistor</a:t>
                      </a:r>
                      <a:r>
                        <a:rPr sz="9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(PTL)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95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12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955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27.8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955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6.45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95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179.3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910">
                <a:tc>
                  <a:txBody>
                    <a:bodyPr/>
                    <a:lstStyle/>
                    <a:p>
                      <a:pPr marL="75565">
                        <a:lnSpc>
                          <a:spcPts val="965"/>
                        </a:lnSpc>
                      </a:pPr>
                      <a:r>
                        <a:rPr sz="900" b="1" spc="-35" dirty="0">
                          <a:latin typeface="Arial"/>
                          <a:cs typeface="Arial"/>
                        </a:rPr>
                        <a:t>Proposed</a:t>
                      </a:r>
                      <a:r>
                        <a:rPr sz="900" b="1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GDI</a:t>
                      </a:r>
                      <a:r>
                        <a:rPr sz="900" b="1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Design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b="1" spc="-25" dirty="0">
                          <a:latin typeface="Arial"/>
                          <a:cs typeface="Arial"/>
                        </a:rPr>
                        <a:t>10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b="1" spc="-20" dirty="0">
                          <a:latin typeface="Arial"/>
                          <a:cs typeface="Arial"/>
                        </a:rPr>
                        <a:t>18.4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b="1" spc="-20" dirty="0">
                          <a:latin typeface="Arial"/>
                          <a:cs typeface="Arial"/>
                        </a:rPr>
                        <a:t>2.15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39.56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Quantitative</a:t>
            </a:r>
            <a:r>
              <a:rPr spc="-45" dirty="0"/>
              <a:t> Performance Comparison </a:t>
            </a:r>
            <a:r>
              <a:rPr spc="-30" dirty="0"/>
              <a:t>(45nm</a:t>
            </a:r>
            <a:r>
              <a:rPr spc="-40" dirty="0"/>
              <a:t> </a:t>
            </a:r>
            <a:r>
              <a:rPr spc="-10" dirty="0"/>
              <a:t>Node)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5226" y="688792"/>
            <a:ext cx="50298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spc="-15" baseline="6172" dirty="0">
                <a:solidFill>
                  <a:srgbClr val="002B48"/>
                </a:solidFill>
                <a:latin typeface="Arial MT"/>
                <a:cs typeface="Arial MT"/>
              </a:rPr>
              <a:t>Table:</a:t>
            </a:r>
            <a:r>
              <a:rPr sz="1350" spc="52" baseline="6172" dirty="0">
                <a:solidFill>
                  <a:srgbClr val="002B48"/>
                </a:solidFill>
                <a:latin typeface="Arial MT"/>
                <a:cs typeface="Arial MT"/>
              </a:rPr>
              <a:t> </a:t>
            </a:r>
            <a:r>
              <a:rPr sz="1350" spc="-52" baseline="6172" dirty="0">
                <a:latin typeface="Arial MT"/>
                <a:cs typeface="Arial MT"/>
              </a:rPr>
              <a:t>Performance</a:t>
            </a:r>
            <a:r>
              <a:rPr sz="1350" spc="52" baseline="6172" dirty="0">
                <a:latin typeface="Arial MT"/>
                <a:cs typeface="Arial MT"/>
              </a:rPr>
              <a:t> </a:t>
            </a:r>
            <a:r>
              <a:rPr sz="1350" spc="-44" baseline="6172" dirty="0">
                <a:latin typeface="Arial MT"/>
                <a:cs typeface="Arial MT"/>
              </a:rPr>
              <a:t>comparison</a:t>
            </a:r>
            <a:r>
              <a:rPr sz="1350" spc="60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of</a:t>
            </a:r>
            <a:r>
              <a:rPr sz="1350" spc="52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1-Bit</a:t>
            </a:r>
            <a:r>
              <a:rPr sz="1350" spc="52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Magnitude</a:t>
            </a:r>
            <a:r>
              <a:rPr sz="1350" spc="60" baseline="6172" dirty="0">
                <a:latin typeface="Arial MT"/>
                <a:cs typeface="Arial MT"/>
              </a:rPr>
              <a:t> </a:t>
            </a:r>
            <a:r>
              <a:rPr sz="1350" spc="-44" baseline="6172" dirty="0">
                <a:latin typeface="Arial MT"/>
                <a:cs typeface="Arial MT"/>
              </a:rPr>
              <a:t>Comparators</a:t>
            </a:r>
            <a:r>
              <a:rPr sz="1350" spc="52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at</a:t>
            </a:r>
            <a:r>
              <a:rPr sz="1350" spc="60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45nm</a:t>
            </a:r>
            <a:r>
              <a:rPr sz="1350" spc="52" baseline="6172" dirty="0">
                <a:latin typeface="Arial MT"/>
                <a:cs typeface="Arial MT"/>
              </a:rPr>
              <a:t> </a:t>
            </a:r>
            <a:r>
              <a:rPr sz="1350" baseline="6172" dirty="0">
                <a:latin typeface="Arial MT"/>
                <a:cs typeface="Arial MT"/>
              </a:rPr>
              <a:t>PTM</a:t>
            </a:r>
            <a:r>
              <a:rPr sz="1350" spc="52" baseline="6172" dirty="0">
                <a:latin typeface="Arial MT"/>
                <a:cs typeface="Arial MT"/>
              </a:rPr>
              <a:t> </a:t>
            </a:r>
            <a:r>
              <a:rPr sz="1350" spc="-15" baseline="6172" dirty="0">
                <a:latin typeface="Arial MT"/>
                <a:cs typeface="Arial MT"/>
              </a:rPr>
              <a:t>Node</a:t>
            </a:r>
            <a:r>
              <a:rPr sz="1350" spc="60" baseline="6172" dirty="0">
                <a:latin typeface="Arial MT"/>
                <a:cs typeface="Arial MT"/>
              </a:rPr>
              <a:t> </a:t>
            </a:r>
            <a:r>
              <a:rPr sz="1350" spc="195" baseline="6172" dirty="0">
                <a:latin typeface="Arial MT"/>
                <a:cs typeface="Arial MT"/>
              </a:rPr>
              <a:t>(</a:t>
            </a:r>
            <a:r>
              <a:rPr sz="1350" i="1" spc="195" baseline="6172" dirty="0">
                <a:latin typeface="Calibri"/>
                <a:cs typeface="Calibri"/>
              </a:rPr>
              <a:t>V</a:t>
            </a:r>
            <a:r>
              <a:rPr sz="600" i="1" spc="130" dirty="0">
                <a:latin typeface="Calibri"/>
                <a:cs typeface="Calibri"/>
              </a:rPr>
              <a:t>DD</a:t>
            </a:r>
            <a:r>
              <a:rPr sz="600" i="1" spc="165" dirty="0">
                <a:latin typeface="Calibri"/>
                <a:cs typeface="Calibri"/>
              </a:rPr>
              <a:t> </a:t>
            </a:r>
            <a:r>
              <a:rPr sz="1350" spc="397" baseline="6172" dirty="0">
                <a:latin typeface="Calibri"/>
                <a:cs typeface="Calibri"/>
              </a:rPr>
              <a:t>=</a:t>
            </a:r>
            <a:r>
              <a:rPr sz="1350" spc="52" baseline="6172" dirty="0">
                <a:latin typeface="Calibri"/>
                <a:cs typeface="Calibri"/>
              </a:rPr>
              <a:t> </a:t>
            </a:r>
            <a:r>
              <a:rPr sz="1350" spc="-15" baseline="6172" dirty="0">
                <a:latin typeface="Calibri"/>
                <a:cs typeface="Calibri"/>
              </a:rPr>
              <a:t>1</a:t>
            </a:r>
            <a:r>
              <a:rPr sz="1350" i="1" spc="-15" baseline="6172" dirty="0">
                <a:latin typeface="Calibri"/>
                <a:cs typeface="Calibri"/>
              </a:rPr>
              <a:t>.</a:t>
            </a:r>
            <a:r>
              <a:rPr sz="1350" spc="-15" baseline="6172" dirty="0">
                <a:latin typeface="Calibri"/>
                <a:cs typeface="Calibri"/>
              </a:rPr>
              <a:t>0</a:t>
            </a:r>
            <a:r>
              <a:rPr sz="1350" spc="-15" baseline="6172" dirty="0">
                <a:latin typeface="Arial MT"/>
                <a:cs typeface="Arial MT"/>
              </a:rPr>
              <a:t>V)</a:t>
            </a:r>
            <a:endParaRPr sz="1350" baseline="6172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85432" y="937463"/>
          <a:ext cx="5265420" cy="829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7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1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8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637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900" b="1" spc="-30" dirty="0">
                          <a:latin typeface="Arial"/>
                          <a:cs typeface="Arial"/>
                        </a:rPr>
                        <a:t>Design</a:t>
                      </a:r>
                      <a:r>
                        <a:rPr sz="900" b="1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Architecture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900" b="1" spc="-35" dirty="0">
                          <a:latin typeface="Arial"/>
                          <a:cs typeface="Arial"/>
                        </a:rPr>
                        <a:t>Transistor</a:t>
                      </a:r>
                      <a:r>
                        <a:rPr sz="9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Count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Delay</a:t>
                      </a:r>
                      <a:r>
                        <a:rPr sz="900" b="1" spc="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7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i="1" spc="7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900" i="1" spc="112" baseline="-9259" dirty="0">
                          <a:latin typeface="Calibri"/>
                          <a:cs typeface="Calibri"/>
                        </a:rPr>
                        <a:t>pd</a:t>
                      </a:r>
                      <a:r>
                        <a:rPr sz="900" b="1" spc="7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900" b="1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[ps]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350" b="1" spc="-44" baseline="6172" dirty="0">
                          <a:latin typeface="Arial"/>
                          <a:cs typeface="Arial"/>
                        </a:rPr>
                        <a:t>Power</a:t>
                      </a:r>
                      <a:r>
                        <a:rPr sz="1350" b="1" spc="52" baseline="6172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spc="142" baseline="6172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350" i="1" spc="142" baseline="6172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600" i="1" spc="95" dirty="0">
                          <a:latin typeface="Calibri"/>
                          <a:cs typeface="Calibri"/>
                        </a:rPr>
                        <a:t>avg</a:t>
                      </a:r>
                      <a:r>
                        <a:rPr sz="600" i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spc="120" baseline="6172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1350" b="1" spc="67" baseline="6172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spc="-30" baseline="6172" dirty="0">
                          <a:latin typeface="Arial"/>
                          <a:cs typeface="Arial"/>
                        </a:rPr>
                        <a:t>[</a:t>
                      </a:r>
                      <a:r>
                        <a:rPr sz="1350" i="1" spc="-30" baseline="6172" dirty="0">
                          <a:latin typeface="Calibri"/>
                          <a:cs typeface="Calibri"/>
                        </a:rPr>
                        <a:t>µ</a:t>
                      </a:r>
                      <a:r>
                        <a:rPr sz="1350" b="1" spc="-30" baseline="6172" dirty="0">
                          <a:latin typeface="Arial"/>
                          <a:cs typeface="Arial"/>
                        </a:rPr>
                        <a:t>W]</a:t>
                      </a:r>
                      <a:endParaRPr sz="1350" baseline="6172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PDP</a:t>
                      </a:r>
                      <a:r>
                        <a:rPr sz="900" b="1" spc="1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[aJ]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Static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CMOS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Comparator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286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26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286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48.2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286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14.82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286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714.3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286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900" spc="-35" dirty="0">
                          <a:latin typeface="Arial MT"/>
                          <a:cs typeface="Arial MT"/>
                        </a:rPr>
                        <a:t>Transmission</a:t>
                      </a:r>
                      <a:r>
                        <a:rPr sz="9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Gate</a:t>
                      </a:r>
                      <a:r>
                        <a:rPr sz="9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(TG)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95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16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955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31.5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955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8.94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95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281.6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900" spc="-70" dirty="0">
                          <a:latin typeface="Arial MT"/>
                          <a:cs typeface="Arial MT"/>
                        </a:rPr>
                        <a:t>Pass</a:t>
                      </a:r>
                      <a:r>
                        <a:rPr sz="9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Transistor</a:t>
                      </a:r>
                      <a:r>
                        <a:rPr sz="9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(PTL)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955"/>
                        </a:lnSpc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12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955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27.8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955"/>
                        </a:lnSpc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6.45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955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179.3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910">
                <a:tc>
                  <a:txBody>
                    <a:bodyPr/>
                    <a:lstStyle/>
                    <a:p>
                      <a:pPr marL="75565">
                        <a:lnSpc>
                          <a:spcPts val="965"/>
                        </a:lnSpc>
                      </a:pPr>
                      <a:r>
                        <a:rPr sz="900" b="1" spc="-35" dirty="0">
                          <a:latin typeface="Arial"/>
                          <a:cs typeface="Arial"/>
                        </a:rPr>
                        <a:t>Proposed</a:t>
                      </a:r>
                      <a:r>
                        <a:rPr sz="900" b="1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GDI</a:t>
                      </a:r>
                      <a:r>
                        <a:rPr sz="900" b="1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Design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b="1" spc="-25" dirty="0">
                          <a:latin typeface="Arial"/>
                          <a:cs typeface="Arial"/>
                        </a:rPr>
                        <a:t>10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b="1" spc="-20" dirty="0">
                          <a:latin typeface="Arial"/>
                          <a:cs typeface="Arial"/>
                        </a:rPr>
                        <a:t>18.4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b="1" spc="-20" dirty="0">
                          <a:latin typeface="Arial"/>
                          <a:cs typeface="Arial"/>
                        </a:rPr>
                        <a:t>2.15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39.56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75729" y="1975446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6530" y="2003894"/>
            <a:ext cx="14166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Highlight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90" dirty="0">
                <a:solidFill>
                  <a:srgbClr val="FFFFFF"/>
                </a:solidFill>
                <a:latin typeface="Tahoma"/>
                <a:cs typeface="Tahoma"/>
              </a:rPr>
              <a:t>Improvement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5729" y="2032374"/>
            <a:ext cx="5659755" cy="944880"/>
            <a:chOff x="75729" y="2032374"/>
            <a:chExt cx="5659755" cy="94488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2161158"/>
              <a:ext cx="5608620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26530" y="2032374"/>
              <a:ext cx="5608955" cy="944880"/>
            </a:xfrm>
            <a:custGeom>
              <a:avLst/>
              <a:gdLst/>
              <a:ahLst/>
              <a:cxnLst/>
              <a:rect l="l" t="t" r="r" b="b"/>
              <a:pathLst>
                <a:path w="5608955" h="944880">
                  <a:moveTo>
                    <a:pt x="5608620" y="0"/>
                  </a:moveTo>
                  <a:lnTo>
                    <a:pt x="0" y="0"/>
                  </a:lnTo>
                  <a:lnTo>
                    <a:pt x="0" y="944506"/>
                  </a:lnTo>
                  <a:lnTo>
                    <a:pt x="5608620" y="944506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729" y="2205436"/>
              <a:ext cx="5608955" cy="720725"/>
            </a:xfrm>
            <a:custGeom>
              <a:avLst/>
              <a:gdLst/>
              <a:ahLst/>
              <a:cxnLst/>
              <a:rect l="l" t="t" r="r" b="b"/>
              <a:pathLst>
                <a:path w="5608955" h="720725">
                  <a:moveTo>
                    <a:pt x="5608620" y="0"/>
                  </a:moveTo>
                  <a:lnTo>
                    <a:pt x="0" y="0"/>
                  </a:lnTo>
                  <a:lnTo>
                    <a:pt x="0" y="669843"/>
                  </a:lnTo>
                  <a:lnTo>
                    <a:pt x="4008" y="689568"/>
                  </a:lnTo>
                  <a:lnTo>
                    <a:pt x="14922" y="705721"/>
                  </a:lnTo>
                  <a:lnTo>
                    <a:pt x="31075" y="716635"/>
                  </a:lnTo>
                  <a:lnTo>
                    <a:pt x="50800" y="720643"/>
                  </a:lnTo>
                  <a:lnTo>
                    <a:pt x="5557819" y="720643"/>
                  </a:lnTo>
                  <a:lnTo>
                    <a:pt x="5577544" y="716635"/>
                  </a:lnTo>
                  <a:lnTo>
                    <a:pt x="5593697" y="705721"/>
                  </a:lnTo>
                  <a:lnTo>
                    <a:pt x="5604611" y="689568"/>
                  </a:lnTo>
                  <a:lnTo>
                    <a:pt x="5608620" y="669843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705" y="2263508"/>
              <a:ext cx="59601" cy="5960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705" y="2453296"/>
              <a:ext cx="59601" cy="5960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705" y="2643085"/>
              <a:ext cx="59601" cy="5960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5729" y="2148452"/>
            <a:ext cx="5659755" cy="74676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395"/>
              </a:spcBef>
            </a:pPr>
            <a:r>
              <a:rPr sz="1000" b="1" spc="-35" dirty="0">
                <a:latin typeface="Arial"/>
                <a:cs typeface="Arial"/>
              </a:rPr>
              <a:t>Transistor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Count</a:t>
            </a:r>
            <a:r>
              <a:rPr sz="1000" b="1" spc="5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Reduction: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spc="-30" dirty="0">
                <a:latin typeface="Arial MT"/>
                <a:cs typeface="Arial MT"/>
              </a:rPr>
              <a:t>61.5%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savings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over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Static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CMOS,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37.5%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over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TG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design.</a:t>
            </a:r>
            <a:endParaRPr sz="1000">
              <a:latin typeface="Arial MT"/>
              <a:cs typeface="Arial MT"/>
            </a:endParaRPr>
          </a:p>
          <a:p>
            <a:pPr marL="303530">
              <a:lnSpc>
                <a:spcPct val="100000"/>
              </a:lnSpc>
              <a:spcBef>
                <a:spcPts val="295"/>
              </a:spcBef>
            </a:pPr>
            <a:r>
              <a:rPr sz="1000" b="1" spc="-30" dirty="0">
                <a:latin typeface="Arial"/>
                <a:cs typeface="Arial"/>
              </a:rPr>
              <a:t>Power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Reduction:</a:t>
            </a:r>
            <a:r>
              <a:rPr sz="1000" b="1" spc="114" dirty="0">
                <a:latin typeface="Arial"/>
                <a:cs typeface="Arial"/>
              </a:rPr>
              <a:t> </a:t>
            </a:r>
            <a:r>
              <a:rPr sz="1000" spc="-30" dirty="0">
                <a:latin typeface="Arial MT"/>
                <a:cs typeface="Arial MT"/>
              </a:rPr>
              <a:t>Over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b="1" dirty="0">
                <a:latin typeface="Arial"/>
                <a:cs typeface="Arial"/>
              </a:rPr>
              <a:t>85.4%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lower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power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spc="-50" dirty="0">
                <a:latin typeface="Arial MT"/>
                <a:cs typeface="Arial MT"/>
              </a:rPr>
              <a:t>compared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static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CMOS.</a:t>
            </a:r>
            <a:endParaRPr sz="1000">
              <a:latin typeface="Arial MT"/>
              <a:cs typeface="Arial MT"/>
            </a:endParaRPr>
          </a:p>
          <a:p>
            <a:pPr marL="303530">
              <a:lnSpc>
                <a:spcPts val="1200"/>
              </a:lnSpc>
              <a:spcBef>
                <a:spcPts val="290"/>
              </a:spcBef>
            </a:pPr>
            <a:r>
              <a:rPr sz="1000" b="1" dirty="0">
                <a:latin typeface="Arial"/>
                <a:cs typeface="Arial"/>
              </a:rPr>
              <a:t>PDP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Improvement:</a:t>
            </a:r>
            <a:r>
              <a:rPr sz="1000" b="1" spc="120" dirty="0">
                <a:latin typeface="Arial"/>
                <a:cs typeface="Arial"/>
              </a:rPr>
              <a:t> </a:t>
            </a:r>
            <a:r>
              <a:rPr sz="1000" spc="-25" dirty="0">
                <a:latin typeface="Arial MT"/>
                <a:cs typeface="Arial MT"/>
              </a:rPr>
              <a:t>Over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b="1" dirty="0">
                <a:latin typeface="Arial"/>
                <a:cs typeface="Arial"/>
              </a:rPr>
              <a:t>18</a:t>
            </a:r>
            <a:r>
              <a:rPr sz="1000" dirty="0">
                <a:latin typeface="Lucida Sans Unicode"/>
                <a:cs typeface="Lucida Sans Unicode"/>
              </a:rPr>
              <a:t>×</a:t>
            </a:r>
            <a:r>
              <a:rPr sz="1000" spc="15" dirty="0">
                <a:latin typeface="Lucida Sans Unicode"/>
                <a:cs typeface="Lucida Sans Unicode"/>
              </a:rPr>
              <a:t> </a:t>
            </a:r>
            <a:r>
              <a:rPr sz="1000" b="1" spc="-35" dirty="0">
                <a:latin typeface="Arial"/>
                <a:cs typeface="Arial"/>
              </a:rPr>
              <a:t>lower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PDP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spc="-50" dirty="0">
                <a:latin typeface="Arial MT"/>
                <a:cs typeface="Arial MT"/>
              </a:rPr>
              <a:t>compared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static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CMOS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b="1" dirty="0">
                <a:latin typeface="Arial"/>
                <a:cs typeface="Arial"/>
              </a:rPr>
              <a:t>4.5</a:t>
            </a:r>
            <a:r>
              <a:rPr sz="1000" dirty="0">
                <a:latin typeface="Lucida Sans Unicode"/>
                <a:cs typeface="Lucida Sans Unicode"/>
              </a:rPr>
              <a:t>×</a:t>
            </a:r>
            <a:r>
              <a:rPr sz="1000" spc="15" dirty="0">
                <a:latin typeface="Lucida Sans Unicode"/>
                <a:cs typeface="Lucida Sans Unicode"/>
              </a:rPr>
              <a:t> </a:t>
            </a:r>
            <a:r>
              <a:rPr sz="1000" b="1" spc="-35" dirty="0">
                <a:latin typeface="Arial"/>
                <a:cs typeface="Arial"/>
              </a:rPr>
              <a:t>lower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PDP</a:t>
            </a:r>
            <a:endParaRPr sz="1000">
              <a:latin typeface="Arial"/>
              <a:cs typeface="Arial"/>
            </a:endParaRPr>
          </a:p>
          <a:p>
            <a:pPr marL="303530">
              <a:lnSpc>
                <a:spcPts val="1200"/>
              </a:lnSpc>
            </a:pPr>
            <a:r>
              <a:rPr sz="1000" spc="-50" dirty="0">
                <a:latin typeface="Arial MT"/>
                <a:cs typeface="Arial MT"/>
              </a:rPr>
              <a:t>compared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PTL.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23242" y="3138668"/>
            <a:ext cx="182245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latin typeface="Tahoma"/>
                <a:cs typeface="Tahoma"/>
              </a:rPr>
              <a:t>9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75" dirty="0">
                <a:latin typeface="Tahoma"/>
                <a:cs typeface="Tahoma"/>
              </a:rPr>
              <a:t>/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-25" dirty="0">
                <a:latin typeface="Tahoma"/>
                <a:cs typeface="Tahoma"/>
              </a:rPr>
              <a:t>12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38125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Graphical</a:t>
            </a:r>
            <a:r>
              <a:rPr spc="-30" dirty="0"/>
              <a:t> Analysis:</a:t>
            </a:r>
            <a:r>
              <a:rPr spc="110" dirty="0"/>
              <a:t> </a:t>
            </a:r>
            <a:r>
              <a:rPr spc="-60" dirty="0"/>
              <a:t>Delay,</a:t>
            </a:r>
            <a:r>
              <a:rPr spc="-30" dirty="0"/>
              <a:t> </a:t>
            </a:r>
            <a:r>
              <a:rPr spc="-50" dirty="0"/>
              <a:t>Power,</a:t>
            </a:r>
            <a:r>
              <a:rPr spc="-25" dirty="0"/>
              <a:t> </a:t>
            </a:r>
            <a:r>
              <a:rPr spc="-30" dirty="0"/>
              <a:t>and </a:t>
            </a:r>
            <a:r>
              <a:rPr spc="90" dirty="0"/>
              <a:t>PDP</a:t>
            </a:r>
            <a:r>
              <a:rPr spc="-25" dirty="0"/>
              <a:t> </a:t>
            </a:r>
            <a:r>
              <a:rPr spc="-20" dirty="0"/>
              <a:t>Trends</a:t>
            </a:r>
          </a:p>
        </p:txBody>
      </p:sp>
      <p:sp>
        <p:nvSpPr>
          <p:cNvPr id="3" name="object 3"/>
          <p:cNvSpPr/>
          <p:nvPr/>
        </p:nvSpPr>
        <p:spPr>
          <a:xfrm>
            <a:off x="67499" y="1026858"/>
            <a:ext cx="1864360" cy="198755"/>
          </a:xfrm>
          <a:custGeom>
            <a:avLst/>
            <a:gdLst/>
            <a:ahLst/>
            <a:cxnLst/>
            <a:rect l="l" t="t" r="r" b="b"/>
            <a:pathLst>
              <a:path w="1864360" h="198755">
                <a:moveTo>
                  <a:pt x="181308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1863887" y="198367"/>
                </a:lnTo>
                <a:lnTo>
                  <a:pt x="1863887" y="50800"/>
                </a:lnTo>
                <a:lnTo>
                  <a:pt x="1859879" y="31075"/>
                </a:lnTo>
                <a:lnTo>
                  <a:pt x="1848964" y="14922"/>
                </a:lnTo>
                <a:lnTo>
                  <a:pt x="1832811" y="4008"/>
                </a:lnTo>
                <a:lnTo>
                  <a:pt x="1813087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8300" y="1055305"/>
            <a:ext cx="114427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Propagation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Delay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7499" y="1083782"/>
            <a:ext cx="1915160" cy="1358900"/>
            <a:chOff x="67499" y="1083782"/>
            <a:chExt cx="1915160" cy="13589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99" y="1212570"/>
              <a:ext cx="1863887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8300" y="1083782"/>
              <a:ext cx="1864360" cy="1358900"/>
            </a:xfrm>
            <a:custGeom>
              <a:avLst/>
              <a:gdLst/>
              <a:ahLst/>
              <a:cxnLst/>
              <a:rect l="l" t="t" r="r" b="b"/>
              <a:pathLst>
                <a:path w="1864360" h="1358900">
                  <a:moveTo>
                    <a:pt x="1863887" y="0"/>
                  </a:moveTo>
                  <a:lnTo>
                    <a:pt x="0" y="0"/>
                  </a:lnTo>
                  <a:lnTo>
                    <a:pt x="0" y="1358733"/>
                  </a:lnTo>
                  <a:lnTo>
                    <a:pt x="1863887" y="1358733"/>
                  </a:lnTo>
                  <a:lnTo>
                    <a:pt x="18638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499" y="1256844"/>
              <a:ext cx="1864360" cy="1135380"/>
            </a:xfrm>
            <a:custGeom>
              <a:avLst/>
              <a:gdLst/>
              <a:ahLst/>
              <a:cxnLst/>
              <a:rect l="l" t="t" r="r" b="b"/>
              <a:pathLst>
                <a:path w="1864360" h="1135380">
                  <a:moveTo>
                    <a:pt x="1863887" y="0"/>
                  </a:moveTo>
                  <a:lnTo>
                    <a:pt x="0" y="0"/>
                  </a:lnTo>
                  <a:lnTo>
                    <a:pt x="0" y="1084070"/>
                  </a:lnTo>
                  <a:lnTo>
                    <a:pt x="4008" y="1103794"/>
                  </a:lnTo>
                  <a:lnTo>
                    <a:pt x="14922" y="1119947"/>
                  </a:lnTo>
                  <a:lnTo>
                    <a:pt x="31075" y="1130862"/>
                  </a:lnTo>
                  <a:lnTo>
                    <a:pt x="50800" y="1134870"/>
                  </a:lnTo>
                  <a:lnTo>
                    <a:pt x="1813087" y="1134870"/>
                  </a:lnTo>
                  <a:lnTo>
                    <a:pt x="1832811" y="1130862"/>
                  </a:lnTo>
                  <a:lnTo>
                    <a:pt x="1848964" y="1119947"/>
                  </a:lnTo>
                  <a:lnTo>
                    <a:pt x="1859879" y="1103794"/>
                  </a:lnTo>
                  <a:lnTo>
                    <a:pt x="1863887" y="1084070"/>
                  </a:lnTo>
                  <a:lnTo>
                    <a:pt x="1863887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300" y="1282164"/>
              <a:ext cx="1762203" cy="94090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88404" y="2259021"/>
            <a:ext cx="12223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Tahoma"/>
                <a:cs typeface="Tahoma"/>
              </a:rPr>
              <a:t>Lowest</a:t>
            </a:r>
            <a:r>
              <a:rPr sz="500" spc="-5" dirty="0">
                <a:latin typeface="Tahoma"/>
                <a:cs typeface="Tahoma"/>
              </a:rPr>
              <a:t> </a:t>
            </a:r>
            <a:r>
              <a:rPr sz="500" dirty="0">
                <a:latin typeface="Tahoma"/>
                <a:cs typeface="Tahoma"/>
              </a:rPr>
              <a:t>delay due</a:t>
            </a:r>
            <a:r>
              <a:rPr sz="500" spc="-5" dirty="0">
                <a:latin typeface="Tahoma"/>
                <a:cs typeface="Tahoma"/>
              </a:rPr>
              <a:t> </a:t>
            </a:r>
            <a:r>
              <a:rPr sz="500" dirty="0">
                <a:latin typeface="Tahoma"/>
                <a:cs typeface="Tahoma"/>
              </a:rPr>
              <a:t>to short</a:t>
            </a:r>
            <a:r>
              <a:rPr sz="500" spc="-5" dirty="0">
                <a:latin typeface="Tahoma"/>
                <a:cs typeface="Tahoma"/>
              </a:rPr>
              <a:t> </a:t>
            </a:r>
            <a:r>
              <a:rPr sz="500" dirty="0">
                <a:latin typeface="Tahoma"/>
                <a:cs typeface="Tahoma"/>
              </a:rPr>
              <a:t>switching </a:t>
            </a:r>
            <a:r>
              <a:rPr sz="500" spc="-10" dirty="0">
                <a:latin typeface="Tahoma"/>
                <a:cs typeface="Tahoma"/>
              </a:rPr>
              <a:t>paths.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48065" y="1026858"/>
            <a:ext cx="1864360" cy="198755"/>
          </a:xfrm>
          <a:custGeom>
            <a:avLst/>
            <a:gdLst/>
            <a:ahLst/>
            <a:cxnLst/>
            <a:rect l="l" t="t" r="r" b="b"/>
            <a:pathLst>
              <a:path w="1864360" h="198755">
                <a:moveTo>
                  <a:pt x="181308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1863887" y="198367"/>
                </a:lnTo>
                <a:lnTo>
                  <a:pt x="1863887" y="50800"/>
                </a:lnTo>
                <a:lnTo>
                  <a:pt x="1859879" y="31075"/>
                </a:lnTo>
                <a:lnTo>
                  <a:pt x="1848964" y="14922"/>
                </a:lnTo>
                <a:lnTo>
                  <a:pt x="1832811" y="4008"/>
                </a:lnTo>
                <a:lnTo>
                  <a:pt x="1813087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998865" y="1055305"/>
            <a:ext cx="91821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Average</a:t>
            </a:r>
            <a:r>
              <a:rPr sz="12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Tahoma"/>
                <a:cs typeface="Tahoma"/>
              </a:rPr>
              <a:t>Power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48065" y="1083782"/>
            <a:ext cx="1915160" cy="1358900"/>
            <a:chOff x="1948065" y="1083782"/>
            <a:chExt cx="1915160" cy="135890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48065" y="1212570"/>
              <a:ext cx="1863887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998865" y="1083782"/>
              <a:ext cx="1864360" cy="1358900"/>
            </a:xfrm>
            <a:custGeom>
              <a:avLst/>
              <a:gdLst/>
              <a:ahLst/>
              <a:cxnLst/>
              <a:rect l="l" t="t" r="r" b="b"/>
              <a:pathLst>
                <a:path w="1864360" h="1358900">
                  <a:moveTo>
                    <a:pt x="1863887" y="0"/>
                  </a:moveTo>
                  <a:lnTo>
                    <a:pt x="0" y="0"/>
                  </a:lnTo>
                  <a:lnTo>
                    <a:pt x="0" y="1358733"/>
                  </a:lnTo>
                  <a:lnTo>
                    <a:pt x="1863887" y="1358733"/>
                  </a:lnTo>
                  <a:lnTo>
                    <a:pt x="18638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48065" y="1256844"/>
              <a:ext cx="1864360" cy="1135380"/>
            </a:xfrm>
            <a:custGeom>
              <a:avLst/>
              <a:gdLst/>
              <a:ahLst/>
              <a:cxnLst/>
              <a:rect l="l" t="t" r="r" b="b"/>
              <a:pathLst>
                <a:path w="1864360" h="1135380">
                  <a:moveTo>
                    <a:pt x="1863887" y="0"/>
                  </a:moveTo>
                  <a:lnTo>
                    <a:pt x="0" y="0"/>
                  </a:lnTo>
                  <a:lnTo>
                    <a:pt x="0" y="1084070"/>
                  </a:lnTo>
                  <a:lnTo>
                    <a:pt x="4008" y="1103794"/>
                  </a:lnTo>
                  <a:lnTo>
                    <a:pt x="14922" y="1119947"/>
                  </a:lnTo>
                  <a:lnTo>
                    <a:pt x="31075" y="1130862"/>
                  </a:lnTo>
                  <a:lnTo>
                    <a:pt x="50800" y="1134870"/>
                  </a:lnTo>
                  <a:lnTo>
                    <a:pt x="1813087" y="1134870"/>
                  </a:lnTo>
                  <a:lnTo>
                    <a:pt x="1832811" y="1130862"/>
                  </a:lnTo>
                  <a:lnTo>
                    <a:pt x="1848964" y="1119947"/>
                  </a:lnTo>
                  <a:lnTo>
                    <a:pt x="1859879" y="1103794"/>
                  </a:lnTo>
                  <a:lnTo>
                    <a:pt x="1863887" y="1084070"/>
                  </a:lnTo>
                  <a:lnTo>
                    <a:pt x="1863887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98865" y="1282164"/>
              <a:ext cx="1762203" cy="94090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2291016" y="2259021"/>
            <a:ext cx="11906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Tahoma"/>
                <a:cs typeface="Tahoma"/>
              </a:rPr>
              <a:t>Drastic</a:t>
            </a:r>
            <a:r>
              <a:rPr sz="500" spc="40" dirty="0">
                <a:latin typeface="Tahoma"/>
                <a:cs typeface="Tahoma"/>
              </a:rPr>
              <a:t> </a:t>
            </a:r>
            <a:r>
              <a:rPr sz="500" dirty="0">
                <a:latin typeface="Tahoma"/>
                <a:cs typeface="Tahoma"/>
              </a:rPr>
              <a:t>reduction</a:t>
            </a:r>
            <a:r>
              <a:rPr sz="500" spc="40" dirty="0">
                <a:latin typeface="Tahoma"/>
                <a:cs typeface="Tahoma"/>
              </a:rPr>
              <a:t> </a:t>
            </a:r>
            <a:r>
              <a:rPr sz="500" dirty="0">
                <a:latin typeface="Tahoma"/>
                <a:cs typeface="Tahoma"/>
              </a:rPr>
              <a:t>in</a:t>
            </a:r>
            <a:r>
              <a:rPr sz="500" spc="40" dirty="0">
                <a:latin typeface="Tahoma"/>
                <a:cs typeface="Tahoma"/>
              </a:rPr>
              <a:t> </a:t>
            </a:r>
            <a:r>
              <a:rPr sz="500" dirty="0">
                <a:latin typeface="Tahoma"/>
                <a:cs typeface="Tahoma"/>
              </a:rPr>
              <a:t>parasitic</a:t>
            </a:r>
            <a:r>
              <a:rPr sz="500" spc="40" dirty="0">
                <a:latin typeface="Tahoma"/>
                <a:cs typeface="Tahoma"/>
              </a:rPr>
              <a:t> </a:t>
            </a:r>
            <a:r>
              <a:rPr sz="500" spc="-10" dirty="0">
                <a:latin typeface="Tahoma"/>
                <a:cs typeface="Tahoma"/>
              </a:rPr>
              <a:t>capacitance.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828630" y="1026858"/>
            <a:ext cx="1864360" cy="198755"/>
          </a:xfrm>
          <a:custGeom>
            <a:avLst/>
            <a:gdLst/>
            <a:ahLst/>
            <a:cxnLst/>
            <a:rect l="l" t="t" r="r" b="b"/>
            <a:pathLst>
              <a:path w="1864360" h="198755">
                <a:moveTo>
                  <a:pt x="181308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1863887" y="198367"/>
                </a:lnTo>
                <a:lnTo>
                  <a:pt x="1863887" y="50800"/>
                </a:lnTo>
                <a:lnTo>
                  <a:pt x="1859879" y="31075"/>
                </a:lnTo>
                <a:lnTo>
                  <a:pt x="1848964" y="14922"/>
                </a:lnTo>
                <a:lnTo>
                  <a:pt x="1832811" y="4008"/>
                </a:lnTo>
                <a:lnTo>
                  <a:pt x="1813087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879431" y="1055305"/>
            <a:ext cx="131254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Power-Delay</a:t>
            </a:r>
            <a:r>
              <a:rPr sz="12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Product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828630" y="1083782"/>
            <a:ext cx="1915160" cy="1358900"/>
            <a:chOff x="3828630" y="1083782"/>
            <a:chExt cx="1915160" cy="135890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28630" y="1212570"/>
              <a:ext cx="1863887" cy="5060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879431" y="1083782"/>
              <a:ext cx="1864360" cy="1358900"/>
            </a:xfrm>
            <a:custGeom>
              <a:avLst/>
              <a:gdLst/>
              <a:ahLst/>
              <a:cxnLst/>
              <a:rect l="l" t="t" r="r" b="b"/>
              <a:pathLst>
                <a:path w="1864360" h="1358900">
                  <a:moveTo>
                    <a:pt x="1863887" y="0"/>
                  </a:moveTo>
                  <a:lnTo>
                    <a:pt x="0" y="0"/>
                  </a:lnTo>
                  <a:lnTo>
                    <a:pt x="0" y="1358733"/>
                  </a:lnTo>
                  <a:lnTo>
                    <a:pt x="1863887" y="1358733"/>
                  </a:lnTo>
                  <a:lnTo>
                    <a:pt x="18638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28630" y="1256844"/>
              <a:ext cx="1864360" cy="1135380"/>
            </a:xfrm>
            <a:custGeom>
              <a:avLst/>
              <a:gdLst/>
              <a:ahLst/>
              <a:cxnLst/>
              <a:rect l="l" t="t" r="r" b="b"/>
              <a:pathLst>
                <a:path w="1864360" h="1135380">
                  <a:moveTo>
                    <a:pt x="1863887" y="0"/>
                  </a:moveTo>
                  <a:lnTo>
                    <a:pt x="0" y="0"/>
                  </a:lnTo>
                  <a:lnTo>
                    <a:pt x="0" y="1084070"/>
                  </a:lnTo>
                  <a:lnTo>
                    <a:pt x="4008" y="1103794"/>
                  </a:lnTo>
                  <a:lnTo>
                    <a:pt x="14922" y="1119947"/>
                  </a:lnTo>
                  <a:lnTo>
                    <a:pt x="31075" y="1130862"/>
                  </a:lnTo>
                  <a:lnTo>
                    <a:pt x="50800" y="1134870"/>
                  </a:lnTo>
                  <a:lnTo>
                    <a:pt x="1813087" y="1134870"/>
                  </a:lnTo>
                  <a:lnTo>
                    <a:pt x="1832811" y="1130862"/>
                  </a:lnTo>
                  <a:lnTo>
                    <a:pt x="1848964" y="1119947"/>
                  </a:lnTo>
                  <a:lnTo>
                    <a:pt x="1859879" y="1103794"/>
                  </a:lnTo>
                  <a:lnTo>
                    <a:pt x="1863887" y="1084070"/>
                  </a:lnTo>
                  <a:lnTo>
                    <a:pt x="1863887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79431" y="1282164"/>
              <a:ext cx="1762203" cy="940907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4249242" y="2259021"/>
            <a:ext cx="10356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Tahoma"/>
                <a:cs typeface="Tahoma"/>
              </a:rPr>
              <a:t>Exceptional</a:t>
            </a:r>
            <a:r>
              <a:rPr sz="500" spc="20" dirty="0">
                <a:latin typeface="Tahoma"/>
                <a:cs typeface="Tahoma"/>
              </a:rPr>
              <a:t> </a:t>
            </a:r>
            <a:r>
              <a:rPr sz="500" dirty="0">
                <a:latin typeface="Tahoma"/>
                <a:cs typeface="Tahoma"/>
              </a:rPr>
              <a:t>overall</a:t>
            </a:r>
            <a:r>
              <a:rPr sz="500" spc="20" dirty="0">
                <a:latin typeface="Tahoma"/>
                <a:cs typeface="Tahoma"/>
              </a:rPr>
              <a:t> </a:t>
            </a:r>
            <a:r>
              <a:rPr sz="500" spc="-10" dirty="0">
                <a:latin typeface="Tahoma"/>
                <a:cs typeface="Tahoma"/>
              </a:rPr>
              <a:t>energy</a:t>
            </a:r>
            <a:r>
              <a:rPr sz="500" spc="25" dirty="0">
                <a:latin typeface="Tahoma"/>
                <a:cs typeface="Tahoma"/>
              </a:rPr>
              <a:t> </a:t>
            </a:r>
            <a:r>
              <a:rPr sz="500" spc="-10" dirty="0">
                <a:latin typeface="Tahoma"/>
                <a:cs typeface="Tahoma"/>
              </a:rPr>
              <a:t>efficiency.</a:t>
            </a:r>
            <a:endParaRPr sz="500">
              <a:latin typeface="Tahoma"/>
              <a:cs typeface="Tahoma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r>
              <a:rPr spc="-20" dirty="0"/>
              <a:t>10</a:t>
            </a:r>
            <a:r>
              <a:rPr spc="-65" dirty="0"/>
              <a:t> </a:t>
            </a:r>
            <a:r>
              <a:rPr spc="75" dirty="0"/>
              <a:t>/</a:t>
            </a:r>
            <a:r>
              <a:rPr spc="-60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6.</a:t>
            </a:r>
            <a:r>
              <a:rPr spc="110" dirty="0"/>
              <a:t> </a:t>
            </a:r>
            <a:r>
              <a:rPr spc="-25" dirty="0"/>
              <a:t>Conclusion</a:t>
            </a:r>
            <a:r>
              <a:rPr spc="-20" dirty="0"/>
              <a:t> </a:t>
            </a:r>
            <a:r>
              <a:rPr spc="120" dirty="0"/>
              <a:t>&amp;</a:t>
            </a:r>
            <a:r>
              <a:rPr spc="-25" dirty="0"/>
              <a:t> </a:t>
            </a:r>
            <a:r>
              <a:rPr dirty="0"/>
              <a:t>Key</a:t>
            </a:r>
            <a:r>
              <a:rPr spc="-25" dirty="0"/>
              <a:t> </a:t>
            </a:r>
            <a:r>
              <a:rPr spc="-20" dirty="0"/>
              <a:t>Contributions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565390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4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593838"/>
            <a:ext cx="1645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75" dirty="0">
                <a:solidFill>
                  <a:srgbClr val="FFFFFF"/>
                </a:solidFill>
                <a:latin typeface="Tahoma"/>
                <a:cs typeface="Tahoma"/>
              </a:rPr>
              <a:t>Summary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Achievements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5729" y="622309"/>
            <a:ext cx="5659755" cy="1127760"/>
            <a:chOff x="75729" y="622309"/>
            <a:chExt cx="5659755" cy="11277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751103"/>
              <a:ext cx="560862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6530" y="622309"/>
              <a:ext cx="5608955" cy="1127760"/>
            </a:xfrm>
            <a:custGeom>
              <a:avLst/>
              <a:gdLst/>
              <a:ahLst/>
              <a:cxnLst/>
              <a:rect l="l" t="t" r="r" b="b"/>
              <a:pathLst>
                <a:path w="5608955" h="1127760">
                  <a:moveTo>
                    <a:pt x="5608620" y="0"/>
                  </a:moveTo>
                  <a:lnTo>
                    <a:pt x="0" y="0"/>
                  </a:lnTo>
                  <a:lnTo>
                    <a:pt x="0" y="1127268"/>
                  </a:lnTo>
                  <a:lnTo>
                    <a:pt x="5608620" y="1127268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29" y="795372"/>
              <a:ext cx="5608955" cy="903605"/>
            </a:xfrm>
            <a:custGeom>
              <a:avLst/>
              <a:gdLst/>
              <a:ahLst/>
              <a:cxnLst/>
              <a:rect l="l" t="t" r="r" b="b"/>
              <a:pathLst>
                <a:path w="5608955" h="903605">
                  <a:moveTo>
                    <a:pt x="5608620" y="0"/>
                  </a:moveTo>
                  <a:lnTo>
                    <a:pt x="0" y="0"/>
                  </a:lnTo>
                  <a:lnTo>
                    <a:pt x="0" y="852605"/>
                  </a:lnTo>
                  <a:lnTo>
                    <a:pt x="4008" y="872329"/>
                  </a:lnTo>
                  <a:lnTo>
                    <a:pt x="14922" y="888482"/>
                  </a:lnTo>
                  <a:lnTo>
                    <a:pt x="31075" y="899396"/>
                  </a:lnTo>
                  <a:lnTo>
                    <a:pt x="50800" y="903405"/>
                  </a:lnTo>
                  <a:lnTo>
                    <a:pt x="5557819" y="903405"/>
                  </a:lnTo>
                  <a:lnTo>
                    <a:pt x="5577544" y="899396"/>
                  </a:lnTo>
                  <a:lnTo>
                    <a:pt x="5593697" y="888482"/>
                  </a:lnTo>
                  <a:lnTo>
                    <a:pt x="5604611" y="872329"/>
                  </a:lnTo>
                  <a:lnTo>
                    <a:pt x="5608620" y="852605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705" y="846429"/>
              <a:ext cx="59601" cy="596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705" y="1188046"/>
              <a:ext cx="59601" cy="596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705" y="1377835"/>
              <a:ext cx="59601" cy="5960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6705" y="1567624"/>
              <a:ext cx="59601" cy="5960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66877" y="769332"/>
            <a:ext cx="5238115" cy="898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Arial MT"/>
                <a:cs typeface="Arial MT"/>
              </a:rPr>
              <a:t>Designed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verified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ultra-</a:t>
            </a:r>
            <a:r>
              <a:rPr sz="1000" spc="-30" dirty="0">
                <a:latin typeface="Arial MT"/>
                <a:cs typeface="Arial MT"/>
              </a:rPr>
              <a:t>low-</a:t>
            </a:r>
            <a:r>
              <a:rPr sz="1000" spc="-40" dirty="0">
                <a:latin typeface="Arial MT"/>
                <a:cs typeface="Arial MT"/>
              </a:rPr>
              <a:t>power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b="1" dirty="0">
                <a:latin typeface="Arial"/>
                <a:cs typeface="Arial"/>
              </a:rPr>
              <a:t>10-</a:t>
            </a:r>
            <a:r>
              <a:rPr sz="1000" b="1" spc="-45" dirty="0">
                <a:latin typeface="Arial"/>
                <a:cs typeface="Arial"/>
              </a:rPr>
              <a:t>Transistor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1-Bit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Magnitude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Comparator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spc="-30" dirty="0">
                <a:latin typeface="Arial MT"/>
                <a:cs typeface="Arial MT"/>
              </a:rPr>
              <a:t>using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the </a:t>
            </a:r>
            <a:r>
              <a:rPr sz="1000" spc="-10" dirty="0">
                <a:latin typeface="Arial MT"/>
                <a:cs typeface="Arial MT"/>
              </a:rPr>
              <a:t>GDI</a:t>
            </a:r>
            <a:r>
              <a:rPr sz="1000" spc="-4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technique.</a:t>
            </a:r>
            <a:endParaRPr sz="1000">
              <a:latin typeface="Arial MT"/>
              <a:cs typeface="Arial MT"/>
            </a:endParaRPr>
          </a:p>
          <a:p>
            <a:pPr marL="12700" marR="471805">
              <a:lnSpc>
                <a:spcPts val="1490"/>
              </a:lnSpc>
              <a:spcBef>
                <a:spcPts val="100"/>
              </a:spcBef>
            </a:pPr>
            <a:r>
              <a:rPr sz="1000" spc="-35" dirty="0">
                <a:latin typeface="Arial MT"/>
                <a:cs typeface="Arial MT"/>
              </a:rPr>
              <a:t>Demonstrated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superior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scalability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across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b="1" dirty="0">
                <a:latin typeface="Arial"/>
                <a:cs typeface="Arial"/>
              </a:rPr>
              <a:t>180nm,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90nm,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and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45nm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90" dirty="0">
                <a:latin typeface="Arial"/>
                <a:cs typeface="Arial"/>
              </a:rPr>
              <a:t>PTM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nodes</a:t>
            </a:r>
            <a:r>
              <a:rPr sz="1000" spc="-10" dirty="0">
                <a:latin typeface="Arial MT"/>
                <a:cs typeface="Arial MT"/>
              </a:rPr>
              <a:t>. </a:t>
            </a:r>
            <a:r>
              <a:rPr sz="1000" spc="-45" dirty="0">
                <a:latin typeface="Arial MT"/>
                <a:cs typeface="Arial MT"/>
              </a:rPr>
              <a:t>Achieved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state-</a:t>
            </a:r>
            <a:r>
              <a:rPr sz="1000" spc="-25" dirty="0">
                <a:latin typeface="Arial MT"/>
                <a:cs typeface="Arial MT"/>
              </a:rPr>
              <a:t>of-</a:t>
            </a:r>
            <a:r>
              <a:rPr sz="1000" spc="-30" dirty="0">
                <a:latin typeface="Arial MT"/>
                <a:cs typeface="Arial MT"/>
              </a:rPr>
              <a:t>the-</a:t>
            </a:r>
            <a:r>
              <a:rPr sz="1000" dirty="0">
                <a:latin typeface="Arial MT"/>
                <a:cs typeface="Arial MT"/>
              </a:rPr>
              <a:t>art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performance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with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Calibri"/>
                <a:cs typeface="Calibri"/>
              </a:rPr>
              <a:t>2</a:t>
            </a:r>
            <a:r>
              <a:rPr sz="1000" i="1" spc="-10" dirty="0"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15</a:t>
            </a:r>
            <a:r>
              <a:rPr sz="1000" spc="-65" dirty="0">
                <a:latin typeface="Calibri"/>
                <a:cs typeface="Calibri"/>
              </a:rPr>
              <a:t> </a:t>
            </a:r>
            <a:r>
              <a:rPr sz="1000" i="1" spc="65" dirty="0">
                <a:latin typeface="Calibri"/>
                <a:cs typeface="Calibri"/>
              </a:rPr>
              <a:t>µ</a:t>
            </a:r>
            <a:r>
              <a:rPr sz="1000" b="1" spc="65" dirty="0">
                <a:latin typeface="Arial"/>
                <a:cs typeface="Arial"/>
              </a:rPr>
              <a:t>W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power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Calibri"/>
                <a:cs typeface="Calibri"/>
              </a:rPr>
              <a:t>18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dirty="0">
                <a:latin typeface="Calibri"/>
                <a:cs typeface="Calibri"/>
              </a:rPr>
              <a:t>4</a:t>
            </a:r>
            <a:r>
              <a:rPr sz="1000" spc="105" dirty="0">
                <a:latin typeface="Calibri"/>
                <a:cs typeface="Calibri"/>
              </a:rPr>
              <a:t> </a:t>
            </a:r>
            <a:r>
              <a:rPr sz="1000" b="1" spc="-40" dirty="0">
                <a:latin typeface="Arial"/>
                <a:cs typeface="Arial"/>
              </a:rPr>
              <a:t>ps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delay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at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45nm. </a:t>
            </a:r>
            <a:r>
              <a:rPr sz="1000" spc="-55" dirty="0">
                <a:latin typeface="Arial MT"/>
                <a:cs typeface="Arial MT"/>
              </a:rPr>
              <a:t>Successfully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solved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transistor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overhead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without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sacrificing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output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magnitude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functionality.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89625" y="3138668"/>
            <a:ext cx="21590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latin typeface="Tahoma"/>
                <a:cs typeface="Tahoma"/>
              </a:rPr>
              <a:t>11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75" dirty="0">
                <a:latin typeface="Tahoma"/>
                <a:cs typeface="Tahoma"/>
              </a:rPr>
              <a:t>/</a:t>
            </a:r>
            <a:r>
              <a:rPr sz="500" spc="-60" dirty="0">
                <a:latin typeface="Tahoma"/>
                <a:cs typeface="Tahoma"/>
              </a:rPr>
              <a:t> </a:t>
            </a:r>
            <a:r>
              <a:rPr sz="500" spc="-25" dirty="0">
                <a:latin typeface="Tahoma"/>
                <a:cs typeface="Tahoma"/>
              </a:rPr>
              <a:t>12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6.</a:t>
            </a:r>
            <a:r>
              <a:rPr spc="110" dirty="0"/>
              <a:t> </a:t>
            </a:r>
            <a:r>
              <a:rPr spc="-25" dirty="0"/>
              <a:t>Conclusion</a:t>
            </a:r>
            <a:r>
              <a:rPr spc="-20" dirty="0"/>
              <a:t> </a:t>
            </a:r>
            <a:r>
              <a:rPr spc="120" dirty="0"/>
              <a:t>&amp;</a:t>
            </a:r>
            <a:r>
              <a:rPr spc="-25" dirty="0"/>
              <a:t> </a:t>
            </a:r>
            <a:r>
              <a:rPr dirty="0"/>
              <a:t>Key</a:t>
            </a:r>
            <a:r>
              <a:rPr spc="-25" dirty="0"/>
              <a:t> </a:t>
            </a:r>
            <a:r>
              <a:rPr spc="-20" dirty="0"/>
              <a:t>Contributions</a:t>
            </a:r>
          </a:p>
        </p:txBody>
      </p:sp>
      <p:sp>
        <p:nvSpPr>
          <p:cNvPr id="3" name="object 3"/>
          <p:cNvSpPr/>
          <p:nvPr/>
        </p:nvSpPr>
        <p:spPr>
          <a:xfrm>
            <a:off x="75729" y="565390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4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530" y="593838"/>
            <a:ext cx="16452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75" dirty="0">
                <a:solidFill>
                  <a:srgbClr val="FFFFFF"/>
                </a:solidFill>
                <a:latin typeface="Tahoma"/>
                <a:cs typeface="Tahoma"/>
              </a:rPr>
              <a:t>Summary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Achievements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5729" y="622309"/>
            <a:ext cx="5659755" cy="1127760"/>
            <a:chOff x="75729" y="622309"/>
            <a:chExt cx="5659755" cy="11277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751103"/>
              <a:ext cx="560862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6530" y="622309"/>
              <a:ext cx="5608955" cy="1127760"/>
            </a:xfrm>
            <a:custGeom>
              <a:avLst/>
              <a:gdLst/>
              <a:ahLst/>
              <a:cxnLst/>
              <a:rect l="l" t="t" r="r" b="b"/>
              <a:pathLst>
                <a:path w="5608955" h="1127760">
                  <a:moveTo>
                    <a:pt x="5608620" y="0"/>
                  </a:moveTo>
                  <a:lnTo>
                    <a:pt x="0" y="0"/>
                  </a:lnTo>
                  <a:lnTo>
                    <a:pt x="0" y="1127268"/>
                  </a:lnTo>
                  <a:lnTo>
                    <a:pt x="5608620" y="1127268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29" y="795372"/>
              <a:ext cx="5608955" cy="903605"/>
            </a:xfrm>
            <a:custGeom>
              <a:avLst/>
              <a:gdLst/>
              <a:ahLst/>
              <a:cxnLst/>
              <a:rect l="l" t="t" r="r" b="b"/>
              <a:pathLst>
                <a:path w="5608955" h="903605">
                  <a:moveTo>
                    <a:pt x="5608620" y="0"/>
                  </a:moveTo>
                  <a:lnTo>
                    <a:pt x="0" y="0"/>
                  </a:lnTo>
                  <a:lnTo>
                    <a:pt x="0" y="852605"/>
                  </a:lnTo>
                  <a:lnTo>
                    <a:pt x="4008" y="872329"/>
                  </a:lnTo>
                  <a:lnTo>
                    <a:pt x="14922" y="888482"/>
                  </a:lnTo>
                  <a:lnTo>
                    <a:pt x="31075" y="899396"/>
                  </a:lnTo>
                  <a:lnTo>
                    <a:pt x="50800" y="903405"/>
                  </a:lnTo>
                  <a:lnTo>
                    <a:pt x="5557819" y="903405"/>
                  </a:lnTo>
                  <a:lnTo>
                    <a:pt x="5577544" y="899396"/>
                  </a:lnTo>
                  <a:lnTo>
                    <a:pt x="5593697" y="888482"/>
                  </a:lnTo>
                  <a:lnTo>
                    <a:pt x="5604611" y="872329"/>
                  </a:lnTo>
                  <a:lnTo>
                    <a:pt x="5608620" y="852605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705" y="846429"/>
              <a:ext cx="59601" cy="596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705" y="1188046"/>
              <a:ext cx="59601" cy="596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705" y="1377835"/>
              <a:ext cx="59601" cy="5960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6705" y="1567624"/>
              <a:ext cx="59601" cy="5960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66877" y="769332"/>
            <a:ext cx="5238115" cy="898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Arial MT"/>
                <a:cs typeface="Arial MT"/>
              </a:rPr>
              <a:t>Designed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verified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ultra-</a:t>
            </a:r>
            <a:r>
              <a:rPr sz="1000" spc="-30" dirty="0">
                <a:latin typeface="Arial MT"/>
                <a:cs typeface="Arial MT"/>
              </a:rPr>
              <a:t>low-</a:t>
            </a:r>
            <a:r>
              <a:rPr sz="1000" spc="-40" dirty="0">
                <a:latin typeface="Arial MT"/>
                <a:cs typeface="Arial MT"/>
              </a:rPr>
              <a:t>power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b="1" dirty="0">
                <a:latin typeface="Arial"/>
                <a:cs typeface="Arial"/>
              </a:rPr>
              <a:t>10-</a:t>
            </a:r>
            <a:r>
              <a:rPr sz="1000" b="1" spc="-45" dirty="0">
                <a:latin typeface="Arial"/>
                <a:cs typeface="Arial"/>
              </a:rPr>
              <a:t>Transistor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1-Bit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Magnitude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Comparator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spc="-30" dirty="0">
                <a:latin typeface="Arial MT"/>
                <a:cs typeface="Arial MT"/>
              </a:rPr>
              <a:t>using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the </a:t>
            </a:r>
            <a:r>
              <a:rPr sz="1000" spc="-10" dirty="0">
                <a:latin typeface="Arial MT"/>
                <a:cs typeface="Arial MT"/>
              </a:rPr>
              <a:t>GDI</a:t>
            </a:r>
            <a:r>
              <a:rPr sz="1000" spc="-4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technique.</a:t>
            </a:r>
            <a:endParaRPr sz="1000">
              <a:latin typeface="Arial MT"/>
              <a:cs typeface="Arial MT"/>
            </a:endParaRPr>
          </a:p>
          <a:p>
            <a:pPr marL="12700" marR="471805">
              <a:lnSpc>
                <a:spcPts val="1490"/>
              </a:lnSpc>
              <a:spcBef>
                <a:spcPts val="100"/>
              </a:spcBef>
            </a:pPr>
            <a:r>
              <a:rPr sz="1000" spc="-35" dirty="0">
                <a:latin typeface="Arial MT"/>
                <a:cs typeface="Arial MT"/>
              </a:rPr>
              <a:t>Demonstrated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superior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scalability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across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b="1" dirty="0">
                <a:latin typeface="Arial"/>
                <a:cs typeface="Arial"/>
              </a:rPr>
              <a:t>180nm,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90nm,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and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45nm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90" dirty="0">
                <a:latin typeface="Arial"/>
                <a:cs typeface="Arial"/>
              </a:rPr>
              <a:t>PTM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nodes</a:t>
            </a:r>
            <a:r>
              <a:rPr sz="1000" spc="-10" dirty="0">
                <a:latin typeface="Arial MT"/>
                <a:cs typeface="Arial MT"/>
              </a:rPr>
              <a:t>. </a:t>
            </a:r>
            <a:r>
              <a:rPr sz="1000" spc="-45" dirty="0">
                <a:latin typeface="Arial MT"/>
                <a:cs typeface="Arial MT"/>
              </a:rPr>
              <a:t>Achieved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state-</a:t>
            </a:r>
            <a:r>
              <a:rPr sz="1000" spc="-25" dirty="0">
                <a:latin typeface="Arial MT"/>
                <a:cs typeface="Arial MT"/>
              </a:rPr>
              <a:t>of-</a:t>
            </a:r>
            <a:r>
              <a:rPr sz="1000" spc="-30" dirty="0">
                <a:latin typeface="Arial MT"/>
                <a:cs typeface="Arial MT"/>
              </a:rPr>
              <a:t>the-</a:t>
            </a:r>
            <a:r>
              <a:rPr sz="1000" dirty="0">
                <a:latin typeface="Arial MT"/>
                <a:cs typeface="Arial MT"/>
              </a:rPr>
              <a:t>art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performance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with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Calibri"/>
                <a:cs typeface="Calibri"/>
              </a:rPr>
              <a:t>2</a:t>
            </a:r>
            <a:r>
              <a:rPr sz="1000" i="1" spc="-10" dirty="0"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15</a:t>
            </a:r>
            <a:r>
              <a:rPr sz="1000" spc="-65" dirty="0">
                <a:latin typeface="Calibri"/>
                <a:cs typeface="Calibri"/>
              </a:rPr>
              <a:t> </a:t>
            </a:r>
            <a:r>
              <a:rPr sz="1000" i="1" spc="65" dirty="0">
                <a:latin typeface="Calibri"/>
                <a:cs typeface="Calibri"/>
              </a:rPr>
              <a:t>µ</a:t>
            </a:r>
            <a:r>
              <a:rPr sz="1000" b="1" spc="65" dirty="0">
                <a:latin typeface="Arial"/>
                <a:cs typeface="Arial"/>
              </a:rPr>
              <a:t>W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power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Calibri"/>
                <a:cs typeface="Calibri"/>
              </a:rPr>
              <a:t>18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dirty="0">
                <a:latin typeface="Calibri"/>
                <a:cs typeface="Calibri"/>
              </a:rPr>
              <a:t>4</a:t>
            </a:r>
            <a:r>
              <a:rPr sz="1000" spc="105" dirty="0">
                <a:latin typeface="Calibri"/>
                <a:cs typeface="Calibri"/>
              </a:rPr>
              <a:t> </a:t>
            </a:r>
            <a:r>
              <a:rPr sz="1000" b="1" spc="-40" dirty="0">
                <a:latin typeface="Arial"/>
                <a:cs typeface="Arial"/>
              </a:rPr>
              <a:t>ps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delay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at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45nm. </a:t>
            </a:r>
            <a:r>
              <a:rPr sz="1000" spc="-55" dirty="0">
                <a:latin typeface="Arial MT"/>
                <a:cs typeface="Arial MT"/>
              </a:rPr>
              <a:t>Successfully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solved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transistor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overhead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without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sacrificing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output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magnitude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functionality.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5729" y="1850706"/>
            <a:ext cx="5608955" cy="198755"/>
          </a:xfrm>
          <a:custGeom>
            <a:avLst/>
            <a:gdLst/>
            <a:ahLst/>
            <a:cxnLst/>
            <a:rect l="l" t="t" r="r" b="b"/>
            <a:pathLst>
              <a:path w="5608955" h="1987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6530" y="1879154"/>
            <a:ext cx="240347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Future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Scope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Expansion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5729" y="1907626"/>
            <a:ext cx="5659755" cy="1064895"/>
            <a:chOff x="75729" y="1907626"/>
            <a:chExt cx="5659755" cy="106489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2036419"/>
              <a:ext cx="5608620" cy="506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26530" y="1907626"/>
              <a:ext cx="5608955" cy="1064895"/>
            </a:xfrm>
            <a:custGeom>
              <a:avLst/>
              <a:gdLst/>
              <a:ahLst/>
              <a:cxnLst/>
              <a:rect l="l" t="t" r="r" b="b"/>
              <a:pathLst>
                <a:path w="5608955" h="1064895">
                  <a:moveTo>
                    <a:pt x="5608620" y="0"/>
                  </a:moveTo>
                  <a:lnTo>
                    <a:pt x="0" y="0"/>
                  </a:lnTo>
                  <a:lnTo>
                    <a:pt x="0" y="1064707"/>
                  </a:lnTo>
                  <a:lnTo>
                    <a:pt x="5608620" y="1064707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5729" y="2080689"/>
              <a:ext cx="5608955" cy="841375"/>
            </a:xfrm>
            <a:custGeom>
              <a:avLst/>
              <a:gdLst/>
              <a:ahLst/>
              <a:cxnLst/>
              <a:rect l="l" t="t" r="r" b="b"/>
              <a:pathLst>
                <a:path w="5608955" h="841375">
                  <a:moveTo>
                    <a:pt x="5608620" y="0"/>
                  </a:moveTo>
                  <a:lnTo>
                    <a:pt x="0" y="0"/>
                  </a:lnTo>
                  <a:lnTo>
                    <a:pt x="0" y="790044"/>
                  </a:lnTo>
                  <a:lnTo>
                    <a:pt x="4008" y="809769"/>
                  </a:lnTo>
                  <a:lnTo>
                    <a:pt x="14922" y="825922"/>
                  </a:lnTo>
                  <a:lnTo>
                    <a:pt x="31075" y="836836"/>
                  </a:lnTo>
                  <a:lnTo>
                    <a:pt x="50800" y="840844"/>
                  </a:lnTo>
                  <a:lnTo>
                    <a:pt x="5557819" y="840844"/>
                  </a:lnTo>
                  <a:lnTo>
                    <a:pt x="5577544" y="836836"/>
                  </a:lnTo>
                  <a:lnTo>
                    <a:pt x="5593697" y="825922"/>
                  </a:lnTo>
                  <a:lnTo>
                    <a:pt x="5604611" y="809769"/>
                  </a:lnTo>
                  <a:lnTo>
                    <a:pt x="5608620" y="790044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6705" y="2131745"/>
              <a:ext cx="59601" cy="5960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6705" y="2473363"/>
              <a:ext cx="59601" cy="5960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6705" y="2663151"/>
              <a:ext cx="59601" cy="59601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366877" y="2054649"/>
            <a:ext cx="5264150" cy="861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94055">
              <a:lnSpc>
                <a:spcPct val="100000"/>
              </a:lnSpc>
              <a:spcBef>
                <a:spcPts val="95"/>
              </a:spcBef>
            </a:pPr>
            <a:r>
              <a:rPr sz="1000" spc="-40" dirty="0">
                <a:latin typeface="Arial MT"/>
                <a:cs typeface="Arial MT"/>
              </a:rPr>
              <a:t>Scaling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1-bit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GDI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comparator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cell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into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b="1" dirty="0">
                <a:latin typeface="Arial"/>
                <a:cs typeface="Arial"/>
              </a:rPr>
              <a:t>4-bit,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8-bit,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and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32-bit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55" dirty="0">
                <a:latin typeface="Arial"/>
                <a:cs typeface="Arial"/>
              </a:rPr>
              <a:t>high-</a:t>
            </a:r>
            <a:r>
              <a:rPr sz="1000" b="1" spc="-25" dirty="0">
                <a:latin typeface="Arial"/>
                <a:cs typeface="Arial"/>
              </a:rPr>
              <a:t>speed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ALU </a:t>
            </a:r>
            <a:r>
              <a:rPr sz="1000" b="1" spc="-10" dirty="0">
                <a:latin typeface="Arial"/>
                <a:cs typeface="Arial"/>
              </a:rPr>
              <a:t>architectures</a:t>
            </a:r>
            <a:r>
              <a:rPr sz="1000" spc="-10" dirty="0"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00" spc="-30" dirty="0">
                <a:latin typeface="Arial MT"/>
                <a:cs typeface="Arial MT"/>
              </a:rPr>
              <a:t>Implementation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with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threshold-</a:t>
            </a:r>
            <a:r>
              <a:rPr sz="1000" spc="-25" dirty="0">
                <a:latin typeface="Arial MT"/>
                <a:cs typeface="Arial MT"/>
              </a:rPr>
              <a:t>voltage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swing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restoration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buffer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stages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deep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multi-bit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cascading.</a:t>
            </a:r>
            <a:endParaRPr sz="1000">
              <a:latin typeface="Arial MT"/>
              <a:cs typeface="Arial MT"/>
            </a:endParaRPr>
          </a:p>
          <a:p>
            <a:pPr marL="12700" marR="298450">
              <a:lnSpc>
                <a:spcPct val="100000"/>
              </a:lnSpc>
              <a:spcBef>
                <a:spcPts val="295"/>
              </a:spcBef>
            </a:pPr>
            <a:r>
              <a:rPr sz="1000" spc="-25" dirty="0">
                <a:latin typeface="Arial MT"/>
                <a:cs typeface="Arial MT"/>
              </a:rPr>
              <a:t>Layout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fabrication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Monte-</a:t>
            </a:r>
            <a:r>
              <a:rPr sz="1000" spc="-10" dirty="0">
                <a:latin typeface="Arial MT"/>
                <a:cs typeface="Arial MT"/>
              </a:rPr>
              <a:t>Carlo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corner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analysis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PVT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(Process,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Voltage,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Temperature) variations.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89625" y="3138668"/>
            <a:ext cx="215900" cy="8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spc="-20" dirty="0">
                <a:latin typeface="Tahoma"/>
                <a:cs typeface="Tahoma"/>
              </a:rPr>
              <a:t>11</a:t>
            </a:r>
            <a:r>
              <a:rPr sz="500" spc="-65" dirty="0">
                <a:latin typeface="Tahoma"/>
                <a:cs typeface="Tahoma"/>
              </a:rPr>
              <a:t> </a:t>
            </a:r>
            <a:r>
              <a:rPr sz="500" spc="75" dirty="0">
                <a:latin typeface="Tahoma"/>
                <a:cs typeface="Tahoma"/>
              </a:rPr>
              <a:t>/</a:t>
            </a:r>
            <a:r>
              <a:rPr sz="500" spc="-60" dirty="0">
                <a:latin typeface="Tahoma"/>
                <a:cs typeface="Tahoma"/>
              </a:rPr>
              <a:t> </a:t>
            </a:r>
            <a:r>
              <a:rPr sz="500" spc="-25" dirty="0">
                <a:latin typeface="Tahoma"/>
                <a:cs typeface="Tahoma"/>
              </a:rPr>
              <a:t>12</a:t>
            </a:r>
            <a:endParaRPr sz="5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17788" y="484427"/>
            <a:ext cx="172593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002B48"/>
                </a:solidFill>
                <a:latin typeface="Arial"/>
                <a:cs typeface="Arial"/>
              </a:rPr>
              <a:t>Thank</a:t>
            </a:r>
            <a:r>
              <a:rPr sz="2450" b="1" spc="150" dirty="0">
                <a:solidFill>
                  <a:srgbClr val="002B48"/>
                </a:solidFill>
                <a:latin typeface="Arial"/>
                <a:cs typeface="Arial"/>
              </a:rPr>
              <a:t> </a:t>
            </a:r>
            <a:r>
              <a:rPr sz="2450" b="1" spc="-25" dirty="0">
                <a:solidFill>
                  <a:srgbClr val="002B48"/>
                </a:solidFill>
                <a:latin typeface="Arial"/>
                <a:cs typeface="Arial"/>
              </a:rPr>
              <a:t>You!</a:t>
            </a:r>
            <a:endParaRPr sz="24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76030" y="948865"/>
            <a:ext cx="16084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5" dirty="0">
                <a:latin typeface="Tahoma"/>
                <a:cs typeface="Tahoma"/>
              </a:rPr>
              <a:t>Questions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120" dirty="0">
                <a:latin typeface="Tahoma"/>
                <a:cs typeface="Tahoma"/>
              </a:rPr>
              <a:t>&amp;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Answers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729" y="1627796"/>
            <a:ext cx="5608955" cy="187960"/>
          </a:xfrm>
          <a:custGeom>
            <a:avLst/>
            <a:gdLst/>
            <a:ahLst/>
            <a:cxnLst/>
            <a:rect l="l" t="t" r="r" b="b"/>
            <a:pathLst>
              <a:path w="5608955" h="187960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608620" y="187823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002B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54719" y="1656244"/>
            <a:ext cx="125095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Contact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Information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5729" y="1684722"/>
            <a:ext cx="5659755" cy="814069"/>
            <a:chOff x="75729" y="1684722"/>
            <a:chExt cx="5659755" cy="814069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1802968"/>
              <a:ext cx="560862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6530" y="1684722"/>
              <a:ext cx="5608955" cy="814069"/>
            </a:xfrm>
            <a:custGeom>
              <a:avLst/>
              <a:gdLst/>
              <a:ahLst/>
              <a:cxnLst/>
              <a:rect l="l" t="t" r="r" b="b"/>
              <a:pathLst>
                <a:path w="5608955" h="814069">
                  <a:moveTo>
                    <a:pt x="5608620" y="0"/>
                  </a:moveTo>
                  <a:lnTo>
                    <a:pt x="0" y="0"/>
                  </a:lnTo>
                  <a:lnTo>
                    <a:pt x="0" y="813762"/>
                  </a:lnTo>
                  <a:lnTo>
                    <a:pt x="5608620" y="813762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729" y="1847240"/>
              <a:ext cx="5608955" cy="600710"/>
            </a:xfrm>
            <a:custGeom>
              <a:avLst/>
              <a:gdLst/>
              <a:ahLst/>
              <a:cxnLst/>
              <a:rect l="l" t="t" r="r" b="b"/>
              <a:pathLst>
                <a:path w="5608955" h="600710">
                  <a:moveTo>
                    <a:pt x="5608620" y="0"/>
                  </a:moveTo>
                  <a:lnTo>
                    <a:pt x="0" y="0"/>
                  </a:lnTo>
                  <a:lnTo>
                    <a:pt x="0" y="549642"/>
                  </a:lnTo>
                  <a:lnTo>
                    <a:pt x="4008" y="569367"/>
                  </a:lnTo>
                  <a:lnTo>
                    <a:pt x="14922" y="585520"/>
                  </a:lnTo>
                  <a:lnTo>
                    <a:pt x="31075" y="596434"/>
                  </a:lnTo>
                  <a:lnTo>
                    <a:pt x="50800" y="600443"/>
                  </a:lnTo>
                  <a:lnTo>
                    <a:pt x="5557819" y="600443"/>
                  </a:lnTo>
                  <a:lnTo>
                    <a:pt x="5577544" y="596434"/>
                  </a:lnTo>
                  <a:lnTo>
                    <a:pt x="5593697" y="585520"/>
                  </a:lnTo>
                  <a:lnTo>
                    <a:pt x="5604611" y="569367"/>
                  </a:lnTo>
                  <a:lnTo>
                    <a:pt x="5608620" y="549642"/>
                  </a:lnTo>
                  <a:lnTo>
                    <a:pt x="5608620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6530" y="1821197"/>
            <a:ext cx="5608955" cy="617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76680" marR="1471295" indent="429895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Shahrear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45" dirty="0">
                <a:latin typeface="Arial"/>
                <a:cs typeface="Arial"/>
              </a:rPr>
              <a:t>Hossain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– ID: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ET223104 </a:t>
            </a:r>
            <a:r>
              <a:rPr sz="1000" spc="-25" dirty="0">
                <a:latin typeface="Arial MT"/>
                <a:cs typeface="Arial MT"/>
              </a:rPr>
              <a:t>Department</a:t>
            </a:r>
            <a:r>
              <a:rPr sz="1000" dirty="0">
                <a:latin typeface="Arial MT"/>
                <a:cs typeface="Arial MT"/>
              </a:rPr>
              <a:t> of </a:t>
            </a:r>
            <a:r>
              <a:rPr sz="1000" spc="-20" dirty="0">
                <a:latin typeface="Arial MT"/>
                <a:cs typeface="Arial MT"/>
              </a:rPr>
              <a:t>Electrical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Electronic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Engineering </a:t>
            </a:r>
            <a:r>
              <a:rPr sz="1000" spc="-10" dirty="0">
                <a:latin typeface="Arial MT"/>
                <a:cs typeface="Arial MT"/>
              </a:rPr>
              <a:t>International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Islamic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University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Chittagong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(IIUC)</a:t>
            </a:r>
            <a:endParaRPr sz="1000">
              <a:latin typeface="Arial MT"/>
              <a:cs typeface="Arial MT"/>
            </a:endParaRPr>
          </a:p>
          <a:p>
            <a:pPr marL="2098040">
              <a:lnSpc>
                <a:spcPts val="1065"/>
              </a:lnSpc>
            </a:pPr>
            <a:r>
              <a:rPr sz="900" dirty="0">
                <a:latin typeface="Arial MT"/>
                <a:cs typeface="Arial MT"/>
              </a:rPr>
              <a:t>Email: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  <a:hlinkClick r:id="rId3"/>
              </a:rPr>
              <a:t>shahrear@iiuc.ac.bd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1703</Words>
  <Application>Microsoft Office PowerPoint</Application>
  <PresentationFormat>Custom</PresentationFormat>
  <Paragraphs>263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MT</vt:lpstr>
      <vt:lpstr>Calibri</vt:lpstr>
      <vt:lpstr>Lucida Sans Unicode</vt:lpstr>
      <vt:lpstr>Roboto</vt:lpstr>
      <vt:lpstr>Tahoma</vt:lpstr>
      <vt:lpstr>Office Theme</vt:lpstr>
      <vt:lpstr>An Ultra-Low-Power 10-Transistor 1-Bit Magnitude Comparator Using Gate Diffusion Input (GDI) Technique</vt:lpstr>
      <vt:lpstr>Presentation Outline</vt:lpstr>
      <vt:lpstr>1. Introduction &amp; Motivation</vt:lpstr>
      <vt:lpstr>1. Introduction &amp; Motivation</vt:lpstr>
      <vt:lpstr>Research Objectives &amp; Scope</vt:lpstr>
      <vt:lpstr>Research Objectives &amp; Scope</vt:lpstr>
      <vt:lpstr>Research Objectives &amp; Scope</vt:lpstr>
      <vt:lpstr>2. Baseline 1-Bit Magnitude Comparator Topologies</vt:lpstr>
      <vt:lpstr>2. Baseline 1-Bit Magnitude Comparator Topologies</vt:lpstr>
      <vt:lpstr>2. Baseline 1-Bit Magnitude Comparator Topologies</vt:lpstr>
      <vt:lpstr>PowerPoint Presentation</vt:lpstr>
      <vt:lpstr>3. Gate Diffusion Input (GDI) Technique</vt:lpstr>
      <vt:lpstr>4. Proposed 10-Transistor GDI Magnitude Comparator Architecture</vt:lpstr>
      <vt:lpstr>4. Proposed 10-Transistor GDI Magnitude Comparator Architecture</vt:lpstr>
      <vt:lpstr>5. Simulation Methodology &amp; Setup</vt:lpstr>
      <vt:lpstr>5. Simulation Methodology &amp; Setup</vt:lpstr>
      <vt:lpstr>Quantitative Performance Comparison (45nm Node)</vt:lpstr>
      <vt:lpstr>Quantitative Performance Comparison (45nm Node)</vt:lpstr>
      <vt:lpstr>Graphical Analysis: Delay, Power, and PDP Trends</vt:lpstr>
      <vt:lpstr>6. Conclusion &amp; Key Contributions</vt:lpstr>
      <vt:lpstr>6. Conclusion &amp; Key Contributions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Ultra-Low-Power 10-Transistor 1-Bit Magnitude Comparator Using Gate Diffusion Input (GDI) Technique - B.Sc. Thesis Defense Presentation</dc:title>
  <dc:creator>Shahrear Hossain (ID: ET223104)[0.2cm] Supervisor: Riazul Islam, Lecturer </dc:creator>
  <cp:lastModifiedBy>Shahrear hossain</cp:lastModifiedBy>
  <cp:revision>2</cp:revision>
  <dcterms:created xsi:type="dcterms:W3CDTF">2026-09-22T02:06:28Z</dcterms:created>
  <dcterms:modified xsi:type="dcterms:W3CDTF">2026-09-22T02:13:15Z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2026-09-22T00:00:00Z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2026-09-22T00:00:00Z</vt:filetime>
  </property>
  <property fmtid="{D5CDD505-2E9C-101B-9397-08002B2CF9AE}" pid="6" name="PTEX.Fullbanner">
    <vt:lpwstr>This is pdfTeX, Version 3.141592653-2.6-1.40.28 (TeX Live 2025) kpathsea version 6.4.1</vt:lpwstr>
  </property>
  <property fmtid="{D5CDD505-2E9C-101B-9397-08002B2CF9AE}" pid="7" name="Producer">
    <vt:lpwstr>pdfTeX-1.40.28</vt:lpwstr>
  </property>
</Properties>
</file>