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333" r:id="rId4"/>
    <p:sldId id="288" r:id="rId5"/>
    <p:sldId id="334" r:id="rId6"/>
    <p:sldId id="268" r:id="rId7"/>
    <p:sldId id="283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5" r:id="rId18"/>
    <p:sldId id="344" r:id="rId19"/>
    <p:sldId id="347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A28"/>
    <a:srgbClr val="334436"/>
    <a:srgbClr val="E3DB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C18286-B338-40E4-A1DF-69A9D49425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b37d1f106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b37d1f106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b37d1f106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b37d1f106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524e77840e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524e77840e_1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524e77840e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1524e77840e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37d1f1062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37d1f1062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/>
          <a:srcRect t="3688" r="62189"/>
          <a:stretch>
            <a:fillRect/>
          </a:stretch>
        </p:blipFill>
        <p:spPr>
          <a:xfrm>
            <a:off x="7764750" y="1521950"/>
            <a:ext cx="1379249" cy="25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955075"/>
            <a:ext cx="5294700" cy="17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0000" y="2902750"/>
            <a:ext cx="3735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346300" y="759479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388100" y="1199575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6" name="Google Shape;46;p8"/>
          <p:cNvSpPr/>
          <p:nvPr/>
        </p:nvSpPr>
        <p:spPr>
          <a:xfrm flipH="1">
            <a:off x="7271700" y="641925"/>
            <a:ext cx="1152300" cy="11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8"/>
          <p:cNvPicPr preferRelativeResize="0"/>
          <p:nvPr/>
        </p:nvPicPr>
        <p:blipFill rotWithShape="1">
          <a:blip r:embed="rId2"/>
          <a:srcRect l="35695" b="37830"/>
          <a:stretch>
            <a:fillRect/>
          </a:stretch>
        </p:blipFill>
        <p:spPr>
          <a:xfrm flipH="1">
            <a:off x="6705601" y="3443923"/>
            <a:ext cx="2438399" cy="169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2"/>
          <a:srcRect r="25317"/>
          <a:stretch>
            <a:fillRect/>
          </a:stretch>
        </p:blipFill>
        <p:spPr>
          <a:xfrm rot="5400000">
            <a:off x="174625" y="2495374"/>
            <a:ext cx="2726400" cy="26322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3070500" y="1219313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2" hasCustomPrompt="1"/>
          </p:nvPr>
        </p:nvSpPr>
        <p:spPr>
          <a:xfrm>
            <a:off x="3070500" y="626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"/>
          </p:nvPr>
        </p:nvSpPr>
        <p:spPr>
          <a:xfrm>
            <a:off x="3070500" y="1805838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3"/>
          </p:nvPr>
        </p:nvSpPr>
        <p:spPr>
          <a:xfrm>
            <a:off x="5754300" y="1219313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4" hasCustomPrompt="1"/>
          </p:nvPr>
        </p:nvSpPr>
        <p:spPr>
          <a:xfrm>
            <a:off x="5754300" y="626138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5"/>
          </p:nvPr>
        </p:nvSpPr>
        <p:spPr>
          <a:xfrm>
            <a:off x="5754300" y="1805838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6"/>
          </p:nvPr>
        </p:nvSpPr>
        <p:spPr>
          <a:xfrm>
            <a:off x="3070500" y="3130788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7" hasCustomPrompt="1"/>
          </p:nvPr>
        </p:nvSpPr>
        <p:spPr>
          <a:xfrm>
            <a:off x="3070500" y="253761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8"/>
          </p:nvPr>
        </p:nvSpPr>
        <p:spPr>
          <a:xfrm>
            <a:off x="3070500" y="3717313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9"/>
          </p:nvPr>
        </p:nvSpPr>
        <p:spPr>
          <a:xfrm>
            <a:off x="5754300" y="3130788"/>
            <a:ext cx="2669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13" hasCustomPrompt="1"/>
          </p:nvPr>
        </p:nvSpPr>
        <p:spPr>
          <a:xfrm>
            <a:off x="5754300" y="2537613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4"/>
          </p:nvPr>
        </p:nvSpPr>
        <p:spPr>
          <a:xfrm>
            <a:off x="5754300" y="3717313"/>
            <a:ext cx="2669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738800" y="2805475"/>
            <a:ext cx="1484400" cy="1484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8065250" y="-3038796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title" idx="2"/>
          </p:nvPr>
        </p:nvSpPr>
        <p:spPr>
          <a:xfrm>
            <a:off x="1959975" y="1297375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1"/>
          </p:nvPr>
        </p:nvSpPr>
        <p:spPr>
          <a:xfrm>
            <a:off x="1959985" y="156132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title" idx="3"/>
          </p:nvPr>
        </p:nvSpPr>
        <p:spPr>
          <a:xfrm>
            <a:off x="1959975" y="2125208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8" name="Google Shape;178;p25"/>
          <p:cNvSpPr txBox="1">
            <a:spLocks noGrp="1"/>
          </p:cNvSpPr>
          <p:nvPr>
            <p:ph type="subTitle" idx="4"/>
          </p:nvPr>
        </p:nvSpPr>
        <p:spPr>
          <a:xfrm>
            <a:off x="1959985" y="238917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5"/>
          <p:cNvSpPr txBox="1">
            <a:spLocks noGrp="1"/>
          </p:cNvSpPr>
          <p:nvPr>
            <p:ph type="title" idx="5"/>
          </p:nvPr>
        </p:nvSpPr>
        <p:spPr>
          <a:xfrm>
            <a:off x="1959975" y="2953042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ubTitle" idx="6"/>
          </p:nvPr>
        </p:nvSpPr>
        <p:spPr>
          <a:xfrm>
            <a:off x="1959985" y="321702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title" idx="7"/>
          </p:nvPr>
        </p:nvSpPr>
        <p:spPr>
          <a:xfrm>
            <a:off x="1959975" y="3780875"/>
            <a:ext cx="5243100" cy="36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subTitle" idx="8"/>
          </p:nvPr>
        </p:nvSpPr>
        <p:spPr>
          <a:xfrm>
            <a:off x="1959985" y="4044875"/>
            <a:ext cx="5243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_2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72005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pic>
        <p:nvPicPr>
          <p:cNvPr id="304" name="Google Shape;304;p37"/>
          <p:cNvPicPr preferRelativeResize="0"/>
          <p:nvPr/>
        </p:nvPicPr>
        <p:blipFill rotWithShape="1">
          <a:blip r:embed="rId2"/>
          <a:srcRect l="72414" t="38107" r="-31446"/>
          <a:stretch>
            <a:fillRect/>
          </a:stretch>
        </p:blipFill>
        <p:spPr>
          <a:xfrm rot="10800000" flipH="1">
            <a:off x="-6008" y="3669179"/>
            <a:ext cx="2667924" cy="20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7"/>
          <p:cNvSpPr/>
          <p:nvPr/>
        </p:nvSpPr>
        <p:spPr>
          <a:xfrm rot="10800000">
            <a:off x="-2010349" y="4551874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37"/>
          <p:cNvPicPr preferRelativeResize="0"/>
          <p:nvPr/>
        </p:nvPicPr>
        <p:blipFill rotWithShape="1">
          <a:blip r:embed="rId2"/>
          <a:srcRect l="72414" t="38107" r="-31446"/>
          <a:stretch>
            <a:fillRect/>
          </a:stretch>
        </p:blipFill>
        <p:spPr>
          <a:xfrm flipH="1">
            <a:off x="6484914" y="-280150"/>
            <a:ext cx="2667924" cy="20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/>
          <p:nvPr/>
        </p:nvSpPr>
        <p:spPr>
          <a:xfrm>
            <a:off x="7421938" y="-3150721"/>
            <a:ext cx="3735241" cy="4004501"/>
          </a:xfrm>
          <a:custGeom>
            <a:avLst/>
            <a:gdLst/>
            <a:ahLst/>
            <a:cxnLst/>
            <a:rect l="l" t="t" r="r" b="b"/>
            <a:pathLst>
              <a:path w="195460" h="209550" extrusionOk="0">
                <a:moveTo>
                  <a:pt x="183548" y="11656"/>
                </a:moveTo>
                <a:lnTo>
                  <a:pt x="183548" y="197894"/>
                </a:lnTo>
                <a:lnTo>
                  <a:pt x="11912" y="197894"/>
                </a:lnTo>
                <a:lnTo>
                  <a:pt x="11912" y="11656"/>
                </a:lnTo>
                <a:close/>
                <a:moveTo>
                  <a:pt x="0" y="0"/>
                </a:moveTo>
                <a:lnTo>
                  <a:pt x="0" y="209550"/>
                </a:lnTo>
                <a:lnTo>
                  <a:pt x="195460" y="209550"/>
                </a:lnTo>
                <a:lnTo>
                  <a:pt x="1954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/>
          <p:nvPr/>
        </p:nvSpPr>
        <p:spPr>
          <a:xfrm rot="10800000">
            <a:off x="5466157" y="38325"/>
            <a:ext cx="3545443" cy="1362071"/>
          </a:xfrm>
          <a:custGeom>
            <a:avLst/>
            <a:gdLst/>
            <a:ahLst/>
            <a:cxnLst/>
            <a:rect l="l" t="t" r="r" b="b"/>
            <a:pathLst>
              <a:path w="285750" h="109778" extrusionOk="0">
                <a:moveTo>
                  <a:pt x="217594" y="0"/>
                </a:moveTo>
                <a:lnTo>
                  <a:pt x="215917" y="245"/>
                </a:lnTo>
                <a:lnTo>
                  <a:pt x="214241" y="532"/>
                </a:lnTo>
                <a:lnTo>
                  <a:pt x="213014" y="777"/>
                </a:lnTo>
                <a:lnTo>
                  <a:pt x="211829" y="1063"/>
                </a:lnTo>
                <a:lnTo>
                  <a:pt x="210684" y="1390"/>
                </a:lnTo>
                <a:lnTo>
                  <a:pt x="209539" y="1758"/>
                </a:lnTo>
                <a:lnTo>
                  <a:pt x="208394" y="2208"/>
                </a:lnTo>
                <a:lnTo>
                  <a:pt x="207290" y="2658"/>
                </a:lnTo>
                <a:lnTo>
                  <a:pt x="206227" y="3148"/>
                </a:lnTo>
                <a:lnTo>
                  <a:pt x="205164" y="3680"/>
                </a:lnTo>
                <a:lnTo>
                  <a:pt x="204101" y="4211"/>
                </a:lnTo>
                <a:lnTo>
                  <a:pt x="203079" y="4825"/>
                </a:lnTo>
                <a:lnTo>
                  <a:pt x="202057" y="5479"/>
                </a:lnTo>
                <a:lnTo>
                  <a:pt x="201076" y="6133"/>
                </a:lnTo>
                <a:lnTo>
                  <a:pt x="200095" y="6828"/>
                </a:lnTo>
                <a:lnTo>
                  <a:pt x="199113" y="7564"/>
                </a:lnTo>
                <a:lnTo>
                  <a:pt x="198173" y="8300"/>
                </a:lnTo>
                <a:lnTo>
                  <a:pt x="197233" y="9077"/>
                </a:lnTo>
                <a:lnTo>
                  <a:pt x="196088" y="10058"/>
                </a:lnTo>
                <a:lnTo>
                  <a:pt x="194984" y="11080"/>
                </a:lnTo>
                <a:lnTo>
                  <a:pt x="193921" y="12143"/>
                </a:lnTo>
                <a:lnTo>
                  <a:pt x="192899" y="13206"/>
                </a:lnTo>
                <a:lnTo>
                  <a:pt x="191917" y="14310"/>
                </a:lnTo>
                <a:lnTo>
                  <a:pt x="190936" y="15455"/>
                </a:lnTo>
                <a:lnTo>
                  <a:pt x="189996" y="16600"/>
                </a:lnTo>
                <a:lnTo>
                  <a:pt x="189096" y="17744"/>
                </a:lnTo>
                <a:lnTo>
                  <a:pt x="188197" y="18930"/>
                </a:lnTo>
                <a:lnTo>
                  <a:pt x="187379" y="20157"/>
                </a:lnTo>
                <a:lnTo>
                  <a:pt x="186561" y="21383"/>
                </a:lnTo>
                <a:lnTo>
                  <a:pt x="185785" y="22651"/>
                </a:lnTo>
                <a:lnTo>
                  <a:pt x="185008" y="23918"/>
                </a:lnTo>
                <a:lnTo>
                  <a:pt x="184272" y="25226"/>
                </a:lnTo>
                <a:lnTo>
                  <a:pt x="183577" y="26576"/>
                </a:lnTo>
                <a:lnTo>
                  <a:pt x="182882" y="27925"/>
                </a:lnTo>
                <a:lnTo>
                  <a:pt x="181737" y="30255"/>
                </a:lnTo>
                <a:lnTo>
                  <a:pt x="180551" y="32586"/>
                </a:lnTo>
                <a:lnTo>
                  <a:pt x="179325" y="34916"/>
                </a:lnTo>
                <a:lnTo>
                  <a:pt x="178711" y="36061"/>
                </a:lnTo>
                <a:lnTo>
                  <a:pt x="178057" y="37206"/>
                </a:lnTo>
                <a:lnTo>
                  <a:pt x="177567" y="37942"/>
                </a:lnTo>
                <a:lnTo>
                  <a:pt x="177076" y="38678"/>
                </a:lnTo>
                <a:lnTo>
                  <a:pt x="176585" y="39373"/>
                </a:lnTo>
                <a:lnTo>
                  <a:pt x="176013" y="40068"/>
                </a:lnTo>
                <a:lnTo>
                  <a:pt x="175440" y="40722"/>
                </a:lnTo>
                <a:lnTo>
                  <a:pt x="174868" y="41335"/>
                </a:lnTo>
                <a:lnTo>
                  <a:pt x="174255" y="41908"/>
                </a:lnTo>
                <a:lnTo>
                  <a:pt x="173601" y="42439"/>
                </a:lnTo>
                <a:lnTo>
                  <a:pt x="172906" y="42971"/>
                </a:lnTo>
                <a:lnTo>
                  <a:pt x="172210" y="43421"/>
                </a:lnTo>
                <a:lnTo>
                  <a:pt x="171475" y="43870"/>
                </a:lnTo>
                <a:lnTo>
                  <a:pt x="170698" y="44238"/>
                </a:lnTo>
                <a:lnTo>
                  <a:pt x="169880" y="44606"/>
                </a:lnTo>
                <a:lnTo>
                  <a:pt x="169062" y="44892"/>
                </a:lnTo>
                <a:lnTo>
                  <a:pt x="168204" y="45138"/>
                </a:lnTo>
                <a:lnTo>
                  <a:pt x="167304" y="45383"/>
                </a:lnTo>
                <a:lnTo>
                  <a:pt x="166486" y="45506"/>
                </a:lnTo>
                <a:lnTo>
                  <a:pt x="165669" y="45628"/>
                </a:lnTo>
                <a:lnTo>
                  <a:pt x="164851" y="45710"/>
                </a:lnTo>
                <a:lnTo>
                  <a:pt x="164033" y="45751"/>
                </a:lnTo>
                <a:lnTo>
                  <a:pt x="163216" y="45710"/>
                </a:lnTo>
                <a:lnTo>
                  <a:pt x="162398" y="45669"/>
                </a:lnTo>
                <a:lnTo>
                  <a:pt x="161621" y="45628"/>
                </a:lnTo>
                <a:lnTo>
                  <a:pt x="160803" y="45506"/>
                </a:lnTo>
                <a:lnTo>
                  <a:pt x="160027" y="45342"/>
                </a:lnTo>
                <a:lnTo>
                  <a:pt x="159250" y="45179"/>
                </a:lnTo>
                <a:lnTo>
                  <a:pt x="158473" y="44974"/>
                </a:lnTo>
                <a:lnTo>
                  <a:pt x="157696" y="44770"/>
                </a:lnTo>
                <a:lnTo>
                  <a:pt x="156919" y="44484"/>
                </a:lnTo>
                <a:lnTo>
                  <a:pt x="156142" y="44238"/>
                </a:lnTo>
                <a:lnTo>
                  <a:pt x="154589" y="43584"/>
                </a:lnTo>
                <a:lnTo>
                  <a:pt x="153567" y="43093"/>
                </a:lnTo>
                <a:lnTo>
                  <a:pt x="152585" y="42603"/>
                </a:lnTo>
                <a:lnTo>
                  <a:pt x="151645" y="42071"/>
                </a:lnTo>
                <a:lnTo>
                  <a:pt x="150705" y="41499"/>
                </a:lnTo>
                <a:lnTo>
                  <a:pt x="149764" y="40886"/>
                </a:lnTo>
                <a:lnTo>
                  <a:pt x="148906" y="40231"/>
                </a:lnTo>
                <a:lnTo>
                  <a:pt x="148047" y="39577"/>
                </a:lnTo>
                <a:lnTo>
                  <a:pt x="147188" y="38882"/>
                </a:lnTo>
                <a:lnTo>
                  <a:pt x="146412" y="38146"/>
                </a:lnTo>
                <a:lnTo>
                  <a:pt x="145594" y="37410"/>
                </a:lnTo>
                <a:lnTo>
                  <a:pt x="144858" y="36634"/>
                </a:lnTo>
                <a:lnTo>
                  <a:pt x="144122" y="35816"/>
                </a:lnTo>
                <a:lnTo>
                  <a:pt x="143386" y="34998"/>
                </a:lnTo>
                <a:lnTo>
                  <a:pt x="142691" y="34180"/>
                </a:lnTo>
                <a:lnTo>
                  <a:pt x="141996" y="33281"/>
                </a:lnTo>
                <a:lnTo>
                  <a:pt x="141342" y="32381"/>
                </a:lnTo>
                <a:lnTo>
                  <a:pt x="139011" y="29070"/>
                </a:lnTo>
                <a:lnTo>
                  <a:pt x="136722" y="25758"/>
                </a:lnTo>
                <a:lnTo>
                  <a:pt x="134473" y="22405"/>
                </a:lnTo>
                <a:lnTo>
                  <a:pt x="132183" y="19053"/>
                </a:lnTo>
                <a:lnTo>
                  <a:pt x="131079" y="17458"/>
                </a:lnTo>
                <a:lnTo>
                  <a:pt x="129894" y="15945"/>
                </a:lnTo>
                <a:lnTo>
                  <a:pt x="128708" y="14433"/>
                </a:lnTo>
                <a:lnTo>
                  <a:pt x="127482" y="13002"/>
                </a:lnTo>
                <a:lnTo>
                  <a:pt x="126173" y="11612"/>
                </a:lnTo>
                <a:lnTo>
                  <a:pt x="125478" y="10916"/>
                </a:lnTo>
                <a:lnTo>
                  <a:pt x="124783" y="10262"/>
                </a:lnTo>
                <a:lnTo>
                  <a:pt x="124047" y="9649"/>
                </a:lnTo>
                <a:lnTo>
                  <a:pt x="123311" y="9036"/>
                </a:lnTo>
                <a:lnTo>
                  <a:pt x="122575" y="8422"/>
                </a:lnTo>
                <a:lnTo>
                  <a:pt x="121758" y="7850"/>
                </a:lnTo>
                <a:lnTo>
                  <a:pt x="120367" y="6910"/>
                </a:lnTo>
                <a:lnTo>
                  <a:pt x="118936" y="6051"/>
                </a:lnTo>
                <a:lnTo>
                  <a:pt x="117465" y="5274"/>
                </a:lnTo>
                <a:lnTo>
                  <a:pt x="116729" y="4906"/>
                </a:lnTo>
                <a:lnTo>
                  <a:pt x="115952" y="4579"/>
                </a:lnTo>
                <a:lnTo>
                  <a:pt x="115216" y="4293"/>
                </a:lnTo>
                <a:lnTo>
                  <a:pt x="114439" y="4007"/>
                </a:lnTo>
                <a:lnTo>
                  <a:pt x="113621" y="3761"/>
                </a:lnTo>
                <a:lnTo>
                  <a:pt x="112844" y="3516"/>
                </a:lnTo>
                <a:lnTo>
                  <a:pt x="112027" y="3353"/>
                </a:lnTo>
                <a:lnTo>
                  <a:pt x="111209" y="3189"/>
                </a:lnTo>
                <a:lnTo>
                  <a:pt x="110391" y="3066"/>
                </a:lnTo>
                <a:lnTo>
                  <a:pt x="109533" y="2944"/>
                </a:lnTo>
                <a:lnTo>
                  <a:pt x="108388" y="2903"/>
                </a:lnTo>
                <a:lnTo>
                  <a:pt x="107284" y="2862"/>
                </a:lnTo>
                <a:lnTo>
                  <a:pt x="106221" y="2944"/>
                </a:lnTo>
                <a:lnTo>
                  <a:pt x="105199" y="3066"/>
                </a:lnTo>
                <a:lnTo>
                  <a:pt x="104177" y="3271"/>
                </a:lnTo>
                <a:lnTo>
                  <a:pt x="103195" y="3516"/>
                </a:lnTo>
                <a:lnTo>
                  <a:pt x="102214" y="3843"/>
                </a:lnTo>
                <a:lnTo>
                  <a:pt x="101274" y="4211"/>
                </a:lnTo>
                <a:lnTo>
                  <a:pt x="100374" y="4661"/>
                </a:lnTo>
                <a:lnTo>
                  <a:pt x="99516" y="5152"/>
                </a:lnTo>
                <a:lnTo>
                  <a:pt x="98657" y="5724"/>
                </a:lnTo>
                <a:lnTo>
                  <a:pt x="97839" y="6337"/>
                </a:lnTo>
                <a:lnTo>
                  <a:pt x="97022" y="7032"/>
                </a:lnTo>
                <a:lnTo>
                  <a:pt x="96245" y="7809"/>
                </a:lnTo>
                <a:lnTo>
                  <a:pt x="95509" y="8627"/>
                </a:lnTo>
                <a:lnTo>
                  <a:pt x="94814" y="9485"/>
                </a:lnTo>
                <a:lnTo>
                  <a:pt x="93955" y="10630"/>
                </a:lnTo>
                <a:lnTo>
                  <a:pt x="93178" y="11816"/>
                </a:lnTo>
                <a:lnTo>
                  <a:pt x="92483" y="13043"/>
                </a:lnTo>
                <a:lnTo>
                  <a:pt x="91829" y="14310"/>
                </a:lnTo>
                <a:lnTo>
                  <a:pt x="91216" y="15577"/>
                </a:lnTo>
                <a:lnTo>
                  <a:pt x="90603" y="16845"/>
                </a:lnTo>
                <a:lnTo>
                  <a:pt x="89540" y="19462"/>
                </a:lnTo>
                <a:lnTo>
                  <a:pt x="88517" y="21996"/>
                </a:lnTo>
                <a:lnTo>
                  <a:pt x="87536" y="24531"/>
                </a:lnTo>
                <a:lnTo>
                  <a:pt x="86514" y="27025"/>
                </a:lnTo>
                <a:lnTo>
                  <a:pt x="85983" y="28293"/>
                </a:lnTo>
                <a:lnTo>
                  <a:pt x="85410" y="29479"/>
                </a:lnTo>
                <a:lnTo>
                  <a:pt x="84838" y="30623"/>
                </a:lnTo>
                <a:lnTo>
                  <a:pt x="84265" y="31686"/>
                </a:lnTo>
                <a:lnTo>
                  <a:pt x="83652" y="32749"/>
                </a:lnTo>
                <a:lnTo>
                  <a:pt x="83039" y="33772"/>
                </a:lnTo>
                <a:lnTo>
                  <a:pt x="82385" y="34753"/>
                </a:lnTo>
                <a:lnTo>
                  <a:pt x="81730" y="35734"/>
                </a:lnTo>
                <a:lnTo>
                  <a:pt x="81035" y="36674"/>
                </a:lnTo>
                <a:lnTo>
                  <a:pt x="80340" y="37615"/>
                </a:lnTo>
                <a:lnTo>
                  <a:pt x="79604" y="38514"/>
                </a:lnTo>
                <a:lnTo>
                  <a:pt x="78868" y="39373"/>
                </a:lnTo>
                <a:lnTo>
                  <a:pt x="78092" y="40231"/>
                </a:lnTo>
                <a:lnTo>
                  <a:pt x="77274" y="41049"/>
                </a:lnTo>
                <a:lnTo>
                  <a:pt x="76456" y="41826"/>
                </a:lnTo>
                <a:lnTo>
                  <a:pt x="75639" y="42603"/>
                </a:lnTo>
                <a:lnTo>
                  <a:pt x="74780" y="43339"/>
                </a:lnTo>
                <a:lnTo>
                  <a:pt x="73880" y="44034"/>
                </a:lnTo>
                <a:lnTo>
                  <a:pt x="72981" y="44729"/>
                </a:lnTo>
                <a:lnTo>
                  <a:pt x="72081" y="45383"/>
                </a:lnTo>
                <a:lnTo>
                  <a:pt x="71141" y="46037"/>
                </a:lnTo>
                <a:lnTo>
                  <a:pt x="70201" y="46651"/>
                </a:lnTo>
                <a:lnTo>
                  <a:pt x="69219" y="47223"/>
                </a:lnTo>
                <a:lnTo>
                  <a:pt x="68197" y="47795"/>
                </a:lnTo>
                <a:lnTo>
                  <a:pt x="67216" y="48327"/>
                </a:lnTo>
                <a:lnTo>
                  <a:pt x="66153" y="48858"/>
                </a:lnTo>
                <a:lnTo>
                  <a:pt x="65090" y="49349"/>
                </a:lnTo>
                <a:lnTo>
                  <a:pt x="64027" y="49799"/>
                </a:lnTo>
                <a:lnTo>
                  <a:pt x="62923" y="50248"/>
                </a:lnTo>
                <a:lnTo>
                  <a:pt x="61819" y="50657"/>
                </a:lnTo>
                <a:lnTo>
                  <a:pt x="60715" y="51066"/>
                </a:lnTo>
                <a:lnTo>
                  <a:pt x="59530" y="51434"/>
                </a:lnTo>
                <a:lnTo>
                  <a:pt x="58385" y="51761"/>
                </a:lnTo>
                <a:lnTo>
                  <a:pt x="57199" y="52088"/>
                </a:lnTo>
                <a:lnTo>
                  <a:pt x="55605" y="52456"/>
                </a:lnTo>
                <a:lnTo>
                  <a:pt x="53969" y="52783"/>
                </a:lnTo>
                <a:lnTo>
                  <a:pt x="52375" y="52988"/>
                </a:lnTo>
                <a:lnTo>
                  <a:pt x="50780" y="53192"/>
                </a:lnTo>
                <a:lnTo>
                  <a:pt x="49226" y="53274"/>
                </a:lnTo>
                <a:lnTo>
                  <a:pt x="47673" y="53315"/>
                </a:lnTo>
                <a:lnTo>
                  <a:pt x="46078" y="53274"/>
                </a:lnTo>
                <a:lnTo>
                  <a:pt x="44565" y="53192"/>
                </a:lnTo>
                <a:lnTo>
                  <a:pt x="43012" y="53070"/>
                </a:lnTo>
                <a:lnTo>
                  <a:pt x="41499" y="52865"/>
                </a:lnTo>
                <a:lnTo>
                  <a:pt x="39986" y="52579"/>
                </a:lnTo>
                <a:lnTo>
                  <a:pt x="38514" y="52252"/>
                </a:lnTo>
                <a:lnTo>
                  <a:pt x="37042" y="51843"/>
                </a:lnTo>
                <a:lnTo>
                  <a:pt x="35611" y="51434"/>
                </a:lnTo>
                <a:lnTo>
                  <a:pt x="34180" y="50944"/>
                </a:lnTo>
                <a:lnTo>
                  <a:pt x="32749" y="50371"/>
                </a:lnTo>
                <a:lnTo>
                  <a:pt x="31400" y="49758"/>
                </a:lnTo>
                <a:lnTo>
                  <a:pt x="30010" y="49104"/>
                </a:lnTo>
                <a:lnTo>
                  <a:pt x="28702" y="48409"/>
                </a:lnTo>
                <a:lnTo>
                  <a:pt x="27393" y="47673"/>
                </a:lnTo>
                <a:lnTo>
                  <a:pt x="26085" y="46855"/>
                </a:lnTo>
                <a:lnTo>
                  <a:pt x="24858" y="46037"/>
                </a:lnTo>
                <a:lnTo>
                  <a:pt x="23632" y="45138"/>
                </a:lnTo>
                <a:lnTo>
                  <a:pt x="22405" y="44197"/>
                </a:lnTo>
                <a:lnTo>
                  <a:pt x="21261" y="43216"/>
                </a:lnTo>
                <a:lnTo>
                  <a:pt x="20116" y="42194"/>
                </a:lnTo>
                <a:lnTo>
                  <a:pt x="19012" y="41131"/>
                </a:lnTo>
                <a:lnTo>
                  <a:pt x="17949" y="40027"/>
                </a:lnTo>
                <a:lnTo>
                  <a:pt x="16927" y="38882"/>
                </a:lnTo>
                <a:lnTo>
                  <a:pt x="15945" y="37737"/>
                </a:lnTo>
                <a:lnTo>
                  <a:pt x="14964" y="36511"/>
                </a:lnTo>
                <a:lnTo>
                  <a:pt x="14065" y="35284"/>
                </a:lnTo>
                <a:lnTo>
                  <a:pt x="13043" y="33731"/>
                </a:lnTo>
                <a:lnTo>
                  <a:pt x="12061" y="32177"/>
                </a:lnTo>
                <a:lnTo>
                  <a:pt x="11203" y="30582"/>
                </a:lnTo>
                <a:lnTo>
                  <a:pt x="10385" y="28947"/>
                </a:lnTo>
                <a:lnTo>
                  <a:pt x="9649" y="27271"/>
                </a:lnTo>
                <a:lnTo>
                  <a:pt x="8954" y="25594"/>
                </a:lnTo>
                <a:lnTo>
                  <a:pt x="8382" y="23836"/>
                </a:lnTo>
                <a:lnTo>
                  <a:pt x="7891" y="22078"/>
                </a:lnTo>
                <a:lnTo>
                  <a:pt x="7687" y="21465"/>
                </a:lnTo>
                <a:lnTo>
                  <a:pt x="7441" y="20933"/>
                </a:lnTo>
                <a:lnTo>
                  <a:pt x="7155" y="20525"/>
                </a:lnTo>
                <a:lnTo>
                  <a:pt x="6991" y="20361"/>
                </a:lnTo>
                <a:lnTo>
                  <a:pt x="6787" y="20198"/>
                </a:lnTo>
                <a:lnTo>
                  <a:pt x="6583" y="20034"/>
                </a:lnTo>
                <a:lnTo>
                  <a:pt x="6378" y="19911"/>
                </a:lnTo>
                <a:lnTo>
                  <a:pt x="5928" y="19748"/>
                </a:lnTo>
                <a:lnTo>
                  <a:pt x="5397" y="19666"/>
                </a:lnTo>
                <a:lnTo>
                  <a:pt x="4825" y="19666"/>
                </a:lnTo>
                <a:lnTo>
                  <a:pt x="4334" y="19748"/>
                </a:lnTo>
                <a:lnTo>
                  <a:pt x="3884" y="19870"/>
                </a:lnTo>
                <a:lnTo>
                  <a:pt x="3475" y="20116"/>
                </a:lnTo>
                <a:lnTo>
                  <a:pt x="3107" y="20402"/>
                </a:lnTo>
                <a:lnTo>
                  <a:pt x="2821" y="20770"/>
                </a:lnTo>
                <a:lnTo>
                  <a:pt x="2576" y="21261"/>
                </a:lnTo>
                <a:lnTo>
                  <a:pt x="2412" y="21751"/>
                </a:lnTo>
                <a:lnTo>
                  <a:pt x="2290" y="22364"/>
                </a:lnTo>
                <a:lnTo>
                  <a:pt x="1390" y="29969"/>
                </a:lnTo>
                <a:lnTo>
                  <a:pt x="940" y="33772"/>
                </a:lnTo>
                <a:lnTo>
                  <a:pt x="572" y="37574"/>
                </a:lnTo>
                <a:lnTo>
                  <a:pt x="368" y="40313"/>
                </a:lnTo>
                <a:lnTo>
                  <a:pt x="204" y="43053"/>
                </a:lnTo>
                <a:lnTo>
                  <a:pt x="82" y="45833"/>
                </a:lnTo>
                <a:lnTo>
                  <a:pt x="0" y="48572"/>
                </a:lnTo>
                <a:lnTo>
                  <a:pt x="0" y="51312"/>
                </a:lnTo>
                <a:lnTo>
                  <a:pt x="41" y="54051"/>
                </a:lnTo>
                <a:lnTo>
                  <a:pt x="123" y="56831"/>
                </a:lnTo>
                <a:lnTo>
                  <a:pt x="204" y="59570"/>
                </a:lnTo>
                <a:lnTo>
                  <a:pt x="368" y="62187"/>
                </a:lnTo>
                <a:lnTo>
                  <a:pt x="532" y="64763"/>
                </a:lnTo>
                <a:lnTo>
                  <a:pt x="736" y="67339"/>
                </a:lnTo>
                <a:lnTo>
                  <a:pt x="981" y="69955"/>
                </a:lnTo>
                <a:lnTo>
                  <a:pt x="1267" y="72531"/>
                </a:lnTo>
                <a:lnTo>
                  <a:pt x="1595" y="75107"/>
                </a:lnTo>
                <a:lnTo>
                  <a:pt x="1922" y="77683"/>
                </a:lnTo>
                <a:lnTo>
                  <a:pt x="2330" y="80218"/>
                </a:lnTo>
                <a:lnTo>
                  <a:pt x="2739" y="82793"/>
                </a:lnTo>
                <a:lnTo>
                  <a:pt x="3189" y="85328"/>
                </a:lnTo>
                <a:lnTo>
                  <a:pt x="3680" y="87904"/>
                </a:lnTo>
                <a:lnTo>
                  <a:pt x="4211" y="90439"/>
                </a:lnTo>
                <a:lnTo>
                  <a:pt x="4784" y="92974"/>
                </a:lnTo>
                <a:lnTo>
                  <a:pt x="5356" y="95509"/>
                </a:lnTo>
                <a:lnTo>
                  <a:pt x="6010" y="98003"/>
                </a:lnTo>
                <a:lnTo>
                  <a:pt x="6705" y="100538"/>
                </a:lnTo>
                <a:lnTo>
                  <a:pt x="6951" y="101274"/>
                </a:lnTo>
                <a:lnTo>
                  <a:pt x="7196" y="102010"/>
                </a:lnTo>
                <a:lnTo>
                  <a:pt x="7768" y="103482"/>
                </a:lnTo>
                <a:lnTo>
                  <a:pt x="8136" y="104218"/>
                </a:lnTo>
                <a:lnTo>
                  <a:pt x="8504" y="104913"/>
                </a:lnTo>
                <a:lnTo>
                  <a:pt x="8913" y="105526"/>
                </a:lnTo>
                <a:lnTo>
                  <a:pt x="9363" y="106139"/>
                </a:lnTo>
                <a:lnTo>
                  <a:pt x="9853" y="106712"/>
                </a:lnTo>
                <a:lnTo>
                  <a:pt x="10344" y="107202"/>
                </a:lnTo>
                <a:lnTo>
                  <a:pt x="10876" y="107652"/>
                </a:lnTo>
                <a:lnTo>
                  <a:pt x="11448" y="108061"/>
                </a:lnTo>
                <a:lnTo>
                  <a:pt x="12061" y="108429"/>
                </a:lnTo>
                <a:lnTo>
                  <a:pt x="12675" y="108756"/>
                </a:lnTo>
                <a:lnTo>
                  <a:pt x="13370" y="109042"/>
                </a:lnTo>
                <a:lnTo>
                  <a:pt x="14024" y="109287"/>
                </a:lnTo>
                <a:lnTo>
                  <a:pt x="14760" y="109451"/>
                </a:lnTo>
                <a:lnTo>
                  <a:pt x="15496" y="109574"/>
                </a:lnTo>
                <a:lnTo>
                  <a:pt x="16232" y="109696"/>
                </a:lnTo>
                <a:lnTo>
                  <a:pt x="17008" y="109737"/>
                </a:lnTo>
                <a:lnTo>
                  <a:pt x="19053" y="109778"/>
                </a:lnTo>
                <a:lnTo>
                  <a:pt x="21056" y="109778"/>
                </a:lnTo>
                <a:lnTo>
                  <a:pt x="25104" y="109696"/>
                </a:lnTo>
                <a:lnTo>
                  <a:pt x="33240" y="109451"/>
                </a:lnTo>
                <a:lnTo>
                  <a:pt x="35407" y="109369"/>
                </a:lnTo>
                <a:lnTo>
                  <a:pt x="37574" y="109287"/>
                </a:lnTo>
                <a:lnTo>
                  <a:pt x="41908" y="109001"/>
                </a:lnTo>
                <a:lnTo>
                  <a:pt x="48041" y="108592"/>
                </a:lnTo>
                <a:lnTo>
                  <a:pt x="54133" y="108143"/>
                </a:lnTo>
                <a:lnTo>
                  <a:pt x="59284" y="107734"/>
                </a:lnTo>
                <a:lnTo>
                  <a:pt x="64395" y="107284"/>
                </a:lnTo>
                <a:lnTo>
                  <a:pt x="70119" y="106793"/>
                </a:lnTo>
                <a:lnTo>
                  <a:pt x="75802" y="106221"/>
                </a:lnTo>
                <a:lnTo>
                  <a:pt x="86514" y="105199"/>
                </a:lnTo>
                <a:lnTo>
                  <a:pt x="97308" y="104136"/>
                </a:lnTo>
                <a:lnTo>
                  <a:pt x="106139" y="103318"/>
                </a:lnTo>
                <a:lnTo>
                  <a:pt x="111945" y="102746"/>
                </a:lnTo>
                <a:lnTo>
                  <a:pt x="117792" y="102214"/>
                </a:lnTo>
                <a:lnTo>
                  <a:pt x="123025" y="101805"/>
                </a:lnTo>
                <a:lnTo>
                  <a:pt x="128258" y="101396"/>
                </a:lnTo>
                <a:lnTo>
                  <a:pt x="134677" y="100947"/>
                </a:lnTo>
                <a:lnTo>
                  <a:pt x="141096" y="100538"/>
                </a:lnTo>
                <a:lnTo>
                  <a:pt x="145062" y="100252"/>
                </a:lnTo>
                <a:lnTo>
                  <a:pt x="147066" y="100170"/>
                </a:lnTo>
                <a:lnTo>
                  <a:pt x="149069" y="100088"/>
                </a:lnTo>
                <a:lnTo>
                  <a:pt x="162357" y="99843"/>
                </a:lnTo>
                <a:lnTo>
                  <a:pt x="168981" y="99761"/>
                </a:lnTo>
                <a:lnTo>
                  <a:pt x="172292" y="99720"/>
                </a:lnTo>
                <a:lnTo>
                  <a:pt x="175604" y="99720"/>
                </a:lnTo>
                <a:lnTo>
                  <a:pt x="178016" y="99761"/>
                </a:lnTo>
                <a:lnTo>
                  <a:pt x="180469" y="99843"/>
                </a:lnTo>
                <a:lnTo>
                  <a:pt x="185335" y="100047"/>
                </a:lnTo>
                <a:lnTo>
                  <a:pt x="190200" y="100293"/>
                </a:lnTo>
                <a:lnTo>
                  <a:pt x="195025" y="100661"/>
                </a:lnTo>
                <a:lnTo>
                  <a:pt x="199972" y="101069"/>
                </a:lnTo>
                <a:lnTo>
                  <a:pt x="204919" y="101519"/>
                </a:lnTo>
                <a:lnTo>
                  <a:pt x="209825" y="102051"/>
                </a:lnTo>
                <a:lnTo>
                  <a:pt x="214732" y="102582"/>
                </a:lnTo>
                <a:lnTo>
                  <a:pt x="219679" y="103155"/>
                </a:lnTo>
                <a:lnTo>
                  <a:pt x="224585" y="103768"/>
                </a:lnTo>
                <a:lnTo>
                  <a:pt x="229491" y="104381"/>
                </a:lnTo>
                <a:lnTo>
                  <a:pt x="234398" y="104953"/>
                </a:lnTo>
                <a:lnTo>
                  <a:pt x="237668" y="105321"/>
                </a:lnTo>
                <a:lnTo>
                  <a:pt x="240898" y="105608"/>
                </a:lnTo>
                <a:lnTo>
                  <a:pt x="247399" y="106180"/>
                </a:lnTo>
                <a:lnTo>
                  <a:pt x="250139" y="106425"/>
                </a:lnTo>
                <a:lnTo>
                  <a:pt x="252919" y="106589"/>
                </a:lnTo>
                <a:lnTo>
                  <a:pt x="255699" y="106712"/>
                </a:lnTo>
                <a:lnTo>
                  <a:pt x="258438" y="106793"/>
                </a:lnTo>
                <a:lnTo>
                  <a:pt x="261219" y="106875"/>
                </a:lnTo>
                <a:lnTo>
                  <a:pt x="263999" y="106834"/>
                </a:lnTo>
                <a:lnTo>
                  <a:pt x="266738" y="106793"/>
                </a:lnTo>
                <a:lnTo>
                  <a:pt x="269518" y="106671"/>
                </a:lnTo>
                <a:lnTo>
                  <a:pt x="271236" y="106589"/>
                </a:lnTo>
                <a:lnTo>
                  <a:pt x="272994" y="106466"/>
                </a:lnTo>
                <a:lnTo>
                  <a:pt x="276428" y="106139"/>
                </a:lnTo>
                <a:lnTo>
                  <a:pt x="283338" y="105362"/>
                </a:lnTo>
                <a:lnTo>
                  <a:pt x="283788" y="105281"/>
                </a:lnTo>
                <a:lnTo>
                  <a:pt x="284196" y="105117"/>
                </a:lnTo>
                <a:lnTo>
                  <a:pt x="284523" y="104872"/>
                </a:lnTo>
                <a:lnTo>
                  <a:pt x="284810" y="104586"/>
                </a:lnTo>
                <a:lnTo>
                  <a:pt x="285096" y="104299"/>
                </a:lnTo>
                <a:lnTo>
                  <a:pt x="285341" y="103931"/>
                </a:lnTo>
                <a:lnTo>
                  <a:pt x="285750" y="103155"/>
                </a:lnTo>
                <a:lnTo>
                  <a:pt x="285750" y="102214"/>
                </a:lnTo>
                <a:lnTo>
                  <a:pt x="283583" y="95345"/>
                </a:lnTo>
                <a:lnTo>
                  <a:pt x="282070" y="90603"/>
                </a:lnTo>
                <a:lnTo>
                  <a:pt x="280476" y="85901"/>
                </a:lnTo>
                <a:lnTo>
                  <a:pt x="278840" y="81240"/>
                </a:lnTo>
                <a:lnTo>
                  <a:pt x="277123" y="76620"/>
                </a:lnTo>
                <a:lnTo>
                  <a:pt x="275365" y="72000"/>
                </a:lnTo>
                <a:lnTo>
                  <a:pt x="273484" y="67420"/>
                </a:lnTo>
                <a:lnTo>
                  <a:pt x="271563" y="62882"/>
                </a:lnTo>
                <a:lnTo>
                  <a:pt x="269559" y="58385"/>
                </a:lnTo>
                <a:lnTo>
                  <a:pt x="267515" y="53928"/>
                </a:lnTo>
                <a:lnTo>
                  <a:pt x="265389" y="49472"/>
                </a:lnTo>
                <a:lnTo>
                  <a:pt x="263181" y="45056"/>
                </a:lnTo>
                <a:lnTo>
                  <a:pt x="260892" y="40681"/>
                </a:lnTo>
                <a:lnTo>
                  <a:pt x="258561" y="36306"/>
                </a:lnTo>
                <a:lnTo>
                  <a:pt x="256149" y="32013"/>
                </a:lnTo>
                <a:lnTo>
                  <a:pt x="253655" y="27720"/>
                </a:lnTo>
                <a:lnTo>
                  <a:pt x="251079" y="23468"/>
                </a:lnTo>
                <a:lnTo>
                  <a:pt x="249811" y="21424"/>
                </a:lnTo>
                <a:lnTo>
                  <a:pt x="248503" y="19462"/>
                </a:lnTo>
                <a:lnTo>
                  <a:pt x="247113" y="17499"/>
                </a:lnTo>
                <a:lnTo>
                  <a:pt x="245682" y="15618"/>
                </a:lnTo>
                <a:lnTo>
                  <a:pt x="244169" y="13778"/>
                </a:lnTo>
                <a:lnTo>
                  <a:pt x="242616" y="11980"/>
                </a:lnTo>
                <a:lnTo>
                  <a:pt x="241798" y="11121"/>
                </a:lnTo>
                <a:lnTo>
                  <a:pt x="240939" y="10262"/>
                </a:lnTo>
                <a:lnTo>
                  <a:pt x="240081" y="9445"/>
                </a:lnTo>
                <a:lnTo>
                  <a:pt x="239222" y="8627"/>
                </a:lnTo>
                <a:lnTo>
                  <a:pt x="238364" y="7891"/>
                </a:lnTo>
                <a:lnTo>
                  <a:pt x="237546" y="7155"/>
                </a:lnTo>
                <a:lnTo>
                  <a:pt x="236646" y="6460"/>
                </a:lnTo>
                <a:lnTo>
                  <a:pt x="235788" y="5806"/>
                </a:lnTo>
                <a:lnTo>
                  <a:pt x="234888" y="5192"/>
                </a:lnTo>
                <a:lnTo>
                  <a:pt x="233989" y="4579"/>
                </a:lnTo>
                <a:lnTo>
                  <a:pt x="233048" y="4007"/>
                </a:lnTo>
                <a:lnTo>
                  <a:pt x="232108" y="3475"/>
                </a:lnTo>
                <a:lnTo>
                  <a:pt x="231127" y="2985"/>
                </a:lnTo>
                <a:lnTo>
                  <a:pt x="230145" y="2535"/>
                </a:lnTo>
                <a:lnTo>
                  <a:pt x="229123" y="2085"/>
                </a:lnTo>
                <a:lnTo>
                  <a:pt x="228101" y="1717"/>
                </a:lnTo>
                <a:lnTo>
                  <a:pt x="227079" y="1349"/>
                </a:lnTo>
                <a:lnTo>
                  <a:pt x="226016" y="1022"/>
                </a:lnTo>
                <a:lnTo>
                  <a:pt x="224912" y="777"/>
                </a:lnTo>
                <a:lnTo>
                  <a:pt x="223808" y="532"/>
                </a:lnTo>
                <a:lnTo>
                  <a:pt x="222132" y="245"/>
                </a:lnTo>
                <a:lnTo>
                  <a:pt x="2204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4"/>
          <p:cNvSpPr/>
          <p:nvPr/>
        </p:nvSpPr>
        <p:spPr>
          <a:xfrm flipH="1">
            <a:off x="0" y="0"/>
            <a:ext cx="9144000" cy="5143648"/>
          </a:xfrm>
          <a:custGeom>
            <a:avLst/>
            <a:gdLst/>
            <a:ahLst/>
            <a:cxnLst/>
            <a:rect l="l" t="t" r="r" b="b"/>
            <a:pathLst>
              <a:path w="285750" h="160739" extrusionOk="0">
                <a:moveTo>
                  <a:pt x="278825" y="6764"/>
                </a:moveTo>
                <a:lnTo>
                  <a:pt x="278825" y="153975"/>
                </a:lnTo>
                <a:lnTo>
                  <a:pt x="6925" y="153975"/>
                </a:lnTo>
                <a:lnTo>
                  <a:pt x="6925" y="6764"/>
                </a:lnTo>
                <a:close/>
                <a:moveTo>
                  <a:pt x="0" y="0"/>
                </a:moveTo>
                <a:lnTo>
                  <a:pt x="0" y="160739"/>
                </a:lnTo>
                <a:lnTo>
                  <a:pt x="285750" y="160739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/>
          <p:nvPr/>
        </p:nvSpPr>
        <p:spPr>
          <a:xfrm>
            <a:off x="127347" y="3686724"/>
            <a:ext cx="3791903" cy="1456754"/>
          </a:xfrm>
          <a:custGeom>
            <a:avLst/>
            <a:gdLst/>
            <a:ahLst/>
            <a:cxnLst/>
            <a:rect l="l" t="t" r="r" b="b"/>
            <a:pathLst>
              <a:path w="285750" h="109778" extrusionOk="0">
                <a:moveTo>
                  <a:pt x="217594" y="0"/>
                </a:moveTo>
                <a:lnTo>
                  <a:pt x="215917" y="245"/>
                </a:lnTo>
                <a:lnTo>
                  <a:pt x="214241" y="532"/>
                </a:lnTo>
                <a:lnTo>
                  <a:pt x="213014" y="777"/>
                </a:lnTo>
                <a:lnTo>
                  <a:pt x="211829" y="1063"/>
                </a:lnTo>
                <a:lnTo>
                  <a:pt x="210684" y="1390"/>
                </a:lnTo>
                <a:lnTo>
                  <a:pt x="209539" y="1758"/>
                </a:lnTo>
                <a:lnTo>
                  <a:pt x="208394" y="2208"/>
                </a:lnTo>
                <a:lnTo>
                  <a:pt x="207290" y="2658"/>
                </a:lnTo>
                <a:lnTo>
                  <a:pt x="206227" y="3148"/>
                </a:lnTo>
                <a:lnTo>
                  <a:pt x="205164" y="3680"/>
                </a:lnTo>
                <a:lnTo>
                  <a:pt x="204101" y="4211"/>
                </a:lnTo>
                <a:lnTo>
                  <a:pt x="203079" y="4825"/>
                </a:lnTo>
                <a:lnTo>
                  <a:pt x="202057" y="5479"/>
                </a:lnTo>
                <a:lnTo>
                  <a:pt x="201076" y="6133"/>
                </a:lnTo>
                <a:lnTo>
                  <a:pt x="200095" y="6828"/>
                </a:lnTo>
                <a:lnTo>
                  <a:pt x="199113" y="7564"/>
                </a:lnTo>
                <a:lnTo>
                  <a:pt x="198173" y="8300"/>
                </a:lnTo>
                <a:lnTo>
                  <a:pt x="197233" y="9077"/>
                </a:lnTo>
                <a:lnTo>
                  <a:pt x="196088" y="10058"/>
                </a:lnTo>
                <a:lnTo>
                  <a:pt x="194984" y="11080"/>
                </a:lnTo>
                <a:lnTo>
                  <a:pt x="193921" y="12143"/>
                </a:lnTo>
                <a:lnTo>
                  <a:pt x="192899" y="13206"/>
                </a:lnTo>
                <a:lnTo>
                  <a:pt x="191917" y="14310"/>
                </a:lnTo>
                <a:lnTo>
                  <a:pt x="190936" y="15455"/>
                </a:lnTo>
                <a:lnTo>
                  <a:pt x="189996" y="16600"/>
                </a:lnTo>
                <a:lnTo>
                  <a:pt x="189096" y="17744"/>
                </a:lnTo>
                <a:lnTo>
                  <a:pt x="188197" y="18930"/>
                </a:lnTo>
                <a:lnTo>
                  <a:pt x="187379" y="20157"/>
                </a:lnTo>
                <a:lnTo>
                  <a:pt x="186561" y="21383"/>
                </a:lnTo>
                <a:lnTo>
                  <a:pt x="185785" y="22651"/>
                </a:lnTo>
                <a:lnTo>
                  <a:pt x="185008" y="23918"/>
                </a:lnTo>
                <a:lnTo>
                  <a:pt x="184272" y="25226"/>
                </a:lnTo>
                <a:lnTo>
                  <a:pt x="183577" y="26576"/>
                </a:lnTo>
                <a:lnTo>
                  <a:pt x="182882" y="27925"/>
                </a:lnTo>
                <a:lnTo>
                  <a:pt x="181737" y="30255"/>
                </a:lnTo>
                <a:lnTo>
                  <a:pt x="180551" y="32586"/>
                </a:lnTo>
                <a:lnTo>
                  <a:pt x="179325" y="34916"/>
                </a:lnTo>
                <a:lnTo>
                  <a:pt x="178711" y="36061"/>
                </a:lnTo>
                <a:lnTo>
                  <a:pt x="178057" y="37206"/>
                </a:lnTo>
                <a:lnTo>
                  <a:pt x="177567" y="37942"/>
                </a:lnTo>
                <a:lnTo>
                  <a:pt x="177076" y="38678"/>
                </a:lnTo>
                <a:lnTo>
                  <a:pt x="176585" y="39373"/>
                </a:lnTo>
                <a:lnTo>
                  <a:pt x="176013" y="40068"/>
                </a:lnTo>
                <a:lnTo>
                  <a:pt x="175440" y="40722"/>
                </a:lnTo>
                <a:lnTo>
                  <a:pt x="174868" y="41335"/>
                </a:lnTo>
                <a:lnTo>
                  <a:pt x="174255" y="41908"/>
                </a:lnTo>
                <a:lnTo>
                  <a:pt x="173601" y="42439"/>
                </a:lnTo>
                <a:lnTo>
                  <a:pt x="172906" y="42971"/>
                </a:lnTo>
                <a:lnTo>
                  <a:pt x="172210" y="43421"/>
                </a:lnTo>
                <a:lnTo>
                  <a:pt x="171475" y="43870"/>
                </a:lnTo>
                <a:lnTo>
                  <a:pt x="170698" y="44238"/>
                </a:lnTo>
                <a:lnTo>
                  <a:pt x="169880" y="44606"/>
                </a:lnTo>
                <a:lnTo>
                  <a:pt x="169062" y="44892"/>
                </a:lnTo>
                <a:lnTo>
                  <a:pt x="168204" y="45138"/>
                </a:lnTo>
                <a:lnTo>
                  <a:pt x="167304" y="45383"/>
                </a:lnTo>
                <a:lnTo>
                  <a:pt x="166486" y="45506"/>
                </a:lnTo>
                <a:lnTo>
                  <a:pt x="165669" y="45628"/>
                </a:lnTo>
                <a:lnTo>
                  <a:pt x="164851" y="45710"/>
                </a:lnTo>
                <a:lnTo>
                  <a:pt x="164033" y="45751"/>
                </a:lnTo>
                <a:lnTo>
                  <a:pt x="163216" y="45710"/>
                </a:lnTo>
                <a:lnTo>
                  <a:pt x="162398" y="45669"/>
                </a:lnTo>
                <a:lnTo>
                  <a:pt x="161621" y="45628"/>
                </a:lnTo>
                <a:lnTo>
                  <a:pt x="160803" y="45506"/>
                </a:lnTo>
                <a:lnTo>
                  <a:pt x="160027" y="45342"/>
                </a:lnTo>
                <a:lnTo>
                  <a:pt x="159250" y="45179"/>
                </a:lnTo>
                <a:lnTo>
                  <a:pt x="158473" y="44974"/>
                </a:lnTo>
                <a:lnTo>
                  <a:pt x="157696" y="44770"/>
                </a:lnTo>
                <a:lnTo>
                  <a:pt x="156919" y="44484"/>
                </a:lnTo>
                <a:lnTo>
                  <a:pt x="156142" y="44238"/>
                </a:lnTo>
                <a:lnTo>
                  <a:pt x="154589" y="43584"/>
                </a:lnTo>
                <a:lnTo>
                  <a:pt x="153567" y="43093"/>
                </a:lnTo>
                <a:lnTo>
                  <a:pt x="152585" y="42603"/>
                </a:lnTo>
                <a:lnTo>
                  <a:pt x="151645" y="42071"/>
                </a:lnTo>
                <a:lnTo>
                  <a:pt x="150705" y="41499"/>
                </a:lnTo>
                <a:lnTo>
                  <a:pt x="149764" y="40886"/>
                </a:lnTo>
                <a:lnTo>
                  <a:pt x="148906" y="40231"/>
                </a:lnTo>
                <a:lnTo>
                  <a:pt x="148047" y="39577"/>
                </a:lnTo>
                <a:lnTo>
                  <a:pt x="147188" y="38882"/>
                </a:lnTo>
                <a:lnTo>
                  <a:pt x="146412" y="38146"/>
                </a:lnTo>
                <a:lnTo>
                  <a:pt x="145594" y="37410"/>
                </a:lnTo>
                <a:lnTo>
                  <a:pt x="144858" y="36634"/>
                </a:lnTo>
                <a:lnTo>
                  <a:pt x="144122" y="35816"/>
                </a:lnTo>
                <a:lnTo>
                  <a:pt x="143386" y="34998"/>
                </a:lnTo>
                <a:lnTo>
                  <a:pt x="142691" y="34180"/>
                </a:lnTo>
                <a:lnTo>
                  <a:pt x="141996" y="33281"/>
                </a:lnTo>
                <a:lnTo>
                  <a:pt x="141342" y="32381"/>
                </a:lnTo>
                <a:lnTo>
                  <a:pt x="139011" y="29070"/>
                </a:lnTo>
                <a:lnTo>
                  <a:pt x="136722" y="25758"/>
                </a:lnTo>
                <a:lnTo>
                  <a:pt x="134473" y="22405"/>
                </a:lnTo>
                <a:lnTo>
                  <a:pt x="132183" y="19053"/>
                </a:lnTo>
                <a:lnTo>
                  <a:pt x="131079" y="17458"/>
                </a:lnTo>
                <a:lnTo>
                  <a:pt x="129894" y="15945"/>
                </a:lnTo>
                <a:lnTo>
                  <a:pt x="128708" y="14433"/>
                </a:lnTo>
                <a:lnTo>
                  <a:pt x="127482" y="13002"/>
                </a:lnTo>
                <a:lnTo>
                  <a:pt x="126173" y="11612"/>
                </a:lnTo>
                <a:lnTo>
                  <a:pt x="125478" y="10916"/>
                </a:lnTo>
                <a:lnTo>
                  <a:pt x="124783" y="10262"/>
                </a:lnTo>
                <a:lnTo>
                  <a:pt x="124047" y="9649"/>
                </a:lnTo>
                <a:lnTo>
                  <a:pt x="123311" y="9036"/>
                </a:lnTo>
                <a:lnTo>
                  <a:pt x="122575" y="8422"/>
                </a:lnTo>
                <a:lnTo>
                  <a:pt x="121758" y="7850"/>
                </a:lnTo>
                <a:lnTo>
                  <a:pt x="120367" y="6910"/>
                </a:lnTo>
                <a:lnTo>
                  <a:pt x="118936" y="6051"/>
                </a:lnTo>
                <a:lnTo>
                  <a:pt x="117465" y="5274"/>
                </a:lnTo>
                <a:lnTo>
                  <a:pt x="116729" y="4906"/>
                </a:lnTo>
                <a:lnTo>
                  <a:pt x="115952" y="4579"/>
                </a:lnTo>
                <a:lnTo>
                  <a:pt x="115216" y="4293"/>
                </a:lnTo>
                <a:lnTo>
                  <a:pt x="114439" y="4007"/>
                </a:lnTo>
                <a:lnTo>
                  <a:pt x="113621" y="3761"/>
                </a:lnTo>
                <a:lnTo>
                  <a:pt x="112844" y="3516"/>
                </a:lnTo>
                <a:lnTo>
                  <a:pt x="112027" y="3353"/>
                </a:lnTo>
                <a:lnTo>
                  <a:pt x="111209" y="3189"/>
                </a:lnTo>
                <a:lnTo>
                  <a:pt x="110391" y="3066"/>
                </a:lnTo>
                <a:lnTo>
                  <a:pt x="109533" y="2944"/>
                </a:lnTo>
                <a:lnTo>
                  <a:pt x="108388" y="2903"/>
                </a:lnTo>
                <a:lnTo>
                  <a:pt x="107284" y="2862"/>
                </a:lnTo>
                <a:lnTo>
                  <a:pt x="106221" y="2944"/>
                </a:lnTo>
                <a:lnTo>
                  <a:pt x="105199" y="3066"/>
                </a:lnTo>
                <a:lnTo>
                  <a:pt x="104177" y="3271"/>
                </a:lnTo>
                <a:lnTo>
                  <a:pt x="103195" y="3516"/>
                </a:lnTo>
                <a:lnTo>
                  <a:pt x="102214" y="3843"/>
                </a:lnTo>
                <a:lnTo>
                  <a:pt x="101274" y="4211"/>
                </a:lnTo>
                <a:lnTo>
                  <a:pt x="100374" y="4661"/>
                </a:lnTo>
                <a:lnTo>
                  <a:pt x="99516" y="5152"/>
                </a:lnTo>
                <a:lnTo>
                  <a:pt x="98657" y="5724"/>
                </a:lnTo>
                <a:lnTo>
                  <a:pt x="97839" y="6337"/>
                </a:lnTo>
                <a:lnTo>
                  <a:pt x="97022" y="7032"/>
                </a:lnTo>
                <a:lnTo>
                  <a:pt x="96245" y="7809"/>
                </a:lnTo>
                <a:lnTo>
                  <a:pt x="95509" y="8627"/>
                </a:lnTo>
                <a:lnTo>
                  <a:pt x="94814" y="9485"/>
                </a:lnTo>
                <a:lnTo>
                  <a:pt x="93955" y="10630"/>
                </a:lnTo>
                <a:lnTo>
                  <a:pt x="93178" y="11816"/>
                </a:lnTo>
                <a:lnTo>
                  <a:pt x="92483" y="13043"/>
                </a:lnTo>
                <a:lnTo>
                  <a:pt x="91829" y="14310"/>
                </a:lnTo>
                <a:lnTo>
                  <a:pt x="91216" y="15577"/>
                </a:lnTo>
                <a:lnTo>
                  <a:pt x="90603" y="16845"/>
                </a:lnTo>
                <a:lnTo>
                  <a:pt x="89540" y="19462"/>
                </a:lnTo>
                <a:lnTo>
                  <a:pt x="88517" y="21996"/>
                </a:lnTo>
                <a:lnTo>
                  <a:pt x="87536" y="24531"/>
                </a:lnTo>
                <a:lnTo>
                  <a:pt x="86514" y="27025"/>
                </a:lnTo>
                <a:lnTo>
                  <a:pt x="85983" y="28293"/>
                </a:lnTo>
                <a:lnTo>
                  <a:pt x="85410" y="29479"/>
                </a:lnTo>
                <a:lnTo>
                  <a:pt x="84838" y="30623"/>
                </a:lnTo>
                <a:lnTo>
                  <a:pt x="84265" y="31686"/>
                </a:lnTo>
                <a:lnTo>
                  <a:pt x="83652" y="32749"/>
                </a:lnTo>
                <a:lnTo>
                  <a:pt x="83039" y="33772"/>
                </a:lnTo>
                <a:lnTo>
                  <a:pt x="82385" y="34753"/>
                </a:lnTo>
                <a:lnTo>
                  <a:pt x="81730" y="35734"/>
                </a:lnTo>
                <a:lnTo>
                  <a:pt x="81035" y="36674"/>
                </a:lnTo>
                <a:lnTo>
                  <a:pt x="80340" y="37615"/>
                </a:lnTo>
                <a:lnTo>
                  <a:pt x="79604" y="38514"/>
                </a:lnTo>
                <a:lnTo>
                  <a:pt x="78868" y="39373"/>
                </a:lnTo>
                <a:lnTo>
                  <a:pt x="78092" y="40231"/>
                </a:lnTo>
                <a:lnTo>
                  <a:pt x="77274" y="41049"/>
                </a:lnTo>
                <a:lnTo>
                  <a:pt x="76456" y="41826"/>
                </a:lnTo>
                <a:lnTo>
                  <a:pt x="75639" y="42603"/>
                </a:lnTo>
                <a:lnTo>
                  <a:pt x="74780" y="43339"/>
                </a:lnTo>
                <a:lnTo>
                  <a:pt x="73880" y="44034"/>
                </a:lnTo>
                <a:lnTo>
                  <a:pt x="72981" y="44729"/>
                </a:lnTo>
                <a:lnTo>
                  <a:pt x="72081" y="45383"/>
                </a:lnTo>
                <a:lnTo>
                  <a:pt x="71141" y="46037"/>
                </a:lnTo>
                <a:lnTo>
                  <a:pt x="70201" y="46651"/>
                </a:lnTo>
                <a:lnTo>
                  <a:pt x="69219" y="47223"/>
                </a:lnTo>
                <a:lnTo>
                  <a:pt x="68197" y="47795"/>
                </a:lnTo>
                <a:lnTo>
                  <a:pt x="67216" y="48327"/>
                </a:lnTo>
                <a:lnTo>
                  <a:pt x="66153" y="48858"/>
                </a:lnTo>
                <a:lnTo>
                  <a:pt x="65090" y="49349"/>
                </a:lnTo>
                <a:lnTo>
                  <a:pt x="64027" y="49799"/>
                </a:lnTo>
                <a:lnTo>
                  <a:pt x="62923" y="50248"/>
                </a:lnTo>
                <a:lnTo>
                  <a:pt x="61819" y="50657"/>
                </a:lnTo>
                <a:lnTo>
                  <a:pt x="60715" y="51066"/>
                </a:lnTo>
                <a:lnTo>
                  <a:pt x="59530" y="51434"/>
                </a:lnTo>
                <a:lnTo>
                  <a:pt x="58385" y="51761"/>
                </a:lnTo>
                <a:lnTo>
                  <a:pt x="57199" y="52088"/>
                </a:lnTo>
                <a:lnTo>
                  <a:pt x="55605" y="52456"/>
                </a:lnTo>
                <a:lnTo>
                  <a:pt x="53969" y="52783"/>
                </a:lnTo>
                <a:lnTo>
                  <a:pt x="52375" y="52988"/>
                </a:lnTo>
                <a:lnTo>
                  <a:pt x="50780" y="53192"/>
                </a:lnTo>
                <a:lnTo>
                  <a:pt x="49226" y="53274"/>
                </a:lnTo>
                <a:lnTo>
                  <a:pt x="47673" y="53315"/>
                </a:lnTo>
                <a:lnTo>
                  <a:pt x="46078" y="53274"/>
                </a:lnTo>
                <a:lnTo>
                  <a:pt x="44565" y="53192"/>
                </a:lnTo>
                <a:lnTo>
                  <a:pt x="43012" y="53070"/>
                </a:lnTo>
                <a:lnTo>
                  <a:pt x="41499" y="52865"/>
                </a:lnTo>
                <a:lnTo>
                  <a:pt x="39986" y="52579"/>
                </a:lnTo>
                <a:lnTo>
                  <a:pt x="38514" y="52252"/>
                </a:lnTo>
                <a:lnTo>
                  <a:pt x="37042" y="51843"/>
                </a:lnTo>
                <a:lnTo>
                  <a:pt x="35611" y="51434"/>
                </a:lnTo>
                <a:lnTo>
                  <a:pt x="34180" y="50944"/>
                </a:lnTo>
                <a:lnTo>
                  <a:pt x="32749" y="50371"/>
                </a:lnTo>
                <a:lnTo>
                  <a:pt x="31400" y="49758"/>
                </a:lnTo>
                <a:lnTo>
                  <a:pt x="30010" y="49104"/>
                </a:lnTo>
                <a:lnTo>
                  <a:pt x="28702" y="48409"/>
                </a:lnTo>
                <a:lnTo>
                  <a:pt x="27393" y="47673"/>
                </a:lnTo>
                <a:lnTo>
                  <a:pt x="26085" y="46855"/>
                </a:lnTo>
                <a:lnTo>
                  <a:pt x="24858" y="46037"/>
                </a:lnTo>
                <a:lnTo>
                  <a:pt x="23632" y="45138"/>
                </a:lnTo>
                <a:lnTo>
                  <a:pt x="22405" y="44197"/>
                </a:lnTo>
                <a:lnTo>
                  <a:pt x="21261" y="43216"/>
                </a:lnTo>
                <a:lnTo>
                  <a:pt x="20116" y="42194"/>
                </a:lnTo>
                <a:lnTo>
                  <a:pt x="19012" y="41131"/>
                </a:lnTo>
                <a:lnTo>
                  <a:pt x="17949" y="40027"/>
                </a:lnTo>
                <a:lnTo>
                  <a:pt x="16927" y="38882"/>
                </a:lnTo>
                <a:lnTo>
                  <a:pt x="15945" y="37737"/>
                </a:lnTo>
                <a:lnTo>
                  <a:pt x="14964" y="36511"/>
                </a:lnTo>
                <a:lnTo>
                  <a:pt x="14065" y="35284"/>
                </a:lnTo>
                <a:lnTo>
                  <a:pt x="13043" y="33731"/>
                </a:lnTo>
                <a:lnTo>
                  <a:pt x="12061" y="32177"/>
                </a:lnTo>
                <a:lnTo>
                  <a:pt x="11203" y="30582"/>
                </a:lnTo>
                <a:lnTo>
                  <a:pt x="10385" y="28947"/>
                </a:lnTo>
                <a:lnTo>
                  <a:pt x="9649" y="27271"/>
                </a:lnTo>
                <a:lnTo>
                  <a:pt x="8954" y="25594"/>
                </a:lnTo>
                <a:lnTo>
                  <a:pt x="8382" y="23836"/>
                </a:lnTo>
                <a:lnTo>
                  <a:pt x="7891" y="22078"/>
                </a:lnTo>
                <a:lnTo>
                  <a:pt x="7687" y="21465"/>
                </a:lnTo>
                <a:lnTo>
                  <a:pt x="7441" y="20933"/>
                </a:lnTo>
                <a:lnTo>
                  <a:pt x="7155" y="20525"/>
                </a:lnTo>
                <a:lnTo>
                  <a:pt x="6991" y="20361"/>
                </a:lnTo>
                <a:lnTo>
                  <a:pt x="6787" y="20198"/>
                </a:lnTo>
                <a:lnTo>
                  <a:pt x="6583" y="20034"/>
                </a:lnTo>
                <a:lnTo>
                  <a:pt x="6378" y="19911"/>
                </a:lnTo>
                <a:lnTo>
                  <a:pt x="5928" y="19748"/>
                </a:lnTo>
                <a:lnTo>
                  <a:pt x="5397" y="19666"/>
                </a:lnTo>
                <a:lnTo>
                  <a:pt x="4825" y="19666"/>
                </a:lnTo>
                <a:lnTo>
                  <a:pt x="4334" y="19748"/>
                </a:lnTo>
                <a:lnTo>
                  <a:pt x="3884" y="19870"/>
                </a:lnTo>
                <a:lnTo>
                  <a:pt x="3475" y="20116"/>
                </a:lnTo>
                <a:lnTo>
                  <a:pt x="3107" y="20402"/>
                </a:lnTo>
                <a:lnTo>
                  <a:pt x="2821" y="20770"/>
                </a:lnTo>
                <a:lnTo>
                  <a:pt x="2576" y="21261"/>
                </a:lnTo>
                <a:lnTo>
                  <a:pt x="2412" y="21751"/>
                </a:lnTo>
                <a:lnTo>
                  <a:pt x="2290" y="22364"/>
                </a:lnTo>
                <a:lnTo>
                  <a:pt x="1390" y="29969"/>
                </a:lnTo>
                <a:lnTo>
                  <a:pt x="940" y="33772"/>
                </a:lnTo>
                <a:lnTo>
                  <a:pt x="572" y="37574"/>
                </a:lnTo>
                <a:lnTo>
                  <a:pt x="368" y="40313"/>
                </a:lnTo>
                <a:lnTo>
                  <a:pt x="204" y="43053"/>
                </a:lnTo>
                <a:lnTo>
                  <a:pt x="82" y="45833"/>
                </a:lnTo>
                <a:lnTo>
                  <a:pt x="0" y="48572"/>
                </a:lnTo>
                <a:lnTo>
                  <a:pt x="0" y="51312"/>
                </a:lnTo>
                <a:lnTo>
                  <a:pt x="41" y="54051"/>
                </a:lnTo>
                <a:lnTo>
                  <a:pt x="123" y="56831"/>
                </a:lnTo>
                <a:lnTo>
                  <a:pt x="204" y="59570"/>
                </a:lnTo>
                <a:lnTo>
                  <a:pt x="368" y="62187"/>
                </a:lnTo>
                <a:lnTo>
                  <a:pt x="532" y="64763"/>
                </a:lnTo>
                <a:lnTo>
                  <a:pt x="736" y="67339"/>
                </a:lnTo>
                <a:lnTo>
                  <a:pt x="981" y="69955"/>
                </a:lnTo>
                <a:lnTo>
                  <a:pt x="1267" y="72531"/>
                </a:lnTo>
                <a:lnTo>
                  <a:pt x="1595" y="75107"/>
                </a:lnTo>
                <a:lnTo>
                  <a:pt x="1922" y="77683"/>
                </a:lnTo>
                <a:lnTo>
                  <a:pt x="2330" y="80218"/>
                </a:lnTo>
                <a:lnTo>
                  <a:pt x="2739" y="82793"/>
                </a:lnTo>
                <a:lnTo>
                  <a:pt x="3189" y="85328"/>
                </a:lnTo>
                <a:lnTo>
                  <a:pt x="3680" y="87904"/>
                </a:lnTo>
                <a:lnTo>
                  <a:pt x="4211" y="90439"/>
                </a:lnTo>
                <a:lnTo>
                  <a:pt x="4784" y="92974"/>
                </a:lnTo>
                <a:lnTo>
                  <a:pt x="5356" y="95509"/>
                </a:lnTo>
                <a:lnTo>
                  <a:pt x="6010" y="98003"/>
                </a:lnTo>
                <a:lnTo>
                  <a:pt x="6705" y="100538"/>
                </a:lnTo>
                <a:lnTo>
                  <a:pt x="6951" y="101274"/>
                </a:lnTo>
                <a:lnTo>
                  <a:pt x="7196" y="102010"/>
                </a:lnTo>
                <a:lnTo>
                  <a:pt x="7768" y="103482"/>
                </a:lnTo>
                <a:lnTo>
                  <a:pt x="8136" y="104218"/>
                </a:lnTo>
                <a:lnTo>
                  <a:pt x="8504" y="104913"/>
                </a:lnTo>
                <a:lnTo>
                  <a:pt x="8913" y="105526"/>
                </a:lnTo>
                <a:lnTo>
                  <a:pt x="9363" y="106139"/>
                </a:lnTo>
                <a:lnTo>
                  <a:pt x="9853" y="106712"/>
                </a:lnTo>
                <a:lnTo>
                  <a:pt x="10344" y="107202"/>
                </a:lnTo>
                <a:lnTo>
                  <a:pt x="10876" y="107652"/>
                </a:lnTo>
                <a:lnTo>
                  <a:pt x="11448" y="108061"/>
                </a:lnTo>
                <a:lnTo>
                  <a:pt x="12061" y="108429"/>
                </a:lnTo>
                <a:lnTo>
                  <a:pt x="12675" y="108756"/>
                </a:lnTo>
                <a:lnTo>
                  <a:pt x="13370" y="109042"/>
                </a:lnTo>
                <a:lnTo>
                  <a:pt x="14024" y="109287"/>
                </a:lnTo>
                <a:lnTo>
                  <a:pt x="14760" y="109451"/>
                </a:lnTo>
                <a:lnTo>
                  <a:pt x="15496" y="109574"/>
                </a:lnTo>
                <a:lnTo>
                  <a:pt x="16232" y="109696"/>
                </a:lnTo>
                <a:lnTo>
                  <a:pt x="17008" y="109737"/>
                </a:lnTo>
                <a:lnTo>
                  <a:pt x="19053" y="109778"/>
                </a:lnTo>
                <a:lnTo>
                  <a:pt x="21056" y="109778"/>
                </a:lnTo>
                <a:lnTo>
                  <a:pt x="25104" y="109696"/>
                </a:lnTo>
                <a:lnTo>
                  <a:pt x="33240" y="109451"/>
                </a:lnTo>
                <a:lnTo>
                  <a:pt x="35407" y="109369"/>
                </a:lnTo>
                <a:lnTo>
                  <a:pt x="37574" y="109287"/>
                </a:lnTo>
                <a:lnTo>
                  <a:pt x="41908" y="109001"/>
                </a:lnTo>
                <a:lnTo>
                  <a:pt x="48041" y="108592"/>
                </a:lnTo>
                <a:lnTo>
                  <a:pt x="54133" y="108143"/>
                </a:lnTo>
                <a:lnTo>
                  <a:pt x="59284" y="107734"/>
                </a:lnTo>
                <a:lnTo>
                  <a:pt x="64395" y="107284"/>
                </a:lnTo>
                <a:lnTo>
                  <a:pt x="70119" y="106793"/>
                </a:lnTo>
                <a:lnTo>
                  <a:pt x="75802" y="106221"/>
                </a:lnTo>
                <a:lnTo>
                  <a:pt x="86514" y="105199"/>
                </a:lnTo>
                <a:lnTo>
                  <a:pt x="97308" y="104136"/>
                </a:lnTo>
                <a:lnTo>
                  <a:pt x="106139" y="103318"/>
                </a:lnTo>
                <a:lnTo>
                  <a:pt x="111945" y="102746"/>
                </a:lnTo>
                <a:lnTo>
                  <a:pt x="117792" y="102214"/>
                </a:lnTo>
                <a:lnTo>
                  <a:pt x="123025" y="101805"/>
                </a:lnTo>
                <a:lnTo>
                  <a:pt x="128258" y="101396"/>
                </a:lnTo>
                <a:lnTo>
                  <a:pt x="134677" y="100947"/>
                </a:lnTo>
                <a:lnTo>
                  <a:pt x="141096" y="100538"/>
                </a:lnTo>
                <a:lnTo>
                  <a:pt x="145062" y="100252"/>
                </a:lnTo>
                <a:lnTo>
                  <a:pt x="147066" y="100170"/>
                </a:lnTo>
                <a:lnTo>
                  <a:pt x="149069" y="100088"/>
                </a:lnTo>
                <a:lnTo>
                  <a:pt x="162357" y="99843"/>
                </a:lnTo>
                <a:lnTo>
                  <a:pt x="168981" y="99761"/>
                </a:lnTo>
                <a:lnTo>
                  <a:pt x="172292" y="99720"/>
                </a:lnTo>
                <a:lnTo>
                  <a:pt x="175604" y="99720"/>
                </a:lnTo>
                <a:lnTo>
                  <a:pt x="178016" y="99761"/>
                </a:lnTo>
                <a:lnTo>
                  <a:pt x="180469" y="99843"/>
                </a:lnTo>
                <a:lnTo>
                  <a:pt x="185335" y="100047"/>
                </a:lnTo>
                <a:lnTo>
                  <a:pt x="190200" y="100293"/>
                </a:lnTo>
                <a:lnTo>
                  <a:pt x="195025" y="100661"/>
                </a:lnTo>
                <a:lnTo>
                  <a:pt x="199972" y="101069"/>
                </a:lnTo>
                <a:lnTo>
                  <a:pt x="204919" y="101519"/>
                </a:lnTo>
                <a:lnTo>
                  <a:pt x="209825" y="102051"/>
                </a:lnTo>
                <a:lnTo>
                  <a:pt x="214732" y="102582"/>
                </a:lnTo>
                <a:lnTo>
                  <a:pt x="219679" y="103155"/>
                </a:lnTo>
                <a:lnTo>
                  <a:pt x="224585" y="103768"/>
                </a:lnTo>
                <a:lnTo>
                  <a:pt x="229491" y="104381"/>
                </a:lnTo>
                <a:lnTo>
                  <a:pt x="234398" y="104953"/>
                </a:lnTo>
                <a:lnTo>
                  <a:pt x="237668" y="105321"/>
                </a:lnTo>
                <a:lnTo>
                  <a:pt x="240898" y="105608"/>
                </a:lnTo>
                <a:lnTo>
                  <a:pt x="247399" y="106180"/>
                </a:lnTo>
                <a:lnTo>
                  <a:pt x="250139" y="106425"/>
                </a:lnTo>
                <a:lnTo>
                  <a:pt x="252919" y="106589"/>
                </a:lnTo>
                <a:lnTo>
                  <a:pt x="255699" y="106712"/>
                </a:lnTo>
                <a:lnTo>
                  <a:pt x="258438" y="106793"/>
                </a:lnTo>
                <a:lnTo>
                  <a:pt x="261219" y="106875"/>
                </a:lnTo>
                <a:lnTo>
                  <a:pt x="263999" y="106834"/>
                </a:lnTo>
                <a:lnTo>
                  <a:pt x="266738" y="106793"/>
                </a:lnTo>
                <a:lnTo>
                  <a:pt x="269518" y="106671"/>
                </a:lnTo>
                <a:lnTo>
                  <a:pt x="271236" y="106589"/>
                </a:lnTo>
                <a:lnTo>
                  <a:pt x="272994" y="106466"/>
                </a:lnTo>
                <a:lnTo>
                  <a:pt x="276428" y="106139"/>
                </a:lnTo>
                <a:lnTo>
                  <a:pt x="283338" y="105362"/>
                </a:lnTo>
                <a:lnTo>
                  <a:pt x="283788" y="105281"/>
                </a:lnTo>
                <a:lnTo>
                  <a:pt x="284196" y="105117"/>
                </a:lnTo>
                <a:lnTo>
                  <a:pt x="284523" y="104872"/>
                </a:lnTo>
                <a:lnTo>
                  <a:pt x="284810" y="104586"/>
                </a:lnTo>
                <a:lnTo>
                  <a:pt x="285096" y="104299"/>
                </a:lnTo>
                <a:lnTo>
                  <a:pt x="285341" y="103931"/>
                </a:lnTo>
                <a:lnTo>
                  <a:pt x="285750" y="103155"/>
                </a:lnTo>
                <a:lnTo>
                  <a:pt x="285750" y="102214"/>
                </a:lnTo>
                <a:lnTo>
                  <a:pt x="283583" y="95345"/>
                </a:lnTo>
                <a:lnTo>
                  <a:pt x="282070" y="90603"/>
                </a:lnTo>
                <a:lnTo>
                  <a:pt x="280476" y="85901"/>
                </a:lnTo>
                <a:lnTo>
                  <a:pt x="278840" y="81240"/>
                </a:lnTo>
                <a:lnTo>
                  <a:pt x="277123" y="76620"/>
                </a:lnTo>
                <a:lnTo>
                  <a:pt x="275365" y="72000"/>
                </a:lnTo>
                <a:lnTo>
                  <a:pt x="273484" y="67420"/>
                </a:lnTo>
                <a:lnTo>
                  <a:pt x="271563" y="62882"/>
                </a:lnTo>
                <a:lnTo>
                  <a:pt x="269559" y="58385"/>
                </a:lnTo>
                <a:lnTo>
                  <a:pt x="267515" y="53928"/>
                </a:lnTo>
                <a:lnTo>
                  <a:pt x="265389" y="49472"/>
                </a:lnTo>
                <a:lnTo>
                  <a:pt x="263181" y="45056"/>
                </a:lnTo>
                <a:lnTo>
                  <a:pt x="260892" y="40681"/>
                </a:lnTo>
                <a:lnTo>
                  <a:pt x="258561" y="36306"/>
                </a:lnTo>
                <a:lnTo>
                  <a:pt x="256149" y="32013"/>
                </a:lnTo>
                <a:lnTo>
                  <a:pt x="253655" y="27720"/>
                </a:lnTo>
                <a:lnTo>
                  <a:pt x="251079" y="23468"/>
                </a:lnTo>
                <a:lnTo>
                  <a:pt x="249811" y="21424"/>
                </a:lnTo>
                <a:lnTo>
                  <a:pt x="248503" y="19462"/>
                </a:lnTo>
                <a:lnTo>
                  <a:pt x="247113" y="17499"/>
                </a:lnTo>
                <a:lnTo>
                  <a:pt x="245682" y="15618"/>
                </a:lnTo>
                <a:lnTo>
                  <a:pt x="244169" y="13778"/>
                </a:lnTo>
                <a:lnTo>
                  <a:pt x="242616" y="11980"/>
                </a:lnTo>
                <a:lnTo>
                  <a:pt x="241798" y="11121"/>
                </a:lnTo>
                <a:lnTo>
                  <a:pt x="240939" y="10262"/>
                </a:lnTo>
                <a:lnTo>
                  <a:pt x="240081" y="9445"/>
                </a:lnTo>
                <a:lnTo>
                  <a:pt x="239222" y="8627"/>
                </a:lnTo>
                <a:lnTo>
                  <a:pt x="238364" y="7891"/>
                </a:lnTo>
                <a:lnTo>
                  <a:pt x="237546" y="7155"/>
                </a:lnTo>
                <a:lnTo>
                  <a:pt x="236646" y="6460"/>
                </a:lnTo>
                <a:lnTo>
                  <a:pt x="235788" y="5806"/>
                </a:lnTo>
                <a:lnTo>
                  <a:pt x="234888" y="5192"/>
                </a:lnTo>
                <a:lnTo>
                  <a:pt x="233989" y="4579"/>
                </a:lnTo>
                <a:lnTo>
                  <a:pt x="233048" y="4007"/>
                </a:lnTo>
                <a:lnTo>
                  <a:pt x="232108" y="3475"/>
                </a:lnTo>
                <a:lnTo>
                  <a:pt x="231127" y="2985"/>
                </a:lnTo>
                <a:lnTo>
                  <a:pt x="230145" y="2535"/>
                </a:lnTo>
                <a:lnTo>
                  <a:pt x="229123" y="2085"/>
                </a:lnTo>
                <a:lnTo>
                  <a:pt x="228101" y="1717"/>
                </a:lnTo>
                <a:lnTo>
                  <a:pt x="227079" y="1349"/>
                </a:lnTo>
                <a:lnTo>
                  <a:pt x="226016" y="1022"/>
                </a:lnTo>
                <a:lnTo>
                  <a:pt x="224912" y="777"/>
                </a:lnTo>
                <a:lnTo>
                  <a:pt x="223808" y="532"/>
                </a:lnTo>
                <a:lnTo>
                  <a:pt x="222132" y="245"/>
                </a:lnTo>
                <a:lnTo>
                  <a:pt x="22045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5"/>
          <p:cNvSpPr/>
          <p:nvPr/>
        </p:nvSpPr>
        <p:spPr>
          <a:xfrm flipH="1">
            <a:off x="0" y="0"/>
            <a:ext cx="9144000" cy="5143648"/>
          </a:xfrm>
          <a:custGeom>
            <a:avLst/>
            <a:gdLst/>
            <a:ahLst/>
            <a:cxnLst/>
            <a:rect l="l" t="t" r="r" b="b"/>
            <a:pathLst>
              <a:path w="285750" h="160739" extrusionOk="0">
                <a:moveTo>
                  <a:pt x="278825" y="6764"/>
                </a:moveTo>
                <a:lnTo>
                  <a:pt x="278825" y="153975"/>
                </a:lnTo>
                <a:lnTo>
                  <a:pt x="6925" y="153975"/>
                </a:lnTo>
                <a:lnTo>
                  <a:pt x="6925" y="6764"/>
                </a:lnTo>
                <a:close/>
                <a:moveTo>
                  <a:pt x="0" y="0"/>
                </a:moveTo>
                <a:lnTo>
                  <a:pt x="0" y="160739"/>
                </a:lnTo>
                <a:lnTo>
                  <a:pt x="285750" y="160739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ExtraBold"/>
              <a:buNone/>
              <a:defRPr sz="28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 panose="020B0606020202050201"/>
              <a:buNone/>
              <a:defRPr sz="2800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Char char="●"/>
              <a:defRPr sz="18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●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○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Medium"/>
              <a:buChar char="■"/>
              <a:defRPr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microsoft.com/office/2007/relationships/hdphoto" Target="../media/hdphoto2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3"/>
          <p:cNvSpPr txBox="1">
            <a:spLocks noGrp="1"/>
          </p:cNvSpPr>
          <p:nvPr>
            <p:ph type="ctrTitle"/>
          </p:nvPr>
        </p:nvSpPr>
        <p:spPr>
          <a:xfrm>
            <a:off x="163547" y="312137"/>
            <a:ext cx="8702606" cy="7308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2000" b="1" dirty="0"/>
              <a:t>Comparative Performance Analysis of NAND and NOR Gates Using CMOS and </a:t>
            </a:r>
            <a:r>
              <a:rPr lang="en-US" sz="2000" b="1" dirty="0" err="1"/>
              <a:t>FinFET</a:t>
            </a:r>
            <a:r>
              <a:rPr lang="en-US" sz="2000" b="1" dirty="0"/>
              <a:t> Technology.</a:t>
            </a:r>
            <a:endParaRPr lang="en-US" sz="2000" dirty="0"/>
          </a:p>
        </p:txBody>
      </p:sp>
      <p:sp>
        <p:nvSpPr>
          <p:cNvPr id="365" name="Google Shape;365;p53"/>
          <p:cNvSpPr txBox="1">
            <a:spLocks noGrp="1"/>
          </p:cNvSpPr>
          <p:nvPr>
            <p:ph type="subTitle" idx="1"/>
          </p:nvPr>
        </p:nvSpPr>
        <p:spPr>
          <a:xfrm>
            <a:off x="3393281" y="3241281"/>
            <a:ext cx="2793963" cy="952102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400" b="1" dirty="0">
                <a:sym typeface="Poppins SemiBold"/>
              </a:rPr>
              <a:t>Supervised by: </a:t>
            </a:r>
          </a:p>
          <a:p>
            <a:pPr algn="ctr"/>
            <a:r>
              <a:rPr lang="en-US" sz="1400" b="1" dirty="0">
                <a:sym typeface="Poppins SemiBold"/>
              </a:rPr>
              <a:t>Riazul Islam</a:t>
            </a:r>
          </a:p>
          <a:p>
            <a:pPr algn="ctr"/>
            <a:r>
              <a:rPr lang="en-US" sz="1400" b="1" dirty="0">
                <a:sym typeface="Poppins SemiBold"/>
              </a:rPr>
              <a:t>Lecturer</a:t>
            </a:r>
          </a:p>
        </p:txBody>
      </p:sp>
      <p:sp>
        <p:nvSpPr>
          <p:cNvPr id="5" name="Google Shape;365;p53"/>
          <p:cNvSpPr txBox="1"/>
          <p:nvPr/>
        </p:nvSpPr>
        <p:spPr>
          <a:xfrm>
            <a:off x="910942" y="2206325"/>
            <a:ext cx="3304856" cy="730850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b="1" dirty="0"/>
              <a:t>M.F.A Azad </a:t>
            </a:r>
            <a:r>
              <a:rPr lang="en-US" sz="1400" b="1" dirty="0" err="1"/>
              <a:t>Shaon</a:t>
            </a:r>
            <a:endParaRPr lang="en-US" sz="1400" b="1" dirty="0"/>
          </a:p>
          <a:p>
            <a:pPr>
              <a:lnSpc>
                <a:spcPct val="150000"/>
              </a:lnSpc>
            </a:pPr>
            <a:r>
              <a:rPr lang="en-US" sz="1400" b="1" dirty="0"/>
              <a:t>ID: ET201091</a:t>
            </a:r>
          </a:p>
        </p:txBody>
      </p:sp>
      <p:sp>
        <p:nvSpPr>
          <p:cNvPr id="6" name="Google Shape;365;p53"/>
          <p:cNvSpPr txBox="1"/>
          <p:nvPr/>
        </p:nvSpPr>
        <p:spPr>
          <a:xfrm>
            <a:off x="5446238" y="2159497"/>
            <a:ext cx="3304856" cy="730850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r>
              <a:rPr lang="en-US" sz="1400" b="1" dirty="0"/>
              <a:t>Muhammad Shuaib Chowdhury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ID: ET201058</a:t>
            </a:r>
          </a:p>
        </p:txBody>
      </p:sp>
      <p:sp>
        <p:nvSpPr>
          <p:cNvPr id="7" name="Google Shape;365;p53"/>
          <p:cNvSpPr txBox="1"/>
          <p:nvPr/>
        </p:nvSpPr>
        <p:spPr>
          <a:xfrm>
            <a:off x="78581" y="3992563"/>
            <a:ext cx="6502397" cy="95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/>
              <a:buNone/>
              <a:defRPr sz="1800" b="0" i="0" u="none" strike="noStrike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200" b="1" dirty="0"/>
              <a:t>Department of</a:t>
            </a:r>
          </a:p>
          <a:p>
            <a:pPr>
              <a:lnSpc>
                <a:spcPct val="150000"/>
              </a:lnSpc>
            </a:pPr>
            <a:r>
              <a:rPr lang="en-GB" sz="1200" b="1" dirty="0"/>
              <a:t>Electrical and Electronic Engineering</a:t>
            </a:r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GB" sz="1400" dirty="0"/>
              <a:t>INTERNATIONAL ISLAMIC UNIVERSITY CHITTAGONG</a:t>
            </a:r>
            <a:endParaRPr lang="en-US" sz="1400" dirty="0"/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3246670" y="460950"/>
            <a:ext cx="1922640" cy="527700"/>
          </a:xfrm>
          <a:prstGeom prst="rect">
            <a:avLst/>
          </a:prstGeom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b="1" dirty="0"/>
              <a:t>INTRODUCTION</a:t>
            </a:r>
            <a:endParaRPr lang="en-US" sz="1600" dirty="0"/>
          </a:p>
        </p:txBody>
      </p:sp>
      <p:sp>
        <p:nvSpPr>
          <p:cNvPr id="32" name="Google Shape;380;p55">
            <a:hlinkClick r:id="rId4" action="ppaction://hlinksldjump"/>
          </p:cNvPr>
          <p:cNvSpPr txBox="1"/>
          <p:nvPr/>
        </p:nvSpPr>
        <p:spPr>
          <a:xfrm>
            <a:off x="3246670" y="988650"/>
            <a:ext cx="2873911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PROBLEM STATEMENT</a:t>
            </a:r>
            <a:endParaRPr lang="en-US" sz="1600" dirty="0"/>
          </a:p>
        </p:txBody>
      </p:sp>
      <p:sp>
        <p:nvSpPr>
          <p:cNvPr id="33" name="Google Shape;380;p55">
            <a:hlinkClick r:id="rId4" action="ppaction://hlinksldjump"/>
          </p:cNvPr>
          <p:cNvSpPr txBox="1"/>
          <p:nvPr/>
        </p:nvSpPr>
        <p:spPr>
          <a:xfrm>
            <a:off x="3246670" y="1521355"/>
            <a:ext cx="1701414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OBJECTIVES</a:t>
            </a:r>
            <a:endParaRPr lang="en-US" sz="1600" dirty="0"/>
          </a:p>
        </p:txBody>
      </p:sp>
      <p:sp>
        <p:nvSpPr>
          <p:cNvPr id="34" name="Google Shape;380;p55">
            <a:hlinkClick r:id="rId4" action="ppaction://hlinksldjump"/>
          </p:cNvPr>
          <p:cNvSpPr txBox="1"/>
          <p:nvPr/>
        </p:nvSpPr>
        <p:spPr>
          <a:xfrm>
            <a:off x="3241709" y="2051424"/>
            <a:ext cx="4759290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LOGIC GATES AND BOOLEAN FUNCTIONS</a:t>
            </a:r>
            <a:endParaRPr lang="en-US" sz="1600" dirty="0"/>
          </a:p>
        </p:txBody>
      </p:sp>
      <p:sp>
        <p:nvSpPr>
          <p:cNvPr id="35" name="Google Shape;380;p55">
            <a:hlinkClick r:id="rId4" action="ppaction://hlinksldjump"/>
          </p:cNvPr>
          <p:cNvSpPr txBox="1"/>
          <p:nvPr/>
        </p:nvSpPr>
        <p:spPr>
          <a:xfrm>
            <a:off x="3241709" y="2579124"/>
            <a:ext cx="251753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LITERATURE REVIEW</a:t>
            </a:r>
            <a:endParaRPr lang="en-US" sz="1600" dirty="0"/>
          </a:p>
        </p:txBody>
      </p:sp>
      <p:sp>
        <p:nvSpPr>
          <p:cNvPr id="36" name="Google Shape;380;p55">
            <a:hlinkClick r:id="rId4" action="ppaction://hlinksldjump"/>
          </p:cNvPr>
          <p:cNvSpPr txBox="1"/>
          <p:nvPr/>
        </p:nvSpPr>
        <p:spPr>
          <a:xfrm>
            <a:off x="3241709" y="3106458"/>
            <a:ext cx="311484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INTRODUCTION TO FINFET</a:t>
            </a:r>
            <a:endParaRPr lang="en-US" sz="1600" dirty="0"/>
          </a:p>
        </p:txBody>
      </p:sp>
      <p:sp>
        <p:nvSpPr>
          <p:cNvPr id="37" name="Google Shape;380;p55">
            <a:hlinkClick r:id="rId4" action="ppaction://hlinksldjump"/>
          </p:cNvPr>
          <p:cNvSpPr txBox="1"/>
          <p:nvPr/>
        </p:nvSpPr>
        <p:spPr>
          <a:xfrm>
            <a:off x="3244524" y="3634158"/>
            <a:ext cx="2514721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CMOS LOGIC STYLES</a:t>
            </a:r>
            <a:endParaRPr lang="en-US" sz="1600" dirty="0"/>
          </a:p>
        </p:txBody>
      </p:sp>
      <p:sp>
        <p:nvSpPr>
          <p:cNvPr id="38" name="Google Shape;380;p55">
            <a:hlinkClick r:id="rId4" action="ppaction://hlinksldjump"/>
          </p:cNvPr>
          <p:cNvSpPr txBox="1"/>
          <p:nvPr/>
        </p:nvSpPr>
        <p:spPr>
          <a:xfrm>
            <a:off x="3244524" y="4161858"/>
            <a:ext cx="5464399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CIRCUIT DESIGN - CMOS NAND AND NOR GATES USING </a:t>
            </a:r>
            <a:r>
              <a:rPr lang="en-US" sz="1600" b="1" dirty="0" err="1">
                <a:sym typeface="Montserrat Medium"/>
              </a:rPr>
              <a:t>FinFET</a:t>
            </a:r>
            <a:endParaRPr lang="en-US" sz="1600" b="1" dirty="0"/>
          </a:p>
        </p:txBody>
      </p:sp>
      <p:sp>
        <p:nvSpPr>
          <p:cNvPr id="45" name="Google Shape;45;p3"/>
          <p:cNvSpPr/>
          <p:nvPr/>
        </p:nvSpPr>
        <p:spPr>
          <a:xfrm>
            <a:off x="247786" y="1938493"/>
            <a:ext cx="2483910" cy="376781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2800" dirty="0">
                <a:solidFill>
                  <a:srgbClr val="334436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rPr>
              <a:t>Table of Contents</a:t>
            </a:r>
            <a:endParaRPr sz="2800" dirty="0">
              <a:solidFill>
                <a:srgbClr val="33443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247786" y="1938493"/>
            <a:ext cx="2483910" cy="376781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2800" dirty="0">
                <a:solidFill>
                  <a:srgbClr val="334436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rPr>
              <a:t>Table of Contents</a:t>
            </a:r>
            <a:endParaRPr sz="2800" dirty="0">
              <a:solidFill>
                <a:srgbClr val="33443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380;p55">
            <a:hlinkClick r:id="rId4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3362494" y="1074895"/>
            <a:ext cx="5068274" cy="527700"/>
          </a:xfrm>
          <a:prstGeom prst="rect">
            <a:avLst/>
          </a:prstGeom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b="1" dirty="0"/>
              <a:t>Circuit Design - CMOS NAND and NOR Gates</a:t>
            </a:r>
            <a:endParaRPr lang="en-US" sz="1600" dirty="0"/>
          </a:p>
        </p:txBody>
      </p:sp>
      <p:sp>
        <p:nvSpPr>
          <p:cNvPr id="17" name="Google Shape;380;p55">
            <a:hlinkClick r:id="rId4" action="ppaction://hlinksldjump"/>
          </p:cNvPr>
          <p:cNvSpPr txBox="1"/>
          <p:nvPr/>
        </p:nvSpPr>
        <p:spPr>
          <a:xfrm>
            <a:off x="3362494" y="1602595"/>
            <a:ext cx="2361650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SIMULATION SETUP</a:t>
            </a:r>
            <a:endParaRPr lang="en-US" sz="1600" dirty="0"/>
          </a:p>
        </p:txBody>
      </p:sp>
      <p:sp>
        <p:nvSpPr>
          <p:cNvPr id="18" name="Google Shape;380;p55">
            <a:hlinkClick r:id="rId4" action="ppaction://hlinksldjump"/>
          </p:cNvPr>
          <p:cNvSpPr txBox="1"/>
          <p:nvPr/>
        </p:nvSpPr>
        <p:spPr>
          <a:xfrm>
            <a:off x="3362494" y="2127964"/>
            <a:ext cx="4166066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SIMULATION RESULTS - NAND GATES</a:t>
            </a:r>
            <a:endParaRPr lang="en-US" sz="1600" dirty="0"/>
          </a:p>
        </p:txBody>
      </p:sp>
      <p:sp>
        <p:nvSpPr>
          <p:cNvPr id="19" name="Google Shape;380;p55">
            <a:hlinkClick r:id="rId4" action="ppaction://hlinksldjump"/>
          </p:cNvPr>
          <p:cNvSpPr txBox="1"/>
          <p:nvPr/>
        </p:nvSpPr>
        <p:spPr>
          <a:xfrm>
            <a:off x="3362494" y="2655664"/>
            <a:ext cx="3421764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PERFORMANCE COMPARISON</a:t>
            </a:r>
            <a:endParaRPr lang="en-US" sz="1600" dirty="0"/>
          </a:p>
        </p:txBody>
      </p:sp>
      <p:sp>
        <p:nvSpPr>
          <p:cNvPr id="20" name="Google Shape;380;p55">
            <a:hlinkClick r:id="rId4" action="ppaction://hlinksldjump"/>
          </p:cNvPr>
          <p:cNvSpPr txBox="1"/>
          <p:nvPr/>
        </p:nvSpPr>
        <p:spPr>
          <a:xfrm>
            <a:off x="3362494" y="3188966"/>
            <a:ext cx="1674080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CONCLUSION</a:t>
            </a:r>
            <a:endParaRPr lang="en-US" sz="1600" dirty="0"/>
          </a:p>
        </p:txBody>
      </p:sp>
      <p:sp>
        <p:nvSpPr>
          <p:cNvPr id="21" name="Google Shape;380;p55">
            <a:hlinkClick r:id="rId4" action="ppaction://hlinksldjump"/>
          </p:cNvPr>
          <p:cNvSpPr txBox="1"/>
          <p:nvPr/>
        </p:nvSpPr>
        <p:spPr>
          <a:xfrm>
            <a:off x="3362494" y="3716666"/>
            <a:ext cx="1828938" cy="527700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 ExtraBold"/>
              <a:buNone/>
              <a:defRPr sz="20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1600" b="1" dirty="0"/>
              <a:t>FUTURE WORK</a:t>
            </a:r>
            <a:endParaRPr lang="en-US" sz="1600" dirty="0"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4" y="313750"/>
            <a:ext cx="2140913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INTRODUCTION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4" y="1067991"/>
            <a:ext cx="6972058" cy="2707480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Logic gates serve as the foundational components in digital electronics, performing essential Boolean operations.</a:t>
            </a:r>
          </a:p>
          <a:p>
            <a:endParaRPr lang="en-US" dirty="0"/>
          </a:p>
          <a:p>
            <a:r>
              <a:rPr lang="en-US" dirty="0"/>
              <a:t>They are crucial for designing microprocessors, embedded systems, digital controllers, and memory devices.</a:t>
            </a:r>
          </a:p>
          <a:p>
            <a:endParaRPr lang="en-US" dirty="0"/>
          </a:p>
          <a:p>
            <a:r>
              <a:rPr lang="en-US" dirty="0"/>
              <a:t>The increasing demand for low-power, high-speed digital circuits has necessitated improvements in gate technology.</a:t>
            </a:r>
          </a:p>
          <a:p>
            <a:endParaRPr lang="en-US" dirty="0"/>
          </a:p>
          <a:p>
            <a:r>
              <a:rPr lang="en-US" dirty="0"/>
              <a:t>This thesis investigates the performance of NAND and NOR gates using traditional CMOS and emerging </a:t>
            </a:r>
            <a:r>
              <a:rPr lang="en-US" dirty="0" err="1"/>
              <a:t>FinFET</a:t>
            </a:r>
            <a:r>
              <a:rPr lang="en-US" dirty="0"/>
              <a:t> technologies.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4" y="313750"/>
            <a:ext cx="2941012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PROBLEM STATEMENT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4" y="1110852"/>
            <a:ext cx="6972058" cy="3275409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CMOS transistors face challenges at technology nodes below 20nm: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Increased leakage current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Short-channel effects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Reduced switching performance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/>
              <a:t>FinFET</a:t>
            </a:r>
            <a:r>
              <a:rPr lang="en-US" dirty="0"/>
              <a:t> technology, with its 3D structure and improved gate control, offers a promising alternative.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 detailed comparative study is necessary to assess the suitability of </a:t>
            </a:r>
            <a:r>
              <a:rPr lang="en-US" dirty="0" err="1"/>
              <a:t>FinFET</a:t>
            </a:r>
            <a:r>
              <a:rPr lang="en-US" dirty="0"/>
              <a:t> over CMOS for future digital logic design.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5"/>
          <p:cNvSpPr/>
          <p:nvPr/>
        </p:nvSpPr>
        <p:spPr>
          <a:xfrm flipH="1">
            <a:off x="1301897" y="1289899"/>
            <a:ext cx="770250" cy="723256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n w="0"/>
                <a:solidFill>
                  <a:schemeClr val="bg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sz="3000" dirty="0">
              <a:ln w="0"/>
              <a:solidFill>
                <a:schemeClr val="bg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17" name="Google Shape;517;p65"/>
          <p:cNvSpPr txBox="1">
            <a:spLocks noGrp="1"/>
          </p:cNvSpPr>
          <p:nvPr>
            <p:ph type="title"/>
          </p:nvPr>
        </p:nvSpPr>
        <p:spPr>
          <a:xfrm>
            <a:off x="72005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endParaRPr dirty="0"/>
          </a:p>
        </p:txBody>
      </p:sp>
      <p:sp>
        <p:nvSpPr>
          <p:cNvPr id="518" name="Google Shape;518;p65"/>
          <p:cNvSpPr txBox="1"/>
          <p:nvPr/>
        </p:nvSpPr>
        <p:spPr>
          <a:xfrm flipH="1">
            <a:off x="2202068" y="1295020"/>
            <a:ext cx="5046764" cy="629260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 design and simulate NAND and NOR logic gates using both CMOS and </a:t>
            </a:r>
            <a:r>
              <a:rPr lang="en-US" b="1" dirty="0" err="1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FinFET</a:t>
            </a:r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technologies.</a:t>
            </a:r>
            <a:endParaRPr b="1" dirty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" name="Google Shape;515;p65"/>
          <p:cNvSpPr/>
          <p:nvPr/>
        </p:nvSpPr>
        <p:spPr>
          <a:xfrm flipH="1">
            <a:off x="1354768" y="2408306"/>
            <a:ext cx="717379" cy="717141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n w="0"/>
                <a:solidFill>
                  <a:schemeClr val="bg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3000" dirty="0">
              <a:ln w="0"/>
              <a:solidFill>
                <a:schemeClr val="bg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" name="Google Shape;518;p65"/>
          <p:cNvSpPr txBox="1"/>
          <p:nvPr/>
        </p:nvSpPr>
        <p:spPr>
          <a:xfrm flipH="1">
            <a:off x="2202068" y="2452246"/>
            <a:ext cx="5046764" cy="629260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 examine both static and dynamic logic styles for each gate.</a:t>
            </a:r>
            <a:endParaRPr b="1" dirty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" name="Google Shape;515;p65"/>
          <p:cNvSpPr/>
          <p:nvPr/>
        </p:nvSpPr>
        <p:spPr>
          <a:xfrm flipH="1">
            <a:off x="1362141" y="3520598"/>
            <a:ext cx="717379" cy="717141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ln w="0"/>
                <a:solidFill>
                  <a:schemeClr val="bg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3000" dirty="0">
              <a:ln w="0"/>
              <a:solidFill>
                <a:schemeClr val="bg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7" name="Google Shape;518;p65"/>
          <p:cNvSpPr txBox="1"/>
          <p:nvPr/>
        </p:nvSpPr>
        <p:spPr>
          <a:xfrm flipH="1">
            <a:off x="2202066" y="3512920"/>
            <a:ext cx="6374119" cy="1258184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 evaluate and compare key performance parameters such as:</a:t>
            </a:r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Rise time</a:t>
            </a:r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Fall time</a:t>
            </a:r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Propagation delay</a:t>
            </a:r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 b="1" dirty="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Power consumption</a:t>
            </a:r>
            <a:endParaRPr b="1" dirty="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0"/>
          <p:cNvSpPr txBox="1">
            <a:spLocks noGrp="1"/>
          </p:cNvSpPr>
          <p:nvPr>
            <p:ph type="title"/>
          </p:nvPr>
        </p:nvSpPr>
        <p:spPr>
          <a:xfrm>
            <a:off x="660366" y="10329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METHODOLOGY</a:t>
            </a:r>
            <a:endParaRPr dirty="0"/>
          </a:p>
        </p:txBody>
      </p:sp>
      <p:grpSp>
        <p:nvGrpSpPr>
          <p:cNvPr id="949" name="Google Shape;949;p80"/>
          <p:cNvGrpSpPr/>
          <p:nvPr/>
        </p:nvGrpSpPr>
        <p:grpSpPr>
          <a:xfrm>
            <a:off x="1144187" y="3889748"/>
            <a:ext cx="360726" cy="361204"/>
            <a:chOff x="3510335" y="2892499"/>
            <a:chExt cx="360726" cy="361204"/>
          </a:xfrm>
        </p:grpSpPr>
        <p:sp>
          <p:nvSpPr>
            <p:cNvPr id="950" name="Google Shape;950;p80"/>
            <p:cNvSpPr/>
            <p:nvPr/>
          </p:nvSpPr>
          <p:spPr>
            <a:xfrm>
              <a:off x="3511864" y="2892499"/>
              <a:ext cx="359197" cy="358751"/>
            </a:xfrm>
            <a:custGeom>
              <a:avLst/>
              <a:gdLst/>
              <a:ahLst/>
              <a:cxnLst/>
              <a:rect l="l" t="t" r="r" b="b"/>
              <a:pathLst>
                <a:path w="11276" h="11262" extrusionOk="0">
                  <a:moveTo>
                    <a:pt x="2035" y="8898"/>
                  </a:moveTo>
                  <a:cubicBezTo>
                    <a:pt x="2132" y="8898"/>
                    <a:pt x="2227" y="8934"/>
                    <a:pt x="2298" y="9005"/>
                  </a:cubicBezTo>
                  <a:cubicBezTo>
                    <a:pt x="2453" y="9160"/>
                    <a:pt x="2453" y="9398"/>
                    <a:pt x="2298" y="9541"/>
                  </a:cubicBezTo>
                  <a:cubicBezTo>
                    <a:pt x="2227" y="9618"/>
                    <a:pt x="2132" y="9657"/>
                    <a:pt x="2035" y="9657"/>
                  </a:cubicBezTo>
                  <a:cubicBezTo>
                    <a:pt x="1938" y="9657"/>
                    <a:pt x="1840" y="9618"/>
                    <a:pt x="1763" y="9541"/>
                  </a:cubicBezTo>
                  <a:cubicBezTo>
                    <a:pt x="1620" y="9398"/>
                    <a:pt x="1620" y="9160"/>
                    <a:pt x="1763" y="9005"/>
                  </a:cubicBezTo>
                  <a:cubicBezTo>
                    <a:pt x="1840" y="8934"/>
                    <a:pt x="1938" y="8898"/>
                    <a:pt x="2035" y="8898"/>
                  </a:cubicBezTo>
                  <a:close/>
                  <a:moveTo>
                    <a:pt x="10477" y="1"/>
                  </a:moveTo>
                  <a:cubicBezTo>
                    <a:pt x="10261" y="1"/>
                    <a:pt x="10042" y="82"/>
                    <a:pt x="9871" y="254"/>
                  </a:cubicBezTo>
                  <a:lnTo>
                    <a:pt x="6882" y="3243"/>
                  </a:lnTo>
                  <a:cubicBezTo>
                    <a:pt x="6716" y="3196"/>
                    <a:pt x="6544" y="3172"/>
                    <a:pt x="6368" y="3172"/>
                  </a:cubicBezTo>
                  <a:cubicBezTo>
                    <a:pt x="6053" y="3172"/>
                    <a:pt x="5727" y="3249"/>
                    <a:pt x="5406" y="3409"/>
                  </a:cubicBezTo>
                  <a:cubicBezTo>
                    <a:pt x="5204" y="3516"/>
                    <a:pt x="4668" y="3766"/>
                    <a:pt x="4013" y="4040"/>
                  </a:cubicBezTo>
                  <a:cubicBezTo>
                    <a:pt x="3906" y="4076"/>
                    <a:pt x="3858" y="4195"/>
                    <a:pt x="3906" y="4290"/>
                  </a:cubicBezTo>
                  <a:cubicBezTo>
                    <a:pt x="3942" y="4371"/>
                    <a:pt x="4017" y="4411"/>
                    <a:pt x="4088" y="4411"/>
                  </a:cubicBezTo>
                  <a:cubicBezTo>
                    <a:pt x="4112" y="4411"/>
                    <a:pt x="4135" y="4406"/>
                    <a:pt x="4156" y="4398"/>
                  </a:cubicBezTo>
                  <a:cubicBezTo>
                    <a:pt x="4834" y="4124"/>
                    <a:pt x="5382" y="3862"/>
                    <a:pt x="5585" y="3755"/>
                  </a:cubicBezTo>
                  <a:cubicBezTo>
                    <a:pt x="5849" y="3621"/>
                    <a:pt x="6112" y="3561"/>
                    <a:pt x="6358" y="3561"/>
                  </a:cubicBezTo>
                  <a:cubicBezTo>
                    <a:pt x="7385" y="3561"/>
                    <a:pt x="8130" y="4607"/>
                    <a:pt x="7573" y="5731"/>
                  </a:cubicBezTo>
                  <a:cubicBezTo>
                    <a:pt x="7418" y="6029"/>
                    <a:pt x="6930" y="7053"/>
                    <a:pt x="6573" y="8100"/>
                  </a:cubicBezTo>
                  <a:cubicBezTo>
                    <a:pt x="6454" y="8469"/>
                    <a:pt x="6358" y="8803"/>
                    <a:pt x="6299" y="9100"/>
                  </a:cubicBezTo>
                  <a:lnTo>
                    <a:pt x="2227" y="5017"/>
                  </a:lnTo>
                  <a:cubicBezTo>
                    <a:pt x="2572" y="4945"/>
                    <a:pt x="2965" y="4838"/>
                    <a:pt x="3418" y="4671"/>
                  </a:cubicBezTo>
                  <a:cubicBezTo>
                    <a:pt x="3525" y="4648"/>
                    <a:pt x="3584" y="4528"/>
                    <a:pt x="3537" y="4421"/>
                  </a:cubicBezTo>
                  <a:cubicBezTo>
                    <a:pt x="3509" y="4340"/>
                    <a:pt x="3434" y="4286"/>
                    <a:pt x="3352" y="4286"/>
                  </a:cubicBezTo>
                  <a:cubicBezTo>
                    <a:pt x="3326" y="4286"/>
                    <a:pt x="3300" y="4291"/>
                    <a:pt x="3275" y="4302"/>
                  </a:cubicBezTo>
                  <a:cubicBezTo>
                    <a:pt x="2656" y="4517"/>
                    <a:pt x="2203" y="4636"/>
                    <a:pt x="1870" y="4671"/>
                  </a:cubicBezTo>
                  <a:lnTo>
                    <a:pt x="1453" y="4255"/>
                  </a:lnTo>
                  <a:cubicBezTo>
                    <a:pt x="1298" y="4100"/>
                    <a:pt x="1090" y="4022"/>
                    <a:pt x="880" y="4022"/>
                  </a:cubicBezTo>
                  <a:cubicBezTo>
                    <a:pt x="670" y="4022"/>
                    <a:pt x="459" y="4100"/>
                    <a:pt x="298" y="4255"/>
                  </a:cubicBezTo>
                  <a:cubicBezTo>
                    <a:pt x="84" y="4481"/>
                    <a:pt x="1" y="4826"/>
                    <a:pt x="120" y="5136"/>
                  </a:cubicBezTo>
                  <a:cubicBezTo>
                    <a:pt x="157" y="5219"/>
                    <a:pt x="230" y="5266"/>
                    <a:pt x="311" y="5266"/>
                  </a:cubicBezTo>
                  <a:cubicBezTo>
                    <a:pt x="334" y="5266"/>
                    <a:pt x="358" y="5263"/>
                    <a:pt x="382" y="5255"/>
                  </a:cubicBezTo>
                  <a:cubicBezTo>
                    <a:pt x="489" y="5207"/>
                    <a:pt x="524" y="5112"/>
                    <a:pt x="501" y="5005"/>
                  </a:cubicBezTo>
                  <a:cubicBezTo>
                    <a:pt x="379" y="4700"/>
                    <a:pt x="626" y="4433"/>
                    <a:pt x="894" y="4433"/>
                  </a:cubicBezTo>
                  <a:cubicBezTo>
                    <a:pt x="992" y="4433"/>
                    <a:pt x="1093" y="4469"/>
                    <a:pt x="1179" y="4552"/>
                  </a:cubicBezTo>
                  <a:lnTo>
                    <a:pt x="6799" y="10172"/>
                  </a:lnTo>
                  <a:cubicBezTo>
                    <a:pt x="6954" y="10327"/>
                    <a:pt x="6954" y="10601"/>
                    <a:pt x="6799" y="10744"/>
                  </a:cubicBezTo>
                  <a:cubicBezTo>
                    <a:pt x="6716" y="10827"/>
                    <a:pt x="6606" y="10869"/>
                    <a:pt x="6498" y="10869"/>
                  </a:cubicBezTo>
                  <a:cubicBezTo>
                    <a:pt x="6391" y="10869"/>
                    <a:pt x="6287" y="10827"/>
                    <a:pt x="6216" y="10744"/>
                  </a:cubicBezTo>
                  <a:lnTo>
                    <a:pt x="989" y="5529"/>
                  </a:lnTo>
                  <a:cubicBezTo>
                    <a:pt x="953" y="5487"/>
                    <a:pt x="902" y="5466"/>
                    <a:pt x="850" y="5466"/>
                  </a:cubicBezTo>
                  <a:cubicBezTo>
                    <a:pt x="798" y="5466"/>
                    <a:pt x="745" y="5487"/>
                    <a:pt x="703" y="5529"/>
                  </a:cubicBezTo>
                  <a:cubicBezTo>
                    <a:pt x="632" y="5600"/>
                    <a:pt x="632" y="5731"/>
                    <a:pt x="703" y="5802"/>
                  </a:cubicBezTo>
                  <a:lnTo>
                    <a:pt x="2977" y="8088"/>
                  </a:lnTo>
                  <a:lnTo>
                    <a:pt x="2441" y="8624"/>
                  </a:lnTo>
                  <a:cubicBezTo>
                    <a:pt x="2319" y="8551"/>
                    <a:pt x="2182" y="8513"/>
                    <a:pt x="2046" y="8513"/>
                  </a:cubicBezTo>
                  <a:cubicBezTo>
                    <a:pt x="1852" y="8513"/>
                    <a:pt x="1660" y="8589"/>
                    <a:pt x="1513" y="8743"/>
                  </a:cubicBezTo>
                  <a:cubicBezTo>
                    <a:pt x="1215" y="9041"/>
                    <a:pt x="1215" y="9541"/>
                    <a:pt x="1513" y="9839"/>
                  </a:cubicBezTo>
                  <a:cubicBezTo>
                    <a:pt x="1661" y="9987"/>
                    <a:pt x="1861" y="10062"/>
                    <a:pt x="2060" y="10062"/>
                  </a:cubicBezTo>
                  <a:cubicBezTo>
                    <a:pt x="2260" y="10062"/>
                    <a:pt x="2459" y="9987"/>
                    <a:pt x="2608" y="9839"/>
                  </a:cubicBezTo>
                  <a:cubicBezTo>
                    <a:pt x="2870" y="9589"/>
                    <a:pt x="2906" y="9196"/>
                    <a:pt x="2727" y="8898"/>
                  </a:cubicBezTo>
                  <a:lnTo>
                    <a:pt x="3263" y="8362"/>
                  </a:lnTo>
                  <a:lnTo>
                    <a:pt x="5930" y="11029"/>
                  </a:lnTo>
                  <a:cubicBezTo>
                    <a:pt x="6085" y="11184"/>
                    <a:pt x="6293" y="11261"/>
                    <a:pt x="6501" y="11261"/>
                  </a:cubicBezTo>
                  <a:cubicBezTo>
                    <a:pt x="6710" y="11261"/>
                    <a:pt x="6918" y="11184"/>
                    <a:pt x="7073" y="11029"/>
                  </a:cubicBezTo>
                  <a:cubicBezTo>
                    <a:pt x="7359" y="10696"/>
                    <a:pt x="7359" y="10184"/>
                    <a:pt x="7049" y="9874"/>
                  </a:cubicBezTo>
                  <a:lnTo>
                    <a:pt x="6632" y="9458"/>
                  </a:lnTo>
                  <a:cubicBezTo>
                    <a:pt x="6751" y="8529"/>
                    <a:pt x="7299" y="7136"/>
                    <a:pt x="7906" y="5910"/>
                  </a:cubicBezTo>
                  <a:cubicBezTo>
                    <a:pt x="8168" y="5421"/>
                    <a:pt x="8204" y="4898"/>
                    <a:pt x="8073" y="4433"/>
                  </a:cubicBezTo>
                  <a:lnTo>
                    <a:pt x="11109" y="1397"/>
                  </a:lnTo>
                  <a:cubicBezTo>
                    <a:pt x="11181" y="1314"/>
                    <a:pt x="11169" y="1195"/>
                    <a:pt x="11097" y="1123"/>
                  </a:cubicBezTo>
                  <a:cubicBezTo>
                    <a:pt x="11055" y="1086"/>
                    <a:pt x="11008" y="1070"/>
                    <a:pt x="10963" y="1070"/>
                  </a:cubicBezTo>
                  <a:cubicBezTo>
                    <a:pt x="10906" y="1070"/>
                    <a:pt x="10851" y="1095"/>
                    <a:pt x="10811" y="1135"/>
                  </a:cubicBezTo>
                  <a:cubicBezTo>
                    <a:pt x="10800" y="1147"/>
                    <a:pt x="10990" y="969"/>
                    <a:pt x="7906" y="4040"/>
                  </a:cubicBezTo>
                  <a:cubicBezTo>
                    <a:pt x="7763" y="3778"/>
                    <a:pt x="7537" y="3564"/>
                    <a:pt x="7275" y="3409"/>
                  </a:cubicBezTo>
                  <a:lnTo>
                    <a:pt x="10157" y="528"/>
                  </a:lnTo>
                  <a:cubicBezTo>
                    <a:pt x="10248" y="437"/>
                    <a:pt x="10365" y="393"/>
                    <a:pt x="10480" y="393"/>
                  </a:cubicBezTo>
                  <a:cubicBezTo>
                    <a:pt x="10636" y="393"/>
                    <a:pt x="10789" y="473"/>
                    <a:pt x="10871" y="623"/>
                  </a:cubicBezTo>
                  <a:cubicBezTo>
                    <a:pt x="10912" y="690"/>
                    <a:pt x="10983" y="733"/>
                    <a:pt x="11054" y="733"/>
                  </a:cubicBezTo>
                  <a:cubicBezTo>
                    <a:pt x="11085" y="733"/>
                    <a:pt x="11116" y="725"/>
                    <a:pt x="11145" y="707"/>
                  </a:cubicBezTo>
                  <a:cubicBezTo>
                    <a:pt x="11228" y="647"/>
                    <a:pt x="11276" y="528"/>
                    <a:pt x="11216" y="433"/>
                  </a:cubicBezTo>
                  <a:cubicBezTo>
                    <a:pt x="11058" y="152"/>
                    <a:pt x="10770" y="1"/>
                    <a:pt x="10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0"/>
            <p:cNvSpPr/>
            <p:nvPr/>
          </p:nvSpPr>
          <p:spPr>
            <a:xfrm>
              <a:off x="3510335" y="2959936"/>
              <a:ext cx="176413" cy="43291"/>
            </a:xfrm>
            <a:custGeom>
              <a:avLst/>
              <a:gdLst/>
              <a:ahLst/>
              <a:cxnLst/>
              <a:rect l="l" t="t" r="r" b="b"/>
              <a:pathLst>
                <a:path w="5538" h="1359" extrusionOk="0">
                  <a:moveTo>
                    <a:pt x="3439" y="0"/>
                  </a:moveTo>
                  <a:cubicBezTo>
                    <a:pt x="2239" y="0"/>
                    <a:pt x="999" y="350"/>
                    <a:pt x="96" y="995"/>
                  </a:cubicBezTo>
                  <a:cubicBezTo>
                    <a:pt x="13" y="1054"/>
                    <a:pt x="1" y="1185"/>
                    <a:pt x="60" y="1280"/>
                  </a:cubicBezTo>
                  <a:cubicBezTo>
                    <a:pt x="96" y="1330"/>
                    <a:pt x="156" y="1358"/>
                    <a:pt x="217" y="1358"/>
                  </a:cubicBezTo>
                  <a:cubicBezTo>
                    <a:pt x="259" y="1358"/>
                    <a:pt x="300" y="1345"/>
                    <a:pt x="334" y="1316"/>
                  </a:cubicBezTo>
                  <a:cubicBezTo>
                    <a:pt x="965" y="876"/>
                    <a:pt x="1787" y="578"/>
                    <a:pt x="2656" y="459"/>
                  </a:cubicBezTo>
                  <a:cubicBezTo>
                    <a:pt x="2927" y="424"/>
                    <a:pt x="3196" y="407"/>
                    <a:pt x="3459" y="407"/>
                  </a:cubicBezTo>
                  <a:cubicBezTo>
                    <a:pt x="4099" y="407"/>
                    <a:pt x="4708" y="510"/>
                    <a:pt x="5240" y="721"/>
                  </a:cubicBezTo>
                  <a:cubicBezTo>
                    <a:pt x="5258" y="729"/>
                    <a:pt x="5279" y="733"/>
                    <a:pt x="5300" y="733"/>
                  </a:cubicBezTo>
                  <a:cubicBezTo>
                    <a:pt x="5373" y="733"/>
                    <a:pt x="5453" y="687"/>
                    <a:pt x="5490" y="614"/>
                  </a:cubicBezTo>
                  <a:cubicBezTo>
                    <a:pt x="5537" y="506"/>
                    <a:pt x="5478" y="387"/>
                    <a:pt x="5383" y="352"/>
                  </a:cubicBezTo>
                  <a:cubicBezTo>
                    <a:pt x="4795" y="114"/>
                    <a:pt x="4123" y="0"/>
                    <a:pt x="3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0"/>
            <p:cNvSpPr/>
            <p:nvPr/>
          </p:nvSpPr>
          <p:spPr>
            <a:xfrm>
              <a:off x="3530435" y="2920213"/>
              <a:ext cx="133918" cy="35072"/>
            </a:xfrm>
            <a:custGeom>
              <a:avLst/>
              <a:gdLst/>
              <a:ahLst/>
              <a:cxnLst/>
              <a:rect l="l" t="t" r="r" b="b"/>
              <a:pathLst>
                <a:path w="4204" h="1101" extrusionOk="0">
                  <a:moveTo>
                    <a:pt x="2585" y="0"/>
                  </a:moveTo>
                  <a:cubicBezTo>
                    <a:pt x="1695" y="0"/>
                    <a:pt x="780" y="258"/>
                    <a:pt x="108" y="741"/>
                  </a:cubicBezTo>
                  <a:cubicBezTo>
                    <a:pt x="13" y="801"/>
                    <a:pt x="1" y="932"/>
                    <a:pt x="60" y="1027"/>
                  </a:cubicBezTo>
                  <a:cubicBezTo>
                    <a:pt x="95" y="1076"/>
                    <a:pt x="158" y="1100"/>
                    <a:pt x="221" y="1100"/>
                  </a:cubicBezTo>
                  <a:cubicBezTo>
                    <a:pt x="266" y="1100"/>
                    <a:pt x="311" y="1088"/>
                    <a:pt x="346" y="1063"/>
                  </a:cubicBezTo>
                  <a:cubicBezTo>
                    <a:pt x="955" y="637"/>
                    <a:pt x="1801" y="405"/>
                    <a:pt x="2613" y="405"/>
                  </a:cubicBezTo>
                  <a:cubicBezTo>
                    <a:pt x="3071" y="405"/>
                    <a:pt x="3519" y="479"/>
                    <a:pt x="3906" y="634"/>
                  </a:cubicBezTo>
                  <a:cubicBezTo>
                    <a:pt x="3925" y="642"/>
                    <a:pt x="3945" y="646"/>
                    <a:pt x="3966" y="646"/>
                  </a:cubicBezTo>
                  <a:cubicBezTo>
                    <a:pt x="4039" y="646"/>
                    <a:pt x="4119" y="599"/>
                    <a:pt x="4156" y="515"/>
                  </a:cubicBezTo>
                  <a:cubicBezTo>
                    <a:pt x="4204" y="408"/>
                    <a:pt x="4144" y="289"/>
                    <a:pt x="4049" y="265"/>
                  </a:cubicBezTo>
                  <a:cubicBezTo>
                    <a:pt x="3604" y="86"/>
                    <a:pt x="3099" y="0"/>
                    <a:pt x="2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0"/>
            <p:cNvSpPr/>
            <p:nvPr/>
          </p:nvSpPr>
          <p:spPr>
            <a:xfrm>
              <a:off x="3761416" y="3078787"/>
              <a:ext cx="53134" cy="174916"/>
            </a:xfrm>
            <a:custGeom>
              <a:avLst/>
              <a:gdLst/>
              <a:ahLst/>
              <a:cxnLst/>
              <a:rect l="l" t="t" r="r" b="b"/>
              <a:pathLst>
                <a:path w="1668" h="5491" extrusionOk="0">
                  <a:moveTo>
                    <a:pt x="830" y="1"/>
                  </a:moveTo>
                  <a:cubicBezTo>
                    <a:pt x="807" y="1"/>
                    <a:pt x="784" y="5"/>
                    <a:pt x="763" y="14"/>
                  </a:cubicBezTo>
                  <a:cubicBezTo>
                    <a:pt x="656" y="62"/>
                    <a:pt x="608" y="181"/>
                    <a:pt x="656" y="276"/>
                  </a:cubicBezTo>
                  <a:cubicBezTo>
                    <a:pt x="953" y="1002"/>
                    <a:pt x="1061" y="1919"/>
                    <a:pt x="918" y="2848"/>
                  </a:cubicBezTo>
                  <a:cubicBezTo>
                    <a:pt x="799" y="3717"/>
                    <a:pt x="501" y="4550"/>
                    <a:pt x="60" y="5169"/>
                  </a:cubicBezTo>
                  <a:cubicBezTo>
                    <a:pt x="1" y="5253"/>
                    <a:pt x="13" y="5372"/>
                    <a:pt x="108" y="5443"/>
                  </a:cubicBezTo>
                  <a:cubicBezTo>
                    <a:pt x="136" y="5476"/>
                    <a:pt x="174" y="5491"/>
                    <a:pt x="213" y="5491"/>
                  </a:cubicBezTo>
                  <a:cubicBezTo>
                    <a:pt x="272" y="5491"/>
                    <a:pt x="334" y="5458"/>
                    <a:pt x="370" y="5407"/>
                  </a:cubicBezTo>
                  <a:cubicBezTo>
                    <a:pt x="1370" y="3991"/>
                    <a:pt x="1668" y="1740"/>
                    <a:pt x="1013" y="121"/>
                  </a:cubicBezTo>
                  <a:cubicBezTo>
                    <a:pt x="977" y="41"/>
                    <a:pt x="901" y="1"/>
                    <a:pt x="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0"/>
            <p:cNvSpPr/>
            <p:nvPr/>
          </p:nvSpPr>
          <p:spPr>
            <a:xfrm>
              <a:off x="3809230" y="3100990"/>
              <a:ext cx="42877" cy="132326"/>
            </a:xfrm>
            <a:custGeom>
              <a:avLst/>
              <a:gdLst/>
              <a:ahLst/>
              <a:cxnLst/>
              <a:rect l="l" t="t" r="r" b="b"/>
              <a:pathLst>
                <a:path w="1346" h="4154" extrusionOk="0">
                  <a:moveTo>
                    <a:pt x="674" y="1"/>
                  </a:moveTo>
                  <a:cubicBezTo>
                    <a:pt x="647" y="1"/>
                    <a:pt x="620" y="7"/>
                    <a:pt x="595" y="19"/>
                  </a:cubicBezTo>
                  <a:cubicBezTo>
                    <a:pt x="488" y="67"/>
                    <a:pt x="452" y="186"/>
                    <a:pt x="488" y="269"/>
                  </a:cubicBezTo>
                  <a:cubicBezTo>
                    <a:pt x="929" y="1365"/>
                    <a:pt x="750" y="2877"/>
                    <a:pt x="60" y="3829"/>
                  </a:cubicBezTo>
                  <a:cubicBezTo>
                    <a:pt x="0" y="3925"/>
                    <a:pt x="24" y="4044"/>
                    <a:pt x="107" y="4115"/>
                  </a:cubicBezTo>
                  <a:cubicBezTo>
                    <a:pt x="134" y="4142"/>
                    <a:pt x="170" y="4153"/>
                    <a:pt x="209" y="4153"/>
                  </a:cubicBezTo>
                  <a:cubicBezTo>
                    <a:pt x="273" y="4153"/>
                    <a:pt x="344" y="4120"/>
                    <a:pt x="381" y="4068"/>
                  </a:cubicBezTo>
                  <a:cubicBezTo>
                    <a:pt x="1119" y="3008"/>
                    <a:pt x="1345" y="1341"/>
                    <a:pt x="857" y="127"/>
                  </a:cubicBezTo>
                  <a:cubicBezTo>
                    <a:pt x="822" y="48"/>
                    <a:pt x="748" y="1"/>
                    <a:pt x="6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465" y="675997"/>
            <a:ext cx="5324475" cy="429577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4" y="313750"/>
            <a:ext cx="4448344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Logic Gates and Boolean Functions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4" y="1117996"/>
            <a:ext cx="5419894" cy="2596753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Logic gates perform operations based on Boolean algebra using binary inputs (0 and 1).</a:t>
            </a: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NAND Gate: Outputs LOW only if all inputs are HIGH.</a:t>
            </a: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NOR Gate: Outputs HIGH only if all inputs are LOW.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These gates are the building blocks for complex circuits like ALUs, multiplexers, and memory cells.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Boolean expressions help formulate the functionality of gates and digital systems.</a:t>
            </a:r>
          </a:p>
        </p:txBody>
      </p:sp>
      <p:pic>
        <p:nvPicPr>
          <p:cNvPr id="4" name="Picture 3"/>
          <p:cNvPicPr/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369" y="1117996"/>
            <a:ext cx="1223486" cy="25967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/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352" y="1117996"/>
            <a:ext cx="1223486" cy="25967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4" y="313750"/>
            <a:ext cx="2955300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Introduction to </a:t>
            </a:r>
            <a:r>
              <a:rPr lang="en-US" sz="1800" b="1" dirty="0" err="1"/>
              <a:t>FinFET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4" y="1117996"/>
            <a:ext cx="3548231" cy="3711754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err="1"/>
              <a:t>FinFETs</a:t>
            </a:r>
            <a:r>
              <a:rPr lang="en-US" dirty="0"/>
              <a:t> use a fin-shaped channel controlled by gates on multiple sides.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Advantages include: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Better control over short-channel effects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Lower leakage current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Higher drive current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Two types: SOI </a:t>
            </a:r>
            <a:r>
              <a:rPr lang="en-US" dirty="0" err="1"/>
              <a:t>FinFET</a:t>
            </a:r>
            <a:r>
              <a:rPr lang="en-US" dirty="0"/>
              <a:t> and Bulk </a:t>
            </a:r>
            <a:r>
              <a:rPr lang="en-US" dirty="0" err="1"/>
              <a:t>FinFET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Offers better scalability for sub-20nm nodes</a:t>
            </a:r>
          </a:p>
        </p:txBody>
      </p:sp>
      <p:pic>
        <p:nvPicPr>
          <p:cNvPr id="6" name="Picture 5"/>
          <p:cNvPicPr/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595" y="1117995"/>
            <a:ext cx="2393474" cy="3711753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693" y="1117995"/>
            <a:ext cx="2049151" cy="3711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4" y="313750"/>
            <a:ext cx="2469525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CMOS Logic Styles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4" y="1089421"/>
            <a:ext cx="5005556" cy="2653904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Static Logic</a:t>
            </a:r>
            <a:r>
              <a:rPr lang="en-US" dirty="0"/>
              <a:t>: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Uses </a:t>
            </a:r>
            <a:r>
              <a:rPr lang="en-US" dirty="0" err="1"/>
              <a:t>pMOS</a:t>
            </a:r>
            <a:r>
              <a:rPr lang="en-US" dirty="0"/>
              <a:t> and </a:t>
            </a:r>
            <a:r>
              <a:rPr lang="en-US" dirty="0" err="1"/>
              <a:t>nMOS</a:t>
            </a:r>
            <a:r>
              <a:rPr lang="en-US" dirty="0"/>
              <a:t> in complementary fashion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Stable output maintained without clock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Low power dissipation when idle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Dynamic Logic</a:t>
            </a:r>
            <a:r>
              <a:rPr lang="en-US" dirty="0"/>
              <a:t>: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Uses clock signals to </a:t>
            </a:r>
            <a:r>
              <a:rPr lang="en-US" dirty="0" err="1"/>
              <a:t>precharge</a:t>
            </a:r>
            <a:r>
              <a:rPr lang="en-US" dirty="0"/>
              <a:t> and evaluate output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Faster switching but prone to noise and leakage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Requires precise timing control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4" y="313750"/>
            <a:ext cx="5784225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Circuit Design - </a:t>
            </a:r>
            <a:r>
              <a:rPr lang="en-US" sz="1800" b="1" dirty="0" err="1"/>
              <a:t>FinFET</a:t>
            </a:r>
            <a:r>
              <a:rPr lang="en-US" sz="1800" b="1" dirty="0"/>
              <a:t> NAND and NOR Gates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3" y="1089421"/>
            <a:ext cx="6448595" cy="953692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Gates implemented in </a:t>
            </a:r>
            <a:r>
              <a:rPr lang="en-US" dirty="0" err="1"/>
              <a:t>LTspice</a:t>
            </a:r>
            <a:r>
              <a:rPr lang="en-US" dirty="0"/>
              <a:t> using </a:t>
            </a:r>
            <a:r>
              <a:rPr lang="en-US" dirty="0" err="1"/>
              <a:t>FinFET</a:t>
            </a:r>
            <a:r>
              <a:rPr lang="en-US" dirty="0"/>
              <a:t> models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Utilizes n-type and p-type </a:t>
            </a:r>
            <a:r>
              <a:rPr lang="en-US" dirty="0" err="1"/>
              <a:t>FinFETs</a:t>
            </a:r>
            <a:r>
              <a:rPr lang="en-US" dirty="0"/>
              <a:t> for logic realization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err="1"/>
              <a:t>FinFETs</a:t>
            </a:r>
            <a:r>
              <a:rPr lang="en-US" dirty="0"/>
              <a:t> reduce delay and power consumption due to 3D gate structure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4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 b="13104"/>
          <a:stretch>
            <a:fillRect/>
          </a:stretch>
        </p:blipFill>
        <p:spPr bwMode="auto">
          <a:xfrm>
            <a:off x="652293" y="2228851"/>
            <a:ext cx="3276770" cy="2171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/>
          <p:nvPr/>
        </p:nvPicPr>
        <p:blipFill>
          <a:blip r:embed="rId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2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42142" y="2228851"/>
            <a:ext cx="3276769" cy="2171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2C6DC4-7F70-47DA-8D79-1F59272B448F}"/>
              </a:ext>
            </a:extLst>
          </p:cNvPr>
          <p:cNvSpPr/>
          <p:nvPr/>
        </p:nvSpPr>
        <p:spPr>
          <a:xfrm>
            <a:off x="652293" y="4540808"/>
            <a:ext cx="3262432" cy="369332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sz="1800" dirty="0"/>
              <a:t>Fig: 32nm FinFET NAND gate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1ED467-AB74-4FDF-B3B3-3D81C580D7EE}"/>
              </a:ext>
            </a:extLst>
          </p:cNvPr>
          <p:cNvSpPr/>
          <p:nvPr/>
        </p:nvSpPr>
        <p:spPr>
          <a:xfrm>
            <a:off x="4442142" y="4540808"/>
            <a:ext cx="3121367" cy="369332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sz="1800" dirty="0"/>
              <a:t>Fig: 32nm FinFET NOR gate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4" y="313750"/>
            <a:ext cx="5562769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Circuit Design - CMOS NAND and NOR Gates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961407"/>
            <a:ext cx="3255336" cy="2867643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Both static and dynamic gates designed and simulated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Dynamic CMOS Gates</a:t>
            </a:r>
            <a:r>
              <a:rPr lang="en-US" dirty="0"/>
              <a:t>: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Faster, smaller, but sensitive to clock skew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Static CMOS Gates</a:t>
            </a:r>
            <a:r>
              <a:rPr lang="en-US" dirty="0"/>
              <a:t>: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Reliable and widely used in industry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4"/>
          <a:srcRect b="13507"/>
          <a:stretch>
            <a:fillRect/>
          </a:stretch>
        </p:blipFill>
        <p:spPr bwMode="auto">
          <a:xfrm>
            <a:off x="4074150" y="913445"/>
            <a:ext cx="2233781" cy="14011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/>
          <p:cNvPicPr/>
          <p:nvPr/>
        </p:nvPicPr>
        <p:blipFill>
          <a:blip r:embed="rId5"/>
          <a:stretch>
            <a:fillRect/>
          </a:stretch>
        </p:blipFill>
        <p:spPr>
          <a:xfrm>
            <a:off x="6638937" y="913446"/>
            <a:ext cx="2183594" cy="14011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/>
          <p:nvPr/>
        </p:nvPicPr>
        <p:blipFill>
          <a:blip r:embed="rId6"/>
          <a:stretch>
            <a:fillRect/>
          </a:stretch>
        </p:blipFill>
        <p:spPr>
          <a:xfrm>
            <a:off x="4074150" y="3035619"/>
            <a:ext cx="2233781" cy="14011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/>
          <p:nvPr/>
        </p:nvPicPr>
        <p:blipFill>
          <a:blip r:embed="rId7"/>
          <a:stretch>
            <a:fillRect/>
          </a:stretch>
        </p:blipFill>
        <p:spPr>
          <a:xfrm>
            <a:off x="6638937" y="3035619"/>
            <a:ext cx="2183594" cy="14011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959B584-0E09-43D3-9BF6-9F18EC3EE938}"/>
              </a:ext>
            </a:extLst>
          </p:cNvPr>
          <p:cNvSpPr/>
          <p:nvPr/>
        </p:nvSpPr>
        <p:spPr>
          <a:xfrm>
            <a:off x="4028986" y="2527932"/>
            <a:ext cx="2329041" cy="430887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/>
              <a:t>Fig: Dynamic PTM 32nm CMOS NAND Gates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923021-0D4F-409D-9D0F-705DB8841D50}"/>
              </a:ext>
            </a:extLst>
          </p:cNvPr>
          <p:cNvSpPr/>
          <p:nvPr/>
        </p:nvSpPr>
        <p:spPr>
          <a:xfrm>
            <a:off x="4124246" y="4679531"/>
            <a:ext cx="2233781" cy="430887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/>
              <a:t>Fig</a:t>
            </a:r>
            <a:r>
              <a:rPr lang="en-US" sz="1100"/>
              <a:t>: Static </a:t>
            </a:r>
            <a:r>
              <a:rPr lang="en-US" sz="1100" dirty="0"/>
              <a:t>PTM 32nm </a:t>
            </a:r>
            <a:r>
              <a:rPr lang="en-US" sz="1100"/>
              <a:t>CMOS Nand </a:t>
            </a:r>
            <a:r>
              <a:rPr lang="en-US" sz="1100" dirty="0"/>
              <a:t>Gates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0D2819-1AAF-4B70-9180-AFA878F6EBAF}"/>
              </a:ext>
            </a:extLst>
          </p:cNvPr>
          <p:cNvSpPr/>
          <p:nvPr/>
        </p:nvSpPr>
        <p:spPr>
          <a:xfrm>
            <a:off x="6565105" y="2527932"/>
            <a:ext cx="2329041" cy="430887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/>
              <a:t>Fig: Dynamic PTM 32nm CMOS NOR Gates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5C0E13-1B56-41D8-B9D7-F302594A7A5D}"/>
              </a:ext>
            </a:extLst>
          </p:cNvPr>
          <p:cNvSpPr/>
          <p:nvPr/>
        </p:nvSpPr>
        <p:spPr>
          <a:xfrm>
            <a:off x="6612734" y="4651531"/>
            <a:ext cx="2233781" cy="430887"/>
          </a:xfrm>
          <a:prstGeom prst="rect">
            <a:avLst/>
          </a:prstGeom>
          <a:noFill/>
          <a:ln>
            <a:solidFill>
              <a:srgbClr val="334436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dirty="0"/>
              <a:t>Fig: Static PTM 32nm CMOS NOR Gates</a:t>
            </a: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4" y="313750"/>
            <a:ext cx="4226887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Simulation Results - NAND Gates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171450" y="984831"/>
            <a:ext cx="3414713" cy="4017786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Dynamic </a:t>
            </a:r>
            <a:r>
              <a:rPr lang="en-US" sz="1400" b="1" dirty="0"/>
              <a:t>PTM 32nm </a:t>
            </a:r>
            <a:r>
              <a:rPr lang="en-US" b="1" dirty="0"/>
              <a:t>CMOS NAND</a:t>
            </a:r>
            <a:r>
              <a:rPr lang="en-US" dirty="0"/>
              <a:t>: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Rise Time: 2.005 ns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Fall Time: 1.024 ns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Power: 1.96 </a:t>
            </a:r>
            <a:r>
              <a:rPr lang="en-US" dirty="0" err="1"/>
              <a:t>nW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Static </a:t>
            </a:r>
            <a:r>
              <a:rPr lang="en-US" sz="1400" b="1" dirty="0"/>
              <a:t>PTM 32nm </a:t>
            </a:r>
            <a:r>
              <a:rPr lang="en-US" b="1" dirty="0"/>
              <a:t>CMOS NAND</a:t>
            </a:r>
            <a:r>
              <a:rPr lang="en-US" dirty="0"/>
              <a:t>: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Rise Time: 3.003 ns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Fall Time: 1.02 ns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Power: 929 </a:t>
            </a:r>
            <a:r>
              <a:rPr lang="en-US" dirty="0" err="1"/>
              <a:t>pW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32nm FinFET</a:t>
            </a:r>
            <a:r>
              <a:rPr lang="en-US" sz="1400" b="1" dirty="0"/>
              <a:t> </a:t>
            </a:r>
            <a:r>
              <a:rPr lang="en-US" b="1" dirty="0"/>
              <a:t>NAND</a:t>
            </a:r>
            <a:r>
              <a:rPr lang="en-US" dirty="0"/>
              <a:t>: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Rise Time: 7.36 </a:t>
            </a:r>
            <a:r>
              <a:rPr lang="en-US" dirty="0" err="1"/>
              <a:t>ps</a:t>
            </a:r>
            <a:endParaRPr lang="en-US" dirty="0"/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Fall Time: 6.34 </a:t>
            </a:r>
            <a:r>
              <a:rPr lang="en-US" dirty="0" err="1"/>
              <a:t>ps</a:t>
            </a:r>
            <a:endParaRPr lang="en-US" dirty="0"/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Power: 3.77 </a:t>
            </a:r>
            <a:r>
              <a:rPr lang="en-US" dirty="0" err="1"/>
              <a:t>nW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E29D43-4B50-46C1-A8EB-C07E39786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455" y="984831"/>
            <a:ext cx="5054063" cy="12782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18CB47-2CD8-4AE6-8329-D95028876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455" y="3826051"/>
            <a:ext cx="5054063" cy="1174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0BA0BD-05FD-454A-9251-9FE8DBB84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8455" y="2404445"/>
            <a:ext cx="5054063" cy="1174574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5" y="313750"/>
            <a:ext cx="4026862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Simulation Results - NOR Gates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200025" y="982839"/>
            <a:ext cx="3286125" cy="3910630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Dynamic </a:t>
            </a:r>
            <a:r>
              <a:rPr lang="en-US" sz="1400" b="1" dirty="0"/>
              <a:t>PTM 32nm </a:t>
            </a:r>
            <a:r>
              <a:rPr lang="en-US" b="1" dirty="0"/>
              <a:t>CMOS NOR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Rise Time: 4.99 ns</a:t>
            </a: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Fall Time: 3.98 ns</a:t>
            </a: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Power: 1.25 </a:t>
            </a:r>
            <a:r>
              <a:rPr lang="en-US" dirty="0" err="1"/>
              <a:t>nW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Static </a:t>
            </a:r>
            <a:r>
              <a:rPr lang="en-US" sz="1400" b="1" dirty="0"/>
              <a:t>PTM 32nm </a:t>
            </a:r>
            <a:r>
              <a:rPr lang="en-US" b="1" dirty="0"/>
              <a:t>CMOS NOR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Rise Time: 1.00 ns</a:t>
            </a: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Fall Time: 9.3 </a:t>
            </a:r>
            <a:r>
              <a:rPr lang="en-US" dirty="0" err="1"/>
              <a:t>ps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Power: 1.39 </a:t>
            </a:r>
            <a:r>
              <a:rPr lang="en-US" dirty="0" err="1"/>
              <a:t>nW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32nm FinFET NOR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Rise Time: 8.41 </a:t>
            </a:r>
            <a:r>
              <a:rPr lang="en-US" dirty="0" err="1"/>
              <a:t>ps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Fall Time: 3.57 </a:t>
            </a:r>
            <a:r>
              <a:rPr lang="en-US" dirty="0" err="1"/>
              <a:t>ps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dirty="0"/>
              <a:t>Power: 5.39 </a:t>
            </a:r>
            <a:r>
              <a:rPr lang="en-US" dirty="0" err="1"/>
              <a:t>nW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C7F542-CCD2-4DA7-9914-A396D37B8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316" y="982839"/>
            <a:ext cx="4935390" cy="1124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91A5F0-7B02-4421-9230-47AE53CE3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316" y="2349177"/>
            <a:ext cx="4935390" cy="11247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7225F8-B192-4EC1-AE17-781330505C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316" y="3740517"/>
            <a:ext cx="4986960" cy="112479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5" y="313750"/>
            <a:ext cx="3369636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Performance Comparison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4" y="982839"/>
            <a:ext cx="4448344" cy="910255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/>
              <a:t>Comparison of all six configurations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 err="1"/>
              <a:t>FinFET</a:t>
            </a:r>
            <a:r>
              <a:rPr lang="en-US" dirty="0"/>
              <a:t> shows fastest switching and lowest delay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/>
              <a:t>CMOS Static is more power-efficient but slower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dirty="0"/>
              <a:t>Dynamic CMOS is fast but consumes more power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2A7C7F-5BD0-4152-A246-75483E6A2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281596"/>
              </p:ext>
            </p:extLst>
          </p:nvPr>
        </p:nvGraphicFramePr>
        <p:xfrm>
          <a:off x="642937" y="2312846"/>
          <a:ext cx="4457701" cy="2287761"/>
        </p:xfrm>
        <a:graphic>
          <a:graphicData uri="http://schemas.openxmlformats.org/drawingml/2006/table">
            <a:tbl>
              <a:tblPr/>
              <a:tblGrid>
                <a:gridCol w="1585912">
                  <a:extLst>
                    <a:ext uri="{9D8B030D-6E8A-4147-A177-3AD203B41FA5}">
                      <a16:colId xmlns:a16="http://schemas.microsoft.com/office/drawing/2014/main" val="1819333743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3548009757"/>
                    </a:ext>
                  </a:extLst>
                </a:gridCol>
                <a:gridCol w="578644">
                  <a:extLst>
                    <a:ext uri="{9D8B030D-6E8A-4147-A177-3AD203B41FA5}">
                      <a16:colId xmlns:a16="http://schemas.microsoft.com/office/drawing/2014/main" val="3834633583"/>
                    </a:ext>
                  </a:extLst>
                </a:gridCol>
                <a:gridCol w="1135856">
                  <a:extLst>
                    <a:ext uri="{9D8B030D-6E8A-4147-A177-3AD203B41FA5}">
                      <a16:colId xmlns:a16="http://schemas.microsoft.com/office/drawing/2014/main" val="171320519"/>
                    </a:ext>
                  </a:extLst>
                </a:gridCol>
                <a:gridCol w="557214">
                  <a:extLst>
                    <a:ext uri="{9D8B030D-6E8A-4147-A177-3AD203B41FA5}">
                      <a16:colId xmlns:a16="http://schemas.microsoft.com/office/drawing/2014/main" val="1549023836"/>
                    </a:ext>
                  </a:extLst>
                </a:gridCol>
              </a:tblGrid>
              <a:tr h="30538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Properties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Rise Time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Fall Time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Propagation Delay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667124"/>
                  </a:ext>
                </a:extLst>
              </a:tr>
              <a:tr h="30538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32nm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FinFET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NOR Gate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8.41E-12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3.57E-12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2.75E-12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5.39E-09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20362"/>
                  </a:ext>
                </a:extLst>
              </a:tr>
              <a:tr h="30538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PTM 32nm CMOS Dynamic NOR Gate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4.99E-09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3.98E-09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2.95E-12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1.25E-09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280130"/>
                  </a:ext>
                </a:extLst>
              </a:tr>
              <a:tr h="30538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PTM 32nm CMOS Static NOR Gate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1.00E-09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9.30E-12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1.12E-11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1.39E-09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06750"/>
                  </a:ext>
                </a:extLst>
              </a:tr>
              <a:tr h="30538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32nm FinFET NAND Gate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7.36E-12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6.34E-12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2.38E-12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3.77E-09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305663"/>
                  </a:ext>
                </a:extLst>
              </a:tr>
              <a:tr h="30538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PTM 32nm CMOS Dynamic NAND Gate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2.01E-09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1.02E-09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4.51E-12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1.96E-09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352834"/>
                  </a:ext>
                </a:extLst>
              </a:tr>
              <a:tr h="30538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PTM 32nm CMOS Static NAND Gate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3.00E-09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1.02E-09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4.99E-10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9.29E-10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059132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3B9A4DF-2FF4-4DCB-918F-5289F6861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533" y="506919"/>
            <a:ext cx="3556542" cy="21377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D42E69-87C2-462D-816F-38DD58930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533" y="2755644"/>
            <a:ext cx="3556542" cy="213771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5" y="313750"/>
            <a:ext cx="1764334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Key Findings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1404912"/>
            <a:ext cx="4355135" cy="2333675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 err="1"/>
              <a:t>FinFET</a:t>
            </a:r>
            <a:r>
              <a:rPr lang="en-US" dirty="0"/>
              <a:t> gates demonstrate:</a:t>
            </a:r>
          </a:p>
          <a:p>
            <a:pPr marL="285750" lvl="1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dirty="0"/>
              <a:t>Faster switching due to better gate control</a:t>
            </a:r>
          </a:p>
          <a:p>
            <a:pPr marL="285750" lvl="1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dirty="0"/>
              <a:t>Reduced leakage and better subthreshold swing</a:t>
            </a:r>
          </a:p>
          <a:p>
            <a:pPr marL="285750" lvl="1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dirty="0"/>
              <a:t>Suitable for high-speed, low-power applications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/>
              <a:t>CMOS still viable for cost-sensitive applications</a:t>
            </a: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5" y="313750"/>
            <a:ext cx="1517591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Conclusion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1404912"/>
            <a:ext cx="5342105" cy="2586517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/>
              <a:t>CMOS faces scalability and performance limitations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 err="1"/>
              <a:t>FinFET</a:t>
            </a:r>
            <a:r>
              <a:rPr lang="en-US" dirty="0"/>
              <a:t> technology addresses these with superior design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/>
              <a:t>For future VLSI design, </a:t>
            </a:r>
            <a:r>
              <a:rPr lang="en-US" dirty="0" err="1"/>
              <a:t>FinFET</a:t>
            </a:r>
            <a:r>
              <a:rPr lang="en-US" dirty="0"/>
              <a:t> offers better performance and efficiency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 err="1"/>
              <a:t>LTspice</a:t>
            </a:r>
            <a:r>
              <a:rPr lang="en-US" dirty="0"/>
              <a:t> simulations confirm performance gains in </a:t>
            </a:r>
            <a:r>
              <a:rPr lang="en-US" dirty="0" err="1"/>
              <a:t>FinFET</a:t>
            </a:r>
            <a:r>
              <a:rPr lang="en-US" dirty="0"/>
              <a:t>-based designs</a:t>
            </a: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652295" y="313750"/>
            <a:ext cx="1858676" cy="386338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b="1" dirty="0"/>
              <a:t>Future Work</a:t>
            </a:r>
            <a:endParaRPr lang="en-US" sz="1800" dirty="0"/>
          </a:p>
        </p:txBody>
      </p:sp>
      <p:sp>
        <p:nvSpPr>
          <p:cNvPr id="3" name="Google Shape;1195;p86"/>
          <p:cNvSpPr txBox="1"/>
          <p:nvPr/>
        </p:nvSpPr>
        <p:spPr>
          <a:xfrm>
            <a:off x="652295" y="1337782"/>
            <a:ext cx="6749991" cy="2791305"/>
          </a:xfrm>
          <a:prstGeom prst="rect">
            <a:avLst/>
          </a:prstGeom>
          <a:solidFill>
            <a:schemeClr val="bg1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Study </a:t>
            </a:r>
            <a:r>
              <a:rPr lang="en-US" dirty="0" err="1"/>
              <a:t>FinFET</a:t>
            </a:r>
            <a:r>
              <a:rPr lang="en-US" dirty="0"/>
              <a:t> gates under varied temperatures and voltages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Analyze integration into larger digital blocks (e.g., ALUs)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Explore hybrid logic families for ultra-low power designs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Investigate real-time implementations using FPGA or ASIC platforms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Evaluate </a:t>
            </a:r>
            <a:r>
              <a:rPr lang="en-US" dirty="0" err="1"/>
              <a:t>FinFET</a:t>
            </a:r>
            <a:r>
              <a:rPr lang="en-US" dirty="0"/>
              <a:t> performance in logic-intensive circuits like full adders or multiplexers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Explore noise immunity and signal integrity analysis in </a:t>
            </a:r>
            <a:r>
              <a:rPr lang="en-US" dirty="0" err="1"/>
              <a:t>FinFET</a:t>
            </a:r>
            <a:r>
              <a:rPr lang="en-US" dirty="0"/>
              <a:t> vs CMOS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Extend simulations to 3nm and beyond to analyze scalability</a:t>
            </a: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5"/>
          <p:cNvSpPr txBox="1">
            <a:spLocks noGrp="1"/>
          </p:cNvSpPr>
          <p:nvPr>
            <p:ph type="title"/>
          </p:nvPr>
        </p:nvSpPr>
        <p:spPr>
          <a:xfrm>
            <a:off x="2745413" y="1971100"/>
            <a:ext cx="2969587" cy="600650"/>
          </a:xfrm>
          <a:prstGeom prst="rect">
            <a:avLst/>
          </a:prstGeom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4000" b="1" dirty="0"/>
              <a:t>THANK</a:t>
            </a:r>
            <a:endParaRPr lang="en-US" sz="4000" dirty="0"/>
          </a:p>
        </p:txBody>
      </p:sp>
      <p:sp>
        <p:nvSpPr>
          <p:cNvPr id="4" name="Google Shape;1133;p85"/>
          <p:cNvSpPr txBox="1"/>
          <p:nvPr/>
        </p:nvSpPr>
        <p:spPr>
          <a:xfrm>
            <a:off x="2745412" y="2571750"/>
            <a:ext cx="2969587" cy="600650"/>
          </a:xfrm>
          <a:prstGeom prst="rect">
            <a:avLst/>
          </a:prstGeom>
          <a:solidFill>
            <a:schemeClr val="bg2"/>
          </a:solidFill>
          <a:ln>
            <a:solidFill>
              <a:srgbClr val="33443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Montserrat ExtraBold"/>
              <a:buNone/>
              <a:defRPr sz="56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 panose="020B0606020202050201"/>
              <a:buNone/>
              <a:defRPr sz="48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</a:rPr>
              <a:t>YOU</a:t>
            </a:r>
            <a:endParaRPr lang="en-US" sz="4000" dirty="0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Simple Style Thesis Defense XL by Slidesgo">
  <a:themeElements>
    <a:clrScheme name="Simple Light">
      <a:dk1>
        <a:srgbClr val="D4CAB7"/>
      </a:dk1>
      <a:lt1>
        <a:srgbClr val="E3DAC5"/>
      </a:lt1>
      <a:dk2>
        <a:srgbClr val="334436"/>
      </a:dk2>
      <a:lt2>
        <a:srgbClr val="DFAA28"/>
      </a:lt2>
      <a:accent1>
        <a:srgbClr val="2C4EB8"/>
      </a:accent1>
      <a:accent2>
        <a:srgbClr val="EA5430"/>
      </a:accent2>
      <a:accent3>
        <a:srgbClr val="334436"/>
      </a:accent3>
      <a:accent4>
        <a:srgbClr val="DFAA28"/>
      </a:accent4>
      <a:accent5>
        <a:srgbClr val="2C4EB8"/>
      </a:accent5>
      <a:accent6>
        <a:srgbClr val="EA5430"/>
      </a:accent6>
      <a:hlink>
        <a:srgbClr val="3344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903</Words>
  <Application>Microsoft Office PowerPoint</Application>
  <PresentationFormat>On-screen Show (16:9)</PresentationFormat>
  <Paragraphs>182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Anaheim</vt:lpstr>
      <vt:lpstr>Arial</vt:lpstr>
      <vt:lpstr>Bebas Neue</vt:lpstr>
      <vt:lpstr>Calibri</vt:lpstr>
      <vt:lpstr>Montserrat ExtraBold</vt:lpstr>
      <vt:lpstr>Montserrat Medium</vt:lpstr>
      <vt:lpstr>Poppins SemiBold</vt:lpstr>
      <vt:lpstr>Wingdings</vt:lpstr>
      <vt:lpstr>Simple Style Thesis Defense XL by Slidesgo</vt:lpstr>
      <vt:lpstr>Comparative Performance Analysis of NAND and NOR Gates Using CMOS and FinFET Technology.</vt:lpstr>
      <vt:lpstr>INTRODUCTION</vt:lpstr>
      <vt:lpstr>Circuit Design - CMOS NAND and NOR Gates</vt:lpstr>
      <vt:lpstr>INTRODUCTION</vt:lpstr>
      <vt:lpstr>PROBLEM STATEMENT</vt:lpstr>
      <vt:lpstr>OBJECTIVES</vt:lpstr>
      <vt:lpstr>METHODOLOGY</vt:lpstr>
      <vt:lpstr>Logic Gates and Boolean Functions</vt:lpstr>
      <vt:lpstr>Introduction to FinFET</vt:lpstr>
      <vt:lpstr>CMOS Logic Styles</vt:lpstr>
      <vt:lpstr>Circuit Design - FinFET NAND and NOR Gates</vt:lpstr>
      <vt:lpstr>Circuit Design - CMOS NAND and NOR Gates</vt:lpstr>
      <vt:lpstr>Simulation Results - NAND Gates</vt:lpstr>
      <vt:lpstr>Simulation Results - NOR Gates</vt:lpstr>
      <vt:lpstr>Performance Comparison</vt:lpstr>
      <vt:lpstr>Key Findings</vt:lpstr>
      <vt:lpstr>Conclusion</vt:lpstr>
      <vt:lpstr>Future Work</vt:lpstr>
      <vt:lpstr>THANK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Performance Analysis of NAND and NOR Gates Using CMOS and FinFET Technology.</dc:title>
  <dc:creator>Amruz Ahmed</dc:creator>
  <cp:lastModifiedBy>LENOVO</cp:lastModifiedBy>
  <cp:revision>33</cp:revision>
  <dcterms:created xsi:type="dcterms:W3CDTF">2025-04-14T13:57:50Z</dcterms:created>
  <dcterms:modified xsi:type="dcterms:W3CDTF">2025-05-05T09:52:41Z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34C85A1C91D14FE3BDE3A3205F12D325_12</vt:lpwstr>
  </property>
  <property fmtid="{D5CDD505-2E9C-101B-9397-08002B2CF9AE}" pid="3" name="KSOProductBuildVer">
    <vt:lpwstr>1033-12.2.0.20795</vt:lpwstr>
  </property>
</Properties>
</file>