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783" r:id="rId1"/>
  </p:sldMasterIdLst>
  <p:notesMasterIdLst>
    <p:notesMasterId r:id="rId31"/>
  </p:notesMasterIdLst>
  <p:sldIdLst>
    <p:sldId id="290" r:id="rId2"/>
    <p:sldId id="309" r:id="rId3"/>
    <p:sldId id="258" r:id="rId4"/>
    <p:sldId id="302" r:id="rId5"/>
    <p:sldId id="312" r:id="rId6"/>
    <p:sldId id="313" r:id="rId7"/>
    <p:sldId id="315" r:id="rId8"/>
    <p:sldId id="316" r:id="rId9"/>
    <p:sldId id="317" r:id="rId10"/>
    <p:sldId id="294" r:id="rId11"/>
    <p:sldId id="261" r:id="rId12"/>
    <p:sldId id="310" r:id="rId13"/>
    <p:sldId id="314" r:id="rId14"/>
    <p:sldId id="308" r:id="rId15"/>
    <p:sldId id="307" r:id="rId16"/>
    <p:sldId id="298" r:id="rId17"/>
    <p:sldId id="303" r:id="rId18"/>
    <p:sldId id="304" r:id="rId19"/>
    <p:sldId id="267" r:id="rId20"/>
    <p:sldId id="280" r:id="rId21"/>
    <p:sldId id="295" r:id="rId22"/>
    <p:sldId id="299" r:id="rId23"/>
    <p:sldId id="296" r:id="rId24"/>
    <p:sldId id="297" r:id="rId25"/>
    <p:sldId id="292" r:id="rId26"/>
    <p:sldId id="311" r:id="rId27"/>
    <p:sldId id="276" r:id="rId28"/>
    <p:sldId id="277" r:id="rId29"/>
    <p:sldId id="279" r:id="rId30"/>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2" autoAdjust="0"/>
    <p:restoredTop sz="93383" autoAdjust="0"/>
  </p:normalViewPr>
  <p:slideViewPr>
    <p:cSldViewPr>
      <p:cViewPr varScale="1">
        <p:scale>
          <a:sx n="105" d="100"/>
          <a:sy n="105" d="100"/>
        </p:scale>
        <p:origin x="774" y="1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2900"/>
          </a:xfrm>
          <a:prstGeom prst="rect">
            <a:avLst/>
          </a:prstGeom>
        </p:spPr>
        <p:txBody>
          <a:bodyPr vert="horz" lIns="91440" tIns="45720" rIns="91440" bIns="45720" rtlCol="0"/>
          <a:lstStyle>
            <a:lvl1pPr algn="r">
              <a:defRPr sz="1200"/>
            </a:lvl1pPr>
          </a:lstStyle>
          <a:p>
            <a:fld id="{0AB37533-F730-43D9-83DD-25CC44938560}" type="datetimeFigureOut">
              <a:rPr lang="en-US" smtClean="0"/>
              <a:pPr/>
              <a:t>4/26/2025</a:t>
            </a:fld>
            <a:endParaRPr lang="en-US"/>
          </a:p>
        </p:txBody>
      </p:sp>
      <p:sp>
        <p:nvSpPr>
          <p:cNvPr id="4" name="Slide Image Placeholder 3"/>
          <p:cNvSpPr>
            <a:spLocks noGrp="1" noRot="1" noChangeAspect="1"/>
          </p:cNvSpPr>
          <p:nvPr>
            <p:ph type="sldImg" idx="2"/>
          </p:nvPr>
        </p:nvSpPr>
        <p:spPr>
          <a:xfrm>
            <a:off x="3810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257550"/>
            <a:ext cx="97536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2900"/>
          </a:xfrm>
          <a:prstGeom prst="rect">
            <a:avLst/>
          </a:prstGeom>
        </p:spPr>
        <p:txBody>
          <a:bodyPr vert="horz" lIns="91440" tIns="45720" rIns="91440" bIns="45720" rtlCol="0" anchor="b"/>
          <a:lstStyle>
            <a:lvl1pPr algn="r">
              <a:defRPr sz="1200"/>
            </a:lvl1pPr>
          </a:lstStyle>
          <a:p>
            <a:fld id="{664ABF4A-9ECD-4107-994C-D02B337A7F2F}" type="slidenum">
              <a:rPr lang="en-US" smtClean="0"/>
              <a:pPr/>
              <a:t>‹#›</a:t>
            </a:fld>
            <a:endParaRPr lang="en-US"/>
          </a:p>
        </p:txBody>
      </p:sp>
    </p:spTree>
    <p:extLst>
      <p:ext uri="{BB962C8B-B14F-4D97-AF65-F5344CB8AC3E}">
        <p14:creationId xmlns:p14="http://schemas.microsoft.com/office/powerpoint/2010/main" val="2914402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3221F63-6443-4569-A090-EE9B753FC189}" type="datetime1">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3679716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DF947-AC7A-42F0-996E-34CEEB4E423B}" type="datetime1">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2133194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2C8F4CA-F10B-46DA-A806-488DFCC9A002}" type="datetime1">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1771334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37BD1A2-32F8-413D-A8C4-EEDFFE0DBA01}" type="datetime1">
              <a:rPr lang="en-US" smtClean="0"/>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333778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6BF7270-9812-4A39-847F-10FF3F34C428}" type="datetime1">
              <a:rPr lang="en-US" smtClean="0"/>
              <a:t>4/26/2025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852477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C75EB35-9C7C-4981-B826-DF8AC2564918}" type="datetime1">
              <a:rPr lang="en-US" smtClean="0"/>
              <a:t>4/26/2025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1195313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76029E-DFDD-48D6-9F8B-53011947E98D}" type="datetime1">
              <a:rPr lang="en-US" smtClean="0"/>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858159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5D5CEB4-7288-49AD-93DA-F846EA41BEA0}" type="datetime1">
              <a:rPr lang="en-US" smtClean="0"/>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103204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31B14D8-3BE6-4E17-9E39-CA46549E4341}" type="datetime1">
              <a:rPr lang="en-US" smtClean="0"/>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437895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F50CE43-3AEF-40A1-BDF1-BB5143C0356D}" type="datetime1">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341106564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F50CE43-3AEF-40A1-BDF1-BB5143C0356D}" type="datetime1">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9637570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F50CE43-3AEF-40A1-BDF1-BB5143C0356D}" type="datetime1">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1483538813"/>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F50CE43-3AEF-40A1-BDF1-BB5143C0356D}" type="datetime1">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6217316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F50CE43-3AEF-40A1-BDF1-BB5143C0356D}" type="datetime1">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116438969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DFD11F9-DC36-46C0-8600-C62FCCB41A20}" type="datetime1">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2146280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651048A-AC26-4817-BB69-BB504041FF4D}" type="datetime1">
              <a:rPr lang="en-US" smtClean="0"/>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870273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F50CE43-3AEF-40A1-BDF1-BB5143C0356D}" type="datetime1">
              <a:rPr lang="en-US" smtClean="0"/>
              <a:t>4/26/2025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2371010164"/>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 id="2147483798" r:id="rId15"/>
    <p:sldLayoutId id="2147483799"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853483"/>
            <a:ext cx="8435803" cy="2236310"/>
          </a:xfrm>
        </p:spPr>
        <p:txBody>
          <a:bodyPr>
            <a:noAutofit/>
          </a:bodyPr>
          <a:lstStyle/>
          <a:p>
            <a:pPr algn="ctr"/>
            <a:r>
              <a:rPr lang="en-US" sz="2800" b="1" dirty="0" smtClean="0"/>
              <a:t>16-bit </a:t>
            </a:r>
            <a:r>
              <a:rPr lang="en-US" sz="2800" b="1" dirty="0"/>
              <a:t>Adder with Manchester Carry Ahead.</a:t>
            </a:r>
            <a:r>
              <a:rPr lang="en-US" sz="2800" b="1" dirty="0" smtClean="0"/>
              <a:t/>
            </a:r>
            <a:br>
              <a:rPr lang="en-US" sz="2800" b="1" dirty="0" smtClean="0"/>
            </a:br>
            <a:endParaRPr lang="en-US" sz="2800" b="1" dirty="0"/>
          </a:p>
        </p:txBody>
      </p:sp>
      <p:sp>
        <p:nvSpPr>
          <p:cNvPr id="3" name="Subtitle 2"/>
          <p:cNvSpPr>
            <a:spLocks noGrp="1"/>
          </p:cNvSpPr>
          <p:nvPr>
            <p:ph type="subTitle" idx="1"/>
          </p:nvPr>
        </p:nvSpPr>
        <p:spPr>
          <a:xfrm>
            <a:off x="1853130" y="3518205"/>
            <a:ext cx="8637072" cy="3326796"/>
          </a:xfrm>
        </p:spPr>
        <p:txBody>
          <a:bodyPr>
            <a:normAutofit/>
          </a:bodyPr>
          <a:lstStyle/>
          <a:p>
            <a:pPr algn="l">
              <a:buNone/>
            </a:pPr>
            <a:r>
              <a:rPr lang="en-US" sz="1600" b="1" u="sng" dirty="0" smtClean="0">
                <a:latin typeface="Times New Roman" panose="02020603050405020304" pitchFamily="18" charset="0"/>
                <a:cs typeface="Times New Roman" panose="02020603050405020304" pitchFamily="18" charset="0"/>
              </a:rPr>
              <a:t>Presented By</a:t>
            </a:r>
          </a:p>
          <a:p>
            <a:pPr algn="l"/>
            <a:r>
              <a:rPr lang="en-US" sz="1600" b="1" dirty="0" err="1" smtClean="0"/>
              <a:t>Ashikur</a:t>
            </a:r>
            <a:r>
              <a:rPr lang="en-US" sz="1600" b="1" dirty="0" smtClean="0"/>
              <a:t> </a:t>
            </a:r>
            <a:r>
              <a:rPr lang="en-US" sz="1600" b="1" dirty="0"/>
              <a:t>Rahman </a:t>
            </a:r>
            <a:r>
              <a:rPr lang="en-US" sz="1600" b="1" dirty="0" err="1" smtClean="0"/>
              <a:t>Bhi</a:t>
            </a:r>
            <a:endParaRPr lang="en-US" sz="1600" b="1" dirty="0" smtClean="0"/>
          </a:p>
          <a:p>
            <a:pPr algn="l"/>
            <a:r>
              <a:rPr lang="en-US" sz="1600" b="1" dirty="0" smtClean="0"/>
              <a:t>ET193069 </a:t>
            </a:r>
          </a:p>
          <a:p>
            <a:pPr algn="l"/>
            <a:r>
              <a:rPr lang="en-US" sz="1600" b="1" dirty="0" smtClean="0"/>
              <a:t>Chowdhury </a:t>
            </a:r>
            <a:r>
              <a:rPr lang="en-US" sz="1600" b="1" dirty="0" err="1"/>
              <a:t>Arap</a:t>
            </a:r>
            <a:r>
              <a:rPr lang="en-US" sz="1600" b="1" dirty="0"/>
              <a:t> </a:t>
            </a:r>
            <a:r>
              <a:rPr lang="en-US" sz="1600" b="1" dirty="0" err="1"/>
              <a:t>Mahamud</a:t>
            </a:r>
            <a:r>
              <a:rPr lang="en-US" sz="1600" b="1" dirty="0"/>
              <a:t> </a:t>
            </a:r>
            <a:r>
              <a:rPr lang="en-US" sz="1600" b="1" dirty="0" smtClean="0"/>
              <a:t>Recap</a:t>
            </a:r>
          </a:p>
          <a:p>
            <a:pPr algn="l"/>
            <a:r>
              <a:rPr lang="en-US" sz="1600" b="1" dirty="0" smtClean="0"/>
              <a:t>ET193068</a:t>
            </a:r>
          </a:p>
          <a:p>
            <a:pPr algn="l"/>
            <a:r>
              <a:rPr lang="en-US" sz="1600" b="1" u="sng" dirty="0" err="1">
                <a:latin typeface="Times New Roman" panose="02020603050405020304" pitchFamily="18" charset="0"/>
                <a:cs typeface="Times New Roman" panose="02020603050405020304" pitchFamily="18" charset="0"/>
              </a:rPr>
              <a:t>Pranta</a:t>
            </a:r>
            <a:r>
              <a:rPr lang="en-US" sz="1600" b="1" u="sng" dirty="0">
                <a:latin typeface="Times New Roman" panose="02020603050405020304" pitchFamily="18" charset="0"/>
                <a:cs typeface="Times New Roman" panose="02020603050405020304" pitchFamily="18" charset="0"/>
              </a:rPr>
              <a:t> </a:t>
            </a:r>
            <a:r>
              <a:rPr lang="en-US" sz="1600" b="1" u="sng" dirty="0" smtClean="0">
                <a:latin typeface="Times New Roman" panose="02020603050405020304" pitchFamily="18" charset="0"/>
                <a:cs typeface="Times New Roman" panose="02020603050405020304" pitchFamily="18" charset="0"/>
              </a:rPr>
              <a:t>Paul</a:t>
            </a:r>
          </a:p>
          <a:p>
            <a:pPr algn="l"/>
            <a:r>
              <a:rPr lang="en-US" sz="1600" b="1" smtClean="0"/>
              <a:t>ET193089</a:t>
            </a:r>
            <a:endParaRPr lang="en-US" sz="1600" b="1" dirty="0"/>
          </a:p>
          <a:p>
            <a:pPr algn="l"/>
            <a:endParaRPr lang="en-US" sz="1600" b="1" u="sng" dirty="0">
              <a:latin typeface="Times New Roman" panose="02020603050405020304" pitchFamily="18" charset="0"/>
              <a:cs typeface="Times New Roman" panose="02020603050405020304" pitchFamily="18" charset="0"/>
            </a:endParaRPr>
          </a:p>
        </p:txBody>
      </p:sp>
      <p:sp>
        <p:nvSpPr>
          <p:cNvPr id="4" name="Subtitle 2"/>
          <p:cNvSpPr txBox="1">
            <a:spLocks/>
          </p:cNvSpPr>
          <p:nvPr/>
        </p:nvSpPr>
        <p:spPr>
          <a:xfrm>
            <a:off x="7772400" y="3657600"/>
            <a:ext cx="2717802" cy="1524003"/>
          </a:xfrm>
          <a:prstGeom prst="rect">
            <a:avLst/>
          </a:prstGeom>
        </p:spPr>
        <p:txBody>
          <a:bodyPr vert="horz" lIns="91440" tIns="45720" rIns="91440" bIns="45720" rtlCol="0" anchor="t">
            <a:normAutofit fontScale="77500" lnSpcReduction="20000"/>
          </a:bodyPr>
          <a:lstStyle>
            <a:lvl1pPr marL="0" indent="0" algn="ctr" defTabSz="457200" rtl="0" eaLnBrk="1" latinLnBrk="0" hangingPunct="1">
              <a:spcBef>
                <a:spcPct val="20000"/>
              </a:spcBef>
              <a:spcAft>
                <a:spcPts val="600"/>
              </a:spcAft>
              <a:buClr>
                <a:schemeClr val="accent1"/>
              </a:buClr>
              <a:buSzPct val="11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buClr>
              <a:buSzPct val="11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buClr>
              <a:buSzPct val="11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buClr>
              <a:buSzPct val="11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9pPr>
          </a:lstStyle>
          <a:p>
            <a:r>
              <a:rPr lang="en-US" b="1" u="sng" dirty="0">
                <a:latin typeface="Times New Roman" panose="02020603050405020304" pitchFamily="18" charset="0"/>
                <a:cs typeface="Times New Roman" panose="02020603050405020304" pitchFamily="18" charset="0"/>
              </a:rPr>
              <a:t>Supervised By</a:t>
            </a:r>
            <a:endParaRPr lang="en-US" sz="1200" b="1" dirty="0">
              <a:latin typeface="Times New Roman" panose="02020603050405020304" pitchFamily="18" charset="0"/>
              <a:cs typeface="Times New Roman" panose="02020603050405020304" pitchFamily="18" charset="0"/>
            </a:endParaRPr>
          </a:p>
          <a:p>
            <a:r>
              <a:rPr lang="en-US" sz="1900" b="1" dirty="0" smtClean="0">
                <a:latin typeface="Arial Unicode MS" pitchFamily="34" charset="-128"/>
                <a:ea typeface="Arial Unicode MS" pitchFamily="34" charset="-128"/>
                <a:cs typeface="Arial Unicode MS" pitchFamily="34" charset="-128"/>
              </a:rPr>
              <a:t> </a:t>
            </a:r>
            <a:r>
              <a:rPr lang="en-US" sz="1900" b="1" dirty="0">
                <a:latin typeface="Arial Unicode MS" pitchFamily="34" charset="-128"/>
                <a:ea typeface="Arial Unicode MS" pitchFamily="34" charset="-128"/>
                <a:cs typeface="Arial Unicode MS" pitchFamily="34" charset="-128"/>
              </a:rPr>
              <a:t>Engr. </a:t>
            </a:r>
            <a:r>
              <a:rPr lang="en-US" sz="1900" b="1" dirty="0" err="1">
                <a:latin typeface="Arial Unicode MS" pitchFamily="34" charset="-128"/>
                <a:ea typeface="Arial Unicode MS" pitchFamily="34" charset="-128"/>
                <a:cs typeface="Arial Unicode MS" pitchFamily="34" charset="-128"/>
              </a:rPr>
              <a:t>Riazul</a:t>
            </a:r>
            <a:r>
              <a:rPr lang="en-US" sz="1900" b="1" dirty="0">
                <a:latin typeface="Arial Unicode MS" pitchFamily="34" charset="-128"/>
                <a:ea typeface="Arial Unicode MS" pitchFamily="34" charset="-128"/>
                <a:cs typeface="Arial Unicode MS" pitchFamily="34" charset="-128"/>
              </a:rPr>
              <a:t> Islam</a:t>
            </a:r>
            <a:endParaRPr lang="en-US" sz="1900" b="1" dirty="0" smtClean="0">
              <a:latin typeface="Arial Unicode MS" pitchFamily="34" charset="-128"/>
              <a:ea typeface="Arial Unicode MS" pitchFamily="34" charset="-128"/>
              <a:cs typeface="Arial Unicode MS" pitchFamily="34" charset="-128"/>
            </a:endParaRPr>
          </a:p>
          <a:p>
            <a:r>
              <a:rPr lang="en-US" sz="1900" b="1" dirty="0" smtClean="0">
                <a:latin typeface="Arial Unicode MS" pitchFamily="34" charset="-128"/>
                <a:ea typeface="Arial Unicode MS" pitchFamily="34" charset="-128"/>
                <a:cs typeface="Arial Unicode MS" pitchFamily="34" charset="-128"/>
              </a:rPr>
              <a:t>Lecturer,</a:t>
            </a:r>
          </a:p>
          <a:p>
            <a:r>
              <a:rPr lang="en-US" sz="1900" b="1" dirty="0" smtClean="0">
                <a:latin typeface="Arial Unicode MS" pitchFamily="34" charset="-128"/>
                <a:ea typeface="Arial Unicode MS" pitchFamily="34" charset="-128"/>
                <a:cs typeface="Arial Unicode MS" pitchFamily="34" charset="-128"/>
              </a:rPr>
              <a:t> </a:t>
            </a:r>
            <a:r>
              <a:rPr lang="en-US" sz="1900" b="1" dirty="0">
                <a:latin typeface="Arial Unicode MS" pitchFamily="34" charset="-128"/>
                <a:ea typeface="Arial Unicode MS" pitchFamily="34" charset="-128"/>
                <a:cs typeface="Arial Unicode MS" pitchFamily="34" charset="-128"/>
              </a:rPr>
              <a:t>Dept. of EEE</a:t>
            </a:r>
          </a:p>
          <a:p>
            <a:r>
              <a:rPr lang="en-US" sz="1900" b="1" dirty="0">
                <a:latin typeface="Arial Unicode MS" pitchFamily="34" charset="-128"/>
                <a:ea typeface="Arial Unicode MS" pitchFamily="34" charset="-128"/>
                <a:cs typeface="Arial Unicode MS" pitchFamily="34" charset="-128"/>
              </a:rPr>
              <a:t>IIUC</a:t>
            </a:r>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2057400" y="457200"/>
            <a:ext cx="6753225" cy="854710"/>
          </a:xfrm>
          <a:prstGeom prst="rect">
            <a:avLst/>
          </a:prstGeom>
        </p:spPr>
      </p:pic>
    </p:spTree>
    <p:extLst>
      <p:ext uri="{BB962C8B-B14F-4D97-AF65-F5344CB8AC3E}">
        <p14:creationId xmlns:p14="http://schemas.microsoft.com/office/powerpoint/2010/main" val="3225411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2</a:t>
            </a:fld>
            <a:endParaRPr lang="en-US" dirty="0"/>
          </a:p>
        </p:txBody>
      </p:sp>
      <p:pic>
        <p:nvPicPr>
          <p:cNvPr id="5" name="Picture 4"/>
          <p:cNvPicPr>
            <a:picLocks noChangeAspect="1"/>
          </p:cNvPicPr>
          <p:nvPr/>
        </p:nvPicPr>
        <p:blipFill>
          <a:blip r:embed="rId2"/>
          <a:stretch>
            <a:fillRect/>
          </a:stretch>
        </p:blipFill>
        <p:spPr>
          <a:xfrm>
            <a:off x="838200" y="517373"/>
            <a:ext cx="8279086" cy="5541744"/>
          </a:xfrm>
          <a:prstGeom prst="rect">
            <a:avLst/>
          </a:prstGeom>
        </p:spPr>
      </p:pic>
    </p:spTree>
    <p:extLst>
      <p:ext uri="{BB962C8B-B14F-4D97-AF65-F5344CB8AC3E}">
        <p14:creationId xmlns:p14="http://schemas.microsoft.com/office/powerpoint/2010/main" val="1251810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3</a:t>
            </a:fld>
            <a:endParaRPr dirty="0"/>
          </a:p>
        </p:txBody>
      </p:sp>
      <p:sp>
        <p:nvSpPr>
          <p:cNvPr id="2" name="object 2"/>
          <p:cNvSpPr txBox="1">
            <a:spLocks noGrp="1"/>
          </p:cNvSpPr>
          <p:nvPr>
            <p:ph type="title" idx="4294967295"/>
          </p:nvPr>
        </p:nvSpPr>
        <p:spPr>
          <a:xfrm>
            <a:off x="0" y="384175"/>
            <a:ext cx="4525963" cy="688975"/>
          </a:xfrm>
          <a:prstGeom prst="rect">
            <a:avLst/>
          </a:prstGeom>
        </p:spPr>
        <p:txBody>
          <a:bodyPr vert="horz" wrap="square" lIns="0" tIns="12700" rIns="0" bIns="0" rtlCol="0">
            <a:spAutoFit/>
          </a:bodyPr>
          <a:lstStyle/>
          <a:p>
            <a:pPr marL="12700" algn="ctr">
              <a:lnSpc>
                <a:spcPct val="100000"/>
              </a:lnSpc>
              <a:spcBef>
                <a:spcPts val="100"/>
              </a:spcBef>
            </a:pPr>
            <a:r>
              <a:rPr lang="en-US" sz="4400" b="1" dirty="0" smtClean="0"/>
              <a:t>INTRODUCTION</a:t>
            </a:r>
            <a:endParaRPr sz="4400" b="1" dirty="0"/>
          </a:p>
        </p:txBody>
      </p:sp>
      <p:sp>
        <p:nvSpPr>
          <p:cNvPr id="3" name="object 3"/>
          <p:cNvSpPr txBox="1"/>
          <p:nvPr/>
        </p:nvSpPr>
        <p:spPr>
          <a:xfrm>
            <a:off x="304801" y="1086089"/>
            <a:ext cx="9878800" cy="4281300"/>
          </a:xfrm>
          <a:prstGeom prst="rect">
            <a:avLst/>
          </a:prstGeom>
        </p:spPr>
        <p:txBody>
          <a:bodyPr vert="horz" wrap="square" lIns="0" tIns="125095" rIns="0" bIns="0" rtlCol="0">
            <a:spAutoFit/>
          </a:bodyPr>
          <a:lstStyle/>
          <a:p>
            <a:r>
              <a:rPr lang="en-US" dirty="0"/>
              <a:t>Adders are fundamental building blocks in digital electronics and computing. They are circuits designed to perform binary addition, the core operation behind most arithmetic functions in digital systems. Adders are not only essential for simple calculations but also serve as the foundation for more complex arithmetic operations, such as subtraction, multiplication, and division, which are widely used in various applications like media signal processing, computer processors, and embedded </a:t>
            </a:r>
            <a:r>
              <a:rPr lang="en-US" dirty="0" smtClean="0"/>
              <a:t>systems</a:t>
            </a:r>
          </a:p>
          <a:p>
            <a:r>
              <a:rPr lang="en-US" dirty="0"/>
              <a:t>As technology evolves, there is a growing emphasis on designing faster, smaller, and more energy-efficient adders to meet the demands of modern computing. From the basic </a:t>
            </a:r>
            <a:r>
              <a:rPr lang="en-US" b="1" dirty="0"/>
              <a:t>Half Adder (HA)</a:t>
            </a:r>
            <a:r>
              <a:rPr lang="en-US" dirty="0"/>
              <a:t> to more advanced structures like the </a:t>
            </a:r>
            <a:r>
              <a:rPr lang="en-US" b="1" dirty="0"/>
              <a:t>Carry Look-Ahead Adder (CLA)</a:t>
            </a:r>
            <a:r>
              <a:rPr lang="en-US" dirty="0"/>
              <a:t> and </a:t>
            </a:r>
            <a:r>
              <a:rPr lang="en-US" b="1" dirty="0" err="1"/>
              <a:t>Kogge</a:t>
            </a:r>
            <a:r>
              <a:rPr lang="en-US" b="1" dirty="0"/>
              <a:t>-Stone Adder (KSA)</a:t>
            </a:r>
            <a:r>
              <a:rPr lang="en-US" dirty="0"/>
              <a:t>, various adder architectures have been developed to optimize speed, area, and power consumption</a:t>
            </a:r>
            <a:r>
              <a:rPr lang="en-US" dirty="0" smtClean="0"/>
              <a:t>.</a:t>
            </a:r>
          </a:p>
          <a:p>
            <a:r>
              <a:rPr lang="en-US" dirty="0"/>
              <a:t>In this presentation, we will explore the different types of adders, their operation, and their significance in modern digital systems, along with the challenges and innovations in designing efficient adder circuits.</a:t>
            </a:r>
          </a:p>
          <a:p>
            <a:endParaRPr lang="en-US" b="1" dirty="0" smtClean="0">
              <a:latin typeface="Times New Roman" panose="02020603050405020304" pitchFamily="18" charset="0"/>
              <a:cs typeface="Times New Roman" panose="02020603050405020304" pitchFamily="18" charset="0"/>
            </a:endParaRPr>
          </a:p>
        </p:txBody>
      </p:sp>
      <p:sp>
        <p:nvSpPr>
          <p:cNvPr id="5" name="object 5"/>
          <p:cNvSpPr/>
          <p:nvPr/>
        </p:nvSpPr>
        <p:spPr>
          <a:xfrm>
            <a:off x="10903331" y="191515"/>
            <a:ext cx="1071289" cy="1074419"/>
          </a:xfrm>
          <a:prstGeom prst="rect">
            <a:avLst/>
          </a:prstGeom>
          <a:blipFill>
            <a:blip r:embed="rId2" cstate="print"/>
            <a:stretch>
              <a:fillRect/>
            </a:stretch>
          </a:blipFill>
        </p:spPr>
        <p:txBody>
          <a:bodyPr wrap="square" lIns="0" tIns="0" rIns="0" bIns="0" rtlCol="0"/>
          <a:lstStyle/>
          <a:p>
            <a:endParaRPr/>
          </a:p>
        </p:txBody>
      </p:sp>
      <p:sp>
        <p:nvSpPr>
          <p:cNvPr id="6" name="object 6"/>
          <p:cNvSpPr txBox="1"/>
          <p:nvPr/>
        </p:nvSpPr>
        <p:spPr>
          <a:xfrm>
            <a:off x="11146535" y="6465214"/>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rlito"/>
                <a:cs typeface="Carlito"/>
              </a:rPr>
              <a:pPr marL="38100">
                <a:lnSpc>
                  <a:spcPts val="1240"/>
                </a:lnSpc>
              </a:pPr>
              <a:t>3</a:t>
            </a:fld>
            <a:endParaRPr sz="1200">
              <a:latin typeface="Carlito"/>
              <a:cs typeface="Carlito"/>
            </a:endParaRPr>
          </a:p>
        </p:txBody>
      </p:sp>
      <p:sp>
        <p:nvSpPr>
          <p:cNvPr id="8" name="object 6"/>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4</a:t>
            </a:fld>
            <a:endParaRPr dirty="0"/>
          </a:p>
        </p:txBody>
      </p:sp>
      <p:sp>
        <p:nvSpPr>
          <p:cNvPr id="2" name="object 2"/>
          <p:cNvSpPr txBox="1">
            <a:spLocks noGrp="1"/>
          </p:cNvSpPr>
          <p:nvPr>
            <p:ph type="title" idx="4294967295"/>
          </p:nvPr>
        </p:nvSpPr>
        <p:spPr>
          <a:xfrm>
            <a:off x="0" y="384175"/>
            <a:ext cx="4525963" cy="688975"/>
          </a:xfrm>
          <a:prstGeom prst="rect">
            <a:avLst/>
          </a:prstGeom>
        </p:spPr>
        <p:txBody>
          <a:bodyPr vert="horz" wrap="square" lIns="0" tIns="12700" rIns="0" bIns="0" rtlCol="0">
            <a:spAutoFit/>
          </a:bodyPr>
          <a:lstStyle/>
          <a:p>
            <a:pPr marL="12700" algn="ctr">
              <a:lnSpc>
                <a:spcPct val="100000"/>
              </a:lnSpc>
              <a:spcBef>
                <a:spcPts val="100"/>
              </a:spcBef>
            </a:pPr>
            <a:r>
              <a:rPr sz="4400" b="1" dirty="0"/>
              <a:t>BACKGROUND</a:t>
            </a:r>
          </a:p>
        </p:txBody>
      </p:sp>
      <p:sp>
        <p:nvSpPr>
          <p:cNvPr id="3" name="object 3"/>
          <p:cNvSpPr txBox="1"/>
          <p:nvPr/>
        </p:nvSpPr>
        <p:spPr>
          <a:xfrm>
            <a:off x="304800" y="1179994"/>
            <a:ext cx="4381691" cy="2342308"/>
          </a:xfrm>
          <a:prstGeom prst="rect">
            <a:avLst/>
          </a:prstGeom>
        </p:spPr>
        <p:txBody>
          <a:bodyPr vert="horz" wrap="square" lIns="0" tIns="125095" rIns="0" bIns="0" rtlCol="0">
            <a:spAutoFit/>
          </a:bodyPr>
          <a:lstStyle/>
          <a:p>
            <a:r>
              <a:rPr lang="en-US" dirty="0"/>
              <a:t>A basic adder known as the Half Adder (HA) performs simple binary addition of two input bits using just an XOR gate (for the sum) and an AND gate (for the carry). The structure and behavior of a half adder can be understood through its logic circuit and accompanying truth table.</a:t>
            </a:r>
            <a:endParaRPr lang="en-US" dirty="0" smtClean="0"/>
          </a:p>
          <a:p>
            <a:pPr lvl="1"/>
            <a:endParaRPr lang="en-US" b="1" dirty="0" smtClean="0">
              <a:latin typeface="Times New Roman" panose="02020603050405020304" pitchFamily="18" charset="0"/>
              <a:cs typeface="Times New Roman" panose="02020603050405020304" pitchFamily="18" charset="0"/>
            </a:endParaRPr>
          </a:p>
        </p:txBody>
      </p:sp>
      <p:sp>
        <p:nvSpPr>
          <p:cNvPr id="5" name="object 5"/>
          <p:cNvSpPr/>
          <p:nvPr/>
        </p:nvSpPr>
        <p:spPr>
          <a:xfrm>
            <a:off x="10903331" y="191515"/>
            <a:ext cx="1071289" cy="1074419"/>
          </a:xfrm>
          <a:prstGeom prst="rect">
            <a:avLst/>
          </a:prstGeom>
          <a:blipFill>
            <a:blip r:embed="rId2" cstate="print"/>
            <a:stretch>
              <a:fillRect/>
            </a:stretch>
          </a:blipFill>
        </p:spPr>
        <p:txBody>
          <a:bodyPr wrap="square" lIns="0" tIns="0" rIns="0" bIns="0" rtlCol="0"/>
          <a:lstStyle/>
          <a:p>
            <a:endParaRPr/>
          </a:p>
        </p:txBody>
      </p:sp>
      <p:sp>
        <p:nvSpPr>
          <p:cNvPr id="6" name="object 6"/>
          <p:cNvSpPr txBox="1"/>
          <p:nvPr/>
        </p:nvSpPr>
        <p:spPr>
          <a:xfrm>
            <a:off x="11146535" y="6465214"/>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rlito"/>
                <a:cs typeface="Carlito"/>
              </a:rPr>
              <a:pPr marL="38100">
                <a:lnSpc>
                  <a:spcPts val="1240"/>
                </a:lnSpc>
              </a:pPr>
              <a:t>4</a:t>
            </a:fld>
            <a:endParaRPr sz="1200">
              <a:latin typeface="Carlito"/>
              <a:cs typeface="Carlito"/>
            </a:endParaRPr>
          </a:p>
        </p:txBody>
      </p:sp>
      <p:sp>
        <p:nvSpPr>
          <p:cNvPr id="8" name="object 6"/>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10" name="object 36"/>
          <p:cNvSpPr txBox="1"/>
          <p:nvPr/>
        </p:nvSpPr>
        <p:spPr>
          <a:xfrm>
            <a:off x="5943600" y="3926440"/>
            <a:ext cx="2695575" cy="299720"/>
          </a:xfrm>
          <a:prstGeom prst="rect">
            <a:avLst/>
          </a:prstGeom>
        </p:spPr>
        <p:txBody>
          <a:bodyPr vert="horz" wrap="square" lIns="0" tIns="12700" rIns="0" bIns="0" rtlCol="0">
            <a:spAutoFit/>
          </a:bodyPr>
          <a:lstStyle/>
          <a:p>
            <a:pPr marL="12700">
              <a:lnSpc>
                <a:spcPct val="100000"/>
              </a:lnSpc>
              <a:spcBef>
                <a:spcPts val="100"/>
              </a:spcBef>
            </a:pPr>
            <a:r>
              <a:rPr sz="1800" spc="-145" dirty="0">
                <a:latin typeface="Arial"/>
                <a:cs typeface="Arial"/>
              </a:rPr>
              <a:t>Fig </a:t>
            </a:r>
            <a:r>
              <a:rPr sz="1800" spc="-75" dirty="0">
                <a:latin typeface="Arial"/>
                <a:cs typeface="Arial"/>
              </a:rPr>
              <a:t>01: </a:t>
            </a:r>
            <a:r>
              <a:rPr lang="en-US" spc="-150" dirty="0" smtClean="0">
                <a:latin typeface="Arial"/>
                <a:cs typeface="Arial"/>
              </a:rPr>
              <a:t>Half Adder design</a:t>
            </a:r>
            <a:endParaRPr sz="1800" dirty="0">
              <a:latin typeface="Arial"/>
              <a:cs typeface="Arial"/>
            </a:endParaRPr>
          </a:p>
        </p:txBody>
      </p:sp>
      <p:pic>
        <p:nvPicPr>
          <p:cNvPr id="9" name="Picture 8"/>
          <p:cNvPicPr>
            <a:picLocks noChangeAspect="1"/>
          </p:cNvPicPr>
          <p:nvPr/>
        </p:nvPicPr>
        <p:blipFill>
          <a:blip r:embed="rId3"/>
          <a:stretch>
            <a:fillRect/>
          </a:stretch>
        </p:blipFill>
        <p:spPr>
          <a:xfrm>
            <a:off x="4903978" y="1099229"/>
            <a:ext cx="4901609" cy="2725148"/>
          </a:xfrm>
          <a:prstGeom prst="rect">
            <a:avLst/>
          </a:prstGeom>
        </p:spPr>
      </p:pic>
      <p:graphicFrame>
        <p:nvGraphicFramePr>
          <p:cNvPr id="11" name="Table 10"/>
          <p:cNvGraphicFramePr>
            <a:graphicFrameLocks noGrp="1"/>
          </p:cNvGraphicFramePr>
          <p:nvPr>
            <p:extLst>
              <p:ext uri="{D42A27DB-BD31-4B8C-83A1-F6EECF244321}">
                <p14:modId xmlns:p14="http://schemas.microsoft.com/office/powerpoint/2010/main" val="3481476420"/>
              </p:ext>
            </p:extLst>
          </p:nvPr>
        </p:nvGraphicFramePr>
        <p:xfrm>
          <a:off x="1219200" y="3502726"/>
          <a:ext cx="1739900" cy="2054860"/>
        </p:xfrm>
        <a:graphic>
          <a:graphicData uri="http://schemas.openxmlformats.org/drawingml/2006/table">
            <a:tbl>
              <a:tblPr firstRow="1" firstCol="1" bandRow="1">
                <a:tableStyleId>{5C22544A-7EE6-4342-B048-85BDC9FD1C3A}</a:tableStyleId>
              </a:tblPr>
              <a:tblGrid>
                <a:gridCol w="434975">
                  <a:extLst>
                    <a:ext uri="{9D8B030D-6E8A-4147-A177-3AD203B41FA5}">
                      <a16:colId xmlns:a16="http://schemas.microsoft.com/office/drawing/2014/main" val="4025550840"/>
                    </a:ext>
                  </a:extLst>
                </a:gridCol>
                <a:gridCol w="434975">
                  <a:extLst>
                    <a:ext uri="{9D8B030D-6E8A-4147-A177-3AD203B41FA5}">
                      <a16:colId xmlns:a16="http://schemas.microsoft.com/office/drawing/2014/main" val="3775163800"/>
                    </a:ext>
                  </a:extLst>
                </a:gridCol>
                <a:gridCol w="434975">
                  <a:extLst>
                    <a:ext uri="{9D8B030D-6E8A-4147-A177-3AD203B41FA5}">
                      <a16:colId xmlns:a16="http://schemas.microsoft.com/office/drawing/2014/main" val="2682267195"/>
                    </a:ext>
                  </a:extLst>
                </a:gridCol>
                <a:gridCol w="434975">
                  <a:extLst>
                    <a:ext uri="{9D8B030D-6E8A-4147-A177-3AD203B41FA5}">
                      <a16:colId xmlns:a16="http://schemas.microsoft.com/office/drawing/2014/main" val="3080455851"/>
                    </a:ext>
                  </a:extLst>
                </a:gridCol>
              </a:tblGrid>
              <a:tr h="414655">
                <a:tc>
                  <a:txBody>
                    <a:bodyPr/>
                    <a:lstStyle/>
                    <a:p>
                      <a:pPr marL="0" marR="0" algn="ctr">
                        <a:spcBef>
                          <a:spcPts val="0"/>
                        </a:spcBef>
                        <a:spcAft>
                          <a:spcPts val="0"/>
                        </a:spcAft>
                      </a:pPr>
                      <a:r>
                        <a:rPr lang="en-GB" sz="1200">
                          <a:effectLst/>
                        </a:rPr>
                        <a:t>A</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200">
                          <a:effectLst/>
                        </a:rPr>
                        <a:t>B</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200">
                          <a:effectLst/>
                        </a:rPr>
                        <a:t>S</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200">
                          <a:effectLst/>
                        </a:rPr>
                        <a:t>C</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176825032"/>
                  </a:ext>
                </a:extLst>
              </a:tr>
              <a:tr h="414655">
                <a:tc>
                  <a:txBody>
                    <a:bodyPr/>
                    <a:lstStyle/>
                    <a:p>
                      <a:pPr marL="0" marR="0" algn="ctr">
                        <a:spcBef>
                          <a:spcPts val="0"/>
                        </a:spcBef>
                        <a:spcAft>
                          <a:spcPts val="0"/>
                        </a:spcAft>
                      </a:pPr>
                      <a:r>
                        <a:rPr lang="en-GB" sz="1200">
                          <a:effectLst/>
                        </a:rPr>
                        <a:t>0</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200">
                          <a:effectLst/>
                        </a:rPr>
                        <a:t>0</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200">
                          <a:effectLst/>
                        </a:rPr>
                        <a:t>0</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200" dirty="0">
                          <a:effectLst/>
                        </a:rPr>
                        <a:t>0</a:t>
                      </a:r>
                      <a:endParaRPr lang="en-US" sz="1000" dirty="0">
                        <a:effectLst/>
                        <a:latin typeface="Times New Roman" panose="020206030504050203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31133528"/>
                  </a:ext>
                </a:extLst>
              </a:tr>
              <a:tr h="396240">
                <a:tc>
                  <a:txBody>
                    <a:bodyPr/>
                    <a:lstStyle/>
                    <a:p>
                      <a:pPr marL="0" marR="0" algn="ctr">
                        <a:spcBef>
                          <a:spcPts val="0"/>
                        </a:spcBef>
                        <a:spcAft>
                          <a:spcPts val="0"/>
                        </a:spcAft>
                      </a:pPr>
                      <a:r>
                        <a:rPr lang="en-GB" sz="1200">
                          <a:effectLst/>
                        </a:rPr>
                        <a:t>0</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200">
                          <a:effectLst/>
                        </a:rPr>
                        <a:t>1</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200">
                          <a:effectLst/>
                        </a:rPr>
                        <a:t>1</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200">
                          <a:effectLst/>
                        </a:rPr>
                        <a:t>0</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588825138"/>
                  </a:ext>
                </a:extLst>
              </a:tr>
              <a:tr h="414655">
                <a:tc>
                  <a:txBody>
                    <a:bodyPr/>
                    <a:lstStyle/>
                    <a:p>
                      <a:pPr marL="0" marR="0" algn="ctr">
                        <a:spcBef>
                          <a:spcPts val="0"/>
                        </a:spcBef>
                        <a:spcAft>
                          <a:spcPts val="0"/>
                        </a:spcAft>
                      </a:pPr>
                      <a:r>
                        <a:rPr lang="en-GB" sz="1200">
                          <a:effectLst/>
                        </a:rPr>
                        <a:t>1</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200">
                          <a:effectLst/>
                        </a:rPr>
                        <a:t>0</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200">
                          <a:effectLst/>
                        </a:rPr>
                        <a:t>1</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200">
                          <a:effectLst/>
                        </a:rPr>
                        <a:t>0</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436332406"/>
                  </a:ext>
                </a:extLst>
              </a:tr>
              <a:tr h="414655">
                <a:tc>
                  <a:txBody>
                    <a:bodyPr/>
                    <a:lstStyle/>
                    <a:p>
                      <a:pPr marL="0" marR="0" algn="ctr">
                        <a:spcBef>
                          <a:spcPts val="0"/>
                        </a:spcBef>
                        <a:spcAft>
                          <a:spcPts val="0"/>
                        </a:spcAft>
                      </a:pPr>
                      <a:r>
                        <a:rPr lang="en-GB" sz="1200">
                          <a:effectLst/>
                        </a:rPr>
                        <a:t>1</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200">
                          <a:effectLst/>
                        </a:rPr>
                        <a:t>1</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200">
                          <a:effectLst/>
                        </a:rPr>
                        <a:t>0</a:t>
                      </a:r>
                      <a:endParaRPr lang="en-US" sz="10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200" dirty="0">
                          <a:effectLst/>
                        </a:rPr>
                        <a:t>1</a:t>
                      </a:r>
                      <a:endParaRPr lang="en-US" sz="1000" dirty="0">
                        <a:effectLst/>
                        <a:latin typeface="Times New Roman" panose="020206030504050203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830045406"/>
                  </a:ext>
                </a:extLst>
              </a:tr>
            </a:tbl>
          </a:graphicData>
        </a:graphic>
      </p:graphicFrame>
      <p:sp>
        <p:nvSpPr>
          <p:cNvPr id="12" name="TextBox 11"/>
          <p:cNvSpPr txBox="1"/>
          <p:nvPr/>
        </p:nvSpPr>
        <p:spPr>
          <a:xfrm>
            <a:off x="577986" y="5638800"/>
            <a:ext cx="4325992" cy="646331"/>
          </a:xfrm>
          <a:prstGeom prst="rect">
            <a:avLst/>
          </a:prstGeom>
          <a:noFill/>
        </p:spPr>
        <p:txBody>
          <a:bodyPr wrap="none" rtlCol="0">
            <a:spAutoFit/>
          </a:bodyPr>
          <a:lstStyle/>
          <a:p>
            <a:r>
              <a:rPr lang="en-GB" b="1" dirty="0" smtClean="0"/>
              <a:t>Table 1</a:t>
            </a:r>
            <a:r>
              <a:rPr lang="en-GB" dirty="0" smtClean="0"/>
              <a:t> </a:t>
            </a:r>
            <a:r>
              <a:rPr lang="en-GB" dirty="0"/>
              <a:t>The truth table of a Half Adder</a:t>
            </a:r>
            <a:endParaRPr lang="en-US" dirty="0"/>
          </a:p>
          <a:p>
            <a:endParaRPr lang="en-US" dirty="0"/>
          </a:p>
        </p:txBody>
      </p:sp>
    </p:spTree>
    <p:extLst>
      <p:ext uri="{BB962C8B-B14F-4D97-AF65-F5344CB8AC3E}">
        <p14:creationId xmlns:p14="http://schemas.microsoft.com/office/powerpoint/2010/main" val="19404354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5</a:t>
            </a:fld>
            <a:endParaRPr dirty="0"/>
          </a:p>
        </p:txBody>
      </p:sp>
      <p:sp>
        <p:nvSpPr>
          <p:cNvPr id="2" name="object 2"/>
          <p:cNvSpPr txBox="1">
            <a:spLocks noGrp="1"/>
          </p:cNvSpPr>
          <p:nvPr>
            <p:ph type="title" idx="4294967295"/>
          </p:nvPr>
        </p:nvSpPr>
        <p:spPr>
          <a:xfrm>
            <a:off x="0" y="384175"/>
            <a:ext cx="4525963" cy="688975"/>
          </a:xfrm>
          <a:prstGeom prst="rect">
            <a:avLst/>
          </a:prstGeom>
        </p:spPr>
        <p:txBody>
          <a:bodyPr vert="horz" wrap="square" lIns="0" tIns="12700" rIns="0" bIns="0" rtlCol="0">
            <a:spAutoFit/>
          </a:bodyPr>
          <a:lstStyle/>
          <a:p>
            <a:pPr marL="12700" algn="ctr">
              <a:lnSpc>
                <a:spcPct val="100000"/>
              </a:lnSpc>
              <a:spcBef>
                <a:spcPts val="100"/>
              </a:spcBef>
            </a:pPr>
            <a:r>
              <a:rPr sz="4400" b="1" dirty="0"/>
              <a:t>BACKGROUND</a:t>
            </a:r>
          </a:p>
        </p:txBody>
      </p:sp>
      <p:sp>
        <p:nvSpPr>
          <p:cNvPr id="3" name="object 3"/>
          <p:cNvSpPr txBox="1"/>
          <p:nvPr/>
        </p:nvSpPr>
        <p:spPr>
          <a:xfrm>
            <a:off x="304800" y="1179994"/>
            <a:ext cx="4381691" cy="957313"/>
          </a:xfrm>
          <a:prstGeom prst="rect">
            <a:avLst/>
          </a:prstGeom>
        </p:spPr>
        <p:txBody>
          <a:bodyPr vert="horz" wrap="square" lIns="0" tIns="125095" rIns="0" bIns="0" rtlCol="0">
            <a:spAutoFit/>
          </a:bodyPr>
          <a:lstStyle/>
          <a:p>
            <a:r>
              <a:rPr lang="en-US" dirty="0" smtClean="0"/>
              <a:t>By Combining two Half adders together we can process the outputs of the Carry along with the sum. </a:t>
            </a:r>
            <a:endParaRPr lang="en-US" b="1" dirty="0" smtClean="0">
              <a:latin typeface="Times New Roman" panose="02020603050405020304" pitchFamily="18" charset="0"/>
              <a:cs typeface="Times New Roman" panose="02020603050405020304" pitchFamily="18" charset="0"/>
            </a:endParaRPr>
          </a:p>
        </p:txBody>
      </p:sp>
      <p:sp>
        <p:nvSpPr>
          <p:cNvPr id="5" name="object 5"/>
          <p:cNvSpPr/>
          <p:nvPr/>
        </p:nvSpPr>
        <p:spPr>
          <a:xfrm>
            <a:off x="10903331" y="191515"/>
            <a:ext cx="1071289" cy="1074419"/>
          </a:xfrm>
          <a:prstGeom prst="rect">
            <a:avLst/>
          </a:prstGeom>
          <a:blipFill>
            <a:blip r:embed="rId2" cstate="print"/>
            <a:stretch>
              <a:fillRect/>
            </a:stretch>
          </a:blipFill>
        </p:spPr>
        <p:txBody>
          <a:bodyPr wrap="square" lIns="0" tIns="0" rIns="0" bIns="0" rtlCol="0"/>
          <a:lstStyle/>
          <a:p>
            <a:endParaRPr/>
          </a:p>
        </p:txBody>
      </p:sp>
      <p:sp>
        <p:nvSpPr>
          <p:cNvPr id="6" name="object 6"/>
          <p:cNvSpPr txBox="1"/>
          <p:nvPr/>
        </p:nvSpPr>
        <p:spPr>
          <a:xfrm>
            <a:off x="11146535" y="6465214"/>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rlito"/>
                <a:cs typeface="Carlito"/>
              </a:rPr>
              <a:pPr marL="38100">
                <a:lnSpc>
                  <a:spcPts val="1240"/>
                </a:lnSpc>
              </a:pPr>
              <a:t>5</a:t>
            </a:fld>
            <a:endParaRPr sz="1200">
              <a:latin typeface="Carlito"/>
              <a:cs typeface="Carlito"/>
            </a:endParaRPr>
          </a:p>
        </p:txBody>
      </p:sp>
      <p:sp>
        <p:nvSpPr>
          <p:cNvPr id="8" name="object 6"/>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10" name="object 36"/>
          <p:cNvSpPr txBox="1"/>
          <p:nvPr/>
        </p:nvSpPr>
        <p:spPr>
          <a:xfrm>
            <a:off x="6103534" y="4038600"/>
            <a:ext cx="2695575" cy="299720"/>
          </a:xfrm>
          <a:prstGeom prst="rect">
            <a:avLst/>
          </a:prstGeom>
        </p:spPr>
        <p:txBody>
          <a:bodyPr vert="horz" wrap="square" lIns="0" tIns="12700" rIns="0" bIns="0" rtlCol="0">
            <a:spAutoFit/>
          </a:bodyPr>
          <a:lstStyle/>
          <a:p>
            <a:pPr marL="12700">
              <a:lnSpc>
                <a:spcPct val="100000"/>
              </a:lnSpc>
              <a:spcBef>
                <a:spcPts val="100"/>
              </a:spcBef>
            </a:pPr>
            <a:r>
              <a:rPr sz="1800" spc="-145" dirty="0">
                <a:latin typeface="Arial"/>
                <a:cs typeface="Arial"/>
              </a:rPr>
              <a:t>Fig </a:t>
            </a:r>
            <a:r>
              <a:rPr sz="1800" spc="-75" dirty="0" smtClean="0">
                <a:latin typeface="Arial"/>
                <a:cs typeface="Arial"/>
              </a:rPr>
              <a:t>0</a:t>
            </a:r>
            <a:r>
              <a:rPr lang="en-US" sz="1800" spc="-75" dirty="0" smtClean="0">
                <a:latin typeface="Arial"/>
                <a:cs typeface="Arial"/>
              </a:rPr>
              <a:t>2</a:t>
            </a:r>
            <a:r>
              <a:rPr sz="1800" spc="-75" dirty="0" smtClean="0">
                <a:latin typeface="Arial"/>
                <a:cs typeface="Arial"/>
              </a:rPr>
              <a:t>: </a:t>
            </a:r>
            <a:r>
              <a:rPr lang="en-US" spc="-150" dirty="0" smtClean="0">
                <a:latin typeface="Arial"/>
                <a:cs typeface="Arial"/>
              </a:rPr>
              <a:t>Full Adder design</a:t>
            </a:r>
            <a:endParaRPr sz="1800" dirty="0">
              <a:latin typeface="Arial"/>
              <a:cs typeface="Arial"/>
            </a:endParaRPr>
          </a:p>
        </p:txBody>
      </p:sp>
      <p:graphicFrame>
        <p:nvGraphicFramePr>
          <p:cNvPr id="11" name="Table 10"/>
          <p:cNvGraphicFramePr>
            <a:graphicFrameLocks noGrp="1"/>
          </p:cNvGraphicFramePr>
          <p:nvPr>
            <p:extLst>
              <p:ext uri="{D42A27DB-BD31-4B8C-83A1-F6EECF244321}">
                <p14:modId xmlns:p14="http://schemas.microsoft.com/office/powerpoint/2010/main" val="1912948823"/>
              </p:ext>
            </p:extLst>
          </p:nvPr>
        </p:nvGraphicFramePr>
        <p:xfrm>
          <a:off x="551435" y="2218958"/>
          <a:ext cx="3888420" cy="3695065"/>
        </p:xfrm>
        <a:graphic>
          <a:graphicData uri="http://schemas.openxmlformats.org/drawingml/2006/table">
            <a:tbl>
              <a:tblPr firstRow="1" firstCol="1" bandRow="1">
                <a:tableStyleId>{5C22544A-7EE6-4342-B048-85BDC9FD1C3A}</a:tableStyleId>
              </a:tblPr>
              <a:tblGrid>
                <a:gridCol w="777684">
                  <a:extLst>
                    <a:ext uri="{9D8B030D-6E8A-4147-A177-3AD203B41FA5}">
                      <a16:colId xmlns:a16="http://schemas.microsoft.com/office/drawing/2014/main" val="4025550840"/>
                    </a:ext>
                  </a:extLst>
                </a:gridCol>
                <a:gridCol w="777684">
                  <a:extLst>
                    <a:ext uri="{9D8B030D-6E8A-4147-A177-3AD203B41FA5}">
                      <a16:colId xmlns:a16="http://schemas.microsoft.com/office/drawing/2014/main" val="3775163800"/>
                    </a:ext>
                  </a:extLst>
                </a:gridCol>
                <a:gridCol w="777684">
                  <a:extLst>
                    <a:ext uri="{9D8B030D-6E8A-4147-A177-3AD203B41FA5}">
                      <a16:colId xmlns:a16="http://schemas.microsoft.com/office/drawing/2014/main" val="2682267195"/>
                    </a:ext>
                  </a:extLst>
                </a:gridCol>
                <a:gridCol w="777684">
                  <a:extLst>
                    <a:ext uri="{9D8B030D-6E8A-4147-A177-3AD203B41FA5}">
                      <a16:colId xmlns:a16="http://schemas.microsoft.com/office/drawing/2014/main" val="4072926842"/>
                    </a:ext>
                  </a:extLst>
                </a:gridCol>
                <a:gridCol w="777684">
                  <a:extLst>
                    <a:ext uri="{9D8B030D-6E8A-4147-A177-3AD203B41FA5}">
                      <a16:colId xmlns:a16="http://schemas.microsoft.com/office/drawing/2014/main" val="3080455851"/>
                    </a:ext>
                  </a:extLst>
                </a:gridCol>
              </a:tblGrid>
              <a:tr h="414655">
                <a:tc>
                  <a:txBody>
                    <a:bodyPr/>
                    <a:lstStyle/>
                    <a:p>
                      <a:pPr marL="0" marR="0" algn="ctr">
                        <a:spcBef>
                          <a:spcPts val="0"/>
                        </a:spcBef>
                        <a:spcAft>
                          <a:spcPts val="0"/>
                        </a:spcAft>
                      </a:pPr>
                      <a:r>
                        <a:rPr lang="en-GB" sz="1600" dirty="0">
                          <a:effectLst/>
                          <a:latin typeface="Times New Roman" panose="02020603050405020304" pitchFamily="18" charset="0"/>
                          <a:cs typeface="Times New Roman" panose="02020603050405020304" pitchFamily="18" charset="0"/>
                        </a:rPr>
                        <a:t>A</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a:effectLst/>
                          <a:latin typeface="Times New Roman" panose="02020603050405020304" pitchFamily="18" charset="0"/>
                          <a:cs typeface="Times New Roman" panose="02020603050405020304" pitchFamily="18" charset="0"/>
                        </a:rPr>
                        <a:t>B</a:t>
                      </a:r>
                      <a:endParaRPr lang="en-US" sz="16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dirty="0" err="1" smtClean="0">
                          <a:effectLst/>
                          <a:latin typeface="Times New Roman" panose="02020603050405020304" pitchFamily="18" charset="0"/>
                          <a:ea typeface="+mn-ea"/>
                          <a:cs typeface="Times New Roman" panose="02020603050405020304" pitchFamily="18" charset="0"/>
                        </a:rPr>
                        <a:t>Cin</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dirty="0">
                          <a:effectLst/>
                          <a:latin typeface="Times New Roman" panose="02020603050405020304" pitchFamily="18" charset="0"/>
                          <a:cs typeface="Times New Roman" panose="02020603050405020304" pitchFamily="18" charset="0"/>
                        </a:rPr>
                        <a:t>S</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a:effectLst/>
                          <a:latin typeface="Times New Roman" panose="02020603050405020304" pitchFamily="18" charset="0"/>
                          <a:cs typeface="Times New Roman" panose="02020603050405020304" pitchFamily="18" charset="0"/>
                        </a:rPr>
                        <a:t>C</a:t>
                      </a:r>
                      <a:endParaRPr lang="en-US" sz="1600">
                        <a:effectLst/>
                        <a:latin typeface="Times New Roman" panose="020206030504050203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176825032"/>
                  </a:ext>
                </a:extLst>
              </a:tr>
              <a:tr h="414655">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a:effectLst/>
                          <a:latin typeface="Times New Roman" panose="02020603050405020304" pitchFamily="18" charset="0"/>
                          <a:cs typeface="Times New Roman" panose="02020603050405020304" pitchFamily="18" charset="0"/>
                        </a:rPr>
                        <a:t>0</a:t>
                      </a:r>
                      <a:endParaRPr lang="en-US" sz="16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a:effectLst/>
                          <a:latin typeface="Times New Roman" panose="02020603050405020304" pitchFamily="18" charset="0"/>
                          <a:cs typeface="Times New Roman" panose="02020603050405020304" pitchFamily="18" charset="0"/>
                        </a:rPr>
                        <a:t>0</a:t>
                      </a:r>
                      <a:endParaRPr lang="en-US" sz="16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a:effectLst/>
                          <a:latin typeface="Times New Roman" panose="02020603050405020304" pitchFamily="18" charset="0"/>
                          <a:cs typeface="Times New Roman" panose="02020603050405020304" pitchFamily="18" charset="0"/>
                        </a:rPr>
                        <a:t>0</a:t>
                      </a:r>
                      <a:endParaRPr lang="en-US" sz="160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dirty="0">
                          <a:effectLst/>
                          <a:latin typeface="Times New Roman" panose="02020603050405020304" pitchFamily="18" charset="0"/>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31133528"/>
                  </a:ext>
                </a:extLst>
              </a:tr>
              <a:tr h="414655">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178290758"/>
                  </a:ext>
                </a:extLst>
              </a:tr>
              <a:tr h="396240">
                <a:tc>
                  <a:txBody>
                    <a:bodyPr/>
                    <a:lstStyle/>
                    <a:p>
                      <a:pPr marL="0" marR="0" algn="ctr">
                        <a:spcBef>
                          <a:spcPts val="0"/>
                        </a:spcBef>
                        <a:spcAft>
                          <a:spcPts val="0"/>
                        </a:spcAft>
                      </a:pPr>
                      <a:r>
                        <a:rPr lang="en-GB" sz="1600" dirty="0">
                          <a:effectLst/>
                          <a:latin typeface="Times New Roman" panose="02020603050405020304" pitchFamily="18" charset="0"/>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dirty="0" smtClean="0">
                          <a:effectLst/>
                          <a:latin typeface="Times New Roman" panose="02020603050405020304" pitchFamily="18" charset="0"/>
                          <a:ea typeface="+mn-ea"/>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dirty="0" smtClean="0">
                          <a:effectLst/>
                          <a:latin typeface="Times New Roman" panose="02020603050405020304" pitchFamily="18" charset="0"/>
                          <a:ea typeface="+mn-ea"/>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dirty="0">
                          <a:effectLst/>
                          <a:latin typeface="Times New Roman" panose="02020603050405020304" pitchFamily="18" charset="0"/>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dirty="0">
                          <a:effectLst/>
                          <a:latin typeface="Times New Roman" panose="02020603050405020304" pitchFamily="18" charset="0"/>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588825138"/>
                  </a:ext>
                </a:extLst>
              </a:tr>
              <a:tr h="396240">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335162162"/>
                  </a:ext>
                </a:extLst>
              </a:tr>
              <a:tr h="414655">
                <a:tc>
                  <a:txBody>
                    <a:bodyPr/>
                    <a:lstStyle/>
                    <a:p>
                      <a:pPr marL="0" marR="0" algn="ctr">
                        <a:spcBef>
                          <a:spcPts val="0"/>
                        </a:spcBef>
                        <a:spcAft>
                          <a:spcPts val="0"/>
                        </a:spcAft>
                      </a:pPr>
                      <a:r>
                        <a:rPr lang="en-GB" sz="1600" dirty="0">
                          <a:effectLst/>
                          <a:latin typeface="Times New Roman" panose="02020603050405020304" pitchFamily="18" charset="0"/>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dirty="0">
                          <a:effectLst/>
                          <a:latin typeface="Times New Roman" panose="02020603050405020304" pitchFamily="18" charset="0"/>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dirty="0" smtClean="0">
                          <a:effectLst/>
                          <a:latin typeface="Times New Roman" panose="02020603050405020304" pitchFamily="18" charset="0"/>
                          <a:ea typeface="+mn-ea"/>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dirty="0">
                          <a:effectLst/>
                          <a:latin typeface="Times New Roman" panose="02020603050405020304" pitchFamily="18" charset="0"/>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dirty="0">
                          <a:effectLst/>
                          <a:latin typeface="Times New Roman" panose="02020603050405020304" pitchFamily="18" charset="0"/>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436332406"/>
                  </a:ext>
                </a:extLst>
              </a:tr>
              <a:tr h="414655">
                <a:tc>
                  <a:txBody>
                    <a:bodyPr/>
                    <a:lstStyle/>
                    <a:p>
                      <a:pPr marL="0" marR="0" algn="ctr">
                        <a:spcBef>
                          <a:spcPts val="0"/>
                        </a:spcBef>
                        <a:spcAft>
                          <a:spcPts val="0"/>
                        </a:spcAft>
                      </a:pPr>
                      <a:r>
                        <a:rPr lang="en-GB" sz="1600" dirty="0">
                          <a:effectLst/>
                          <a:latin typeface="Times New Roman" panose="02020603050405020304" pitchFamily="18" charset="0"/>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dirty="0" smtClean="0">
                          <a:effectLst/>
                          <a:latin typeface="Times New Roman" panose="02020603050405020304" pitchFamily="18" charset="0"/>
                          <a:ea typeface="+mn-ea"/>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dirty="0" smtClean="0">
                          <a:effectLst/>
                          <a:latin typeface="Times New Roman" panose="02020603050405020304" pitchFamily="18" charset="0"/>
                          <a:ea typeface="+mn-ea"/>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dirty="0">
                          <a:effectLst/>
                          <a:latin typeface="Times New Roman" panose="02020603050405020304" pitchFamily="18" charset="0"/>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GB" sz="1600" dirty="0">
                          <a:effectLst/>
                          <a:latin typeface="Times New Roman" panose="02020603050405020304" pitchFamily="18" charset="0"/>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830045406"/>
                  </a:ext>
                </a:extLst>
              </a:tr>
              <a:tr h="414655">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0</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919521213"/>
                  </a:ext>
                </a:extLst>
              </a:tr>
              <a:tr h="414655">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600" dirty="0" smtClean="0">
                          <a:effectLst/>
                          <a:latin typeface="Times New Roman" panose="02020603050405020304" pitchFamily="18" charset="0"/>
                          <a:ea typeface="MS Mincho"/>
                          <a:cs typeface="Times New Roman" panose="02020603050405020304" pitchFamily="18" charset="0"/>
                        </a:rPr>
                        <a:t>1</a:t>
                      </a:r>
                      <a:endParaRPr lang="en-US" sz="1600" dirty="0">
                        <a:effectLst/>
                        <a:latin typeface="Times New Roman" panose="02020603050405020304" pitchFamily="18"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536487429"/>
                  </a:ext>
                </a:extLst>
              </a:tr>
            </a:tbl>
          </a:graphicData>
        </a:graphic>
      </p:graphicFrame>
      <p:sp>
        <p:nvSpPr>
          <p:cNvPr id="12" name="TextBox 11"/>
          <p:cNvSpPr txBox="1"/>
          <p:nvPr/>
        </p:nvSpPr>
        <p:spPr>
          <a:xfrm>
            <a:off x="505955" y="6142048"/>
            <a:ext cx="4241033" cy="646331"/>
          </a:xfrm>
          <a:prstGeom prst="rect">
            <a:avLst/>
          </a:prstGeom>
          <a:noFill/>
        </p:spPr>
        <p:txBody>
          <a:bodyPr wrap="none" rtlCol="0">
            <a:spAutoFit/>
          </a:bodyPr>
          <a:lstStyle/>
          <a:p>
            <a:r>
              <a:rPr lang="en-GB" b="1" dirty="0" smtClean="0"/>
              <a:t>Table 2</a:t>
            </a:r>
            <a:r>
              <a:rPr lang="en-GB" dirty="0" smtClean="0"/>
              <a:t> </a:t>
            </a:r>
            <a:r>
              <a:rPr lang="en-GB" dirty="0"/>
              <a:t>The truth table of a Half Adder</a:t>
            </a:r>
            <a:endParaRPr lang="en-US" dirty="0"/>
          </a:p>
          <a:p>
            <a:endParaRPr lang="en-US" dirty="0"/>
          </a:p>
        </p:txBody>
      </p:sp>
      <p:pic>
        <p:nvPicPr>
          <p:cNvPr id="4" name="Picture 3"/>
          <p:cNvPicPr>
            <a:picLocks noChangeAspect="1"/>
          </p:cNvPicPr>
          <p:nvPr/>
        </p:nvPicPr>
        <p:blipFill>
          <a:blip r:embed="rId3"/>
          <a:stretch>
            <a:fillRect/>
          </a:stretch>
        </p:blipFill>
        <p:spPr>
          <a:xfrm>
            <a:off x="4831947" y="552083"/>
            <a:ext cx="5238750" cy="3333750"/>
          </a:xfrm>
          <a:prstGeom prst="rect">
            <a:avLst/>
          </a:prstGeom>
        </p:spPr>
      </p:pic>
    </p:spTree>
    <p:extLst>
      <p:ext uri="{BB962C8B-B14F-4D97-AF65-F5344CB8AC3E}">
        <p14:creationId xmlns:p14="http://schemas.microsoft.com/office/powerpoint/2010/main" val="14915056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6</a:t>
            </a:fld>
            <a:endParaRPr dirty="0"/>
          </a:p>
        </p:txBody>
      </p:sp>
      <p:sp>
        <p:nvSpPr>
          <p:cNvPr id="2" name="object 2"/>
          <p:cNvSpPr txBox="1">
            <a:spLocks noGrp="1"/>
          </p:cNvSpPr>
          <p:nvPr>
            <p:ph type="title" idx="4294967295"/>
          </p:nvPr>
        </p:nvSpPr>
        <p:spPr>
          <a:xfrm>
            <a:off x="0" y="384175"/>
            <a:ext cx="4525963" cy="688975"/>
          </a:xfrm>
          <a:prstGeom prst="rect">
            <a:avLst/>
          </a:prstGeom>
        </p:spPr>
        <p:txBody>
          <a:bodyPr vert="horz" wrap="square" lIns="0" tIns="12700" rIns="0" bIns="0" rtlCol="0">
            <a:spAutoFit/>
          </a:bodyPr>
          <a:lstStyle/>
          <a:p>
            <a:pPr marL="12700" algn="ctr">
              <a:lnSpc>
                <a:spcPct val="100000"/>
              </a:lnSpc>
              <a:spcBef>
                <a:spcPts val="100"/>
              </a:spcBef>
            </a:pPr>
            <a:r>
              <a:rPr sz="4400" b="1" dirty="0"/>
              <a:t>BACKGROUND</a:t>
            </a:r>
          </a:p>
        </p:txBody>
      </p:sp>
      <p:sp>
        <p:nvSpPr>
          <p:cNvPr id="3" name="object 3"/>
          <p:cNvSpPr txBox="1"/>
          <p:nvPr/>
        </p:nvSpPr>
        <p:spPr>
          <a:xfrm>
            <a:off x="304800" y="1179994"/>
            <a:ext cx="4381691" cy="3173305"/>
          </a:xfrm>
          <a:prstGeom prst="rect">
            <a:avLst/>
          </a:prstGeom>
        </p:spPr>
        <p:txBody>
          <a:bodyPr vert="horz" wrap="square" lIns="0" tIns="125095" rIns="0" bIns="0" rtlCol="0">
            <a:spAutoFit/>
          </a:bodyPr>
          <a:lstStyle/>
          <a:p>
            <a:r>
              <a:rPr lang="en-US" dirty="0" smtClean="0"/>
              <a:t>By Combining Full Adders in a series in this method we can calculate the sum but it is a slow method as we need to process each bit in steps and cannot skip bits for a faster computation required for multiplication.</a:t>
            </a:r>
          </a:p>
          <a:p>
            <a:endParaRPr lang="en-US" dirty="0"/>
          </a:p>
          <a:p>
            <a:r>
              <a:rPr lang="en-US" b="1" dirty="0" smtClean="0"/>
              <a:t>Delay in RCA: </a:t>
            </a:r>
            <a:r>
              <a:rPr lang="en-US" dirty="0" smtClean="0"/>
              <a:t> To calculate the most significant bit we need to calculate the previous bit which needs to be processed from the least significant bit. </a:t>
            </a:r>
            <a:endParaRPr lang="en-US" b="1" dirty="0" smtClean="0">
              <a:latin typeface="Times New Roman" panose="02020603050405020304" pitchFamily="18" charset="0"/>
              <a:cs typeface="Times New Roman" panose="02020603050405020304" pitchFamily="18" charset="0"/>
            </a:endParaRPr>
          </a:p>
        </p:txBody>
      </p:sp>
      <p:sp>
        <p:nvSpPr>
          <p:cNvPr id="5" name="object 5"/>
          <p:cNvSpPr/>
          <p:nvPr/>
        </p:nvSpPr>
        <p:spPr>
          <a:xfrm>
            <a:off x="10903331" y="191515"/>
            <a:ext cx="1071289" cy="1074419"/>
          </a:xfrm>
          <a:prstGeom prst="rect">
            <a:avLst/>
          </a:prstGeom>
          <a:blipFill>
            <a:blip r:embed="rId2" cstate="print"/>
            <a:stretch>
              <a:fillRect/>
            </a:stretch>
          </a:blipFill>
        </p:spPr>
        <p:txBody>
          <a:bodyPr wrap="square" lIns="0" tIns="0" rIns="0" bIns="0" rtlCol="0"/>
          <a:lstStyle/>
          <a:p>
            <a:endParaRPr/>
          </a:p>
        </p:txBody>
      </p:sp>
      <p:sp>
        <p:nvSpPr>
          <p:cNvPr id="6" name="object 6"/>
          <p:cNvSpPr txBox="1"/>
          <p:nvPr/>
        </p:nvSpPr>
        <p:spPr>
          <a:xfrm>
            <a:off x="11146535" y="6465214"/>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rlito"/>
                <a:cs typeface="Carlito"/>
              </a:rPr>
              <a:pPr marL="38100">
                <a:lnSpc>
                  <a:spcPts val="1240"/>
                </a:lnSpc>
              </a:pPr>
              <a:t>6</a:t>
            </a:fld>
            <a:endParaRPr sz="1200">
              <a:latin typeface="Carlito"/>
              <a:cs typeface="Carlito"/>
            </a:endParaRPr>
          </a:p>
        </p:txBody>
      </p:sp>
      <p:sp>
        <p:nvSpPr>
          <p:cNvPr id="8" name="object 6"/>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10" name="object 36"/>
          <p:cNvSpPr txBox="1"/>
          <p:nvPr/>
        </p:nvSpPr>
        <p:spPr>
          <a:xfrm>
            <a:off x="6611049" y="5806982"/>
            <a:ext cx="3192866" cy="289823"/>
          </a:xfrm>
          <a:prstGeom prst="rect">
            <a:avLst/>
          </a:prstGeom>
        </p:spPr>
        <p:txBody>
          <a:bodyPr vert="horz" wrap="square" lIns="0" tIns="12700" rIns="0" bIns="0" rtlCol="0">
            <a:spAutoFit/>
          </a:bodyPr>
          <a:lstStyle/>
          <a:p>
            <a:pPr marL="12700">
              <a:lnSpc>
                <a:spcPct val="100000"/>
              </a:lnSpc>
              <a:spcBef>
                <a:spcPts val="100"/>
              </a:spcBef>
            </a:pPr>
            <a:r>
              <a:rPr sz="1800" spc="-145" dirty="0">
                <a:latin typeface="Arial"/>
                <a:cs typeface="Arial"/>
              </a:rPr>
              <a:t>Fig </a:t>
            </a:r>
            <a:r>
              <a:rPr sz="1800" spc="-75" dirty="0" smtClean="0">
                <a:latin typeface="Arial"/>
                <a:cs typeface="Arial"/>
              </a:rPr>
              <a:t>0</a:t>
            </a:r>
            <a:r>
              <a:rPr lang="en-US" sz="1800" spc="-75" dirty="0" smtClean="0">
                <a:latin typeface="Arial"/>
                <a:cs typeface="Arial"/>
              </a:rPr>
              <a:t>3</a:t>
            </a:r>
            <a:r>
              <a:rPr sz="1800" spc="-75" dirty="0" smtClean="0">
                <a:latin typeface="Arial"/>
                <a:cs typeface="Arial"/>
              </a:rPr>
              <a:t>: </a:t>
            </a:r>
            <a:r>
              <a:rPr lang="en-US" spc="-150" dirty="0" smtClean="0">
                <a:latin typeface="Arial"/>
                <a:cs typeface="Arial"/>
              </a:rPr>
              <a:t>Ripple carry Adder  design</a:t>
            </a:r>
            <a:endParaRPr sz="1800" dirty="0">
              <a:latin typeface="Arial"/>
              <a:cs typeface="Arial"/>
            </a:endParaRPr>
          </a:p>
        </p:txBody>
      </p:sp>
      <p:pic>
        <p:nvPicPr>
          <p:cNvPr id="9" name="Picture 8"/>
          <p:cNvPicPr>
            <a:picLocks noChangeAspect="1"/>
          </p:cNvPicPr>
          <p:nvPr/>
        </p:nvPicPr>
        <p:blipFill>
          <a:blip r:embed="rId3"/>
          <a:stretch>
            <a:fillRect/>
          </a:stretch>
        </p:blipFill>
        <p:spPr>
          <a:xfrm>
            <a:off x="4573845" y="1073150"/>
            <a:ext cx="7267274" cy="4639596"/>
          </a:xfrm>
          <a:prstGeom prst="rect">
            <a:avLst/>
          </a:prstGeom>
        </p:spPr>
      </p:pic>
    </p:spTree>
    <p:extLst>
      <p:ext uri="{BB962C8B-B14F-4D97-AF65-F5344CB8AC3E}">
        <p14:creationId xmlns:p14="http://schemas.microsoft.com/office/powerpoint/2010/main" val="17259146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7</a:t>
            </a:fld>
            <a:endParaRPr dirty="0"/>
          </a:p>
        </p:txBody>
      </p:sp>
      <p:sp>
        <p:nvSpPr>
          <p:cNvPr id="5" name="object 5"/>
          <p:cNvSpPr txBox="1">
            <a:spLocks noGrp="1"/>
          </p:cNvSpPr>
          <p:nvPr>
            <p:ph type="title" idx="4294967295"/>
          </p:nvPr>
        </p:nvSpPr>
        <p:spPr>
          <a:xfrm>
            <a:off x="1160970" y="234310"/>
            <a:ext cx="11811000" cy="689932"/>
          </a:xfrm>
          <a:prstGeom prst="rect">
            <a:avLst/>
          </a:prstGeom>
        </p:spPr>
        <p:txBody>
          <a:bodyPr vert="horz" wrap="square" lIns="0" tIns="12700" rIns="0" bIns="0" rtlCol="0">
            <a:spAutoFit/>
          </a:bodyPr>
          <a:lstStyle/>
          <a:p>
            <a:pPr marL="12700" algn="ctr">
              <a:lnSpc>
                <a:spcPct val="100000"/>
              </a:lnSpc>
              <a:spcBef>
                <a:spcPts val="100"/>
              </a:spcBef>
            </a:pPr>
            <a:r>
              <a:rPr lang="en-US" sz="4400" b="1" dirty="0" smtClean="0">
                <a:solidFill>
                  <a:schemeClr val="bg2">
                    <a:lumMod val="50000"/>
                  </a:schemeClr>
                </a:solidFill>
              </a:rPr>
              <a:t>BACKGROUND</a:t>
            </a:r>
            <a:endParaRPr sz="4400" dirty="0">
              <a:solidFill>
                <a:schemeClr val="bg2">
                  <a:lumMod val="50000"/>
                </a:schemeClr>
              </a:solidFill>
            </a:endParaRPr>
          </a:p>
        </p:txBody>
      </p:sp>
      <p:sp>
        <p:nvSpPr>
          <p:cNvPr id="36" name="object 36"/>
          <p:cNvSpPr txBox="1"/>
          <p:nvPr/>
        </p:nvSpPr>
        <p:spPr>
          <a:xfrm>
            <a:off x="1067040" y="6151939"/>
            <a:ext cx="4361336" cy="289823"/>
          </a:xfrm>
          <a:prstGeom prst="rect">
            <a:avLst/>
          </a:prstGeom>
        </p:spPr>
        <p:txBody>
          <a:bodyPr vert="horz" wrap="square" lIns="0" tIns="12700" rIns="0" bIns="0" rtlCol="0">
            <a:spAutoFit/>
          </a:bodyPr>
          <a:lstStyle/>
          <a:p>
            <a:pPr marL="12700">
              <a:lnSpc>
                <a:spcPct val="100000"/>
              </a:lnSpc>
              <a:spcBef>
                <a:spcPts val="100"/>
              </a:spcBef>
            </a:pPr>
            <a:r>
              <a:rPr sz="1800" spc="-145" dirty="0">
                <a:latin typeface="Arial"/>
                <a:cs typeface="Arial"/>
              </a:rPr>
              <a:t>Fig </a:t>
            </a:r>
            <a:r>
              <a:rPr sz="1800" spc="-75" dirty="0" smtClean="0">
                <a:latin typeface="Arial"/>
                <a:cs typeface="Arial"/>
              </a:rPr>
              <a:t>0</a:t>
            </a:r>
            <a:r>
              <a:rPr lang="en-US" spc="-75" dirty="0">
                <a:latin typeface="Arial"/>
                <a:cs typeface="Arial"/>
              </a:rPr>
              <a:t>4</a:t>
            </a:r>
            <a:r>
              <a:rPr sz="1800" spc="-75" dirty="0" smtClean="0">
                <a:latin typeface="Arial"/>
                <a:cs typeface="Arial"/>
              </a:rPr>
              <a:t>: </a:t>
            </a:r>
            <a:r>
              <a:rPr lang="en-US" spc="-150" dirty="0" smtClean="0">
                <a:latin typeface="Arial"/>
                <a:cs typeface="Arial"/>
              </a:rPr>
              <a:t>Carry Look Ahead Carry Calculation Block</a:t>
            </a:r>
            <a:endParaRPr sz="1800" dirty="0">
              <a:latin typeface="Arial"/>
              <a:cs typeface="Arial"/>
            </a:endParaRPr>
          </a:p>
        </p:txBody>
      </p:sp>
      <p:sp>
        <p:nvSpPr>
          <p:cNvPr id="37" name="object 37"/>
          <p:cNvSpPr/>
          <p:nvPr/>
        </p:nvSpPr>
        <p:spPr>
          <a:xfrm>
            <a:off x="531390" y="5708755"/>
            <a:ext cx="1071300" cy="1074420"/>
          </a:xfrm>
          <a:prstGeom prst="rect">
            <a:avLst/>
          </a:prstGeom>
          <a:blipFill>
            <a:blip r:embed="rId2" cstate="print"/>
            <a:stretch>
              <a:fillRect/>
            </a:stretch>
          </a:blipFill>
        </p:spPr>
        <p:txBody>
          <a:bodyPr wrap="square" lIns="0" tIns="0" rIns="0" bIns="0" rtlCol="0"/>
          <a:lstStyle/>
          <a:p>
            <a:endParaRPr/>
          </a:p>
        </p:txBody>
      </p:sp>
      <p:sp>
        <p:nvSpPr>
          <p:cNvPr id="38" name="object 38"/>
          <p:cNvSpPr txBox="1"/>
          <p:nvPr/>
        </p:nvSpPr>
        <p:spPr>
          <a:xfrm>
            <a:off x="11171935" y="6427114"/>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rlito"/>
                <a:cs typeface="Carlito"/>
              </a:rPr>
              <a:t>7</a:t>
            </a:r>
            <a:endParaRPr sz="1200">
              <a:latin typeface="Carlito"/>
              <a:cs typeface="Carlito"/>
            </a:endParaRPr>
          </a:p>
        </p:txBody>
      </p:sp>
      <p:grpSp>
        <p:nvGrpSpPr>
          <p:cNvPr id="8" name="object 7"/>
          <p:cNvGrpSpPr/>
          <p:nvPr/>
        </p:nvGrpSpPr>
        <p:grpSpPr>
          <a:xfrm>
            <a:off x="9402826" y="69596"/>
            <a:ext cx="2789555" cy="6109335"/>
            <a:chOff x="9402826" y="69596"/>
            <a:chExt cx="2789555" cy="6109335"/>
          </a:xfrm>
        </p:grpSpPr>
        <p:sp>
          <p:nvSpPr>
            <p:cNvPr id="9" name="object 8"/>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10" name="object 9"/>
            <p:cNvSpPr/>
            <p:nvPr/>
          </p:nvSpPr>
          <p:spPr>
            <a:xfrm>
              <a:off x="9402826" y="5104472"/>
              <a:ext cx="1071289" cy="1074419"/>
            </a:xfrm>
            <a:prstGeom prst="rect">
              <a:avLst/>
            </a:prstGeom>
            <a:blipFill>
              <a:blip r:embed="rId3" cstate="print"/>
              <a:stretch>
                <a:fillRect/>
              </a:stretch>
            </a:blipFill>
          </p:spPr>
          <p:txBody>
            <a:bodyPr wrap="square" lIns="0" tIns="0" rIns="0" bIns="0" rtlCol="0"/>
            <a:lstStyle/>
            <a:p>
              <a:endParaRPr/>
            </a:p>
          </p:txBody>
        </p:sp>
      </p:grpSp>
      <p:sp>
        <p:nvSpPr>
          <p:cNvPr id="3" name="TextBox 2"/>
          <p:cNvSpPr txBox="1"/>
          <p:nvPr/>
        </p:nvSpPr>
        <p:spPr>
          <a:xfrm>
            <a:off x="6116568" y="1300788"/>
            <a:ext cx="3789432" cy="2308324"/>
          </a:xfrm>
          <a:prstGeom prst="rect">
            <a:avLst/>
          </a:prstGeom>
          <a:noFill/>
        </p:spPr>
        <p:txBody>
          <a:bodyPr wrap="square" rtlCol="0">
            <a:spAutoFit/>
          </a:bodyPr>
          <a:lstStyle/>
          <a:p>
            <a:r>
              <a:rPr lang="en-US" dirty="0" smtClean="0"/>
              <a:t>The circuit that is shown in Fig 4 is an additional circuit that calculates the carry separately.</a:t>
            </a:r>
          </a:p>
          <a:p>
            <a:endParaRPr lang="en-US" dirty="0" smtClean="0"/>
          </a:p>
          <a:p>
            <a:r>
              <a:rPr lang="en-US" dirty="0" smtClean="0"/>
              <a:t>By doing so we can calculate the sum much faster then that of the ripple carry as we do not have to take the least significant bit.</a:t>
            </a:r>
            <a:endParaRPr lang="en-US" dirty="0"/>
          </a:p>
        </p:txBody>
      </p:sp>
      <p:pic>
        <p:nvPicPr>
          <p:cNvPr id="14" name="Picture 13"/>
          <p:cNvPicPr>
            <a:picLocks noChangeAspect="1"/>
          </p:cNvPicPr>
          <p:nvPr/>
        </p:nvPicPr>
        <p:blipFill>
          <a:blip r:embed="rId4"/>
          <a:stretch>
            <a:fillRect/>
          </a:stretch>
        </p:blipFill>
        <p:spPr>
          <a:xfrm>
            <a:off x="6288369" y="3782884"/>
            <a:ext cx="990600" cy="285750"/>
          </a:xfrm>
          <a:prstGeom prst="rect">
            <a:avLst/>
          </a:prstGeom>
        </p:spPr>
      </p:pic>
      <p:pic>
        <p:nvPicPr>
          <p:cNvPr id="15" name="Picture 14"/>
          <p:cNvPicPr>
            <a:picLocks noChangeAspect="1"/>
          </p:cNvPicPr>
          <p:nvPr/>
        </p:nvPicPr>
        <p:blipFill>
          <a:blip r:embed="rId5"/>
          <a:stretch>
            <a:fillRect/>
          </a:stretch>
        </p:blipFill>
        <p:spPr>
          <a:xfrm>
            <a:off x="8345551" y="3773359"/>
            <a:ext cx="1057275" cy="295275"/>
          </a:xfrm>
          <a:prstGeom prst="rect">
            <a:avLst/>
          </a:prstGeom>
        </p:spPr>
      </p:pic>
      <p:pic>
        <p:nvPicPr>
          <p:cNvPr id="16" name="Picture 15"/>
          <p:cNvPicPr>
            <a:picLocks noChangeAspect="1"/>
          </p:cNvPicPr>
          <p:nvPr/>
        </p:nvPicPr>
        <p:blipFill>
          <a:blip r:embed="rId6"/>
          <a:stretch>
            <a:fillRect/>
          </a:stretch>
        </p:blipFill>
        <p:spPr>
          <a:xfrm>
            <a:off x="5964026" y="4330624"/>
            <a:ext cx="4219575" cy="773847"/>
          </a:xfrm>
          <a:prstGeom prst="rect">
            <a:avLst/>
          </a:prstGeom>
        </p:spPr>
      </p:pic>
      <p:pic>
        <p:nvPicPr>
          <p:cNvPr id="2" name="Picture 1"/>
          <p:cNvPicPr>
            <a:picLocks noChangeAspect="1"/>
          </p:cNvPicPr>
          <p:nvPr/>
        </p:nvPicPr>
        <p:blipFill rotWithShape="1">
          <a:blip r:embed="rId7"/>
          <a:srcRect l="6661" r="1738" b="9106"/>
          <a:stretch/>
        </p:blipFill>
        <p:spPr>
          <a:xfrm>
            <a:off x="569214" y="413734"/>
            <a:ext cx="4564258" cy="5516613"/>
          </a:xfrm>
          <a:prstGeom prst="rect">
            <a:avLst/>
          </a:prstGeom>
        </p:spPr>
      </p:pic>
    </p:spTree>
    <p:extLst>
      <p:ext uri="{BB962C8B-B14F-4D97-AF65-F5344CB8AC3E}">
        <p14:creationId xmlns:p14="http://schemas.microsoft.com/office/powerpoint/2010/main" val="20337436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8</a:t>
            </a:fld>
            <a:endParaRPr dirty="0"/>
          </a:p>
        </p:txBody>
      </p:sp>
      <p:sp>
        <p:nvSpPr>
          <p:cNvPr id="5" name="object 5"/>
          <p:cNvSpPr txBox="1">
            <a:spLocks noGrp="1"/>
          </p:cNvSpPr>
          <p:nvPr>
            <p:ph type="title" idx="4294967295"/>
          </p:nvPr>
        </p:nvSpPr>
        <p:spPr>
          <a:xfrm>
            <a:off x="1630122" y="45212"/>
            <a:ext cx="8733535" cy="689932"/>
          </a:xfrm>
          <a:prstGeom prst="rect">
            <a:avLst/>
          </a:prstGeom>
        </p:spPr>
        <p:txBody>
          <a:bodyPr vert="horz" wrap="square" lIns="0" tIns="12700" rIns="0" bIns="0" rtlCol="0">
            <a:spAutoFit/>
          </a:bodyPr>
          <a:lstStyle/>
          <a:p>
            <a:pPr marL="12700" algn="ctr">
              <a:lnSpc>
                <a:spcPct val="100000"/>
              </a:lnSpc>
              <a:spcBef>
                <a:spcPts val="100"/>
              </a:spcBef>
            </a:pPr>
            <a:r>
              <a:rPr lang="en-US" sz="4400" b="1" dirty="0">
                <a:solidFill>
                  <a:schemeClr val="bg2">
                    <a:lumMod val="50000"/>
                  </a:schemeClr>
                </a:solidFill>
              </a:rPr>
              <a:t>BACKGROUND</a:t>
            </a:r>
            <a:endParaRPr sz="4400" dirty="0">
              <a:solidFill>
                <a:schemeClr val="bg2">
                  <a:lumMod val="50000"/>
                </a:schemeClr>
              </a:solidFill>
            </a:endParaRPr>
          </a:p>
        </p:txBody>
      </p:sp>
      <p:sp>
        <p:nvSpPr>
          <p:cNvPr id="36" name="object 36"/>
          <p:cNvSpPr txBox="1"/>
          <p:nvPr/>
        </p:nvSpPr>
        <p:spPr>
          <a:xfrm>
            <a:off x="1955703" y="6312001"/>
            <a:ext cx="5740496" cy="289823"/>
          </a:xfrm>
          <a:prstGeom prst="rect">
            <a:avLst/>
          </a:prstGeom>
        </p:spPr>
        <p:txBody>
          <a:bodyPr vert="horz" wrap="square" lIns="0" tIns="12700" rIns="0" bIns="0" rtlCol="0">
            <a:spAutoFit/>
          </a:bodyPr>
          <a:lstStyle/>
          <a:p>
            <a:pPr marL="12700">
              <a:lnSpc>
                <a:spcPct val="100000"/>
              </a:lnSpc>
              <a:spcBef>
                <a:spcPts val="100"/>
              </a:spcBef>
            </a:pPr>
            <a:r>
              <a:rPr sz="1800" spc="-145" dirty="0">
                <a:latin typeface="Arial"/>
                <a:cs typeface="Arial"/>
              </a:rPr>
              <a:t>Fig </a:t>
            </a:r>
            <a:r>
              <a:rPr sz="1800" spc="-75" dirty="0" smtClean="0">
                <a:latin typeface="Arial"/>
                <a:cs typeface="Arial"/>
              </a:rPr>
              <a:t>0</a:t>
            </a:r>
            <a:r>
              <a:rPr lang="en-US" spc="-75" dirty="0">
                <a:latin typeface="Arial"/>
                <a:cs typeface="Arial"/>
              </a:rPr>
              <a:t>5</a:t>
            </a:r>
            <a:r>
              <a:rPr sz="1800" spc="-75" dirty="0" smtClean="0">
                <a:latin typeface="Arial"/>
                <a:cs typeface="Arial"/>
              </a:rPr>
              <a:t>: </a:t>
            </a:r>
            <a:r>
              <a:rPr lang="en-US" spc="-150" dirty="0" smtClean="0">
                <a:latin typeface="Arial"/>
                <a:cs typeface="Arial"/>
              </a:rPr>
              <a:t>Conventional Manchester Carry Adder Carry Calculation  </a:t>
            </a:r>
            <a:endParaRPr sz="1800" dirty="0">
              <a:latin typeface="Arial"/>
              <a:cs typeface="Arial"/>
            </a:endParaRPr>
          </a:p>
        </p:txBody>
      </p:sp>
      <p:sp>
        <p:nvSpPr>
          <p:cNvPr id="37" name="object 37"/>
          <p:cNvSpPr/>
          <p:nvPr/>
        </p:nvSpPr>
        <p:spPr>
          <a:xfrm>
            <a:off x="531390" y="5708755"/>
            <a:ext cx="1071300" cy="1074420"/>
          </a:xfrm>
          <a:prstGeom prst="rect">
            <a:avLst/>
          </a:prstGeom>
          <a:blipFill>
            <a:blip r:embed="rId2" cstate="print"/>
            <a:stretch>
              <a:fillRect/>
            </a:stretch>
          </a:blipFill>
        </p:spPr>
        <p:txBody>
          <a:bodyPr wrap="square" lIns="0" tIns="0" rIns="0" bIns="0" rtlCol="0"/>
          <a:lstStyle/>
          <a:p>
            <a:endParaRPr/>
          </a:p>
        </p:txBody>
      </p:sp>
      <p:sp>
        <p:nvSpPr>
          <p:cNvPr id="38" name="object 38"/>
          <p:cNvSpPr txBox="1"/>
          <p:nvPr/>
        </p:nvSpPr>
        <p:spPr>
          <a:xfrm>
            <a:off x="11171935" y="6427114"/>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rlito"/>
                <a:cs typeface="Carlito"/>
              </a:rPr>
              <a:t>7</a:t>
            </a:r>
            <a:endParaRPr sz="1200">
              <a:latin typeface="Carlito"/>
              <a:cs typeface="Carlito"/>
            </a:endParaRPr>
          </a:p>
        </p:txBody>
      </p:sp>
      <p:grpSp>
        <p:nvGrpSpPr>
          <p:cNvPr id="8" name="object 7"/>
          <p:cNvGrpSpPr/>
          <p:nvPr/>
        </p:nvGrpSpPr>
        <p:grpSpPr>
          <a:xfrm>
            <a:off x="9402826" y="69596"/>
            <a:ext cx="2789555" cy="6109335"/>
            <a:chOff x="9402826" y="69596"/>
            <a:chExt cx="2789555" cy="6109335"/>
          </a:xfrm>
        </p:grpSpPr>
        <p:sp>
          <p:nvSpPr>
            <p:cNvPr id="9" name="object 8"/>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10" name="object 9"/>
            <p:cNvSpPr/>
            <p:nvPr/>
          </p:nvSpPr>
          <p:spPr>
            <a:xfrm>
              <a:off x="9402826" y="5104472"/>
              <a:ext cx="1071289" cy="1074419"/>
            </a:xfrm>
            <a:prstGeom prst="rect">
              <a:avLst/>
            </a:prstGeom>
            <a:blipFill>
              <a:blip r:embed="rId3" cstate="print"/>
              <a:stretch>
                <a:fillRect/>
              </a:stretch>
            </a:blipFill>
          </p:spPr>
          <p:txBody>
            <a:bodyPr wrap="square" lIns="0" tIns="0" rIns="0" bIns="0" rtlCol="0"/>
            <a:lstStyle/>
            <a:p>
              <a:endParaRPr/>
            </a:p>
          </p:txBody>
        </p:sp>
      </p:grpSp>
      <p:sp>
        <p:nvSpPr>
          <p:cNvPr id="3" name="TextBox 2"/>
          <p:cNvSpPr txBox="1"/>
          <p:nvPr/>
        </p:nvSpPr>
        <p:spPr>
          <a:xfrm>
            <a:off x="7620000" y="1455119"/>
            <a:ext cx="2209800" cy="2862322"/>
          </a:xfrm>
          <a:prstGeom prst="rect">
            <a:avLst/>
          </a:prstGeom>
          <a:noFill/>
        </p:spPr>
        <p:txBody>
          <a:bodyPr wrap="square" rtlCol="0">
            <a:spAutoFit/>
          </a:bodyPr>
          <a:lstStyle/>
          <a:p>
            <a:r>
              <a:rPr lang="en-US" dirty="0" smtClean="0"/>
              <a:t>The circuit that is shown in Fig 5 is an additional circuit that calculates the carry separately.</a:t>
            </a:r>
          </a:p>
          <a:p>
            <a:endParaRPr lang="en-US" dirty="0" smtClean="0"/>
          </a:p>
          <a:p>
            <a:r>
              <a:rPr lang="en-US" dirty="0" smtClean="0"/>
              <a:t>This Circuit differs from the CLA block by not using any Logic gates.</a:t>
            </a:r>
            <a:endParaRPr lang="en-US" dirty="0"/>
          </a:p>
        </p:txBody>
      </p:sp>
      <p:pic>
        <p:nvPicPr>
          <p:cNvPr id="2" name="Picture 1"/>
          <p:cNvPicPr>
            <a:picLocks noChangeAspect="1"/>
          </p:cNvPicPr>
          <p:nvPr/>
        </p:nvPicPr>
        <p:blipFill rotWithShape="1">
          <a:blip r:embed="rId4"/>
          <a:srcRect r="1651"/>
          <a:stretch/>
        </p:blipFill>
        <p:spPr>
          <a:xfrm>
            <a:off x="891032" y="724310"/>
            <a:ext cx="6728968" cy="5563307"/>
          </a:xfrm>
          <a:prstGeom prst="rect">
            <a:avLst/>
          </a:prstGeom>
        </p:spPr>
      </p:pic>
    </p:spTree>
    <p:extLst>
      <p:ext uri="{BB962C8B-B14F-4D97-AF65-F5344CB8AC3E}">
        <p14:creationId xmlns:p14="http://schemas.microsoft.com/office/powerpoint/2010/main" val="1669018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9</a:t>
            </a:fld>
            <a:endParaRPr dirty="0"/>
          </a:p>
        </p:txBody>
      </p:sp>
      <p:sp>
        <p:nvSpPr>
          <p:cNvPr id="5" name="object 5"/>
          <p:cNvSpPr txBox="1">
            <a:spLocks noGrp="1"/>
          </p:cNvSpPr>
          <p:nvPr>
            <p:ph type="title" idx="4294967295"/>
          </p:nvPr>
        </p:nvSpPr>
        <p:spPr>
          <a:xfrm>
            <a:off x="0" y="304800"/>
            <a:ext cx="11811000" cy="689932"/>
          </a:xfrm>
          <a:prstGeom prst="rect">
            <a:avLst/>
          </a:prstGeom>
        </p:spPr>
        <p:txBody>
          <a:bodyPr vert="horz" wrap="square" lIns="0" tIns="12700" rIns="0" bIns="0" rtlCol="0">
            <a:spAutoFit/>
          </a:bodyPr>
          <a:lstStyle/>
          <a:p>
            <a:pPr marL="12700" algn="ctr">
              <a:lnSpc>
                <a:spcPct val="100000"/>
              </a:lnSpc>
              <a:spcBef>
                <a:spcPts val="100"/>
              </a:spcBef>
            </a:pPr>
            <a:r>
              <a:rPr lang="en-US" sz="4400" b="1" dirty="0">
                <a:solidFill>
                  <a:schemeClr val="bg2">
                    <a:lumMod val="50000"/>
                  </a:schemeClr>
                </a:solidFill>
              </a:rPr>
              <a:t>BACKGROUND</a:t>
            </a:r>
            <a:endParaRPr sz="4400" dirty="0">
              <a:solidFill>
                <a:schemeClr val="bg2">
                  <a:lumMod val="50000"/>
                </a:schemeClr>
              </a:solidFill>
            </a:endParaRPr>
          </a:p>
        </p:txBody>
      </p:sp>
      <p:sp>
        <p:nvSpPr>
          <p:cNvPr id="37" name="object 37"/>
          <p:cNvSpPr/>
          <p:nvPr/>
        </p:nvSpPr>
        <p:spPr>
          <a:xfrm>
            <a:off x="531390" y="5708755"/>
            <a:ext cx="1071300" cy="1074420"/>
          </a:xfrm>
          <a:prstGeom prst="rect">
            <a:avLst/>
          </a:prstGeom>
          <a:blipFill>
            <a:blip r:embed="rId2" cstate="print"/>
            <a:stretch>
              <a:fillRect/>
            </a:stretch>
          </a:blipFill>
        </p:spPr>
        <p:txBody>
          <a:bodyPr wrap="square" lIns="0" tIns="0" rIns="0" bIns="0" rtlCol="0"/>
          <a:lstStyle/>
          <a:p>
            <a:endParaRPr/>
          </a:p>
        </p:txBody>
      </p:sp>
      <p:sp>
        <p:nvSpPr>
          <p:cNvPr id="38" name="object 38"/>
          <p:cNvSpPr txBox="1"/>
          <p:nvPr/>
        </p:nvSpPr>
        <p:spPr>
          <a:xfrm>
            <a:off x="11171935" y="6427114"/>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rlito"/>
                <a:cs typeface="Carlito"/>
              </a:rPr>
              <a:t>7</a:t>
            </a:r>
            <a:endParaRPr sz="1200">
              <a:latin typeface="Carlito"/>
              <a:cs typeface="Carlito"/>
            </a:endParaRPr>
          </a:p>
        </p:txBody>
      </p:sp>
      <p:grpSp>
        <p:nvGrpSpPr>
          <p:cNvPr id="8" name="object 7"/>
          <p:cNvGrpSpPr/>
          <p:nvPr/>
        </p:nvGrpSpPr>
        <p:grpSpPr>
          <a:xfrm>
            <a:off x="9402826" y="69596"/>
            <a:ext cx="2789555" cy="6109335"/>
            <a:chOff x="9402826" y="69596"/>
            <a:chExt cx="2789555" cy="6109335"/>
          </a:xfrm>
        </p:grpSpPr>
        <p:sp>
          <p:nvSpPr>
            <p:cNvPr id="9" name="object 8"/>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10" name="object 9"/>
            <p:cNvSpPr/>
            <p:nvPr/>
          </p:nvSpPr>
          <p:spPr>
            <a:xfrm>
              <a:off x="9402826" y="5104472"/>
              <a:ext cx="1071289" cy="1074419"/>
            </a:xfrm>
            <a:prstGeom prst="rect">
              <a:avLst/>
            </a:prstGeom>
            <a:blipFill>
              <a:blip r:embed="rId3" cstate="print"/>
              <a:stretch>
                <a:fillRect/>
              </a:stretch>
            </a:blipFill>
          </p:spPr>
          <p:txBody>
            <a:bodyPr wrap="square" lIns="0" tIns="0" rIns="0" bIns="0" rtlCol="0"/>
            <a:lstStyle/>
            <a:p>
              <a:endParaRPr/>
            </a:p>
          </p:txBody>
        </p:sp>
      </p:grpSp>
      <p:sp>
        <p:nvSpPr>
          <p:cNvPr id="3" name="TextBox 2"/>
          <p:cNvSpPr txBox="1"/>
          <p:nvPr/>
        </p:nvSpPr>
        <p:spPr>
          <a:xfrm>
            <a:off x="6172200" y="1597417"/>
            <a:ext cx="4419600" cy="3139321"/>
          </a:xfrm>
          <a:prstGeom prst="rect">
            <a:avLst/>
          </a:prstGeom>
          <a:noFill/>
        </p:spPr>
        <p:txBody>
          <a:bodyPr wrap="square" rtlCol="0">
            <a:spAutoFit/>
          </a:bodyPr>
          <a:lstStyle/>
          <a:p>
            <a:r>
              <a:rPr lang="en-US" dirty="0"/>
              <a:t>Instead of waiting for each carry to be produced sequentially (as in ripple-carry addition), all carries are computed in parallel using this formula</a:t>
            </a:r>
            <a:r>
              <a:rPr lang="en-US" dirty="0" smtClean="0"/>
              <a:t>.</a:t>
            </a:r>
          </a:p>
          <a:p>
            <a:endParaRPr lang="en-US" dirty="0" smtClean="0"/>
          </a:p>
          <a:p>
            <a:r>
              <a:rPr lang="en-US" dirty="0"/>
              <a:t>Carry Look-Ahead Calculation is essential for building fast arithmetic circuits like those found in modern CPUs and DSPs. It improves the speed of addition operations, which are fundamental to computer performance.</a:t>
            </a:r>
          </a:p>
        </p:txBody>
      </p:sp>
      <p:pic>
        <p:nvPicPr>
          <p:cNvPr id="2" name="Picture 1"/>
          <p:cNvPicPr>
            <a:picLocks noChangeAspect="1"/>
          </p:cNvPicPr>
          <p:nvPr/>
        </p:nvPicPr>
        <p:blipFill rotWithShape="1">
          <a:blip r:embed="rId4"/>
          <a:srcRect l="3159" t="41836" r="4065" b="8390"/>
          <a:stretch/>
        </p:blipFill>
        <p:spPr>
          <a:xfrm>
            <a:off x="381000" y="1441981"/>
            <a:ext cx="5562600" cy="3819524"/>
          </a:xfrm>
          <a:prstGeom prst="rect">
            <a:avLst/>
          </a:prstGeom>
        </p:spPr>
      </p:pic>
    </p:spTree>
    <p:extLst>
      <p:ext uri="{BB962C8B-B14F-4D97-AF65-F5344CB8AC3E}">
        <p14:creationId xmlns:p14="http://schemas.microsoft.com/office/powerpoint/2010/main" val="40377313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10</a:t>
            </a:fld>
            <a:endParaRPr dirty="0"/>
          </a:p>
        </p:txBody>
      </p:sp>
      <p:sp>
        <p:nvSpPr>
          <p:cNvPr id="5" name="object 5"/>
          <p:cNvSpPr txBox="1">
            <a:spLocks noGrp="1"/>
          </p:cNvSpPr>
          <p:nvPr>
            <p:ph type="title" idx="4294967295"/>
          </p:nvPr>
        </p:nvSpPr>
        <p:spPr>
          <a:xfrm>
            <a:off x="0" y="381000"/>
            <a:ext cx="6832600" cy="690563"/>
          </a:xfrm>
          <a:prstGeom prst="rect">
            <a:avLst/>
          </a:prstGeom>
        </p:spPr>
        <p:txBody>
          <a:bodyPr vert="horz" wrap="square" lIns="0" tIns="12700" rIns="0" bIns="0" rtlCol="0">
            <a:spAutoFit/>
          </a:bodyPr>
          <a:lstStyle/>
          <a:p>
            <a:pPr marL="12700" algn="ctr">
              <a:lnSpc>
                <a:spcPct val="100000"/>
              </a:lnSpc>
              <a:spcBef>
                <a:spcPts val="100"/>
              </a:spcBef>
            </a:pPr>
            <a:r>
              <a:rPr lang="en-US" sz="4400" b="1" dirty="0">
                <a:solidFill>
                  <a:schemeClr val="bg2">
                    <a:lumMod val="50000"/>
                  </a:schemeClr>
                </a:solidFill>
              </a:rPr>
              <a:t>LITERATURE</a:t>
            </a:r>
            <a:r>
              <a:rPr lang="en-US" sz="4400" b="1" dirty="0">
                <a:solidFill>
                  <a:prstClr val="black"/>
                </a:solidFill>
              </a:rPr>
              <a:t> </a:t>
            </a:r>
            <a:r>
              <a:rPr lang="en-US" sz="4400" b="1" dirty="0">
                <a:solidFill>
                  <a:schemeClr val="bg2">
                    <a:lumMod val="50000"/>
                  </a:schemeClr>
                </a:solidFill>
              </a:rPr>
              <a:t>REVIEW</a:t>
            </a:r>
            <a:endParaRPr sz="4400" dirty="0">
              <a:solidFill>
                <a:schemeClr val="bg2">
                  <a:lumMod val="50000"/>
                </a:schemeClr>
              </a:solidFill>
            </a:endParaRPr>
          </a:p>
        </p:txBody>
      </p:sp>
      <p:sp>
        <p:nvSpPr>
          <p:cNvPr id="7" name="object 7"/>
          <p:cNvSpPr/>
          <p:nvPr/>
        </p:nvSpPr>
        <p:spPr>
          <a:xfrm>
            <a:off x="9402826" y="5104472"/>
            <a:ext cx="1071289" cy="1074419"/>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531390" y="5708755"/>
            <a:ext cx="1071300" cy="1074420"/>
          </a:xfrm>
          <a:prstGeom prst="rect">
            <a:avLst/>
          </a:prstGeom>
          <a:blipFill>
            <a:blip r:embed="rId3" cstate="print"/>
            <a:stretch>
              <a:fillRect/>
            </a:stretch>
          </a:blipFill>
        </p:spPr>
        <p:txBody>
          <a:bodyPr wrap="square" lIns="0" tIns="0" rIns="0" bIns="0" rtlCol="0"/>
          <a:lstStyle/>
          <a:p>
            <a:endParaRPr/>
          </a:p>
        </p:txBody>
      </p:sp>
      <p:sp>
        <p:nvSpPr>
          <p:cNvPr id="6" name="object 10"/>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graphicFrame>
        <p:nvGraphicFramePr>
          <p:cNvPr id="4" name="Table 3"/>
          <p:cNvGraphicFramePr>
            <a:graphicFrameLocks noGrp="1"/>
          </p:cNvGraphicFramePr>
          <p:nvPr>
            <p:extLst>
              <p:ext uri="{D42A27DB-BD31-4B8C-83A1-F6EECF244321}">
                <p14:modId xmlns:p14="http://schemas.microsoft.com/office/powerpoint/2010/main" val="2912336104"/>
              </p:ext>
            </p:extLst>
          </p:nvPr>
        </p:nvGraphicFramePr>
        <p:xfrm>
          <a:off x="528078" y="1200072"/>
          <a:ext cx="8874748" cy="4709160"/>
        </p:xfrm>
        <a:graphic>
          <a:graphicData uri="http://schemas.openxmlformats.org/drawingml/2006/table">
            <a:tbl>
              <a:tblPr firstRow="1" bandRow="1">
                <a:tableStyleId>{5C22544A-7EE6-4342-B048-85BDC9FD1C3A}</a:tableStyleId>
              </a:tblPr>
              <a:tblGrid>
                <a:gridCol w="3053323">
                  <a:extLst>
                    <a:ext uri="{9D8B030D-6E8A-4147-A177-3AD203B41FA5}">
                      <a16:colId xmlns:a16="http://schemas.microsoft.com/office/drawing/2014/main" val="2860316997"/>
                    </a:ext>
                  </a:extLst>
                </a:gridCol>
                <a:gridCol w="1384051">
                  <a:extLst>
                    <a:ext uri="{9D8B030D-6E8A-4147-A177-3AD203B41FA5}">
                      <a16:colId xmlns:a16="http://schemas.microsoft.com/office/drawing/2014/main" val="2552027077"/>
                    </a:ext>
                  </a:extLst>
                </a:gridCol>
                <a:gridCol w="2218687">
                  <a:extLst>
                    <a:ext uri="{9D8B030D-6E8A-4147-A177-3AD203B41FA5}">
                      <a16:colId xmlns:a16="http://schemas.microsoft.com/office/drawing/2014/main" val="2285797916"/>
                    </a:ext>
                  </a:extLst>
                </a:gridCol>
                <a:gridCol w="2218687">
                  <a:extLst>
                    <a:ext uri="{9D8B030D-6E8A-4147-A177-3AD203B41FA5}">
                      <a16:colId xmlns:a16="http://schemas.microsoft.com/office/drawing/2014/main" val="2229334910"/>
                    </a:ext>
                  </a:extLst>
                </a:gridCol>
              </a:tblGrid>
              <a:tr h="990600">
                <a:tc>
                  <a:txBody>
                    <a:bodyPr/>
                    <a:lstStyle/>
                    <a:p>
                      <a:pPr algn="ctr"/>
                      <a:r>
                        <a:rPr lang="en-US" dirty="0" smtClean="0"/>
                        <a:t>Researcher </a:t>
                      </a:r>
                      <a:endParaRPr lang="en-US" dirty="0"/>
                    </a:p>
                  </a:txBody>
                  <a:tcPr anchor="ctr"/>
                </a:tc>
                <a:tc>
                  <a:txBody>
                    <a:bodyPr/>
                    <a:lstStyle/>
                    <a:p>
                      <a:pPr algn="ctr"/>
                      <a:r>
                        <a:rPr lang="en-US" dirty="0" smtClean="0"/>
                        <a:t>Year </a:t>
                      </a:r>
                      <a:endParaRPr lang="en-US" dirty="0"/>
                    </a:p>
                  </a:txBody>
                  <a:tcPr anchor="ctr"/>
                </a:tc>
                <a:tc>
                  <a:txBody>
                    <a:bodyPr/>
                    <a:lstStyle/>
                    <a:p>
                      <a:pPr algn="ctr"/>
                      <a:r>
                        <a:rPr lang="en-US" dirty="0" smtClean="0"/>
                        <a:t>Contribution</a:t>
                      </a:r>
                      <a:endParaRPr lang="en-US" dirty="0"/>
                    </a:p>
                  </a:txBody>
                  <a:tcPr anchor="ctr"/>
                </a:tc>
                <a:tc>
                  <a:txBody>
                    <a:bodyPr/>
                    <a:lstStyle/>
                    <a:p>
                      <a:pPr algn="ctr"/>
                      <a:r>
                        <a:rPr lang="en-US" dirty="0" smtClean="0"/>
                        <a:t>Drawback</a:t>
                      </a:r>
                      <a:endParaRPr lang="en-US" dirty="0"/>
                    </a:p>
                  </a:txBody>
                  <a:tcPr anchor="ctr"/>
                </a:tc>
                <a:extLst>
                  <a:ext uri="{0D108BD9-81ED-4DB2-BD59-A6C34878D82A}">
                    <a16:rowId xmlns:a16="http://schemas.microsoft.com/office/drawing/2014/main" val="4115801923"/>
                  </a:ext>
                </a:extLst>
              </a:tr>
              <a:tr h="990600">
                <a:tc>
                  <a:txBody>
                    <a:bodyPr/>
                    <a:lstStyle/>
                    <a:p>
                      <a:pPr algn="ctr"/>
                      <a:r>
                        <a:rPr lang="en-US" sz="1800" b="0" i="0" u="none" strike="noStrike" kern="1200" baseline="0" dirty="0" err="1" smtClean="0">
                          <a:solidFill>
                            <a:schemeClr val="dk1"/>
                          </a:solidFill>
                          <a:latin typeface="+mn-lt"/>
                          <a:ea typeface="+mn-ea"/>
                          <a:cs typeface="+mn-cs"/>
                        </a:rPr>
                        <a:t>Padmanabhan</a:t>
                      </a:r>
                      <a:r>
                        <a:rPr lang="en-US" sz="1800" b="0" i="0" u="none" strike="noStrike" kern="1200" baseline="0" dirty="0" smtClean="0">
                          <a:solidFill>
                            <a:schemeClr val="dk1"/>
                          </a:solidFill>
                          <a:latin typeface="+mn-lt"/>
                          <a:ea typeface="+mn-ea"/>
                          <a:cs typeface="+mn-cs"/>
                        </a:rPr>
                        <a:t> </a:t>
                      </a:r>
                      <a:r>
                        <a:rPr lang="en-US" sz="1800" b="0" i="0" u="none" strike="noStrike" kern="1200" baseline="0" dirty="0" err="1" smtClean="0">
                          <a:solidFill>
                            <a:schemeClr val="dk1"/>
                          </a:solidFill>
                          <a:latin typeface="+mn-lt"/>
                          <a:ea typeface="+mn-ea"/>
                          <a:cs typeface="+mn-cs"/>
                        </a:rPr>
                        <a:t>Balasubramanian</a:t>
                      </a:r>
                      <a:r>
                        <a:rPr lang="en-US" sz="1800" b="0" i="0" u="none" strike="noStrike" kern="1200" baseline="0" dirty="0" smtClean="0">
                          <a:solidFill>
                            <a:schemeClr val="dk1"/>
                          </a:solidFill>
                          <a:latin typeface="+mn-lt"/>
                          <a:ea typeface="+mn-ea"/>
                          <a:cs typeface="+mn-cs"/>
                        </a:rPr>
                        <a:t> and Nikos E. </a:t>
                      </a:r>
                      <a:r>
                        <a:rPr lang="en-US" sz="1800" b="0" i="0" u="none" strike="noStrike" kern="1200" baseline="0" dirty="0" err="1" smtClean="0">
                          <a:solidFill>
                            <a:schemeClr val="dk1"/>
                          </a:solidFill>
                          <a:latin typeface="+mn-lt"/>
                          <a:ea typeface="+mn-ea"/>
                          <a:cs typeface="+mn-cs"/>
                        </a:rPr>
                        <a:t>Mastorakis</a:t>
                      </a:r>
                      <a:r>
                        <a:rPr lang="en-US" sz="1800" b="0" i="0" kern="1200" dirty="0" smtClean="0">
                          <a:solidFill>
                            <a:schemeClr val="dk1"/>
                          </a:solidFill>
                          <a:effectLst/>
                          <a:latin typeface="+mn-lt"/>
                          <a:ea typeface="+mn-ea"/>
                          <a:cs typeface="+mn-cs"/>
                        </a:rPr>
                        <a:t>[1]</a:t>
                      </a:r>
                      <a:endParaRPr lang="en-US" sz="1800" b="0" i="0" kern="1200" dirty="0" smtClean="0">
                        <a:solidFill>
                          <a:schemeClr val="bg1"/>
                        </a:solidFill>
                        <a:effectLst/>
                        <a:latin typeface="+mn-lt"/>
                        <a:ea typeface="+mn-ea"/>
                        <a:cs typeface="+mn-cs"/>
                      </a:endParaRPr>
                    </a:p>
                  </a:txBody>
                  <a:tcPr anchor="ctr"/>
                </a:tc>
                <a:tc>
                  <a:txBody>
                    <a:bodyPr/>
                    <a:lstStyle/>
                    <a:p>
                      <a:pPr algn="ctr"/>
                      <a:r>
                        <a:rPr lang="en-US" dirty="0" smtClean="0"/>
                        <a:t>2022</a:t>
                      </a:r>
                      <a:endParaRPr lang="en-US" dirty="0"/>
                    </a:p>
                  </a:txBody>
                  <a:tcPr anchor="ctr"/>
                </a:tc>
                <a:tc>
                  <a:txBody>
                    <a:bodyPr/>
                    <a:lstStyle/>
                    <a:p>
                      <a:pPr algn="ctr"/>
                      <a:r>
                        <a:rPr lang="en-US" dirty="0" smtClean="0"/>
                        <a:t>Use of CLA Adder</a:t>
                      </a:r>
                      <a:r>
                        <a:rPr lang="en-US" baseline="0" dirty="0" smtClean="0"/>
                        <a:t> for an advanced design</a:t>
                      </a:r>
                      <a:endParaRPr lang="en-US" dirty="0"/>
                    </a:p>
                  </a:txBody>
                  <a:tcPr anchor="ctr"/>
                </a:tc>
                <a:tc>
                  <a:txBody>
                    <a:bodyPr/>
                    <a:lstStyle/>
                    <a:p>
                      <a:pPr algn="ctr"/>
                      <a:r>
                        <a:rPr lang="en-US" dirty="0" smtClean="0"/>
                        <a:t>Uses</a:t>
                      </a:r>
                      <a:r>
                        <a:rPr lang="en-US" baseline="0" dirty="0" smtClean="0"/>
                        <a:t> logic gates which are more complex.</a:t>
                      </a:r>
                      <a:endParaRPr lang="en-US" dirty="0"/>
                    </a:p>
                  </a:txBody>
                  <a:tcPr anchor="ctr"/>
                </a:tc>
                <a:extLst>
                  <a:ext uri="{0D108BD9-81ED-4DB2-BD59-A6C34878D82A}">
                    <a16:rowId xmlns:a16="http://schemas.microsoft.com/office/drawing/2014/main" val="936919599"/>
                  </a:ext>
                </a:extLst>
              </a:tr>
              <a:tr h="990600">
                <a:tc>
                  <a:txBody>
                    <a:bodyPr/>
                    <a:lstStyle/>
                    <a:p>
                      <a:endParaRPr lang="en-US" sz="1800" b="0" i="0" u="none" strike="noStrike" kern="1200" baseline="0" dirty="0" smtClean="0">
                        <a:solidFill>
                          <a:schemeClr val="dk1"/>
                        </a:solidFill>
                        <a:latin typeface="+mn-lt"/>
                        <a:ea typeface="+mn-ea"/>
                        <a:cs typeface="+mn-cs"/>
                      </a:endParaRPr>
                    </a:p>
                    <a:p>
                      <a:pPr algn="ctr"/>
                      <a:r>
                        <a:rPr lang="en-US" sz="1800" b="0" i="0" u="none" strike="noStrike" kern="1200" baseline="0" dirty="0" smtClean="0">
                          <a:solidFill>
                            <a:schemeClr val="dk1"/>
                          </a:solidFill>
                          <a:latin typeface="+mn-lt"/>
                          <a:ea typeface="+mn-ea"/>
                          <a:cs typeface="+mn-cs"/>
                        </a:rPr>
                        <a:t> </a:t>
                      </a:r>
                      <a:r>
                        <a:rPr lang="en-US" sz="1800" b="0" i="0" u="none" strike="noStrike" kern="1200" baseline="0" dirty="0" err="1" smtClean="0">
                          <a:solidFill>
                            <a:schemeClr val="dk1"/>
                          </a:solidFill>
                          <a:latin typeface="+mn-lt"/>
                          <a:ea typeface="+mn-ea"/>
                          <a:cs typeface="+mn-cs"/>
                        </a:rPr>
                        <a:t>Vellingiri</a:t>
                      </a:r>
                      <a:r>
                        <a:rPr lang="en-US" sz="1800" b="0" i="0" u="none" strike="noStrike" kern="1200" baseline="0" dirty="0" smtClean="0">
                          <a:solidFill>
                            <a:schemeClr val="dk1"/>
                          </a:solidFill>
                          <a:latin typeface="+mn-lt"/>
                          <a:ea typeface="+mn-ea"/>
                          <a:cs typeface="+mn-cs"/>
                        </a:rPr>
                        <a:t> GOVINDARAJ, </a:t>
                      </a:r>
                      <a:r>
                        <a:rPr lang="en-US" sz="1800" b="0" i="0" u="none" strike="noStrike" kern="1200" baseline="0" dirty="0" err="1" smtClean="0">
                          <a:solidFill>
                            <a:schemeClr val="dk1"/>
                          </a:solidFill>
                          <a:latin typeface="+mn-lt"/>
                          <a:ea typeface="+mn-ea"/>
                          <a:cs typeface="+mn-cs"/>
                        </a:rPr>
                        <a:t>Ezhılazhagan</a:t>
                      </a:r>
                      <a:r>
                        <a:rPr lang="en-US" sz="1800" b="0" i="0" u="none" strike="noStrike" kern="1200" baseline="0" dirty="0" smtClean="0">
                          <a:solidFill>
                            <a:schemeClr val="dk1"/>
                          </a:solidFill>
                          <a:latin typeface="+mn-lt"/>
                          <a:ea typeface="+mn-ea"/>
                          <a:cs typeface="+mn-cs"/>
                        </a:rPr>
                        <a:t> CHENGUTTUVAN, </a:t>
                      </a:r>
                      <a:r>
                        <a:rPr lang="en-US" sz="1800" b="0" i="0" u="none" strike="noStrike" kern="1200" baseline="0" dirty="0" err="1" smtClean="0">
                          <a:solidFill>
                            <a:schemeClr val="dk1"/>
                          </a:solidFill>
                          <a:latin typeface="+mn-lt"/>
                          <a:ea typeface="+mn-ea"/>
                          <a:cs typeface="+mn-cs"/>
                        </a:rPr>
                        <a:t>Dhanasekar</a:t>
                      </a:r>
                      <a:r>
                        <a:rPr lang="en-US" sz="1800" b="0" i="0" u="none" strike="noStrike" kern="1200" baseline="0" dirty="0" smtClean="0">
                          <a:solidFill>
                            <a:schemeClr val="dk1"/>
                          </a:solidFill>
                          <a:latin typeface="+mn-lt"/>
                          <a:ea typeface="+mn-ea"/>
                          <a:cs typeface="+mn-cs"/>
                        </a:rPr>
                        <a:t> SUBRAMANIYAM[2] </a:t>
                      </a:r>
                      <a:endParaRPr lang="en-US" b="0" dirty="0"/>
                    </a:p>
                  </a:txBody>
                  <a:tcPr anchor="ctr"/>
                </a:tc>
                <a:tc>
                  <a:txBody>
                    <a:bodyPr/>
                    <a:lstStyle/>
                    <a:p>
                      <a:pPr algn="ctr"/>
                      <a:r>
                        <a:rPr lang="en-US" dirty="0" smtClean="0"/>
                        <a:t>2022</a:t>
                      </a:r>
                      <a:endParaRPr lang="en-US" dirty="0"/>
                    </a:p>
                  </a:txBody>
                  <a:tcPr anchor="ctr"/>
                </a:tc>
                <a:tc>
                  <a:txBody>
                    <a:bodyPr/>
                    <a:lstStyle/>
                    <a:p>
                      <a:pPr algn="ctr"/>
                      <a:r>
                        <a:rPr lang="en-US" dirty="0" smtClean="0"/>
                        <a:t>Use</a:t>
                      </a:r>
                      <a:r>
                        <a:rPr lang="en-US" baseline="0" dirty="0" smtClean="0"/>
                        <a:t> of CSKA Adder for a FIR design using bypass.</a:t>
                      </a:r>
                      <a:endParaRPr lang="en-US" dirty="0"/>
                    </a:p>
                  </a:txBody>
                  <a:tcPr anchor="ctr"/>
                </a:tc>
                <a:tc>
                  <a:txBody>
                    <a:bodyPr/>
                    <a:lstStyle/>
                    <a:p>
                      <a:pPr algn="ctr"/>
                      <a:r>
                        <a:rPr lang="en-US" baseline="0" dirty="0" smtClean="0"/>
                        <a:t>It uses Ripple carry adder with logic gates and a slow design. </a:t>
                      </a:r>
                      <a:endParaRPr lang="en-US" dirty="0"/>
                    </a:p>
                  </a:txBody>
                  <a:tcPr anchor="ctr"/>
                </a:tc>
                <a:extLst>
                  <a:ext uri="{0D108BD9-81ED-4DB2-BD59-A6C34878D82A}">
                    <a16:rowId xmlns:a16="http://schemas.microsoft.com/office/drawing/2014/main" val="1208864518"/>
                  </a:ext>
                </a:extLst>
              </a:tr>
              <a:tr h="990600">
                <a:tc>
                  <a:txBody>
                    <a:bodyPr/>
                    <a:lstStyle/>
                    <a:p>
                      <a:pPr algn="ctr"/>
                      <a:r>
                        <a:rPr lang="pt-BR" sz="1800" b="0" i="0" u="none" strike="noStrike" kern="1200" baseline="0" dirty="0" smtClean="0">
                          <a:solidFill>
                            <a:schemeClr val="dk1"/>
                          </a:solidFill>
                          <a:latin typeface="+mn-lt"/>
                          <a:ea typeface="+mn-ea"/>
                          <a:cs typeface="+mn-cs"/>
                        </a:rPr>
                        <a:t>P Das, A L Bhalerao, A Mane, A Angeline A and V S K Bhaaskaran</a:t>
                      </a:r>
                      <a:r>
                        <a:rPr lang="en-US" b="0" dirty="0" smtClean="0"/>
                        <a:t>[3]</a:t>
                      </a:r>
                      <a:r>
                        <a:rPr lang="en-US" dirty="0" smtClean="0"/>
                        <a:t> </a:t>
                      </a:r>
                      <a:endParaRPr lang="en-US" dirty="0"/>
                    </a:p>
                  </a:txBody>
                  <a:tcPr anchor="ctr"/>
                </a:tc>
                <a:tc>
                  <a:txBody>
                    <a:bodyPr/>
                    <a:lstStyle/>
                    <a:p>
                      <a:pPr algn="ctr"/>
                      <a:r>
                        <a:rPr lang="en-US" dirty="0" smtClean="0"/>
                        <a:t>2019</a:t>
                      </a:r>
                      <a:endParaRPr lang="en-US" dirty="0"/>
                    </a:p>
                  </a:txBody>
                  <a:tcPr anchor="ctr"/>
                </a:tc>
                <a:tc>
                  <a:txBody>
                    <a:bodyPr/>
                    <a:lstStyle/>
                    <a:p>
                      <a:pPr algn="ctr"/>
                      <a:r>
                        <a:rPr lang="en-US" dirty="0" smtClean="0"/>
                        <a:t>Use of Manchester</a:t>
                      </a:r>
                      <a:r>
                        <a:rPr lang="en-US" baseline="0" dirty="0" smtClean="0"/>
                        <a:t> carry adder with HSD.</a:t>
                      </a:r>
                      <a:endParaRPr lang="en-US" dirty="0"/>
                    </a:p>
                  </a:txBody>
                  <a:tcPr anchor="ctr"/>
                </a:tc>
                <a:tc>
                  <a:txBody>
                    <a:bodyPr/>
                    <a:lstStyle/>
                    <a:p>
                      <a:pPr algn="ctr"/>
                      <a:r>
                        <a:rPr lang="en-US" dirty="0" smtClean="0"/>
                        <a:t>The</a:t>
                      </a:r>
                      <a:r>
                        <a:rPr lang="en-US" baseline="0" dirty="0" smtClean="0"/>
                        <a:t> design does not use any bypass system.</a:t>
                      </a:r>
                      <a:endParaRPr lang="en-US" dirty="0"/>
                    </a:p>
                  </a:txBody>
                  <a:tcPr anchor="ctr"/>
                </a:tc>
                <a:extLst>
                  <a:ext uri="{0D108BD9-81ED-4DB2-BD59-A6C34878D82A}">
                    <a16:rowId xmlns:a16="http://schemas.microsoft.com/office/drawing/2014/main" val="4223363876"/>
                  </a:ext>
                </a:extLst>
              </a:tr>
            </a:tbl>
          </a:graphicData>
        </a:graphic>
      </p:graphicFrame>
    </p:spTree>
    <p:extLst>
      <p:ext uri="{BB962C8B-B14F-4D97-AF65-F5344CB8AC3E}">
        <p14:creationId xmlns:p14="http://schemas.microsoft.com/office/powerpoint/2010/main" val="42844538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280484" y="1906364"/>
            <a:ext cx="864235" cy="594360"/>
          </a:xfrm>
          <a:custGeom>
            <a:avLst/>
            <a:gdLst/>
            <a:ahLst/>
            <a:cxnLst/>
            <a:rect l="l" t="t" r="r" b="b"/>
            <a:pathLst>
              <a:path w="864235" h="594360">
                <a:moveTo>
                  <a:pt x="864108" y="0"/>
                </a:moveTo>
                <a:lnTo>
                  <a:pt x="0" y="0"/>
                </a:lnTo>
                <a:lnTo>
                  <a:pt x="864108" y="593978"/>
                </a:lnTo>
                <a:lnTo>
                  <a:pt x="864108" y="0"/>
                </a:lnTo>
                <a:close/>
              </a:path>
            </a:pathLst>
          </a:custGeom>
          <a:solidFill>
            <a:schemeClr val="bg2"/>
          </a:solidFill>
        </p:spPr>
        <p:txBody>
          <a:bodyPr wrap="square" lIns="0" tIns="0" rIns="0" bIns="0" rtlCol="0"/>
          <a:lstStyle/>
          <a:p>
            <a:endParaRPr/>
          </a:p>
        </p:txBody>
      </p:sp>
      <p:sp>
        <p:nvSpPr>
          <p:cNvPr id="4" name="object 4"/>
          <p:cNvSpPr txBox="1"/>
          <p:nvPr/>
        </p:nvSpPr>
        <p:spPr>
          <a:xfrm>
            <a:off x="2280484" y="1312257"/>
            <a:ext cx="864235" cy="594360"/>
          </a:xfrm>
          <a:prstGeom prst="rect">
            <a:avLst/>
          </a:prstGeom>
          <a:solidFill>
            <a:schemeClr val="bg2"/>
          </a:solidFill>
        </p:spPr>
        <p:txBody>
          <a:bodyPr vert="horz" wrap="square" lIns="0" tIns="59690" rIns="0" bIns="0" rtlCol="0">
            <a:spAutoFit/>
          </a:bodyPr>
          <a:lstStyle/>
          <a:p>
            <a:pPr marL="200025">
              <a:lnSpc>
                <a:spcPts val="4205"/>
              </a:lnSpc>
              <a:spcBef>
                <a:spcPts val="470"/>
              </a:spcBef>
            </a:pPr>
            <a:r>
              <a:rPr sz="3600" b="1" spc="-5" dirty="0">
                <a:solidFill>
                  <a:srgbClr val="FFFFFF"/>
                </a:solidFill>
                <a:latin typeface="Carlito"/>
                <a:cs typeface="Carlito"/>
              </a:rPr>
              <a:t>01</a:t>
            </a:r>
            <a:endParaRPr sz="3600" dirty="0">
              <a:latin typeface="Carlito"/>
              <a:cs typeface="Carlito"/>
            </a:endParaRPr>
          </a:p>
        </p:txBody>
      </p:sp>
      <p:sp>
        <p:nvSpPr>
          <p:cNvPr id="5" name="object 5"/>
          <p:cNvSpPr/>
          <p:nvPr/>
        </p:nvSpPr>
        <p:spPr>
          <a:xfrm>
            <a:off x="2256070" y="3463399"/>
            <a:ext cx="864235" cy="594360"/>
          </a:xfrm>
          <a:custGeom>
            <a:avLst/>
            <a:gdLst/>
            <a:ahLst/>
            <a:cxnLst/>
            <a:rect l="l" t="t" r="r" b="b"/>
            <a:pathLst>
              <a:path w="864235" h="594360">
                <a:moveTo>
                  <a:pt x="864107" y="0"/>
                </a:moveTo>
                <a:lnTo>
                  <a:pt x="0" y="0"/>
                </a:lnTo>
                <a:lnTo>
                  <a:pt x="864107" y="594106"/>
                </a:lnTo>
                <a:lnTo>
                  <a:pt x="864107" y="0"/>
                </a:lnTo>
                <a:close/>
              </a:path>
            </a:pathLst>
          </a:custGeom>
          <a:solidFill>
            <a:schemeClr val="bg2">
              <a:lumMod val="50000"/>
            </a:schemeClr>
          </a:solidFill>
        </p:spPr>
        <p:txBody>
          <a:bodyPr wrap="square" lIns="0" tIns="0" rIns="0" bIns="0" rtlCol="0"/>
          <a:lstStyle/>
          <a:p>
            <a:endParaRPr/>
          </a:p>
        </p:txBody>
      </p:sp>
      <p:sp>
        <p:nvSpPr>
          <p:cNvPr id="6" name="object 6"/>
          <p:cNvSpPr txBox="1"/>
          <p:nvPr/>
        </p:nvSpPr>
        <p:spPr>
          <a:xfrm>
            <a:off x="2256070" y="2869420"/>
            <a:ext cx="864235" cy="594360"/>
          </a:xfrm>
          <a:prstGeom prst="rect">
            <a:avLst/>
          </a:prstGeom>
          <a:solidFill>
            <a:schemeClr val="bg2">
              <a:lumMod val="50000"/>
            </a:schemeClr>
          </a:solidFill>
        </p:spPr>
        <p:txBody>
          <a:bodyPr vert="horz" wrap="square" lIns="0" tIns="60325" rIns="0" bIns="0" rtlCol="0">
            <a:spAutoFit/>
          </a:bodyPr>
          <a:lstStyle/>
          <a:p>
            <a:pPr marL="200025">
              <a:lnSpc>
                <a:spcPts val="4205"/>
              </a:lnSpc>
              <a:spcBef>
                <a:spcPts val="475"/>
              </a:spcBef>
            </a:pPr>
            <a:r>
              <a:rPr sz="3600" b="1" spc="-5" dirty="0">
                <a:solidFill>
                  <a:srgbClr val="FFFFFF"/>
                </a:solidFill>
                <a:latin typeface="Carlito"/>
                <a:cs typeface="Carlito"/>
              </a:rPr>
              <a:t>02</a:t>
            </a:r>
            <a:endParaRPr sz="3600" dirty="0">
              <a:latin typeface="Carlito"/>
              <a:cs typeface="Carlito"/>
            </a:endParaRPr>
          </a:p>
        </p:txBody>
      </p:sp>
      <p:sp>
        <p:nvSpPr>
          <p:cNvPr id="7" name="object 7"/>
          <p:cNvSpPr/>
          <p:nvPr/>
        </p:nvSpPr>
        <p:spPr>
          <a:xfrm>
            <a:off x="2268038" y="5021326"/>
            <a:ext cx="864235" cy="594360"/>
          </a:xfrm>
          <a:custGeom>
            <a:avLst/>
            <a:gdLst/>
            <a:ahLst/>
            <a:cxnLst/>
            <a:rect l="l" t="t" r="r" b="b"/>
            <a:pathLst>
              <a:path w="864235" h="594360">
                <a:moveTo>
                  <a:pt x="864108" y="0"/>
                </a:moveTo>
                <a:lnTo>
                  <a:pt x="0" y="0"/>
                </a:lnTo>
                <a:lnTo>
                  <a:pt x="864108" y="593979"/>
                </a:lnTo>
                <a:lnTo>
                  <a:pt x="864108" y="0"/>
                </a:lnTo>
                <a:close/>
              </a:path>
            </a:pathLst>
          </a:custGeom>
          <a:solidFill>
            <a:schemeClr val="bg2">
              <a:lumMod val="25000"/>
            </a:schemeClr>
          </a:solidFill>
        </p:spPr>
        <p:txBody>
          <a:bodyPr wrap="square" lIns="0" tIns="0" rIns="0" bIns="0" rtlCol="0"/>
          <a:lstStyle/>
          <a:p>
            <a:endParaRPr/>
          </a:p>
        </p:txBody>
      </p:sp>
      <p:sp>
        <p:nvSpPr>
          <p:cNvPr id="8" name="object 8"/>
          <p:cNvSpPr txBox="1"/>
          <p:nvPr/>
        </p:nvSpPr>
        <p:spPr>
          <a:xfrm>
            <a:off x="2268038" y="4427220"/>
            <a:ext cx="864235" cy="594360"/>
          </a:xfrm>
          <a:prstGeom prst="rect">
            <a:avLst/>
          </a:prstGeom>
          <a:solidFill>
            <a:schemeClr val="bg2">
              <a:lumMod val="25000"/>
            </a:schemeClr>
          </a:solidFill>
        </p:spPr>
        <p:txBody>
          <a:bodyPr vert="horz" wrap="square" lIns="0" tIns="60325" rIns="0" bIns="0" rtlCol="0">
            <a:spAutoFit/>
          </a:bodyPr>
          <a:lstStyle/>
          <a:p>
            <a:pPr marL="200025">
              <a:lnSpc>
                <a:spcPts val="4200"/>
              </a:lnSpc>
              <a:spcBef>
                <a:spcPts val="475"/>
              </a:spcBef>
            </a:pPr>
            <a:r>
              <a:rPr sz="3600" b="1" spc="-5" dirty="0">
                <a:solidFill>
                  <a:srgbClr val="FFFFFF"/>
                </a:solidFill>
                <a:latin typeface="Carlito"/>
                <a:cs typeface="Carlito"/>
              </a:rPr>
              <a:t>03</a:t>
            </a:r>
            <a:endParaRPr sz="3600" dirty="0">
              <a:latin typeface="Carlito"/>
              <a:cs typeface="Carlito"/>
            </a:endParaRPr>
          </a:p>
        </p:txBody>
      </p:sp>
      <p:sp>
        <p:nvSpPr>
          <p:cNvPr id="19" name="object 30"/>
          <p:cNvSpPr txBox="1">
            <a:spLocks noGrp="1"/>
          </p:cNvSpPr>
          <p:nvPr>
            <p:ph type="sldNum" sz="quarter" idx="12"/>
          </p:nvPr>
        </p:nvSpPr>
        <p:spPr>
          <a:xfrm>
            <a:off x="10923781"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11</a:t>
            </a:fld>
            <a:endParaRPr dirty="0"/>
          </a:p>
        </p:txBody>
      </p:sp>
      <p:sp>
        <p:nvSpPr>
          <p:cNvPr id="9" name="object 9"/>
          <p:cNvSpPr txBox="1">
            <a:spLocks noGrp="1"/>
          </p:cNvSpPr>
          <p:nvPr>
            <p:ph type="title" idx="4294967295"/>
          </p:nvPr>
        </p:nvSpPr>
        <p:spPr>
          <a:xfrm>
            <a:off x="0" y="152400"/>
            <a:ext cx="6172200" cy="689932"/>
          </a:xfrm>
          <a:prstGeom prst="rect">
            <a:avLst/>
          </a:prstGeom>
        </p:spPr>
        <p:txBody>
          <a:bodyPr vert="horz" wrap="square" lIns="0" tIns="12700" rIns="0" bIns="0" rtlCol="0">
            <a:spAutoFit/>
          </a:bodyPr>
          <a:lstStyle/>
          <a:p>
            <a:pPr marL="12700" algn="ctr">
              <a:lnSpc>
                <a:spcPct val="100000"/>
              </a:lnSpc>
              <a:spcBef>
                <a:spcPts val="100"/>
              </a:spcBef>
            </a:pPr>
            <a:r>
              <a:rPr lang="en-US" sz="4400" b="1" dirty="0" smtClean="0">
                <a:solidFill>
                  <a:schemeClr val="bg2">
                    <a:lumMod val="50000"/>
                  </a:schemeClr>
                </a:solidFill>
              </a:rPr>
              <a:t>PROBLEM STATMENT</a:t>
            </a:r>
            <a:endParaRPr sz="4400" dirty="0">
              <a:solidFill>
                <a:schemeClr val="bg2">
                  <a:lumMod val="50000"/>
                </a:schemeClr>
              </a:solidFill>
            </a:endParaRPr>
          </a:p>
        </p:txBody>
      </p:sp>
      <p:sp>
        <p:nvSpPr>
          <p:cNvPr id="10" name="object 10"/>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11" name="object 11"/>
          <p:cNvSpPr/>
          <p:nvPr/>
        </p:nvSpPr>
        <p:spPr>
          <a:xfrm>
            <a:off x="531390" y="5708755"/>
            <a:ext cx="1071300" cy="1074420"/>
          </a:xfrm>
          <a:prstGeom prst="rect">
            <a:avLst/>
          </a:prstGeom>
          <a:blipFill>
            <a:blip r:embed="rId2" cstate="print"/>
            <a:stretch>
              <a:fillRect/>
            </a:stretch>
          </a:blipFill>
        </p:spPr>
        <p:txBody>
          <a:bodyPr wrap="square" lIns="0" tIns="0" rIns="0" bIns="0" rtlCol="0"/>
          <a:lstStyle/>
          <a:p>
            <a:endParaRPr/>
          </a:p>
        </p:txBody>
      </p:sp>
      <p:sp>
        <p:nvSpPr>
          <p:cNvPr id="12" name="object 12"/>
          <p:cNvSpPr txBox="1"/>
          <p:nvPr/>
        </p:nvSpPr>
        <p:spPr>
          <a:xfrm>
            <a:off x="11171935" y="6427114"/>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rlito"/>
                <a:cs typeface="Carlito"/>
              </a:rPr>
              <a:t>6</a:t>
            </a:r>
            <a:endParaRPr sz="1200">
              <a:latin typeface="Carlito"/>
              <a:cs typeface="Carlito"/>
            </a:endParaRPr>
          </a:p>
        </p:txBody>
      </p:sp>
      <p:sp>
        <p:nvSpPr>
          <p:cNvPr id="13" name="object 13"/>
          <p:cNvSpPr/>
          <p:nvPr/>
        </p:nvSpPr>
        <p:spPr>
          <a:xfrm>
            <a:off x="3144211" y="1312257"/>
            <a:ext cx="5536565" cy="1188085"/>
          </a:xfrm>
          <a:custGeom>
            <a:avLst/>
            <a:gdLst/>
            <a:ahLst/>
            <a:cxnLst/>
            <a:rect l="l" t="t" r="r" b="b"/>
            <a:pathLst>
              <a:path w="5536565" h="1188085">
                <a:moveTo>
                  <a:pt x="5536057" y="0"/>
                </a:moveTo>
                <a:lnTo>
                  <a:pt x="0" y="0"/>
                </a:lnTo>
                <a:lnTo>
                  <a:pt x="0" y="1188085"/>
                </a:lnTo>
                <a:lnTo>
                  <a:pt x="5536057" y="1188085"/>
                </a:lnTo>
                <a:lnTo>
                  <a:pt x="5536057" y="0"/>
                </a:lnTo>
                <a:close/>
              </a:path>
            </a:pathLst>
          </a:custGeom>
          <a:solidFill>
            <a:schemeClr val="bg2">
              <a:lumMod val="50000"/>
              <a:alpha val="19999"/>
            </a:schemeClr>
          </a:solidFill>
        </p:spPr>
        <p:txBody>
          <a:bodyPr wrap="square" lIns="0" tIns="0" rIns="0" bIns="0" rtlCol="0"/>
          <a:lstStyle/>
          <a:p>
            <a:endParaRPr/>
          </a:p>
        </p:txBody>
      </p:sp>
      <p:sp>
        <p:nvSpPr>
          <p:cNvPr id="14" name="object 14"/>
          <p:cNvSpPr txBox="1"/>
          <p:nvPr/>
        </p:nvSpPr>
        <p:spPr>
          <a:xfrm>
            <a:off x="3324552" y="1428409"/>
            <a:ext cx="5548630" cy="630942"/>
          </a:xfrm>
          <a:prstGeom prst="rect">
            <a:avLst/>
          </a:prstGeom>
        </p:spPr>
        <p:txBody>
          <a:bodyPr vert="horz" wrap="square" lIns="0" tIns="198120" rIns="0" bIns="0" rtlCol="0">
            <a:spAutoFit/>
          </a:bodyPr>
          <a:lstStyle/>
          <a:p>
            <a:pPr lvl="0"/>
            <a:endParaRPr lang="en-US" sz="2800" dirty="0"/>
          </a:p>
        </p:txBody>
      </p:sp>
      <p:sp>
        <p:nvSpPr>
          <p:cNvPr id="15" name="object 15"/>
          <p:cNvSpPr/>
          <p:nvPr/>
        </p:nvSpPr>
        <p:spPr>
          <a:xfrm>
            <a:off x="3132146" y="4427220"/>
            <a:ext cx="5548630" cy="1188085"/>
          </a:xfrm>
          <a:custGeom>
            <a:avLst/>
            <a:gdLst/>
            <a:ahLst/>
            <a:cxnLst/>
            <a:rect l="l" t="t" r="r" b="b"/>
            <a:pathLst>
              <a:path w="5548630" h="1188085">
                <a:moveTo>
                  <a:pt x="5548375" y="0"/>
                </a:moveTo>
                <a:lnTo>
                  <a:pt x="0" y="0"/>
                </a:lnTo>
                <a:lnTo>
                  <a:pt x="0" y="1188085"/>
                </a:lnTo>
                <a:lnTo>
                  <a:pt x="5548375" y="1188085"/>
                </a:lnTo>
                <a:lnTo>
                  <a:pt x="5548375" y="0"/>
                </a:lnTo>
                <a:close/>
              </a:path>
            </a:pathLst>
          </a:custGeom>
          <a:solidFill>
            <a:schemeClr val="bg2">
              <a:lumMod val="50000"/>
              <a:alpha val="19999"/>
            </a:schemeClr>
          </a:solidFill>
        </p:spPr>
        <p:txBody>
          <a:bodyPr wrap="square" lIns="0" tIns="0" rIns="0" bIns="0" rtlCol="0"/>
          <a:lstStyle/>
          <a:p>
            <a:endParaRPr dirty="0"/>
          </a:p>
        </p:txBody>
      </p:sp>
      <p:sp>
        <p:nvSpPr>
          <p:cNvPr id="16" name="object 16"/>
          <p:cNvSpPr txBox="1"/>
          <p:nvPr/>
        </p:nvSpPr>
        <p:spPr>
          <a:xfrm>
            <a:off x="3147386" y="3032130"/>
            <a:ext cx="5082214" cy="430887"/>
          </a:xfrm>
          <a:prstGeom prst="rect">
            <a:avLst/>
          </a:prstGeom>
        </p:spPr>
        <p:txBody>
          <a:bodyPr vert="horz" wrap="square" lIns="0" tIns="0" rIns="0" bIns="0" rtlCol="0">
            <a:spAutoFit/>
          </a:bodyPr>
          <a:lstStyle/>
          <a:p>
            <a:pPr lvl="0"/>
            <a:r>
              <a:rPr lang="en-US" sz="2800" dirty="0" smtClean="0"/>
              <a:t>Reduce </a:t>
            </a:r>
            <a:r>
              <a:rPr lang="en-US" sz="2800" dirty="0"/>
              <a:t>Rise time and Fall time</a:t>
            </a:r>
          </a:p>
        </p:txBody>
      </p:sp>
      <p:sp>
        <p:nvSpPr>
          <p:cNvPr id="17" name="object 17"/>
          <p:cNvSpPr/>
          <p:nvPr/>
        </p:nvSpPr>
        <p:spPr>
          <a:xfrm>
            <a:off x="3112778" y="2868975"/>
            <a:ext cx="5587365" cy="1188085"/>
          </a:xfrm>
          <a:custGeom>
            <a:avLst/>
            <a:gdLst/>
            <a:ahLst/>
            <a:cxnLst/>
            <a:rect l="l" t="t" r="r" b="b"/>
            <a:pathLst>
              <a:path w="5587365" h="1188085">
                <a:moveTo>
                  <a:pt x="5587110" y="0"/>
                </a:moveTo>
                <a:lnTo>
                  <a:pt x="0" y="0"/>
                </a:lnTo>
                <a:lnTo>
                  <a:pt x="0" y="1188085"/>
                </a:lnTo>
                <a:lnTo>
                  <a:pt x="5587110" y="1188085"/>
                </a:lnTo>
                <a:lnTo>
                  <a:pt x="5587110" y="0"/>
                </a:lnTo>
                <a:close/>
              </a:path>
            </a:pathLst>
          </a:custGeom>
          <a:solidFill>
            <a:schemeClr val="bg2">
              <a:lumMod val="50000"/>
              <a:alpha val="19999"/>
            </a:schemeClr>
          </a:solidFill>
        </p:spPr>
        <p:txBody>
          <a:bodyPr wrap="square" lIns="0" tIns="0" rIns="0" bIns="0" rtlCol="0"/>
          <a:lstStyle/>
          <a:p>
            <a:endParaRPr/>
          </a:p>
        </p:txBody>
      </p:sp>
      <p:sp>
        <p:nvSpPr>
          <p:cNvPr id="18" name="object 18"/>
          <p:cNvSpPr txBox="1"/>
          <p:nvPr/>
        </p:nvSpPr>
        <p:spPr>
          <a:xfrm>
            <a:off x="3136585" y="1154943"/>
            <a:ext cx="5544191" cy="932307"/>
          </a:xfrm>
          <a:prstGeom prst="rect">
            <a:avLst/>
          </a:prstGeom>
        </p:spPr>
        <p:txBody>
          <a:bodyPr vert="horz" wrap="square" lIns="0" tIns="69850" rIns="0" bIns="0" rtlCol="0">
            <a:spAutoFit/>
          </a:bodyPr>
          <a:lstStyle/>
          <a:p>
            <a:pPr lvl="0"/>
            <a:endParaRPr lang="en-US" sz="2800" dirty="0"/>
          </a:p>
          <a:p>
            <a:pPr lvl="0"/>
            <a:r>
              <a:rPr lang="en-US" sz="2800" dirty="0" smtClean="0"/>
              <a:t>Reduce </a:t>
            </a:r>
            <a:r>
              <a:rPr lang="en-US" sz="2800" dirty="0"/>
              <a:t>the power consumption</a:t>
            </a:r>
          </a:p>
        </p:txBody>
      </p:sp>
      <p:sp>
        <p:nvSpPr>
          <p:cNvPr id="20" name="object 18"/>
          <p:cNvSpPr txBox="1"/>
          <p:nvPr/>
        </p:nvSpPr>
        <p:spPr>
          <a:xfrm>
            <a:off x="3311220" y="4555108"/>
            <a:ext cx="5544191" cy="501419"/>
          </a:xfrm>
          <a:prstGeom prst="rect">
            <a:avLst/>
          </a:prstGeom>
        </p:spPr>
        <p:txBody>
          <a:bodyPr vert="horz" wrap="square" lIns="0" tIns="69850" rIns="0" bIns="0" rtlCol="0">
            <a:spAutoFit/>
          </a:bodyPr>
          <a:lstStyle/>
          <a:p>
            <a:pPr lvl="0"/>
            <a:r>
              <a:rPr lang="en-US" sz="2800" dirty="0" smtClean="0"/>
              <a:t>Reduce </a:t>
            </a:r>
            <a:r>
              <a:rPr lang="en-US" sz="2800" dirty="0"/>
              <a:t>circuit complexity</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280484" y="1906364"/>
            <a:ext cx="864235" cy="594360"/>
          </a:xfrm>
          <a:custGeom>
            <a:avLst/>
            <a:gdLst/>
            <a:ahLst/>
            <a:cxnLst/>
            <a:rect l="l" t="t" r="r" b="b"/>
            <a:pathLst>
              <a:path w="864235" h="594360">
                <a:moveTo>
                  <a:pt x="864108" y="0"/>
                </a:moveTo>
                <a:lnTo>
                  <a:pt x="0" y="0"/>
                </a:lnTo>
                <a:lnTo>
                  <a:pt x="864108" y="593978"/>
                </a:lnTo>
                <a:lnTo>
                  <a:pt x="864108" y="0"/>
                </a:lnTo>
                <a:close/>
              </a:path>
            </a:pathLst>
          </a:custGeom>
          <a:solidFill>
            <a:schemeClr val="bg2"/>
          </a:solidFill>
        </p:spPr>
        <p:txBody>
          <a:bodyPr wrap="square" lIns="0" tIns="0" rIns="0" bIns="0" rtlCol="0"/>
          <a:lstStyle/>
          <a:p>
            <a:endParaRPr/>
          </a:p>
        </p:txBody>
      </p:sp>
      <p:sp>
        <p:nvSpPr>
          <p:cNvPr id="4" name="object 4"/>
          <p:cNvSpPr txBox="1"/>
          <p:nvPr/>
        </p:nvSpPr>
        <p:spPr>
          <a:xfrm>
            <a:off x="2280484" y="1312257"/>
            <a:ext cx="864235" cy="594360"/>
          </a:xfrm>
          <a:prstGeom prst="rect">
            <a:avLst/>
          </a:prstGeom>
          <a:solidFill>
            <a:schemeClr val="bg2"/>
          </a:solidFill>
        </p:spPr>
        <p:txBody>
          <a:bodyPr vert="horz" wrap="square" lIns="0" tIns="59690" rIns="0" bIns="0" rtlCol="0">
            <a:spAutoFit/>
          </a:bodyPr>
          <a:lstStyle/>
          <a:p>
            <a:pPr marL="200025">
              <a:lnSpc>
                <a:spcPts val="4205"/>
              </a:lnSpc>
              <a:spcBef>
                <a:spcPts val="470"/>
              </a:spcBef>
            </a:pPr>
            <a:r>
              <a:rPr sz="3600" b="1" spc="-5" dirty="0">
                <a:solidFill>
                  <a:srgbClr val="FFFFFF"/>
                </a:solidFill>
                <a:latin typeface="Carlito"/>
                <a:cs typeface="Carlito"/>
              </a:rPr>
              <a:t>01</a:t>
            </a:r>
            <a:endParaRPr sz="3600" dirty="0">
              <a:latin typeface="Carlito"/>
              <a:cs typeface="Carlito"/>
            </a:endParaRPr>
          </a:p>
        </p:txBody>
      </p:sp>
      <p:sp>
        <p:nvSpPr>
          <p:cNvPr id="5" name="object 5"/>
          <p:cNvSpPr/>
          <p:nvPr/>
        </p:nvSpPr>
        <p:spPr>
          <a:xfrm>
            <a:off x="2256070" y="3463399"/>
            <a:ext cx="864235" cy="594360"/>
          </a:xfrm>
          <a:custGeom>
            <a:avLst/>
            <a:gdLst/>
            <a:ahLst/>
            <a:cxnLst/>
            <a:rect l="l" t="t" r="r" b="b"/>
            <a:pathLst>
              <a:path w="864235" h="594360">
                <a:moveTo>
                  <a:pt x="864107" y="0"/>
                </a:moveTo>
                <a:lnTo>
                  <a:pt x="0" y="0"/>
                </a:lnTo>
                <a:lnTo>
                  <a:pt x="864107" y="594106"/>
                </a:lnTo>
                <a:lnTo>
                  <a:pt x="864107" y="0"/>
                </a:lnTo>
                <a:close/>
              </a:path>
            </a:pathLst>
          </a:custGeom>
          <a:solidFill>
            <a:schemeClr val="bg2">
              <a:lumMod val="50000"/>
            </a:schemeClr>
          </a:solidFill>
        </p:spPr>
        <p:txBody>
          <a:bodyPr wrap="square" lIns="0" tIns="0" rIns="0" bIns="0" rtlCol="0"/>
          <a:lstStyle/>
          <a:p>
            <a:endParaRPr/>
          </a:p>
        </p:txBody>
      </p:sp>
      <p:sp>
        <p:nvSpPr>
          <p:cNvPr id="6" name="object 6"/>
          <p:cNvSpPr txBox="1"/>
          <p:nvPr/>
        </p:nvSpPr>
        <p:spPr>
          <a:xfrm>
            <a:off x="2256070" y="2869420"/>
            <a:ext cx="864235" cy="594360"/>
          </a:xfrm>
          <a:prstGeom prst="rect">
            <a:avLst/>
          </a:prstGeom>
          <a:solidFill>
            <a:schemeClr val="bg2">
              <a:lumMod val="50000"/>
            </a:schemeClr>
          </a:solidFill>
        </p:spPr>
        <p:txBody>
          <a:bodyPr vert="horz" wrap="square" lIns="0" tIns="60325" rIns="0" bIns="0" rtlCol="0">
            <a:spAutoFit/>
          </a:bodyPr>
          <a:lstStyle/>
          <a:p>
            <a:pPr marL="200025">
              <a:lnSpc>
                <a:spcPts val="4205"/>
              </a:lnSpc>
              <a:spcBef>
                <a:spcPts val="475"/>
              </a:spcBef>
            </a:pPr>
            <a:r>
              <a:rPr sz="3600" b="1" spc="-5" dirty="0">
                <a:solidFill>
                  <a:srgbClr val="FFFFFF"/>
                </a:solidFill>
                <a:latin typeface="Carlito"/>
                <a:cs typeface="Carlito"/>
              </a:rPr>
              <a:t>02</a:t>
            </a:r>
            <a:endParaRPr sz="3600" dirty="0">
              <a:latin typeface="Carlito"/>
              <a:cs typeface="Carlito"/>
            </a:endParaRPr>
          </a:p>
        </p:txBody>
      </p:sp>
      <p:sp>
        <p:nvSpPr>
          <p:cNvPr id="7" name="object 7"/>
          <p:cNvSpPr/>
          <p:nvPr/>
        </p:nvSpPr>
        <p:spPr>
          <a:xfrm>
            <a:off x="2268038" y="5021326"/>
            <a:ext cx="864235" cy="594360"/>
          </a:xfrm>
          <a:custGeom>
            <a:avLst/>
            <a:gdLst/>
            <a:ahLst/>
            <a:cxnLst/>
            <a:rect l="l" t="t" r="r" b="b"/>
            <a:pathLst>
              <a:path w="864235" h="594360">
                <a:moveTo>
                  <a:pt x="864108" y="0"/>
                </a:moveTo>
                <a:lnTo>
                  <a:pt x="0" y="0"/>
                </a:lnTo>
                <a:lnTo>
                  <a:pt x="864108" y="593979"/>
                </a:lnTo>
                <a:lnTo>
                  <a:pt x="864108" y="0"/>
                </a:lnTo>
                <a:close/>
              </a:path>
            </a:pathLst>
          </a:custGeom>
          <a:solidFill>
            <a:schemeClr val="bg2">
              <a:lumMod val="25000"/>
            </a:schemeClr>
          </a:solidFill>
        </p:spPr>
        <p:txBody>
          <a:bodyPr wrap="square" lIns="0" tIns="0" rIns="0" bIns="0" rtlCol="0"/>
          <a:lstStyle/>
          <a:p>
            <a:endParaRPr/>
          </a:p>
        </p:txBody>
      </p:sp>
      <p:sp>
        <p:nvSpPr>
          <p:cNvPr id="8" name="object 8"/>
          <p:cNvSpPr txBox="1"/>
          <p:nvPr/>
        </p:nvSpPr>
        <p:spPr>
          <a:xfrm>
            <a:off x="2268038" y="4427220"/>
            <a:ext cx="864235" cy="594360"/>
          </a:xfrm>
          <a:prstGeom prst="rect">
            <a:avLst/>
          </a:prstGeom>
          <a:solidFill>
            <a:schemeClr val="bg2">
              <a:lumMod val="25000"/>
            </a:schemeClr>
          </a:solidFill>
        </p:spPr>
        <p:txBody>
          <a:bodyPr vert="horz" wrap="square" lIns="0" tIns="60325" rIns="0" bIns="0" rtlCol="0">
            <a:spAutoFit/>
          </a:bodyPr>
          <a:lstStyle/>
          <a:p>
            <a:pPr marL="200025">
              <a:lnSpc>
                <a:spcPts val="4200"/>
              </a:lnSpc>
              <a:spcBef>
                <a:spcPts val="475"/>
              </a:spcBef>
            </a:pPr>
            <a:r>
              <a:rPr sz="3600" b="1" spc="-5" dirty="0">
                <a:solidFill>
                  <a:srgbClr val="FFFFFF"/>
                </a:solidFill>
                <a:latin typeface="Carlito"/>
                <a:cs typeface="Carlito"/>
              </a:rPr>
              <a:t>03</a:t>
            </a:r>
            <a:endParaRPr sz="3600" dirty="0">
              <a:latin typeface="Carlito"/>
              <a:cs typeface="Carlito"/>
            </a:endParaRPr>
          </a:p>
        </p:txBody>
      </p:sp>
      <p:sp>
        <p:nvSpPr>
          <p:cNvPr id="19" name="object 30"/>
          <p:cNvSpPr txBox="1">
            <a:spLocks noGrp="1"/>
          </p:cNvSpPr>
          <p:nvPr>
            <p:ph type="sldNum" sz="quarter" idx="12"/>
          </p:nvPr>
        </p:nvSpPr>
        <p:spPr>
          <a:xfrm>
            <a:off x="10923781"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12</a:t>
            </a:fld>
            <a:endParaRPr dirty="0"/>
          </a:p>
        </p:txBody>
      </p:sp>
      <p:sp>
        <p:nvSpPr>
          <p:cNvPr id="9" name="object 9"/>
          <p:cNvSpPr txBox="1">
            <a:spLocks noGrp="1"/>
          </p:cNvSpPr>
          <p:nvPr>
            <p:ph type="title" idx="4294967295"/>
          </p:nvPr>
        </p:nvSpPr>
        <p:spPr>
          <a:xfrm>
            <a:off x="0" y="152400"/>
            <a:ext cx="3611563" cy="688975"/>
          </a:xfrm>
          <a:prstGeom prst="rect">
            <a:avLst/>
          </a:prstGeom>
        </p:spPr>
        <p:txBody>
          <a:bodyPr vert="horz" wrap="square" lIns="0" tIns="12700" rIns="0" bIns="0" rtlCol="0">
            <a:spAutoFit/>
          </a:bodyPr>
          <a:lstStyle/>
          <a:p>
            <a:pPr marL="12700" algn="ctr">
              <a:lnSpc>
                <a:spcPct val="100000"/>
              </a:lnSpc>
              <a:spcBef>
                <a:spcPts val="100"/>
              </a:spcBef>
            </a:pPr>
            <a:r>
              <a:rPr lang="en-US" sz="4400" b="1" dirty="0">
                <a:solidFill>
                  <a:schemeClr val="bg2">
                    <a:lumMod val="50000"/>
                  </a:schemeClr>
                </a:solidFill>
              </a:rPr>
              <a:t>OBJECTIVES</a:t>
            </a:r>
            <a:endParaRPr sz="4400" dirty="0">
              <a:solidFill>
                <a:schemeClr val="bg2">
                  <a:lumMod val="50000"/>
                </a:schemeClr>
              </a:solidFill>
            </a:endParaRPr>
          </a:p>
        </p:txBody>
      </p:sp>
      <p:sp>
        <p:nvSpPr>
          <p:cNvPr id="10" name="object 10"/>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11" name="object 11"/>
          <p:cNvSpPr/>
          <p:nvPr/>
        </p:nvSpPr>
        <p:spPr>
          <a:xfrm>
            <a:off x="531390" y="5708755"/>
            <a:ext cx="1071300" cy="1074420"/>
          </a:xfrm>
          <a:prstGeom prst="rect">
            <a:avLst/>
          </a:prstGeom>
          <a:blipFill>
            <a:blip r:embed="rId2" cstate="print"/>
            <a:stretch>
              <a:fillRect/>
            </a:stretch>
          </a:blipFill>
        </p:spPr>
        <p:txBody>
          <a:bodyPr wrap="square" lIns="0" tIns="0" rIns="0" bIns="0" rtlCol="0"/>
          <a:lstStyle/>
          <a:p>
            <a:endParaRPr/>
          </a:p>
        </p:txBody>
      </p:sp>
      <p:sp>
        <p:nvSpPr>
          <p:cNvPr id="12" name="object 12"/>
          <p:cNvSpPr txBox="1"/>
          <p:nvPr/>
        </p:nvSpPr>
        <p:spPr>
          <a:xfrm>
            <a:off x="11171935" y="6427114"/>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rlito"/>
                <a:cs typeface="Carlito"/>
              </a:rPr>
              <a:t>6</a:t>
            </a:r>
            <a:endParaRPr sz="1200">
              <a:latin typeface="Carlito"/>
              <a:cs typeface="Carlito"/>
            </a:endParaRPr>
          </a:p>
        </p:txBody>
      </p:sp>
      <p:sp>
        <p:nvSpPr>
          <p:cNvPr id="13" name="object 13"/>
          <p:cNvSpPr/>
          <p:nvPr/>
        </p:nvSpPr>
        <p:spPr>
          <a:xfrm>
            <a:off x="3144211" y="1312257"/>
            <a:ext cx="5536565" cy="1188085"/>
          </a:xfrm>
          <a:custGeom>
            <a:avLst/>
            <a:gdLst/>
            <a:ahLst/>
            <a:cxnLst/>
            <a:rect l="l" t="t" r="r" b="b"/>
            <a:pathLst>
              <a:path w="5536565" h="1188085">
                <a:moveTo>
                  <a:pt x="5536057" y="0"/>
                </a:moveTo>
                <a:lnTo>
                  <a:pt x="0" y="0"/>
                </a:lnTo>
                <a:lnTo>
                  <a:pt x="0" y="1188085"/>
                </a:lnTo>
                <a:lnTo>
                  <a:pt x="5536057" y="1188085"/>
                </a:lnTo>
                <a:lnTo>
                  <a:pt x="5536057" y="0"/>
                </a:lnTo>
                <a:close/>
              </a:path>
            </a:pathLst>
          </a:custGeom>
          <a:solidFill>
            <a:schemeClr val="bg2">
              <a:lumMod val="50000"/>
              <a:alpha val="19999"/>
            </a:schemeClr>
          </a:solidFill>
        </p:spPr>
        <p:txBody>
          <a:bodyPr wrap="square" lIns="0" tIns="0" rIns="0" bIns="0" rtlCol="0"/>
          <a:lstStyle/>
          <a:p>
            <a:endParaRPr/>
          </a:p>
        </p:txBody>
      </p:sp>
      <p:sp>
        <p:nvSpPr>
          <p:cNvPr id="14" name="object 14"/>
          <p:cNvSpPr txBox="1"/>
          <p:nvPr/>
        </p:nvSpPr>
        <p:spPr>
          <a:xfrm>
            <a:off x="3324552" y="1428409"/>
            <a:ext cx="5548630" cy="630942"/>
          </a:xfrm>
          <a:prstGeom prst="rect">
            <a:avLst/>
          </a:prstGeom>
        </p:spPr>
        <p:txBody>
          <a:bodyPr vert="horz" wrap="square" lIns="0" tIns="198120" rIns="0" bIns="0" rtlCol="0">
            <a:spAutoFit/>
          </a:bodyPr>
          <a:lstStyle/>
          <a:p>
            <a:pPr lvl="0"/>
            <a:endParaRPr lang="en-US" sz="2800" dirty="0"/>
          </a:p>
        </p:txBody>
      </p:sp>
      <p:sp>
        <p:nvSpPr>
          <p:cNvPr id="15" name="object 15"/>
          <p:cNvSpPr/>
          <p:nvPr/>
        </p:nvSpPr>
        <p:spPr>
          <a:xfrm>
            <a:off x="3132146" y="4427220"/>
            <a:ext cx="5548630" cy="1188085"/>
          </a:xfrm>
          <a:custGeom>
            <a:avLst/>
            <a:gdLst/>
            <a:ahLst/>
            <a:cxnLst/>
            <a:rect l="l" t="t" r="r" b="b"/>
            <a:pathLst>
              <a:path w="5548630" h="1188085">
                <a:moveTo>
                  <a:pt x="5548375" y="0"/>
                </a:moveTo>
                <a:lnTo>
                  <a:pt x="0" y="0"/>
                </a:lnTo>
                <a:lnTo>
                  <a:pt x="0" y="1188085"/>
                </a:lnTo>
                <a:lnTo>
                  <a:pt x="5548375" y="1188085"/>
                </a:lnTo>
                <a:lnTo>
                  <a:pt x="5548375" y="0"/>
                </a:lnTo>
                <a:close/>
              </a:path>
            </a:pathLst>
          </a:custGeom>
          <a:solidFill>
            <a:schemeClr val="bg2">
              <a:lumMod val="50000"/>
              <a:alpha val="19999"/>
            </a:schemeClr>
          </a:solidFill>
        </p:spPr>
        <p:txBody>
          <a:bodyPr wrap="square" lIns="0" tIns="0" rIns="0" bIns="0" rtlCol="0"/>
          <a:lstStyle/>
          <a:p>
            <a:endParaRPr dirty="0"/>
          </a:p>
        </p:txBody>
      </p:sp>
      <p:sp>
        <p:nvSpPr>
          <p:cNvPr id="16" name="object 16"/>
          <p:cNvSpPr txBox="1"/>
          <p:nvPr/>
        </p:nvSpPr>
        <p:spPr>
          <a:xfrm>
            <a:off x="3311220" y="3032130"/>
            <a:ext cx="5548630" cy="861774"/>
          </a:xfrm>
          <a:prstGeom prst="rect">
            <a:avLst/>
          </a:prstGeom>
        </p:spPr>
        <p:txBody>
          <a:bodyPr vert="horz" wrap="square" lIns="0" tIns="0" rIns="0" bIns="0" rtlCol="0">
            <a:spAutoFit/>
          </a:bodyPr>
          <a:lstStyle/>
          <a:p>
            <a:pPr lvl="0"/>
            <a:r>
              <a:rPr lang="en-US" sz="2800" dirty="0" smtClean="0"/>
              <a:t>To </a:t>
            </a:r>
            <a:r>
              <a:rPr lang="en-US" sz="2800" dirty="0"/>
              <a:t>improve the rise time and fall time for the circuit</a:t>
            </a:r>
          </a:p>
        </p:txBody>
      </p:sp>
      <p:sp>
        <p:nvSpPr>
          <p:cNvPr id="17" name="object 17"/>
          <p:cNvSpPr/>
          <p:nvPr/>
        </p:nvSpPr>
        <p:spPr>
          <a:xfrm>
            <a:off x="3120305" y="2869674"/>
            <a:ext cx="5587365" cy="1188085"/>
          </a:xfrm>
          <a:custGeom>
            <a:avLst/>
            <a:gdLst/>
            <a:ahLst/>
            <a:cxnLst/>
            <a:rect l="l" t="t" r="r" b="b"/>
            <a:pathLst>
              <a:path w="5587365" h="1188085">
                <a:moveTo>
                  <a:pt x="5587110" y="0"/>
                </a:moveTo>
                <a:lnTo>
                  <a:pt x="0" y="0"/>
                </a:lnTo>
                <a:lnTo>
                  <a:pt x="0" y="1188085"/>
                </a:lnTo>
                <a:lnTo>
                  <a:pt x="5587110" y="1188085"/>
                </a:lnTo>
                <a:lnTo>
                  <a:pt x="5587110" y="0"/>
                </a:lnTo>
                <a:close/>
              </a:path>
            </a:pathLst>
          </a:custGeom>
          <a:solidFill>
            <a:schemeClr val="bg2">
              <a:lumMod val="50000"/>
              <a:alpha val="19999"/>
            </a:schemeClr>
          </a:solidFill>
        </p:spPr>
        <p:txBody>
          <a:bodyPr wrap="square" lIns="0" tIns="0" rIns="0" bIns="0" rtlCol="0"/>
          <a:lstStyle/>
          <a:p>
            <a:endParaRPr/>
          </a:p>
        </p:txBody>
      </p:sp>
      <p:sp>
        <p:nvSpPr>
          <p:cNvPr id="18" name="object 18"/>
          <p:cNvSpPr txBox="1"/>
          <p:nvPr/>
        </p:nvSpPr>
        <p:spPr>
          <a:xfrm>
            <a:off x="3315659" y="1373798"/>
            <a:ext cx="5544191" cy="932307"/>
          </a:xfrm>
          <a:prstGeom prst="rect">
            <a:avLst/>
          </a:prstGeom>
        </p:spPr>
        <p:txBody>
          <a:bodyPr vert="horz" wrap="square" lIns="0" tIns="69850" rIns="0" bIns="0" rtlCol="0">
            <a:spAutoFit/>
          </a:bodyPr>
          <a:lstStyle/>
          <a:p>
            <a:pPr lvl="0"/>
            <a:r>
              <a:rPr lang="en-US" sz="2800" dirty="0" smtClean="0"/>
              <a:t>A </a:t>
            </a:r>
            <a:r>
              <a:rPr lang="en-US" sz="2800" dirty="0"/>
              <a:t>new adder design using existing designs</a:t>
            </a:r>
          </a:p>
        </p:txBody>
      </p:sp>
      <p:sp>
        <p:nvSpPr>
          <p:cNvPr id="20" name="object 18"/>
          <p:cNvSpPr txBox="1"/>
          <p:nvPr/>
        </p:nvSpPr>
        <p:spPr>
          <a:xfrm>
            <a:off x="3311220" y="4555108"/>
            <a:ext cx="5544191" cy="932307"/>
          </a:xfrm>
          <a:prstGeom prst="rect">
            <a:avLst/>
          </a:prstGeom>
        </p:spPr>
        <p:txBody>
          <a:bodyPr vert="horz" wrap="square" lIns="0" tIns="69850" rIns="0" bIns="0" rtlCol="0">
            <a:spAutoFit/>
          </a:bodyPr>
          <a:lstStyle/>
          <a:p>
            <a:pPr lvl="0"/>
            <a:r>
              <a:rPr lang="en-US" sz="2800" dirty="0" smtClean="0"/>
              <a:t>To </a:t>
            </a:r>
            <a:r>
              <a:rPr lang="en-US" sz="2800" dirty="0"/>
              <a:t>calculate the power consumption of the circuit.</a:t>
            </a:r>
          </a:p>
        </p:txBody>
      </p:sp>
    </p:spTree>
    <p:extLst>
      <p:ext uri="{BB962C8B-B14F-4D97-AF65-F5344CB8AC3E}">
        <p14:creationId xmlns:p14="http://schemas.microsoft.com/office/powerpoint/2010/main" val="26129106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13</a:t>
            </a:fld>
            <a:endParaRPr dirty="0"/>
          </a:p>
        </p:txBody>
      </p:sp>
      <p:sp>
        <p:nvSpPr>
          <p:cNvPr id="5" name="object 5"/>
          <p:cNvSpPr txBox="1">
            <a:spLocks noGrp="1"/>
          </p:cNvSpPr>
          <p:nvPr>
            <p:ph type="title" idx="4294967295"/>
          </p:nvPr>
        </p:nvSpPr>
        <p:spPr>
          <a:xfrm>
            <a:off x="0" y="304800"/>
            <a:ext cx="5029200" cy="688975"/>
          </a:xfrm>
          <a:prstGeom prst="rect">
            <a:avLst/>
          </a:prstGeom>
        </p:spPr>
        <p:txBody>
          <a:bodyPr vert="horz" wrap="square" lIns="0" tIns="12700" rIns="0" bIns="0" rtlCol="0">
            <a:spAutoFit/>
          </a:bodyPr>
          <a:lstStyle/>
          <a:p>
            <a:pPr marL="12700" algn="ctr">
              <a:lnSpc>
                <a:spcPct val="100000"/>
              </a:lnSpc>
              <a:spcBef>
                <a:spcPts val="100"/>
              </a:spcBef>
            </a:pPr>
            <a:r>
              <a:rPr lang="en-US" sz="4400" b="1" dirty="0">
                <a:solidFill>
                  <a:schemeClr val="bg2">
                    <a:lumMod val="50000"/>
                  </a:schemeClr>
                </a:solidFill>
              </a:rPr>
              <a:t>METHODOLOGY</a:t>
            </a:r>
            <a:endParaRPr sz="4400" dirty="0">
              <a:solidFill>
                <a:schemeClr val="bg2">
                  <a:lumMod val="50000"/>
                </a:schemeClr>
              </a:solidFill>
            </a:endParaRPr>
          </a:p>
        </p:txBody>
      </p:sp>
      <p:sp>
        <p:nvSpPr>
          <p:cNvPr id="36" name="object 36"/>
          <p:cNvSpPr txBox="1"/>
          <p:nvPr/>
        </p:nvSpPr>
        <p:spPr>
          <a:xfrm>
            <a:off x="2667000" y="5819469"/>
            <a:ext cx="2695575" cy="299720"/>
          </a:xfrm>
          <a:prstGeom prst="rect">
            <a:avLst/>
          </a:prstGeom>
        </p:spPr>
        <p:txBody>
          <a:bodyPr vert="horz" wrap="square" lIns="0" tIns="12700" rIns="0" bIns="0" rtlCol="0">
            <a:spAutoFit/>
          </a:bodyPr>
          <a:lstStyle/>
          <a:p>
            <a:pPr marL="12700">
              <a:lnSpc>
                <a:spcPct val="100000"/>
              </a:lnSpc>
              <a:spcBef>
                <a:spcPts val="100"/>
              </a:spcBef>
            </a:pPr>
            <a:r>
              <a:rPr sz="1800" spc="-145" dirty="0">
                <a:latin typeface="Arial"/>
                <a:cs typeface="Arial"/>
              </a:rPr>
              <a:t>Fig </a:t>
            </a:r>
            <a:r>
              <a:rPr sz="1800" spc="-75" dirty="0" smtClean="0">
                <a:latin typeface="Arial"/>
                <a:cs typeface="Arial"/>
              </a:rPr>
              <a:t>0</a:t>
            </a:r>
            <a:r>
              <a:rPr lang="en-US" spc="-75" dirty="0" smtClean="0">
                <a:latin typeface="Arial"/>
                <a:cs typeface="Arial"/>
              </a:rPr>
              <a:t>6</a:t>
            </a:r>
            <a:r>
              <a:rPr sz="1800" spc="-75" dirty="0" smtClean="0">
                <a:latin typeface="Arial"/>
                <a:cs typeface="Arial"/>
              </a:rPr>
              <a:t>: </a:t>
            </a:r>
            <a:r>
              <a:rPr sz="1800" spc="-150" dirty="0">
                <a:latin typeface="Arial"/>
                <a:cs typeface="Arial"/>
              </a:rPr>
              <a:t>System </a:t>
            </a:r>
            <a:r>
              <a:rPr sz="1800" spc="-114" dirty="0">
                <a:latin typeface="Arial"/>
                <a:cs typeface="Arial"/>
              </a:rPr>
              <a:t>Block</a:t>
            </a:r>
            <a:r>
              <a:rPr sz="1800" spc="-65" dirty="0">
                <a:latin typeface="Arial"/>
                <a:cs typeface="Arial"/>
              </a:rPr>
              <a:t> </a:t>
            </a:r>
            <a:r>
              <a:rPr sz="1800" spc="-110" dirty="0">
                <a:latin typeface="Arial"/>
                <a:cs typeface="Arial"/>
              </a:rPr>
              <a:t>Diagram</a:t>
            </a:r>
            <a:endParaRPr sz="1800" dirty="0">
              <a:latin typeface="Arial"/>
              <a:cs typeface="Arial"/>
            </a:endParaRPr>
          </a:p>
        </p:txBody>
      </p:sp>
      <p:sp>
        <p:nvSpPr>
          <p:cNvPr id="37" name="object 37"/>
          <p:cNvSpPr/>
          <p:nvPr/>
        </p:nvSpPr>
        <p:spPr>
          <a:xfrm>
            <a:off x="531390" y="5708755"/>
            <a:ext cx="1071300" cy="1074420"/>
          </a:xfrm>
          <a:prstGeom prst="rect">
            <a:avLst/>
          </a:prstGeom>
          <a:blipFill>
            <a:blip r:embed="rId2" cstate="print"/>
            <a:stretch>
              <a:fillRect/>
            </a:stretch>
          </a:blipFill>
        </p:spPr>
        <p:txBody>
          <a:bodyPr wrap="square" lIns="0" tIns="0" rIns="0" bIns="0" rtlCol="0"/>
          <a:lstStyle/>
          <a:p>
            <a:endParaRPr/>
          </a:p>
        </p:txBody>
      </p:sp>
      <p:sp>
        <p:nvSpPr>
          <p:cNvPr id="38" name="object 38"/>
          <p:cNvSpPr txBox="1"/>
          <p:nvPr/>
        </p:nvSpPr>
        <p:spPr>
          <a:xfrm>
            <a:off x="11171935" y="6427114"/>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rlito"/>
                <a:cs typeface="Carlito"/>
              </a:rPr>
              <a:t>7</a:t>
            </a:r>
            <a:endParaRPr sz="1200">
              <a:latin typeface="Carlito"/>
              <a:cs typeface="Carlito"/>
            </a:endParaRPr>
          </a:p>
        </p:txBody>
      </p:sp>
      <p:grpSp>
        <p:nvGrpSpPr>
          <p:cNvPr id="8" name="object 7"/>
          <p:cNvGrpSpPr/>
          <p:nvPr/>
        </p:nvGrpSpPr>
        <p:grpSpPr>
          <a:xfrm>
            <a:off x="9402826" y="69596"/>
            <a:ext cx="2789555" cy="6109335"/>
            <a:chOff x="9402826" y="69596"/>
            <a:chExt cx="2789555" cy="6109335"/>
          </a:xfrm>
        </p:grpSpPr>
        <p:sp>
          <p:nvSpPr>
            <p:cNvPr id="9" name="object 8"/>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10" name="object 9"/>
            <p:cNvSpPr/>
            <p:nvPr/>
          </p:nvSpPr>
          <p:spPr>
            <a:xfrm>
              <a:off x="9402826" y="5104472"/>
              <a:ext cx="1071289" cy="1074419"/>
            </a:xfrm>
            <a:prstGeom prst="rect">
              <a:avLst/>
            </a:prstGeom>
            <a:blipFill>
              <a:blip r:embed="rId3" cstate="print"/>
              <a:stretch>
                <a:fillRect/>
              </a:stretch>
            </a:blipFill>
          </p:spPr>
          <p:txBody>
            <a:bodyPr wrap="square" lIns="0" tIns="0" rIns="0" bIns="0" rtlCol="0"/>
            <a:lstStyle/>
            <a:p>
              <a:endParaRPr/>
            </a:p>
          </p:txBody>
        </p:sp>
      </p:grpSp>
      <p:sp>
        <p:nvSpPr>
          <p:cNvPr id="3" name="TextBox 2"/>
          <p:cNvSpPr txBox="1"/>
          <p:nvPr/>
        </p:nvSpPr>
        <p:spPr>
          <a:xfrm>
            <a:off x="8153400" y="2247037"/>
            <a:ext cx="2209800" cy="1754326"/>
          </a:xfrm>
          <a:prstGeom prst="rect">
            <a:avLst/>
          </a:prstGeom>
          <a:noFill/>
        </p:spPr>
        <p:txBody>
          <a:bodyPr wrap="square" rtlCol="0">
            <a:spAutoFit/>
          </a:bodyPr>
          <a:lstStyle/>
          <a:p>
            <a:r>
              <a:rPr lang="en-US" dirty="0" smtClean="0"/>
              <a:t>The overall system block </a:t>
            </a:r>
          </a:p>
          <a:p>
            <a:r>
              <a:rPr lang="en-US" dirty="0" smtClean="0"/>
              <a:t>Diagram contains the various components of the Adder</a:t>
            </a:r>
            <a:endParaRPr lang="en-US" dirty="0"/>
          </a:p>
        </p:txBody>
      </p:sp>
      <p:pic>
        <p:nvPicPr>
          <p:cNvPr id="2" name="Picture 1"/>
          <p:cNvPicPr>
            <a:picLocks noChangeAspect="1"/>
          </p:cNvPicPr>
          <p:nvPr/>
        </p:nvPicPr>
        <p:blipFill>
          <a:blip r:embed="rId4"/>
          <a:stretch>
            <a:fillRect/>
          </a:stretch>
        </p:blipFill>
        <p:spPr>
          <a:xfrm>
            <a:off x="528398" y="1237996"/>
            <a:ext cx="7548802" cy="4470759"/>
          </a:xfrm>
          <a:prstGeom prst="rect">
            <a:avLst/>
          </a:prstGeom>
        </p:spPr>
      </p:pic>
    </p:spTree>
    <p:extLst>
      <p:ext uri="{BB962C8B-B14F-4D97-AF65-F5344CB8AC3E}">
        <p14:creationId xmlns:p14="http://schemas.microsoft.com/office/powerpoint/2010/main" val="10712349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marR="0" lvl="0" indent="0" algn="r" defTabSz="457200" rtl="0" eaLnBrk="1" fontAlgn="auto" latinLnBrk="0" hangingPunct="1">
              <a:lnSpc>
                <a:spcPts val="1240"/>
              </a:lnSpc>
              <a:spcBef>
                <a:spcPts val="0"/>
              </a:spcBef>
              <a:spcAft>
                <a:spcPts val="0"/>
              </a:spcAft>
              <a:buClrTx/>
              <a:buSzTx/>
              <a:buFontTx/>
              <a:buNone/>
              <a:tabLst/>
              <a:defRPr/>
            </a:pPr>
            <a:fld id="{81D60167-4931-47E6-BA6A-407CBD079E47}" type="slidenum">
              <a:rPr kumimoji="0" sz="900" b="0" i="0" u="none" strike="noStrike" kern="1200" cap="none" spc="0" normalizeH="0" baseline="0" noProof="0" dirty="0">
                <a:ln>
                  <a:noFill/>
                </a:ln>
                <a:solidFill>
                  <a:srgbClr val="4A66AC"/>
                </a:solidFill>
                <a:effectLst/>
                <a:uLnTx/>
                <a:uFillTx/>
                <a:latin typeface="Trebuchet MS" panose="020B0603020202020204"/>
                <a:ea typeface="+mn-ea"/>
                <a:cs typeface="+mn-cs"/>
              </a:rPr>
              <a:pPr marL="38100" marR="0" lvl="0" indent="0" algn="r" defTabSz="457200" rtl="0" eaLnBrk="1" fontAlgn="auto" latinLnBrk="0" hangingPunct="1">
                <a:lnSpc>
                  <a:spcPts val="1240"/>
                </a:lnSpc>
                <a:spcBef>
                  <a:spcPts val="0"/>
                </a:spcBef>
                <a:spcAft>
                  <a:spcPts val="0"/>
                </a:spcAft>
                <a:buClrTx/>
                <a:buSzTx/>
                <a:buFontTx/>
                <a:buNone/>
                <a:tabLst/>
                <a:defRPr/>
              </a:pPr>
              <a:t>14</a:t>
            </a:fld>
            <a:endParaRPr kumimoji="0" sz="900" b="0" i="0" u="none" strike="noStrike" kern="1200" cap="none" spc="0" normalizeH="0" baseline="0" noProof="0" dirty="0">
              <a:ln>
                <a:noFill/>
              </a:ln>
              <a:solidFill>
                <a:srgbClr val="4A66AC"/>
              </a:solidFill>
              <a:effectLst/>
              <a:uLnTx/>
              <a:uFillTx/>
              <a:latin typeface="Trebuchet MS" panose="020B0603020202020204"/>
              <a:ea typeface="+mn-ea"/>
              <a:cs typeface="+mn-cs"/>
            </a:endParaRPr>
          </a:p>
        </p:txBody>
      </p:sp>
      <p:sp>
        <p:nvSpPr>
          <p:cNvPr id="5" name="object 5"/>
          <p:cNvSpPr txBox="1">
            <a:spLocks noGrp="1"/>
          </p:cNvSpPr>
          <p:nvPr>
            <p:ph type="title" idx="4294967295"/>
          </p:nvPr>
        </p:nvSpPr>
        <p:spPr>
          <a:xfrm>
            <a:off x="2819399" y="69596"/>
            <a:ext cx="5181600" cy="688975"/>
          </a:xfrm>
          <a:prstGeom prst="rect">
            <a:avLst/>
          </a:prstGeom>
        </p:spPr>
        <p:txBody>
          <a:bodyPr vert="horz" wrap="square" lIns="0" tIns="12700" rIns="0" bIns="0" rtlCol="0">
            <a:spAutoFit/>
          </a:bodyPr>
          <a:lstStyle/>
          <a:p>
            <a:pPr marL="12700" algn="ctr">
              <a:lnSpc>
                <a:spcPct val="100000"/>
              </a:lnSpc>
              <a:spcBef>
                <a:spcPts val="100"/>
              </a:spcBef>
            </a:pPr>
            <a:r>
              <a:rPr lang="en-US" sz="4400" b="1" dirty="0">
                <a:solidFill>
                  <a:schemeClr val="bg2">
                    <a:lumMod val="50000"/>
                  </a:schemeClr>
                </a:solidFill>
              </a:rPr>
              <a:t>METHODOLOGY</a:t>
            </a:r>
            <a:endParaRPr sz="4400" dirty="0">
              <a:solidFill>
                <a:schemeClr val="bg2">
                  <a:lumMod val="50000"/>
                </a:schemeClr>
              </a:solidFill>
            </a:endParaRPr>
          </a:p>
        </p:txBody>
      </p:sp>
      <p:sp>
        <p:nvSpPr>
          <p:cNvPr id="36" name="object 36"/>
          <p:cNvSpPr txBox="1"/>
          <p:nvPr/>
        </p:nvSpPr>
        <p:spPr>
          <a:xfrm>
            <a:off x="3352800" y="6079681"/>
            <a:ext cx="3962400" cy="289823"/>
          </a:xfrm>
          <a:prstGeom prst="rect">
            <a:avLst/>
          </a:prstGeom>
        </p:spPr>
        <p:txBody>
          <a:bodyPr vert="horz" wrap="square" lIns="0" tIns="12700" rIns="0" bIns="0" rtlCol="0">
            <a:spAutoFit/>
          </a:bodyPr>
          <a:lstStyle/>
          <a:p>
            <a:pPr marL="12700" marR="0" lvl="0" indent="0" algn="l" defTabSz="457200" rtl="0" eaLnBrk="1" fontAlgn="auto" latinLnBrk="0" hangingPunct="1">
              <a:lnSpc>
                <a:spcPct val="100000"/>
              </a:lnSpc>
              <a:spcBef>
                <a:spcPts val="100"/>
              </a:spcBef>
              <a:spcAft>
                <a:spcPts val="0"/>
              </a:spcAft>
              <a:buClrTx/>
              <a:buSzTx/>
              <a:buFontTx/>
              <a:buNone/>
              <a:tabLst/>
              <a:defRPr/>
            </a:pPr>
            <a:r>
              <a:rPr kumimoji="0" sz="1800" b="0" i="0" u="none" strike="noStrike" kern="1200" cap="none" spc="-145" normalizeH="0" baseline="0" noProof="0" dirty="0">
                <a:ln>
                  <a:noFill/>
                </a:ln>
                <a:solidFill>
                  <a:prstClr val="black"/>
                </a:solidFill>
                <a:effectLst/>
                <a:uLnTx/>
                <a:uFillTx/>
                <a:latin typeface="Arial"/>
                <a:ea typeface="+mn-ea"/>
                <a:cs typeface="Arial"/>
              </a:rPr>
              <a:t>Fig </a:t>
            </a:r>
            <a:r>
              <a:rPr kumimoji="0" sz="1800" b="0" i="0" u="none" strike="noStrike" kern="1200" cap="none" spc="-75" normalizeH="0" baseline="0" noProof="0" dirty="0" smtClean="0">
                <a:ln>
                  <a:noFill/>
                </a:ln>
                <a:solidFill>
                  <a:prstClr val="black"/>
                </a:solidFill>
                <a:effectLst/>
                <a:uLnTx/>
                <a:uFillTx/>
                <a:latin typeface="Arial"/>
                <a:ea typeface="+mn-ea"/>
                <a:cs typeface="Arial"/>
              </a:rPr>
              <a:t>0</a:t>
            </a:r>
            <a:r>
              <a:rPr lang="en-US" spc="-75" dirty="0">
                <a:solidFill>
                  <a:prstClr val="black"/>
                </a:solidFill>
                <a:latin typeface="Arial"/>
                <a:cs typeface="Arial"/>
              </a:rPr>
              <a:t>7</a:t>
            </a:r>
            <a:r>
              <a:rPr kumimoji="0" sz="1800" b="0" i="0" u="none" strike="noStrike" kern="1200" cap="none" spc="-75" normalizeH="0" baseline="0" noProof="0" dirty="0" smtClean="0">
                <a:ln>
                  <a:noFill/>
                </a:ln>
                <a:solidFill>
                  <a:prstClr val="black"/>
                </a:solidFill>
                <a:effectLst/>
                <a:uLnTx/>
                <a:uFillTx/>
                <a:latin typeface="Arial"/>
                <a:ea typeface="+mn-ea"/>
                <a:cs typeface="Arial"/>
              </a:rPr>
              <a:t>: </a:t>
            </a:r>
            <a:r>
              <a:rPr kumimoji="0" lang="en-US" sz="1800" b="0" i="0" u="none" strike="noStrike" kern="1200" cap="none" spc="-150" normalizeH="0" baseline="0" noProof="0" dirty="0" smtClean="0">
                <a:ln>
                  <a:noFill/>
                </a:ln>
                <a:solidFill>
                  <a:prstClr val="black"/>
                </a:solidFill>
                <a:effectLst/>
                <a:uLnTx/>
                <a:uFillTx/>
                <a:latin typeface="Arial"/>
                <a:ea typeface="+mn-ea"/>
                <a:cs typeface="Arial"/>
              </a:rPr>
              <a:t>Type I  Cell</a:t>
            </a:r>
            <a:endParaRPr kumimoji="0" sz="1800" b="0" i="0" u="none" strike="noStrike" kern="1200" cap="none" spc="0" normalizeH="0" baseline="0" noProof="0" dirty="0">
              <a:ln>
                <a:noFill/>
              </a:ln>
              <a:solidFill>
                <a:prstClr val="black"/>
              </a:solidFill>
              <a:effectLst/>
              <a:uLnTx/>
              <a:uFillTx/>
              <a:latin typeface="Arial"/>
              <a:ea typeface="+mn-ea"/>
              <a:cs typeface="Arial"/>
            </a:endParaRPr>
          </a:p>
        </p:txBody>
      </p:sp>
      <p:sp>
        <p:nvSpPr>
          <p:cNvPr id="37" name="object 37"/>
          <p:cNvSpPr/>
          <p:nvPr/>
        </p:nvSpPr>
        <p:spPr>
          <a:xfrm>
            <a:off x="531390" y="5708755"/>
            <a:ext cx="1071300" cy="1074420"/>
          </a:xfrm>
          <a:prstGeom prst="rect">
            <a:avLst/>
          </a:prstGeom>
          <a:blipFill>
            <a:blip r:embed="rId2"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38" name="object 38"/>
          <p:cNvSpPr txBox="1"/>
          <p:nvPr/>
        </p:nvSpPr>
        <p:spPr>
          <a:xfrm>
            <a:off x="11171935" y="6427114"/>
            <a:ext cx="102870" cy="208279"/>
          </a:xfrm>
          <a:prstGeom prst="rect">
            <a:avLst/>
          </a:prstGeom>
        </p:spPr>
        <p:txBody>
          <a:bodyPr vert="horz" wrap="square" lIns="0" tIns="12700" rIns="0" bIns="0" rtlCol="0">
            <a:spAutoFit/>
          </a:bodyPr>
          <a:lstStyle/>
          <a:p>
            <a:pPr marL="12700" marR="0" lvl="0" indent="0" algn="l" defTabSz="457200" rtl="0" eaLnBrk="1" fontAlgn="auto" latinLnBrk="0" hangingPunct="1">
              <a:lnSpc>
                <a:spcPct val="100000"/>
              </a:lnSpc>
              <a:spcBef>
                <a:spcPts val="100"/>
              </a:spcBef>
              <a:spcAft>
                <a:spcPts val="0"/>
              </a:spcAft>
              <a:buClrTx/>
              <a:buSzTx/>
              <a:buFontTx/>
              <a:buNone/>
              <a:tabLst/>
              <a:defRPr/>
            </a:pPr>
            <a:r>
              <a:rPr kumimoji="0" sz="1200" b="0" i="0" u="none" strike="noStrike" kern="1200" cap="none" spc="0" normalizeH="0" baseline="0" noProof="0" dirty="0">
                <a:ln>
                  <a:noFill/>
                </a:ln>
                <a:solidFill>
                  <a:srgbClr val="888888"/>
                </a:solidFill>
                <a:effectLst/>
                <a:uLnTx/>
                <a:uFillTx/>
                <a:latin typeface="Carlito"/>
                <a:ea typeface="+mn-ea"/>
                <a:cs typeface="Carlito"/>
              </a:rPr>
              <a:t>7</a:t>
            </a:r>
            <a:endParaRPr kumimoji="0" sz="1200" b="0" i="0" u="none" strike="noStrike" kern="1200" cap="none" spc="0" normalizeH="0" baseline="0" noProof="0">
              <a:ln>
                <a:noFill/>
              </a:ln>
              <a:solidFill>
                <a:prstClr val="black"/>
              </a:solidFill>
              <a:effectLst/>
              <a:uLnTx/>
              <a:uFillTx/>
              <a:latin typeface="Carlito"/>
              <a:ea typeface="+mn-ea"/>
              <a:cs typeface="Carlito"/>
            </a:endParaRPr>
          </a:p>
        </p:txBody>
      </p:sp>
      <p:grpSp>
        <p:nvGrpSpPr>
          <p:cNvPr id="8" name="object 7"/>
          <p:cNvGrpSpPr/>
          <p:nvPr/>
        </p:nvGrpSpPr>
        <p:grpSpPr>
          <a:xfrm>
            <a:off x="9402826" y="69596"/>
            <a:ext cx="2789555" cy="6109335"/>
            <a:chOff x="9402826" y="69596"/>
            <a:chExt cx="2789555" cy="6109335"/>
          </a:xfrm>
        </p:grpSpPr>
        <p:sp>
          <p:nvSpPr>
            <p:cNvPr id="9" name="object 8"/>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10" name="object 9"/>
            <p:cNvSpPr/>
            <p:nvPr/>
          </p:nvSpPr>
          <p:spPr>
            <a:xfrm>
              <a:off x="9402826" y="5104472"/>
              <a:ext cx="1071289" cy="1074419"/>
            </a:xfrm>
            <a:prstGeom prst="rect">
              <a:avLst/>
            </a:prstGeom>
            <a:blipFill>
              <a:blip r:embed="rId3" cstate="print"/>
              <a:stretch>
                <a:fillRect/>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grpSp>
      <p:pic>
        <p:nvPicPr>
          <p:cNvPr id="4" name="Picture 3"/>
          <p:cNvPicPr>
            <a:picLocks noChangeAspect="1"/>
          </p:cNvPicPr>
          <p:nvPr/>
        </p:nvPicPr>
        <p:blipFill>
          <a:blip r:embed="rId4"/>
          <a:stretch>
            <a:fillRect/>
          </a:stretch>
        </p:blipFill>
        <p:spPr>
          <a:xfrm>
            <a:off x="1545098" y="758571"/>
            <a:ext cx="5438103" cy="5279594"/>
          </a:xfrm>
          <a:prstGeom prst="rect">
            <a:avLst/>
          </a:prstGeom>
        </p:spPr>
      </p:pic>
      <p:sp>
        <p:nvSpPr>
          <p:cNvPr id="6" name="TextBox 5"/>
          <p:cNvSpPr txBox="1"/>
          <p:nvPr/>
        </p:nvSpPr>
        <p:spPr>
          <a:xfrm>
            <a:off x="7086600" y="1089910"/>
            <a:ext cx="4512454" cy="2031325"/>
          </a:xfrm>
          <a:prstGeom prst="rect">
            <a:avLst/>
          </a:prstGeom>
          <a:noFill/>
        </p:spPr>
        <p:txBody>
          <a:bodyPr wrap="none" rtlCol="0">
            <a:spAutoFit/>
          </a:bodyPr>
          <a:lstStyle/>
          <a:p>
            <a:r>
              <a:rPr lang="en-GB" dirty="0"/>
              <a:t>The Type I cell incorporates one </a:t>
            </a:r>
            <a:r>
              <a:rPr lang="en-GB" dirty="0" err="1"/>
              <a:t>intercell</a:t>
            </a:r>
            <a:r>
              <a:rPr lang="en-GB" dirty="0"/>
              <a:t> </a:t>
            </a:r>
            <a:endParaRPr lang="en-GB" dirty="0" smtClean="0"/>
          </a:p>
          <a:p>
            <a:r>
              <a:rPr lang="en-GB" dirty="0" smtClean="0"/>
              <a:t>and </a:t>
            </a:r>
            <a:r>
              <a:rPr lang="en-GB" dirty="0"/>
              <a:t>two </a:t>
            </a:r>
            <a:r>
              <a:rPr lang="en-GB" dirty="0" err="1"/>
              <a:t>intracell</a:t>
            </a:r>
            <a:r>
              <a:rPr lang="en-GB" dirty="0"/>
              <a:t> bypass transistors</a:t>
            </a:r>
            <a:r>
              <a:rPr lang="en-GB" dirty="0" smtClean="0"/>
              <a:t>,</a:t>
            </a:r>
          </a:p>
          <a:p>
            <a:r>
              <a:rPr lang="en-GB" dirty="0" smtClean="0"/>
              <a:t> </a:t>
            </a:r>
            <a:r>
              <a:rPr lang="en-GB" dirty="0"/>
              <a:t>specifically P0−3P_{0-3}P0−3​, P1−</a:t>
            </a:r>
            <a:r>
              <a:rPr lang="en-GB" dirty="0" smtClean="0"/>
              <a:t>3</a:t>
            </a:r>
          </a:p>
          <a:p>
            <a:r>
              <a:rPr lang="en-GB" dirty="0" smtClean="0"/>
              <a:t>P</a:t>
            </a:r>
            <a:r>
              <a:rPr lang="en-GB" dirty="0"/>
              <a:t>_{1-3}P1−3​, and P2−3P_{2-3}P2−3​. </a:t>
            </a:r>
            <a:endParaRPr lang="en-GB" dirty="0" smtClean="0"/>
          </a:p>
          <a:p>
            <a:r>
              <a:rPr lang="en-GB" dirty="0" smtClean="0"/>
              <a:t>The </a:t>
            </a:r>
            <a:r>
              <a:rPr lang="en-GB" dirty="0"/>
              <a:t>presence of P0−3P_{0-3}P0−3​ </a:t>
            </a:r>
            <a:endParaRPr lang="en-GB" dirty="0" smtClean="0"/>
          </a:p>
          <a:p>
            <a:r>
              <a:rPr lang="en-GB" dirty="0" smtClean="0"/>
              <a:t>enables </a:t>
            </a:r>
            <a:r>
              <a:rPr lang="en-GB" dirty="0"/>
              <a:t>the carry input </a:t>
            </a:r>
            <a:r>
              <a:rPr lang="en-GB" dirty="0" err="1"/>
              <a:t>Cin</a:t>
            </a:r>
            <a:r>
              <a:rPr lang="en-GB" dirty="0"/>
              <a:t>​ </a:t>
            </a:r>
            <a:endParaRPr lang="en-GB" dirty="0" smtClean="0"/>
          </a:p>
          <a:p>
            <a:r>
              <a:rPr lang="en-GB" dirty="0" smtClean="0"/>
              <a:t>to </a:t>
            </a:r>
            <a:r>
              <a:rPr lang="en-GB" dirty="0"/>
              <a:t>propagate swiftly to the Type II cell. </a:t>
            </a:r>
            <a:endParaRPr lang="en-US" dirty="0"/>
          </a:p>
        </p:txBody>
      </p:sp>
    </p:spTree>
    <p:extLst>
      <p:ext uri="{BB962C8B-B14F-4D97-AF65-F5344CB8AC3E}">
        <p14:creationId xmlns:p14="http://schemas.microsoft.com/office/powerpoint/2010/main" val="27125870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15</a:t>
            </a:fld>
            <a:endParaRPr dirty="0"/>
          </a:p>
        </p:txBody>
      </p:sp>
      <p:sp>
        <p:nvSpPr>
          <p:cNvPr id="2" name="object 2"/>
          <p:cNvSpPr txBox="1">
            <a:spLocks noGrp="1"/>
          </p:cNvSpPr>
          <p:nvPr>
            <p:ph type="title" idx="4294967295"/>
          </p:nvPr>
        </p:nvSpPr>
        <p:spPr>
          <a:xfrm>
            <a:off x="1447800" y="193851"/>
            <a:ext cx="6400800" cy="689932"/>
          </a:xfrm>
          <a:prstGeom prst="rect">
            <a:avLst/>
          </a:prstGeom>
        </p:spPr>
        <p:txBody>
          <a:bodyPr vert="horz" wrap="square" lIns="0" tIns="12700" rIns="0" bIns="0" rtlCol="0">
            <a:spAutoFit/>
          </a:bodyPr>
          <a:lstStyle/>
          <a:p>
            <a:pPr marL="12700" algn="ctr">
              <a:lnSpc>
                <a:spcPct val="100000"/>
              </a:lnSpc>
              <a:spcBef>
                <a:spcPts val="100"/>
              </a:spcBef>
            </a:pPr>
            <a:r>
              <a:rPr lang="en-US" sz="4400" b="1" dirty="0" smtClean="0">
                <a:solidFill>
                  <a:schemeClr val="bg2">
                    <a:lumMod val="50000"/>
                  </a:schemeClr>
                </a:solidFill>
              </a:rPr>
              <a:t>METHODOLOGY(CONT)</a:t>
            </a:r>
            <a:endParaRPr sz="4400" dirty="0">
              <a:solidFill>
                <a:schemeClr val="bg2">
                  <a:lumMod val="50000"/>
                </a:schemeClr>
              </a:solidFill>
            </a:endParaRPr>
          </a:p>
        </p:txBody>
      </p:sp>
      <p:sp>
        <p:nvSpPr>
          <p:cNvPr id="6" name="object 6"/>
          <p:cNvSpPr txBox="1"/>
          <p:nvPr/>
        </p:nvSpPr>
        <p:spPr>
          <a:xfrm>
            <a:off x="2167791" y="6214893"/>
            <a:ext cx="3796665" cy="289823"/>
          </a:xfrm>
          <a:prstGeom prst="rect">
            <a:avLst/>
          </a:prstGeom>
        </p:spPr>
        <p:txBody>
          <a:bodyPr vert="horz" wrap="square" lIns="0" tIns="12700" rIns="0" bIns="0" rtlCol="0">
            <a:spAutoFit/>
          </a:bodyPr>
          <a:lstStyle/>
          <a:p>
            <a:pPr marL="12700">
              <a:lnSpc>
                <a:spcPct val="100000"/>
              </a:lnSpc>
              <a:spcBef>
                <a:spcPts val="100"/>
              </a:spcBef>
            </a:pPr>
            <a:r>
              <a:rPr sz="1800" spc="-145" dirty="0">
                <a:latin typeface="Arial"/>
                <a:cs typeface="Arial"/>
              </a:rPr>
              <a:t>Fig </a:t>
            </a:r>
            <a:r>
              <a:rPr sz="1800" spc="-70" dirty="0" smtClean="0">
                <a:latin typeface="Arial"/>
                <a:cs typeface="Arial"/>
              </a:rPr>
              <a:t>0</a:t>
            </a:r>
            <a:r>
              <a:rPr lang="en-US" spc="-70" dirty="0">
                <a:latin typeface="Arial"/>
                <a:cs typeface="Arial"/>
              </a:rPr>
              <a:t>8</a:t>
            </a:r>
            <a:r>
              <a:rPr sz="1800" spc="-70" dirty="0" smtClean="0">
                <a:latin typeface="Arial"/>
                <a:cs typeface="Arial"/>
              </a:rPr>
              <a:t>: </a:t>
            </a:r>
            <a:r>
              <a:rPr lang="en-US" spc="-70" dirty="0" smtClean="0">
                <a:latin typeface="Arial"/>
                <a:cs typeface="Arial"/>
              </a:rPr>
              <a:t>Type II Cell </a:t>
            </a:r>
            <a:r>
              <a:rPr lang="en-US" sz="1800" spc="-70" dirty="0" smtClean="0">
                <a:latin typeface="Arial"/>
                <a:cs typeface="Arial"/>
              </a:rPr>
              <a:t> </a:t>
            </a:r>
            <a:endParaRPr sz="1800" dirty="0">
              <a:latin typeface="Arial"/>
              <a:cs typeface="Arial"/>
            </a:endParaRPr>
          </a:p>
        </p:txBody>
      </p:sp>
      <p:grpSp>
        <p:nvGrpSpPr>
          <p:cNvPr id="7" name="object 7"/>
          <p:cNvGrpSpPr/>
          <p:nvPr/>
        </p:nvGrpSpPr>
        <p:grpSpPr>
          <a:xfrm>
            <a:off x="9402826" y="69596"/>
            <a:ext cx="2789555" cy="6109335"/>
            <a:chOff x="9402826" y="69596"/>
            <a:chExt cx="2789555" cy="6109335"/>
          </a:xfrm>
        </p:grpSpPr>
        <p:sp>
          <p:nvSpPr>
            <p:cNvPr id="8" name="object 8"/>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9" name="object 9"/>
            <p:cNvSpPr/>
            <p:nvPr/>
          </p:nvSpPr>
          <p:spPr>
            <a:xfrm>
              <a:off x="9402826" y="5104472"/>
              <a:ext cx="1071289" cy="1074419"/>
            </a:xfrm>
            <a:prstGeom prst="rect">
              <a:avLst/>
            </a:prstGeom>
            <a:blipFill>
              <a:blip r:embed="rId2" cstate="print"/>
              <a:stretch>
                <a:fillRect/>
              </a:stretch>
            </a:blipFill>
          </p:spPr>
          <p:txBody>
            <a:bodyPr wrap="square" lIns="0" tIns="0" rIns="0" bIns="0" rtlCol="0"/>
            <a:lstStyle/>
            <a:p>
              <a:endParaRPr/>
            </a:p>
          </p:txBody>
        </p:sp>
      </p:grpSp>
      <p:sp>
        <p:nvSpPr>
          <p:cNvPr id="10" name="object 10"/>
          <p:cNvSpPr/>
          <p:nvPr/>
        </p:nvSpPr>
        <p:spPr>
          <a:xfrm>
            <a:off x="531390" y="5708755"/>
            <a:ext cx="1071300" cy="1074420"/>
          </a:xfrm>
          <a:prstGeom prst="rect">
            <a:avLst/>
          </a:prstGeom>
          <a:blipFill>
            <a:blip r:embed="rId3" cstate="print"/>
            <a:stretch>
              <a:fillRect/>
            </a:stretch>
          </a:blipFill>
        </p:spPr>
        <p:txBody>
          <a:bodyPr wrap="square" lIns="0" tIns="0" rIns="0" bIns="0" rtlCol="0"/>
          <a:lstStyle/>
          <a:p>
            <a:endParaRPr/>
          </a:p>
        </p:txBody>
      </p:sp>
      <p:sp>
        <p:nvSpPr>
          <p:cNvPr id="11" name="object 11"/>
          <p:cNvSpPr txBox="1"/>
          <p:nvPr/>
        </p:nvSpPr>
        <p:spPr>
          <a:xfrm>
            <a:off x="11146535" y="6465214"/>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rlito"/>
                <a:cs typeface="Carlito"/>
              </a:rPr>
              <a:pPr marL="38100">
                <a:lnSpc>
                  <a:spcPts val="1240"/>
                </a:lnSpc>
              </a:pPr>
              <a:t>15</a:t>
            </a:fld>
            <a:endParaRPr sz="1200">
              <a:latin typeface="Carlito"/>
              <a:cs typeface="Carlito"/>
            </a:endParaRPr>
          </a:p>
        </p:txBody>
      </p:sp>
      <p:pic>
        <p:nvPicPr>
          <p:cNvPr id="3" name="Picture 2"/>
          <p:cNvPicPr>
            <a:picLocks noChangeAspect="1"/>
          </p:cNvPicPr>
          <p:nvPr/>
        </p:nvPicPr>
        <p:blipFill>
          <a:blip r:embed="rId4"/>
          <a:stretch>
            <a:fillRect/>
          </a:stretch>
        </p:blipFill>
        <p:spPr>
          <a:xfrm>
            <a:off x="1103290" y="854749"/>
            <a:ext cx="5438103" cy="5230821"/>
          </a:xfrm>
          <a:prstGeom prst="rect">
            <a:avLst/>
          </a:prstGeom>
        </p:spPr>
      </p:pic>
      <p:sp>
        <p:nvSpPr>
          <p:cNvPr id="4" name="TextBox 3"/>
          <p:cNvSpPr txBox="1"/>
          <p:nvPr/>
        </p:nvSpPr>
        <p:spPr>
          <a:xfrm>
            <a:off x="7086600" y="1447800"/>
            <a:ext cx="4812536" cy="2308324"/>
          </a:xfrm>
          <a:prstGeom prst="rect">
            <a:avLst/>
          </a:prstGeom>
          <a:noFill/>
        </p:spPr>
        <p:txBody>
          <a:bodyPr wrap="none" rtlCol="0">
            <a:spAutoFit/>
          </a:bodyPr>
          <a:lstStyle/>
          <a:p>
            <a:r>
              <a:rPr lang="en-GB" dirty="0"/>
              <a:t>Topologically, the Type II and Type III </a:t>
            </a:r>
            <a:endParaRPr lang="en-GB" dirty="0" smtClean="0"/>
          </a:p>
          <a:p>
            <a:r>
              <a:rPr lang="en-GB" dirty="0" smtClean="0"/>
              <a:t>cells </a:t>
            </a:r>
            <a:r>
              <a:rPr lang="en-GB" dirty="0"/>
              <a:t>share the same structure</a:t>
            </a:r>
            <a:r>
              <a:rPr lang="en-GB" dirty="0" smtClean="0"/>
              <a:t>;</a:t>
            </a:r>
          </a:p>
          <a:p>
            <a:r>
              <a:rPr lang="en-GB" dirty="0" smtClean="0"/>
              <a:t>their </a:t>
            </a:r>
            <a:r>
              <a:rPr lang="en-GB" dirty="0"/>
              <a:t>only distinction lies in transistor sizing</a:t>
            </a:r>
            <a:r>
              <a:rPr lang="en-GB" dirty="0" smtClean="0"/>
              <a:t>,</a:t>
            </a:r>
          </a:p>
          <a:p>
            <a:r>
              <a:rPr lang="en-GB" dirty="0" smtClean="0"/>
              <a:t>which </a:t>
            </a:r>
            <a:r>
              <a:rPr lang="en-GB" dirty="0"/>
              <a:t>will be addressed later. </a:t>
            </a:r>
            <a:endParaRPr lang="en-GB" dirty="0" smtClean="0"/>
          </a:p>
          <a:p>
            <a:r>
              <a:rPr lang="en-GB" dirty="0" smtClean="0"/>
              <a:t>The </a:t>
            </a:r>
            <a:r>
              <a:rPr lang="en-GB" dirty="0"/>
              <a:t>transistors P8−11P_{8-11}P8−11​ </a:t>
            </a:r>
            <a:endParaRPr lang="en-GB" dirty="0" smtClean="0"/>
          </a:p>
          <a:p>
            <a:r>
              <a:rPr lang="en-GB" dirty="0" smtClean="0"/>
              <a:t>enable </a:t>
            </a:r>
            <a:r>
              <a:rPr lang="en-GB" dirty="0"/>
              <a:t>the standard carry-skip function </a:t>
            </a:r>
            <a:endParaRPr lang="en-GB" dirty="0" smtClean="0"/>
          </a:p>
          <a:p>
            <a:r>
              <a:rPr lang="en-GB" dirty="0" smtClean="0"/>
              <a:t>across </a:t>
            </a:r>
            <a:r>
              <a:rPr lang="en-GB" dirty="0"/>
              <a:t>blocks of bits when </a:t>
            </a:r>
            <a:r>
              <a:rPr lang="en-GB" dirty="0" smtClean="0"/>
              <a:t>all</a:t>
            </a:r>
          </a:p>
          <a:p>
            <a:r>
              <a:rPr lang="en-GB" dirty="0" smtClean="0"/>
              <a:t> </a:t>
            </a:r>
            <a:r>
              <a:rPr lang="en-GB" dirty="0"/>
              <a:t>propagate signals within the block are high.</a:t>
            </a:r>
            <a:endParaRPr lang="en-US" dirty="0"/>
          </a:p>
        </p:txBody>
      </p:sp>
    </p:spTree>
    <p:extLst>
      <p:ext uri="{BB962C8B-B14F-4D97-AF65-F5344CB8AC3E}">
        <p14:creationId xmlns:p14="http://schemas.microsoft.com/office/powerpoint/2010/main" val="17651448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16</a:t>
            </a:fld>
            <a:endParaRPr dirty="0"/>
          </a:p>
        </p:txBody>
      </p:sp>
      <p:sp>
        <p:nvSpPr>
          <p:cNvPr id="2" name="object 2"/>
          <p:cNvSpPr txBox="1">
            <a:spLocks noGrp="1"/>
          </p:cNvSpPr>
          <p:nvPr>
            <p:ph type="title" idx="4294967295"/>
          </p:nvPr>
        </p:nvSpPr>
        <p:spPr>
          <a:xfrm>
            <a:off x="1295400" y="69596"/>
            <a:ext cx="6858000" cy="689932"/>
          </a:xfrm>
          <a:prstGeom prst="rect">
            <a:avLst/>
          </a:prstGeom>
        </p:spPr>
        <p:txBody>
          <a:bodyPr vert="horz" wrap="square" lIns="0" tIns="12700" rIns="0" bIns="0" rtlCol="0">
            <a:spAutoFit/>
          </a:bodyPr>
          <a:lstStyle/>
          <a:p>
            <a:pPr marL="12700" algn="ctr">
              <a:lnSpc>
                <a:spcPct val="100000"/>
              </a:lnSpc>
              <a:spcBef>
                <a:spcPts val="100"/>
              </a:spcBef>
            </a:pPr>
            <a:r>
              <a:rPr lang="en-US" sz="4400" b="1" dirty="0" smtClean="0">
                <a:solidFill>
                  <a:schemeClr val="bg2">
                    <a:lumMod val="50000"/>
                  </a:schemeClr>
                </a:solidFill>
              </a:rPr>
              <a:t>METHODOLOGY(CONT)</a:t>
            </a:r>
            <a:endParaRPr sz="4400" dirty="0">
              <a:solidFill>
                <a:schemeClr val="bg2">
                  <a:lumMod val="50000"/>
                </a:schemeClr>
              </a:solidFill>
            </a:endParaRPr>
          </a:p>
        </p:txBody>
      </p:sp>
      <p:sp>
        <p:nvSpPr>
          <p:cNvPr id="6" name="object 6"/>
          <p:cNvSpPr txBox="1"/>
          <p:nvPr/>
        </p:nvSpPr>
        <p:spPr>
          <a:xfrm>
            <a:off x="901547" y="5974277"/>
            <a:ext cx="5473065" cy="289823"/>
          </a:xfrm>
          <a:prstGeom prst="rect">
            <a:avLst/>
          </a:prstGeom>
        </p:spPr>
        <p:txBody>
          <a:bodyPr vert="horz" wrap="square" lIns="0" tIns="12700" rIns="0" bIns="0" rtlCol="0">
            <a:spAutoFit/>
          </a:bodyPr>
          <a:lstStyle/>
          <a:p>
            <a:pPr marL="12700">
              <a:lnSpc>
                <a:spcPct val="100000"/>
              </a:lnSpc>
              <a:spcBef>
                <a:spcPts val="100"/>
              </a:spcBef>
            </a:pPr>
            <a:r>
              <a:rPr sz="1800" spc="-145" dirty="0">
                <a:latin typeface="Arial"/>
                <a:cs typeface="Arial"/>
              </a:rPr>
              <a:t>Fig </a:t>
            </a:r>
            <a:r>
              <a:rPr sz="1800" spc="-70" dirty="0" smtClean="0">
                <a:latin typeface="Arial"/>
                <a:cs typeface="Arial"/>
              </a:rPr>
              <a:t>0</a:t>
            </a:r>
            <a:r>
              <a:rPr lang="en-US" spc="-70" dirty="0">
                <a:latin typeface="Arial"/>
                <a:cs typeface="Arial"/>
              </a:rPr>
              <a:t>9</a:t>
            </a:r>
            <a:r>
              <a:rPr sz="1800" spc="-70" dirty="0" smtClean="0">
                <a:latin typeface="Arial"/>
                <a:cs typeface="Arial"/>
              </a:rPr>
              <a:t>: </a:t>
            </a:r>
            <a:r>
              <a:rPr lang="en-US" spc="-70" dirty="0" smtClean="0">
                <a:latin typeface="Arial"/>
                <a:cs typeface="Arial"/>
              </a:rPr>
              <a:t>Type IV Cell </a:t>
            </a:r>
            <a:r>
              <a:rPr lang="en-US" sz="1800" spc="-70" dirty="0" smtClean="0">
                <a:latin typeface="Arial"/>
                <a:cs typeface="Arial"/>
              </a:rPr>
              <a:t>  </a:t>
            </a:r>
            <a:endParaRPr sz="1800" dirty="0">
              <a:latin typeface="Arial"/>
              <a:cs typeface="Arial"/>
            </a:endParaRPr>
          </a:p>
        </p:txBody>
      </p:sp>
      <p:grpSp>
        <p:nvGrpSpPr>
          <p:cNvPr id="7" name="object 7"/>
          <p:cNvGrpSpPr/>
          <p:nvPr/>
        </p:nvGrpSpPr>
        <p:grpSpPr>
          <a:xfrm>
            <a:off x="9402826" y="69596"/>
            <a:ext cx="2789555" cy="6109335"/>
            <a:chOff x="9402826" y="69596"/>
            <a:chExt cx="2789555" cy="6109335"/>
          </a:xfrm>
        </p:grpSpPr>
        <p:sp>
          <p:nvSpPr>
            <p:cNvPr id="8" name="object 8"/>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9" name="object 9"/>
            <p:cNvSpPr/>
            <p:nvPr/>
          </p:nvSpPr>
          <p:spPr>
            <a:xfrm>
              <a:off x="9402826" y="5104472"/>
              <a:ext cx="1071289" cy="1074419"/>
            </a:xfrm>
            <a:prstGeom prst="rect">
              <a:avLst/>
            </a:prstGeom>
            <a:blipFill>
              <a:blip r:embed="rId2" cstate="print"/>
              <a:stretch>
                <a:fillRect/>
              </a:stretch>
            </a:blipFill>
          </p:spPr>
          <p:txBody>
            <a:bodyPr wrap="square" lIns="0" tIns="0" rIns="0" bIns="0" rtlCol="0"/>
            <a:lstStyle/>
            <a:p>
              <a:endParaRPr/>
            </a:p>
          </p:txBody>
        </p:sp>
      </p:grpSp>
      <p:sp>
        <p:nvSpPr>
          <p:cNvPr id="10" name="object 10"/>
          <p:cNvSpPr/>
          <p:nvPr/>
        </p:nvSpPr>
        <p:spPr>
          <a:xfrm>
            <a:off x="531390" y="5708755"/>
            <a:ext cx="1071300" cy="1074420"/>
          </a:xfrm>
          <a:prstGeom prst="rect">
            <a:avLst/>
          </a:prstGeom>
          <a:blipFill>
            <a:blip r:embed="rId3" cstate="print"/>
            <a:stretch>
              <a:fillRect/>
            </a:stretch>
          </a:blipFill>
        </p:spPr>
        <p:txBody>
          <a:bodyPr wrap="square" lIns="0" tIns="0" rIns="0" bIns="0" rtlCol="0"/>
          <a:lstStyle/>
          <a:p>
            <a:endParaRPr/>
          </a:p>
        </p:txBody>
      </p:sp>
      <p:sp>
        <p:nvSpPr>
          <p:cNvPr id="11" name="object 11"/>
          <p:cNvSpPr txBox="1"/>
          <p:nvPr/>
        </p:nvSpPr>
        <p:spPr>
          <a:xfrm>
            <a:off x="11146535" y="6465214"/>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rlito"/>
                <a:cs typeface="Carlito"/>
              </a:rPr>
              <a:pPr marL="38100">
                <a:lnSpc>
                  <a:spcPts val="1240"/>
                </a:lnSpc>
              </a:pPr>
              <a:t>16</a:t>
            </a:fld>
            <a:endParaRPr sz="1200">
              <a:latin typeface="Carlito"/>
              <a:cs typeface="Carlito"/>
            </a:endParaRPr>
          </a:p>
        </p:txBody>
      </p:sp>
      <p:pic>
        <p:nvPicPr>
          <p:cNvPr id="13" name="Picture 12"/>
          <p:cNvPicPr/>
          <p:nvPr/>
        </p:nvPicPr>
        <p:blipFill>
          <a:blip r:embed="rId4">
            <a:extLst>
              <a:ext uri="{28A0092B-C50C-407E-A947-70E740481C1C}">
                <a14:useLocalDpi xmlns:a14="http://schemas.microsoft.com/office/drawing/2010/main" val="0"/>
              </a:ext>
            </a:extLst>
          </a:blip>
          <a:stretch>
            <a:fillRect/>
          </a:stretch>
        </p:blipFill>
        <p:spPr>
          <a:xfrm>
            <a:off x="812139" y="773430"/>
            <a:ext cx="5437505" cy="5093970"/>
          </a:xfrm>
          <a:prstGeom prst="rect">
            <a:avLst/>
          </a:prstGeom>
        </p:spPr>
      </p:pic>
      <p:sp>
        <p:nvSpPr>
          <p:cNvPr id="3" name="TextBox 2"/>
          <p:cNvSpPr txBox="1"/>
          <p:nvPr/>
        </p:nvSpPr>
        <p:spPr>
          <a:xfrm>
            <a:off x="6440029" y="1470337"/>
            <a:ext cx="4461478" cy="2308324"/>
          </a:xfrm>
          <a:prstGeom prst="rect">
            <a:avLst/>
          </a:prstGeom>
          <a:noFill/>
        </p:spPr>
        <p:txBody>
          <a:bodyPr wrap="none" rtlCol="0">
            <a:spAutoFit/>
          </a:bodyPr>
          <a:lstStyle/>
          <a:p>
            <a:r>
              <a:rPr lang="en-GB" dirty="0"/>
              <a:t>T</a:t>
            </a:r>
            <a:r>
              <a:rPr lang="en-GB" dirty="0" smtClean="0"/>
              <a:t>he </a:t>
            </a:r>
            <a:r>
              <a:rPr lang="en-GB" dirty="0"/>
              <a:t>type IV cell differs from type II </a:t>
            </a:r>
            <a:endParaRPr lang="en-GB" dirty="0" smtClean="0"/>
          </a:p>
          <a:p>
            <a:r>
              <a:rPr lang="en-GB" dirty="0" smtClean="0"/>
              <a:t>and </a:t>
            </a:r>
            <a:r>
              <a:rPr lang="en-GB" dirty="0"/>
              <a:t>type III cells for both transistor </a:t>
            </a:r>
            <a:endParaRPr lang="en-GB" dirty="0" smtClean="0"/>
          </a:p>
          <a:p>
            <a:r>
              <a:rPr lang="en-GB" dirty="0" smtClean="0"/>
              <a:t>sizing </a:t>
            </a:r>
            <a:r>
              <a:rPr lang="en-GB" dirty="0"/>
              <a:t>and placement of the </a:t>
            </a:r>
            <a:r>
              <a:rPr lang="en-GB" dirty="0" err="1"/>
              <a:t>intercell</a:t>
            </a:r>
            <a:r>
              <a:rPr lang="en-GB" dirty="0"/>
              <a:t> </a:t>
            </a:r>
            <a:endParaRPr lang="en-GB" dirty="0" smtClean="0"/>
          </a:p>
          <a:p>
            <a:r>
              <a:rPr lang="en-GB" dirty="0" smtClean="0"/>
              <a:t>bypass </a:t>
            </a:r>
            <a:r>
              <a:rPr lang="en-GB" dirty="0"/>
              <a:t>transistor (P_(12-15</a:t>
            </a:r>
            <a:r>
              <a:rPr lang="en-GB" dirty="0" smtClean="0"/>
              <a:t>)).</a:t>
            </a:r>
          </a:p>
          <a:p>
            <a:r>
              <a:rPr lang="en-GB" dirty="0" smtClean="0"/>
              <a:t>The </a:t>
            </a:r>
            <a:r>
              <a:rPr lang="en-GB" dirty="0"/>
              <a:t>transistor P_(12-15) perform the </a:t>
            </a:r>
            <a:endParaRPr lang="en-GB" dirty="0" smtClean="0"/>
          </a:p>
          <a:p>
            <a:r>
              <a:rPr lang="en-GB" dirty="0" smtClean="0"/>
              <a:t>usual </a:t>
            </a:r>
            <a:r>
              <a:rPr lang="en-GB" dirty="0"/>
              <a:t>skip action on blocks of bits </a:t>
            </a:r>
            <a:r>
              <a:rPr lang="en-GB" dirty="0" smtClean="0"/>
              <a:t>when</a:t>
            </a:r>
          </a:p>
          <a:p>
            <a:r>
              <a:rPr lang="en-GB" dirty="0" smtClean="0"/>
              <a:t> </a:t>
            </a:r>
            <a:r>
              <a:rPr lang="en-GB" dirty="0"/>
              <a:t>all the propagate signals into the blocks </a:t>
            </a:r>
            <a:endParaRPr lang="en-GB" dirty="0" smtClean="0"/>
          </a:p>
          <a:p>
            <a:r>
              <a:rPr lang="en-GB" dirty="0" smtClean="0"/>
              <a:t>are </a:t>
            </a:r>
            <a:r>
              <a:rPr lang="en-GB" dirty="0"/>
              <a:t>high. </a:t>
            </a:r>
            <a:endParaRPr lang="en-US" dirty="0"/>
          </a:p>
        </p:txBody>
      </p:sp>
    </p:spTree>
    <p:extLst>
      <p:ext uri="{BB962C8B-B14F-4D97-AF65-F5344CB8AC3E}">
        <p14:creationId xmlns:p14="http://schemas.microsoft.com/office/powerpoint/2010/main" val="29940700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17</a:t>
            </a:fld>
            <a:endParaRPr dirty="0"/>
          </a:p>
        </p:txBody>
      </p:sp>
      <p:sp>
        <p:nvSpPr>
          <p:cNvPr id="2" name="object 2"/>
          <p:cNvSpPr txBox="1">
            <a:spLocks noGrp="1"/>
          </p:cNvSpPr>
          <p:nvPr>
            <p:ph type="title" idx="4294967295"/>
          </p:nvPr>
        </p:nvSpPr>
        <p:spPr>
          <a:xfrm>
            <a:off x="381000" y="162997"/>
            <a:ext cx="7162800" cy="688975"/>
          </a:xfrm>
          <a:prstGeom prst="rect">
            <a:avLst/>
          </a:prstGeom>
        </p:spPr>
        <p:txBody>
          <a:bodyPr vert="horz" wrap="square" lIns="0" tIns="12700" rIns="0" bIns="0" rtlCol="0">
            <a:spAutoFit/>
          </a:bodyPr>
          <a:lstStyle/>
          <a:p>
            <a:pPr marL="12700" algn="ctr">
              <a:lnSpc>
                <a:spcPct val="100000"/>
              </a:lnSpc>
              <a:spcBef>
                <a:spcPts val="100"/>
              </a:spcBef>
            </a:pPr>
            <a:r>
              <a:rPr lang="en-US" sz="4400" b="1" dirty="0" smtClean="0">
                <a:solidFill>
                  <a:schemeClr val="bg2">
                    <a:lumMod val="50000"/>
                  </a:schemeClr>
                </a:solidFill>
              </a:rPr>
              <a:t>METHODOLOGY(CONT)</a:t>
            </a:r>
            <a:endParaRPr sz="4400" dirty="0">
              <a:solidFill>
                <a:schemeClr val="bg2">
                  <a:lumMod val="50000"/>
                </a:schemeClr>
              </a:solidFill>
            </a:endParaRPr>
          </a:p>
        </p:txBody>
      </p:sp>
      <p:sp>
        <p:nvSpPr>
          <p:cNvPr id="6" name="object 6"/>
          <p:cNvSpPr txBox="1"/>
          <p:nvPr/>
        </p:nvSpPr>
        <p:spPr>
          <a:xfrm>
            <a:off x="762000" y="6033979"/>
            <a:ext cx="6781800" cy="289823"/>
          </a:xfrm>
          <a:prstGeom prst="rect">
            <a:avLst/>
          </a:prstGeom>
        </p:spPr>
        <p:txBody>
          <a:bodyPr vert="horz" wrap="square" lIns="0" tIns="12700" rIns="0" bIns="0" rtlCol="0">
            <a:spAutoFit/>
          </a:bodyPr>
          <a:lstStyle/>
          <a:p>
            <a:pPr marL="12700">
              <a:spcBef>
                <a:spcPts val="100"/>
              </a:spcBef>
            </a:pPr>
            <a:r>
              <a:rPr sz="1800" spc="-145" dirty="0">
                <a:latin typeface="Arial"/>
                <a:cs typeface="Arial"/>
              </a:rPr>
              <a:t>Fig </a:t>
            </a:r>
            <a:r>
              <a:rPr lang="en-US" spc="-70" dirty="0" smtClean="0">
                <a:latin typeface="Arial"/>
                <a:cs typeface="Arial"/>
              </a:rPr>
              <a:t>10</a:t>
            </a:r>
            <a:r>
              <a:rPr sz="1800" spc="-70" dirty="0" smtClean="0">
                <a:latin typeface="Arial"/>
                <a:cs typeface="Arial"/>
              </a:rPr>
              <a:t>:</a:t>
            </a:r>
            <a:r>
              <a:rPr lang="en-GB" dirty="0" smtClean="0"/>
              <a:t> </a:t>
            </a:r>
            <a:r>
              <a:rPr lang="en-GB" dirty="0"/>
              <a:t>Multiple-output domino logic gate used to compute P_(</a:t>
            </a:r>
            <a:r>
              <a:rPr lang="en-GB" dirty="0" err="1"/>
              <a:t>i</a:t>
            </a:r>
            <a:r>
              <a:rPr lang="en-GB" dirty="0"/>
              <a:t>-j</a:t>
            </a:r>
            <a:r>
              <a:rPr lang="en-GB" dirty="0" smtClean="0"/>
              <a:t>)</a:t>
            </a:r>
            <a:r>
              <a:rPr lang="en-US" sz="1800" spc="-70" dirty="0" smtClean="0">
                <a:latin typeface="Arial"/>
                <a:cs typeface="Arial"/>
              </a:rPr>
              <a:t> </a:t>
            </a:r>
            <a:r>
              <a:rPr sz="1800" spc="-70" dirty="0" smtClean="0">
                <a:latin typeface="Arial"/>
                <a:cs typeface="Arial"/>
              </a:rPr>
              <a:t> </a:t>
            </a:r>
            <a:r>
              <a:rPr lang="en-US" sz="1800" spc="-70" dirty="0" smtClean="0">
                <a:latin typeface="Arial"/>
                <a:cs typeface="Arial"/>
              </a:rPr>
              <a:t> </a:t>
            </a:r>
            <a:endParaRPr sz="1800" dirty="0">
              <a:latin typeface="Arial"/>
              <a:cs typeface="Arial"/>
            </a:endParaRPr>
          </a:p>
        </p:txBody>
      </p:sp>
      <p:grpSp>
        <p:nvGrpSpPr>
          <p:cNvPr id="7" name="object 7"/>
          <p:cNvGrpSpPr/>
          <p:nvPr/>
        </p:nvGrpSpPr>
        <p:grpSpPr>
          <a:xfrm>
            <a:off x="9402826" y="69596"/>
            <a:ext cx="2789555" cy="6109335"/>
            <a:chOff x="9402826" y="69596"/>
            <a:chExt cx="2789555" cy="6109335"/>
          </a:xfrm>
        </p:grpSpPr>
        <p:sp>
          <p:nvSpPr>
            <p:cNvPr id="8" name="object 8"/>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9" name="object 9"/>
            <p:cNvSpPr/>
            <p:nvPr/>
          </p:nvSpPr>
          <p:spPr>
            <a:xfrm>
              <a:off x="9402826" y="5104472"/>
              <a:ext cx="1071289" cy="1074419"/>
            </a:xfrm>
            <a:prstGeom prst="rect">
              <a:avLst/>
            </a:prstGeom>
            <a:blipFill>
              <a:blip r:embed="rId2" cstate="print"/>
              <a:stretch>
                <a:fillRect/>
              </a:stretch>
            </a:blipFill>
          </p:spPr>
          <p:txBody>
            <a:bodyPr wrap="square" lIns="0" tIns="0" rIns="0" bIns="0" rtlCol="0"/>
            <a:lstStyle/>
            <a:p>
              <a:endParaRPr/>
            </a:p>
          </p:txBody>
        </p:sp>
      </p:grpSp>
      <p:sp>
        <p:nvSpPr>
          <p:cNvPr id="10" name="object 10"/>
          <p:cNvSpPr/>
          <p:nvPr/>
        </p:nvSpPr>
        <p:spPr>
          <a:xfrm>
            <a:off x="531390" y="5708755"/>
            <a:ext cx="1071300" cy="1074420"/>
          </a:xfrm>
          <a:prstGeom prst="rect">
            <a:avLst/>
          </a:prstGeom>
          <a:blipFill>
            <a:blip r:embed="rId3" cstate="print"/>
            <a:stretch>
              <a:fillRect/>
            </a:stretch>
          </a:blipFill>
        </p:spPr>
        <p:txBody>
          <a:bodyPr wrap="square" lIns="0" tIns="0" rIns="0" bIns="0" rtlCol="0"/>
          <a:lstStyle/>
          <a:p>
            <a:endParaRPr/>
          </a:p>
        </p:txBody>
      </p:sp>
      <p:sp>
        <p:nvSpPr>
          <p:cNvPr id="11" name="object 11"/>
          <p:cNvSpPr txBox="1"/>
          <p:nvPr/>
        </p:nvSpPr>
        <p:spPr>
          <a:xfrm>
            <a:off x="11146535" y="6465214"/>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rlito"/>
                <a:cs typeface="Carlito"/>
              </a:rPr>
              <a:pPr marL="38100">
                <a:lnSpc>
                  <a:spcPts val="1240"/>
                </a:lnSpc>
              </a:pPr>
              <a:t>17</a:t>
            </a:fld>
            <a:endParaRPr sz="1200">
              <a:latin typeface="Carlito"/>
              <a:cs typeface="Carlito"/>
            </a:endParaRPr>
          </a:p>
        </p:txBody>
      </p:sp>
      <p:pic>
        <p:nvPicPr>
          <p:cNvPr id="13" name="Picture 12"/>
          <p:cNvPicPr/>
          <p:nvPr/>
        </p:nvPicPr>
        <p:blipFill>
          <a:blip r:embed="rId4"/>
          <a:stretch>
            <a:fillRect/>
          </a:stretch>
        </p:blipFill>
        <p:spPr>
          <a:xfrm>
            <a:off x="812139" y="782815"/>
            <a:ext cx="5437505" cy="5104486"/>
          </a:xfrm>
          <a:prstGeom prst="rect">
            <a:avLst/>
          </a:prstGeom>
        </p:spPr>
      </p:pic>
      <p:sp>
        <p:nvSpPr>
          <p:cNvPr id="14" name="Rectangle 13"/>
          <p:cNvSpPr/>
          <p:nvPr/>
        </p:nvSpPr>
        <p:spPr>
          <a:xfrm>
            <a:off x="6354826" y="1068519"/>
            <a:ext cx="4791709" cy="1200329"/>
          </a:xfrm>
          <a:prstGeom prst="rect">
            <a:avLst/>
          </a:prstGeom>
        </p:spPr>
        <p:txBody>
          <a:bodyPr wrap="square">
            <a:spAutoFit/>
          </a:bodyPr>
          <a:lstStyle/>
          <a:p>
            <a:r>
              <a:rPr lang="en-US" dirty="0" smtClean="0"/>
              <a:t>The </a:t>
            </a:r>
            <a:r>
              <a:rPr lang="en-US" dirty="0" err="1" smtClean="0"/>
              <a:t>intercell</a:t>
            </a:r>
            <a:r>
              <a:rPr lang="en-US" dirty="0" smtClean="0"/>
              <a:t> </a:t>
            </a:r>
            <a:r>
              <a:rPr lang="en-US" dirty="0"/>
              <a:t>and </a:t>
            </a:r>
            <a:r>
              <a:rPr lang="en-US" dirty="0" err="1"/>
              <a:t>intracell</a:t>
            </a:r>
            <a:r>
              <a:rPr lang="en-US" dirty="0"/>
              <a:t> bypass transistors are controlled by signals Pi−</a:t>
            </a:r>
            <a:r>
              <a:rPr lang="en-US" dirty="0" err="1"/>
              <a:t>jP</a:t>
            </a:r>
            <a:r>
              <a:rPr lang="en-US" dirty="0"/>
              <a:t>_{</a:t>
            </a:r>
            <a:r>
              <a:rPr lang="en-US" dirty="0" err="1"/>
              <a:t>i</a:t>
            </a:r>
            <a:r>
              <a:rPr lang="en-US" dirty="0"/>
              <a:t>-j}Pi−j, which are generated by a multiple-output domino logic gate depicted in Fig. 6</a:t>
            </a:r>
            <a:r>
              <a:rPr lang="en-US" dirty="0" smtClean="0"/>
              <a:t> </a:t>
            </a:r>
            <a:endParaRPr lang="en-US" dirty="0"/>
          </a:p>
        </p:txBody>
      </p:sp>
    </p:spTree>
    <p:extLst>
      <p:ext uri="{BB962C8B-B14F-4D97-AF65-F5344CB8AC3E}">
        <p14:creationId xmlns:p14="http://schemas.microsoft.com/office/powerpoint/2010/main" val="21702045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18</a:t>
            </a:fld>
            <a:endParaRPr dirty="0"/>
          </a:p>
        </p:txBody>
      </p:sp>
      <p:sp>
        <p:nvSpPr>
          <p:cNvPr id="2" name="object 2"/>
          <p:cNvSpPr txBox="1">
            <a:spLocks noGrp="1"/>
          </p:cNvSpPr>
          <p:nvPr>
            <p:ph type="title" idx="4294967295"/>
          </p:nvPr>
        </p:nvSpPr>
        <p:spPr>
          <a:xfrm>
            <a:off x="0" y="304800"/>
            <a:ext cx="6477000" cy="688975"/>
          </a:xfrm>
          <a:prstGeom prst="rect">
            <a:avLst/>
          </a:prstGeom>
        </p:spPr>
        <p:txBody>
          <a:bodyPr vert="horz" wrap="square" lIns="0" tIns="12700" rIns="0" bIns="0" rtlCol="0">
            <a:spAutoFit/>
          </a:bodyPr>
          <a:lstStyle/>
          <a:p>
            <a:pPr marL="12700" algn="ctr">
              <a:lnSpc>
                <a:spcPct val="100000"/>
              </a:lnSpc>
              <a:spcBef>
                <a:spcPts val="100"/>
              </a:spcBef>
            </a:pPr>
            <a:r>
              <a:rPr lang="en-US" sz="4400" b="1" dirty="0" smtClean="0">
                <a:solidFill>
                  <a:schemeClr val="bg2">
                    <a:lumMod val="50000"/>
                  </a:schemeClr>
                </a:solidFill>
              </a:rPr>
              <a:t>METHODOLOGY(CONT)</a:t>
            </a:r>
            <a:endParaRPr sz="4400" dirty="0">
              <a:solidFill>
                <a:schemeClr val="bg2">
                  <a:lumMod val="50000"/>
                </a:schemeClr>
              </a:solidFill>
            </a:endParaRPr>
          </a:p>
        </p:txBody>
      </p:sp>
      <p:sp>
        <p:nvSpPr>
          <p:cNvPr id="6" name="object 6"/>
          <p:cNvSpPr txBox="1"/>
          <p:nvPr/>
        </p:nvSpPr>
        <p:spPr>
          <a:xfrm>
            <a:off x="1524000" y="5763917"/>
            <a:ext cx="5473065" cy="289823"/>
          </a:xfrm>
          <a:prstGeom prst="rect">
            <a:avLst/>
          </a:prstGeom>
        </p:spPr>
        <p:txBody>
          <a:bodyPr vert="horz" wrap="square" lIns="0" tIns="12700" rIns="0" bIns="0" rtlCol="0">
            <a:spAutoFit/>
          </a:bodyPr>
          <a:lstStyle/>
          <a:p>
            <a:pPr marL="12700">
              <a:lnSpc>
                <a:spcPct val="100000"/>
              </a:lnSpc>
              <a:spcBef>
                <a:spcPts val="100"/>
              </a:spcBef>
            </a:pPr>
            <a:r>
              <a:rPr sz="1800" spc="-145" dirty="0">
                <a:latin typeface="Arial"/>
                <a:cs typeface="Arial"/>
              </a:rPr>
              <a:t>Fig </a:t>
            </a:r>
            <a:r>
              <a:rPr lang="en-US" spc="-70" dirty="0" smtClean="0">
                <a:latin typeface="Arial"/>
                <a:cs typeface="Arial"/>
              </a:rPr>
              <a:t>11</a:t>
            </a:r>
            <a:r>
              <a:rPr sz="1800" spc="-70" dirty="0" smtClean="0">
                <a:latin typeface="Arial"/>
                <a:cs typeface="Arial"/>
              </a:rPr>
              <a:t>: </a:t>
            </a:r>
            <a:r>
              <a:rPr lang="en-US" spc="-70" dirty="0" smtClean="0">
                <a:latin typeface="Arial"/>
                <a:cs typeface="Arial"/>
              </a:rPr>
              <a:t>Summer Circuit used in design  </a:t>
            </a:r>
            <a:r>
              <a:rPr lang="en-US" sz="1800" spc="-70" dirty="0" smtClean="0">
                <a:latin typeface="Arial"/>
                <a:cs typeface="Arial"/>
              </a:rPr>
              <a:t> </a:t>
            </a:r>
            <a:endParaRPr sz="1800" dirty="0">
              <a:latin typeface="Arial"/>
              <a:cs typeface="Arial"/>
            </a:endParaRPr>
          </a:p>
        </p:txBody>
      </p:sp>
      <p:grpSp>
        <p:nvGrpSpPr>
          <p:cNvPr id="7" name="object 7"/>
          <p:cNvGrpSpPr/>
          <p:nvPr/>
        </p:nvGrpSpPr>
        <p:grpSpPr>
          <a:xfrm>
            <a:off x="9402826" y="69596"/>
            <a:ext cx="2789555" cy="6109335"/>
            <a:chOff x="9402826" y="69596"/>
            <a:chExt cx="2789555" cy="6109335"/>
          </a:xfrm>
        </p:grpSpPr>
        <p:sp>
          <p:nvSpPr>
            <p:cNvPr id="8" name="object 8"/>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9" name="object 9"/>
            <p:cNvSpPr/>
            <p:nvPr/>
          </p:nvSpPr>
          <p:spPr>
            <a:xfrm>
              <a:off x="9402826" y="5104472"/>
              <a:ext cx="1071289" cy="1074419"/>
            </a:xfrm>
            <a:prstGeom prst="rect">
              <a:avLst/>
            </a:prstGeom>
            <a:blipFill>
              <a:blip r:embed="rId2" cstate="print"/>
              <a:stretch>
                <a:fillRect/>
              </a:stretch>
            </a:blipFill>
          </p:spPr>
          <p:txBody>
            <a:bodyPr wrap="square" lIns="0" tIns="0" rIns="0" bIns="0" rtlCol="0"/>
            <a:lstStyle/>
            <a:p>
              <a:endParaRPr/>
            </a:p>
          </p:txBody>
        </p:sp>
      </p:grpSp>
      <p:sp>
        <p:nvSpPr>
          <p:cNvPr id="10" name="object 10"/>
          <p:cNvSpPr/>
          <p:nvPr/>
        </p:nvSpPr>
        <p:spPr>
          <a:xfrm>
            <a:off x="531390" y="5708755"/>
            <a:ext cx="1071300" cy="1074420"/>
          </a:xfrm>
          <a:prstGeom prst="rect">
            <a:avLst/>
          </a:prstGeom>
          <a:blipFill>
            <a:blip r:embed="rId3" cstate="print"/>
            <a:stretch>
              <a:fillRect/>
            </a:stretch>
          </a:blipFill>
        </p:spPr>
        <p:txBody>
          <a:bodyPr wrap="square" lIns="0" tIns="0" rIns="0" bIns="0" rtlCol="0"/>
          <a:lstStyle/>
          <a:p>
            <a:endParaRPr/>
          </a:p>
        </p:txBody>
      </p:sp>
      <p:sp>
        <p:nvSpPr>
          <p:cNvPr id="11" name="object 11"/>
          <p:cNvSpPr txBox="1"/>
          <p:nvPr/>
        </p:nvSpPr>
        <p:spPr>
          <a:xfrm>
            <a:off x="11146535" y="6465214"/>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rlito"/>
                <a:cs typeface="Carlito"/>
              </a:rPr>
              <a:pPr marL="38100">
                <a:lnSpc>
                  <a:spcPts val="1240"/>
                </a:lnSpc>
              </a:pPr>
              <a:t>18</a:t>
            </a:fld>
            <a:endParaRPr sz="1200">
              <a:latin typeface="Carlito"/>
              <a:cs typeface="Carlito"/>
            </a:endParaRPr>
          </a:p>
        </p:txBody>
      </p:sp>
      <p:pic>
        <p:nvPicPr>
          <p:cNvPr id="3" name="Picture 2"/>
          <p:cNvPicPr>
            <a:picLocks noChangeAspect="1"/>
          </p:cNvPicPr>
          <p:nvPr/>
        </p:nvPicPr>
        <p:blipFill>
          <a:blip r:embed="rId4"/>
          <a:stretch>
            <a:fillRect/>
          </a:stretch>
        </p:blipFill>
        <p:spPr>
          <a:xfrm rot="5400000">
            <a:off x="2208282" y="-937656"/>
            <a:ext cx="4666729" cy="8626092"/>
          </a:xfrm>
          <a:prstGeom prst="rect">
            <a:avLst/>
          </a:prstGeom>
        </p:spPr>
      </p:pic>
      <p:sp>
        <p:nvSpPr>
          <p:cNvPr id="4" name="Rectangle 3"/>
          <p:cNvSpPr/>
          <p:nvPr/>
        </p:nvSpPr>
        <p:spPr>
          <a:xfrm>
            <a:off x="8864310" y="1111301"/>
            <a:ext cx="3075181" cy="3139321"/>
          </a:xfrm>
          <a:prstGeom prst="rect">
            <a:avLst/>
          </a:prstGeom>
        </p:spPr>
        <p:txBody>
          <a:bodyPr wrap="square">
            <a:spAutoFit/>
          </a:bodyPr>
          <a:lstStyle/>
          <a:p>
            <a:r>
              <a:rPr lang="en-US" dirty="0" smtClean="0"/>
              <a:t>The </a:t>
            </a:r>
            <a:r>
              <a:rPr lang="en-US" dirty="0"/>
              <a:t>carry is combined with the generate output of the half adder after that we can obtain the sum of the inputs from the summer. Each block has its bypass signal and by bypassing it we make it faster and by using a summer we can obtain the sum independently. </a:t>
            </a:r>
          </a:p>
        </p:txBody>
      </p:sp>
    </p:spTree>
    <p:extLst>
      <p:ext uri="{BB962C8B-B14F-4D97-AF65-F5344CB8AC3E}">
        <p14:creationId xmlns:p14="http://schemas.microsoft.com/office/powerpoint/2010/main" val="42853068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19</a:t>
            </a:fld>
            <a:endParaRPr dirty="0"/>
          </a:p>
        </p:txBody>
      </p:sp>
      <p:sp>
        <p:nvSpPr>
          <p:cNvPr id="5" name="object 5"/>
          <p:cNvSpPr txBox="1">
            <a:spLocks noGrp="1"/>
          </p:cNvSpPr>
          <p:nvPr>
            <p:ph type="title" idx="4294967295"/>
          </p:nvPr>
        </p:nvSpPr>
        <p:spPr>
          <a:xfrm>
            <a:off x="0" y="69596"/>
            <a:ext cx="10237788" cy="690563"/>
          </a:xfrm>
          <a:prstGeom prst="rect">
            <a:avLst/>
          </a:prstGeom>
        </p:spPr>
        <p:txBody>
          <a:bodyPr vert="horz" wrap="square" lIns="0" tIns="12700" rIns="0" bIns="0" rtlCol="0">
            <a:spAutoFit/>
          </a:bodyPr>
          <a:lstStyle/>
          <a:p>
            <a:pPr marL="357505" algn="ctr">
              <a:lnSpc>
                <a:spcPct val="100000"/>
              </a:lnSpc>
              <a:spcBef>
                <a:spcPts val="100"/>
              </a:spcBef>
            </a:pPr>
            <a:r>
              <a:rPr lang="en-US" sz="4400" b="1" dirty="0" smtClean="0">
                <a:solidFill>
                  <a:schemeClr val="bg2">
                    <a:lumMod val="50000"/>
                  </a:schemeClr>
                </a:solidFill>
              </a:rPr>
              <a:t>IMPLEMENTATION</a:t>
            </a:r>
            <a:endParaRPr spc="-420" dirty="0"/>
          </a:p>
        </p:txBody>
      </p:sp>
      <p:sp>
        <p:nvSpPr>
          <p:cNvPr id="6" name="object 6"/>
          <p:cNvSpPr txBox="1"/>
          <p:nvPr/>
        </p:nvSpPr>
        <p:spPr>
          <a:xfrm>
            <a:off x="2158464" y="6081155"/>
            <a:ext cx="4419600" cy="289823"/>
          </a:xfrm>
          <a:prstGeom prst="rect">
            <a:avLst/>
          </a:prstGeom>
        </p:spPr>
        <p:txBody>
          <a:bodyPr vert="horz" wrap="square" lIns="0" tIns="12700" rIns="0" bIns="0" rtlCol="0">
            <a:spAutoFit/>
          </a:bodyPr>
          <a:lstStyle/>
          <a:p>
            <a:pPr marL="12700">
              <a:lnSpc>
                <a:spcPct val="100000"/>
              </a:lnSpc>
              <a:spcBef>
                <a:spcPts val="100"/>
              </a:spcBef>
            </a:pPr>
            <a:r>
              <a:rPr sz="1800" spc="-145" dirty="0">
                <a:latin typeface="Arial"/>
                <a:cs typeface="Arial"/>
              </a:rPr>
              <a:t>Fig </a:t>
            </a:r>
            <a:r>
              <a:rPr lang="en-US" spc="-70" dirty="0" smtClean="0">
                <a:latin typeface="Arial"/>
                <a:cs typeface="Arial"/>
              </a:rPr>
              <a:t>12</a:t>
            </a:r>
            <a:r>
              <a:rPr sz="1800" spc="-70" dirty="0" smtClean="0">
                <a:latin typeface="Arial"/>
                <a:cs typeface="Arial"/>
              </a:rPr>
              <a:t>: </a:t>
            </a:r>
            <a:r>
              <a:rPr lang="en-US" spc="-114" dirty="0" smtClean="0">
                <a:latin typeface="Arial"/>
                <a:cs typeface="Arial"/>
              </a:rPr>
              <a:t>Simulation parameters and analysis type</a:t>
            </a:r>
            <a:endParaRPr sz="1800" dirty="0">
              <a:latin typeface="Arial"/>
              <a:cs typeface="Arial"/>
            </a:endParaRPr>
          </a:p>
        </p:txBody>
      </p:sp>
      <p:sp>
        <p:nvSpPr>
          <p:cNvPr id="23" name="object 23"/>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24" name="object 24"/>
          <p:cNvSpPr/>
          <p:nvPr/>
        </p:nvSpPr>
        <p:spPr>
          <a:xfrm>
            <a:off x="531390" y="5708755"/>
            <a:ext cx="1071300" cy="1074420"/>
          </a:xfrm>
          <a:prstGeom prst="rect">
            <a:avLst/>
          </a:prstGeom>
          <a:blipFill>
            <a:blip r:embed="rId2" cstate="print"/>
            <a:stretch>
              <a:fillRect/>
            </a:stretch>
          </a:blipFill>
        </p:spPr>
        <p:txBody>
          <a:bodyPr wrap="square" lIns="0" tIns="0" rIns="0" bIns="0" rtlCol="0"/>
          <a:lstStyle/>
          <a:p>
            <a:endParaRPr/>
          </a:p>
        </p:txBody>
      </p:sp>
      <p:sp>
        <p:nvSpPr>
          <p:cNvPr id="25" name="object 25"/>
          <p:cNvSpPr txBox="1"/>
          <p:nvPr/>
        </p:nvSpPr>
        <p:spPr>
          <a:xfrm>
            <a:off x="11094211" y="6427114"/>
            <a:ext cx="1809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rlito"/>
                <a:cs typeface="Carlito"/>
              </a:rPr>
              <a:t>12</a:t>
            </a:r>
            <a:endParaRPr sz="1200">
              <a:latin typeface="Carlito"/>
              <a:cs typeface="Carlito"/>
            </a:endParaRPr>
          </a:p>
        </p:txBody>
      </p:sp>
      <p:sp>
        <p:nvSpPr>
          <p:cNvPr id="3" name="TextBox 2"/>
          <p:cNvSpPr txBox="1"/>
          <p:nvPr/>
        </p:nvSpPr>
        <p:spPr>
          <a:xfrm>
            <a:off x="8980488" y="1371600"/>
            <a:ext cx="2514600" cy="1200329"/>
          </a:xfrm>
          <a:prstGeom prst="rect">
            <a:avLst/>
          </a:prstGeom>
          <a:noFill/>
        </p:spPr>
        <p:txBody>
          <a:bodyPr wrap="square" rtlCol="0">
            <a:spAutoFit/>
          </a:bodyPr>
          <a:lstStyle/>
          <a:p>
            <a:r>
              <a:rPr lang="en-US" dirty="0" smtClean="0"/>
              <a:t>This is the </a:t>
            </a:r>
            <a:r>
              <a:rPr lang="en-US" dirty="0" err="1" smtClean="0"/>
              <a:t>Cadance</a:t>
            </a:r>
            <a:r>
              <a:rPr lang="en-US" dirty="0" smtClean="0"/>
              <a:t> setting for the </a:t>
            </a:r>
            <a:r>
              <a:rPr lang="en-US" dirty="0" err="1" smtClean="0"/>
              <a:t>simuation</a:t>
            </a:r>
            <a:r>
              <a:rPr lang="en-US" dirty="0" smtClean="0"/>
              <a:t> of the circuit </a:t>
            </a:r>
            <a:endParaRPr lang="en-US" dirty="0"/>
          </a:p>
        </p:txBody>
      </p:sp>
      <p:pic>
        <p:nvPicPr>
          <p:cNvPr id="4" name="Picture 3"/>
          <p:cNvPicPr>
            <a:picLocks noChangeAspect="1"/>
          </p:cNvPicPr>
          <p:nvPr/>
        </p:nvPicPr>
        <p:blipFill>
          <a:blip r:embed="rId3"/>
          <a:stretch>
            <a:fillRect/>
          </a:stretch>
        </p:blipFill>
        <p:spPr>
          <a:xfrm>
            <a:off x="152400" y="772351"/>
            <a:ext cx="8708135" cy="4992803"/>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30"/>
          <p:cNvSpPr txBox="1">
            <a:spLocks noGrp="1"/>
          </p:cNvSpPr>
          <p:nvPr>
            <p:ph type="sldNum" sz="quarter" idx="12"/>
          </p:nvPr>
        </p:nvSpPr>
        <p:spPr>
          <a:xfrm>
            <a:off x="10923781"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20</a:t>
            </a:fld>
            <a:endParaRPr dirty="0"/>
          </a:p>
        </p:txBody>
      </p:sp>
      <p:sp>
        <p:nvSpPr>
          <p:cNvPr id="5" name="object 5"/>
          <p:cNvSpPr txBox="1">
            <a:spLocks noGrp="1"/>
          </p:cNvSpPr>
          <p:nvPr>
            <p:ph type="title" idx="4294967295"/>
          </p:nvPr>
        </p:nvSpPr>
        <p:spPr>
          <a:xfrm>
            <a:off x="0" y="152400"/>
            <a:ext cx="10237788" cy="628650"/>
          </a:xfrm>
          <a:prstGeom prst="rect">
            <a:avLst/>
          </a:prstGeom>
        </p:spPr>
        <p:txBody>
          <a:bodyPr vert="horz" wrap="square" lIns="0" tIns="12700" rIns="0" bIns="0" rtlCol="0">
            <a:spAutoFit/>
          </a:bodyPr>
          <a:lstStyle/>
          <a:p>
            <a:pPr marL="357505" algn="ctr">
              <a:lnSpc>
                <a:spcPct val="100000"/>
              </a:lnSpc>
              <a:spcBef>
                <a:spcPts val="100"/>
              </a:spcBef>
            </a:pPr>
            <a:r>
              <a:rPr lang="en-US" spc="-420" dirty="0" smtClean="0"/>
              <a:t>Simulation </a:t>
            </a:r>
            <a:endParaRPr spc="-420" dirty="0"/>
          </a:p>
        </p:txBody>
      </p:sp>
      <p:sp>
        <p:nvSpPr>
          <p:cNvPr id="6" name="object 6"/>
          <p:cNvSpPr txBox="1"/>
          <p:nvPr/>
        </p:nvSpPr>
        <p:spPr>
          <a:xfrm>
            <a:off x="2438400" y="6332993"/>
            <a:ext cx="6172200" cy="289823"/>
          </a:xfrm>
          <a:prstGeom prst="rect">
            <a:avLst/>
          </a:prstGeom>
        </p:spPr>
        <p:txBody>
          <a:bodyPr vert="horz" wrap="square" lIns="0" tIns="12700" rIns="0" bIns="0" rtlCol="0">
            <a:spAutoFit/>
          </a:bodyPr>
          <a:lstStyle/>
          <a:p>
            <a:pPr marL="12700">
              <a:lnSpc>
                <a:spcPct val="100000"/>
              </a:lnSpc>
              <a:spcBef>
                <a:spcPts val="100"/>
              </a:spcBef>
            </a:pPr>
            <a:r>
              <a:rPr sz="1800" spc="-145" dirty="0">
                <a:latin typeface="Arial"/>
                <a:cs typeface="Arial"/>
              </a:rPr>
              <a:t>Fig </a:t>
            </a:r>
            <a:r>
              <a:rPr sz="1800" spc="-70" dirty="0" smtClean="0">
                <a:latin typeface="Arial"/>
                <a:cs typeface="Arial"/>
              </a:rPr>
              <a:t>0</a:t>
            </a:r>
            <a:r>
              <a:rPr lang="en-US" spc="-70" dirty="0">
                <a:latin typeface="Arial"/>
                <a:cs typeface="Arial"/>
              </a:rPr>
              <a:t>9</a:t>
            </a:r>
            <a:r>
              <a:rPr sz="1800" spc="-70" dirty="0" smtClean="0">
                <a:latin typeface="Arial"/>
                <a:cs typeface="Arial"/>
              </a:rPr>
              <a:t>: </a:t>
            </a:r>
            <a:r>
              <a:rPr lang="en-US" spc="-114" dirty="0" smtClean="0">
                <a:latin typeface="Arial"/>
                <a:cs typeface="Arial"/>
              </a:rPr>
              <a:t>Sum Output of Adder from simulation  </a:t>
            </a:r>
            <a:r>
              <a:rPr lang="en-US" sz="1800" spc="-100" dirty="0" smtClean="0">
                <a:latin typeface="Arial"/>
                <a:cs typeface="Arial"/>
              </a:rPr>
              <a:t> </a:t>
            </a:r>
            <a:endParaRPr sz="1800" dirty="0">
              <a:latin typeface="Arial"/>
              <a:cs typeface="Arial"/>
            </a:endParaRPr>
          </a:p>
        </p:txBody>
      </p:sp>
      <p:sp>
        <p:nvSpPr>
          <p:cNvPr id="23" name="object 23"/>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24" name="object 24"/>
          <p:cNvSpPr/>
          <p:nvPr/>
        </p:nvSpPr>
        <p:spPr>
          <a:xfrm>
            <a:off x="531390" y="5708755"/>
            <a:ext cx="1071300" cy="1074420"/>
          </a:xfrm>
          <a:prstGeom prst="rect">
            <a:avLst/>
          </a:prstGeom>
          <a:blipFill>
            <a:blip r:embed="rId2" cstate="print"/>
            <a:stretch>
              <a:fillRect/>
            </a:stretch>
          </a:blipFill>
        </p:spPr>
        <p:txBody>
          <a:bodyPr wrap="square" lIns="0" tIns="0" rIns="0" bIns="0" rtlCol="0"/>
          <a:lstStyle/>
          <a:p>
            <a:endParaRPr/>
          </a:p>
        </p:txBody>
      </p:sp>
      <p:sp>
        <p:nvSpPr>
          <p:cNvPr id="25" name="object 25"/>
          <p:cNvSpPr txBox="1"/>
          <p:nvPr/>
        </p:nvSpPr>
        <p:spPr>
          <a:xfrm>
            <a:off x="11094211" y="6427114"/>
            <a:ext cx="1809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rlito"/>
                <a:cs typeface="Carlito"/>
              </a:rPr>
              <a:t>12</a:t>
            </a:r>
            <a:endParaRPr sz="1200">
              <a:latin typeface="Carlito"/>
              <a:cs typeface="Carlito"/>
            </a:endParaRPr>
          </a:p>
        </p:txBody>
      </p:sp>
      <p:pic>
        <p:nvPicPr>
          <p:cNvPr id="2" name="Picture 1"/>
          <p:cNvPicPr>
            <a:picLocks noChangeAspect="1"/>
          </p:cNvPicPr>
          <p:nvPr/>
        </p:nvPicPr>
        <p:blipFill>
          <a:blip r:embed="rId3"/>
          <a:stretch>
            <a:fillRect/>
          </a:stretch>
        </p:blipFill>
        <p:spPr>
          <a:xfrm>
            <a:off x="228601" y="781049"/>
            <a:ext cx="9220200" cy="5469671"/>
          </a:xfrm>
          <a:prstGeom prst="rect">
            <a:avLst/>
          </a:prstGeom>
        </p:spPr>
      </p:pic>
      <p:sp>
        <p:nvSpPr>
          <p:cNvPr id="3" name="TextBox 2"/>
          <p:cNvSpPr txBox="1"/>
          <p:nvPr/>
        </p:nvSpPr>
        <p:spPr>
          <a:xfrm>
            <a:off x="9456199" y="2819400"/>
            <a:ext cx="2412840" cy="646331"/>
          </a:xfrm>
          <a:prstGeom prst="rect">
            <a:avLst/>
          </a:prstGeom>
          <a:noFill/>
        </p:spPr>
        <p:txBody>
          <a:bodyPr wrap="none" rtlCol="0">
            <a:spAutoFit/>
          </a:bodyPr>
          <a:lstStyle/>
          <a:p>
            <a:r>
              <a:rPr lang="en-US" dirty="0" smtClean="0"/>
              <a:t>Sum Output of adder </a:t>
            </a:r>
          </a:p>
          <a:p>
            <a:r>
              <a:rPr lang="en-US" dirty="0" smtClean="0"/>
              <a:t>for bits 12 to 15 </a:t>
            </a:r>
          </a:p>
        </p:txBody>
      </p:sp>
    </p:spTree>
    <p:extLst>
      <p:ext uri="{BB962C8B-B14F-4D97-AF65-F5344CB8AC3E}">
        <p14:creationId xmlns:p14="http://schemas.microsoft.com/office/powerpoint/2010/main" val="25238676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21</a:t>
            </a:fld>
            <a:endParaRPr dirty="0"/>
          </a:p>
        </p:txBody>
      </p:sp>
      <p:sp>
        <p:nvSpPr>
          <p:cNvPr id="4" name="Title 3"/>
          <p:cNvSpPr>
            <a:spLocks noGrp="1"/>
          </p:cNvSpPr>
          <p:nvPr>
            <p:ph type="title" idx="4294967295"/>
          </p:nvPr>
        </p:nvSpPr>
        <p:spPr>
          <a:xfrm>
            <a:off x="2587625" y="92075"/>
            <a:ext cx="9604375" cy="609600"/>
          </a:xfrm>
        </p:spPr>
        <p:txBody>
          <a:bodyPr>
            <a:normAutofit fontScale="90000"/>
          </a:bodyPr>
          <a:lstStyle/>
          <a:p>
            <a:r>
              <a:rPr lang="en-US" sz="4400" b="1" dirty="0" smtClean="0"/>
              <a:t>      Simulation(CONT)    </a:t>
            </a:r>
            <a:endParaRPr lang="en-US" sz="4400" b="1" dirty="0"/>
          </a:p>
        </p:txBody>
      </p:sp>
      <p:sp>
        <p:nvSpPr>
          <p:cNvPr id="7" name="object 6"/>
          <p:cNvSpPr txBox="1"/>
          <p:nvPr/>
        </p:nvSpPr>
        <p:spPr>
          <a:xfrm>
            <a:off x="1828800" y="5240964"/>
            <a:ext cx="6781800" cy="289823"/>
          </a:xfrm>
          <a:prstGeom prst="rect">
            <a:avLst/>
          </a:prstGeom>
        </p:spPr>
        <p:txBody>
          <a:bodyPr vert="horz" wrap="square" lIns="0" tIns="12700" rIns="0" bIns="0" rtlCol="0">
            <a:spAutoFit/>
          </a:bodyPr>
          <a:lstStyle/>
          <a:p>
            <a:pPr marL="12700">
              <a:lnSpc>
                <a:spcPct val="100000"/>
              </a:lnSpc>
              <a:spcBef>
                <a:spcPts val="100"/>
              </a:spcBef>
            </a:pPr>
            <a:r>
              <a:rPr sz="1800" spc="-145" dirty="0">
                <a:latin typeface="Arial"/>
                <a:cs typeface="Arial"/>
              </a:rPr>
              <a:t>Fig </a:t>
            </a:r>
            <a:r>
              <a:rPr lang="en-US" spc="-70" dirty="0" smtClean="0">
                <a:latin typeface="Arial"/>
                <a:cs typeface="Arial"/>
              </a:rPr>
              <a:t>10</a:t>
            </a:r>
            <a:r>
              <a:rPr sz="1800" spc="-70" dirty="0" smtClean="0">
                <a:latin typeface="Arial"/>
                <a:cs typeface="Arial"/>
              </a:rPr>
              <a:t>: </a:t>
            </a:r>
            <a:r>
              <a:rPr lang="en-US" sz="1800" spc="-114" dirty="0" smtClean="0">
                <a:latin typeface="Arial"/>
                <a:cs typeface="Arial"/>
              </a:rPr>
              <a:t>Input Signals for Adder </a:t>
            </a:r>
            <a:endParaRPr sz="1800" dirty="0">
              <a:latin typeface="Arial"/>
              <a:cs typeface="Arial"/>
            </a:endParaRPr>
          </a:p>
        </p:txBody>
      </p:sp>
      <p:sp>
        <p:nvSpPr>
          <p:cNvPr id="3" name="TextBox 2"/>
          <p:cNvSpPr txBox="1"/>
          <p:nvPr/>
        </p:nvSpPr>
        <p:spPr>
          <a:xfrm>
            <a:off x="533401" y="5623169"/>
            <a:ext cx="9144000" cy="646331"/>
          </a:xfrm>
          <a:prstGeom prst="rect">
            <a:avLst/>
          </a:prstGeom>
          <a:noFill/>
        </p:spPr>
        <p:txBody>
          <a:bodyPr wrap="square" rtlCol="0">
            <a:spAutoFit/>
          </a:bodyPr>
          <a:lstStyle/>
          <a:p>
            <a:r>
              <a:rPr lang="en-US" dirty="0" smtClean="0"/>
              <a:t>The Fig 10 shows the Input signal for the adder for bits 12 to 15 and the correspond to the out put of previous slide. </a:t>
            </a:r>
            <a:endParaRPr lang="en-US" dirty="0"/>
          </a:p>
        </p:txBody>
      </p:sp>
      <p:pic>
        <p:nvPicPr>
          <p:cNvPr id="13" name="Picture 12"/>
          <p:cNvPicPr/>
          <p:nvPr/>
        </p:nvPicPr>
        <p:blipFill>
          <a:blip r:embed="rId2"/>
          <a:stretch>
            <a:fillRect/>
          </a:stretch>
        </p:blipFill>
        <p:spPr>
          <a:xfrm>
            <a:off x="304800" y="802935"/>
            <a:ext cx="9372601" cy="4438029"/>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0"/>
          <p:cNvSpPr txBox="1">
            <a:spLocks noGrp="1"/>
          </p:cNvSpPr>
          <p:nvPr>
            <p:ph type="sldNum" sz="quarter" idx="12"/>
          </p:nvPr>
        </p:nvSpPr>
        <p:spPr>
          <a:xfrm>
            <a:off x="108966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22</a:t>
            </a:fld>
            <a:endParaRPr dirty="0"/>
          </a:p>
        </p:txBody>
      </p:sp>
      <p:sp>
        <p:nvSpPr>
          <p:cNvPr id="4" name="Title 3"/>
          <p:cNvSpPr>
            <a:spLocks noGrp="1"/>
          </p:cNvSpPr>
          <p:nvPr>
            <p:ph type="title" idx="4294967295"/>
          </p:nvPr>
        </p:nvSpPr>
        <p:spPr>
          <a:xfrm>
            <a:off x="2587625" y="228600"/>
            <a:ext cx="9604375" cy="609600"/>
          </a:xfrm>
        </p:spPr>
        <p:txBody>
          <a:bodyPr>
            <a:normAutofit fontScale="90000"/>
          </a:bodyPr>
          <a:lstStyle/>
          <a:p>
            <a:r>
              <a:rPr lang="en-US" sz="4400" b="1" dirty="0" smtClean="0"/>
              <a:t>      Simulation(CONT)   </a:t>
            </a:r>
            <a:endParaRPr lang="en-US" sz="4400" b="1" dirty="0"/>
          </a:p>
        </p:txBody>
      </p:sp>
      <p:sp>
        <p:nvSpPr>
          <p:cNvPr id="7" name="object 6"/>
          <p:cNvSpPr txBox="1"/>
          <p:nvPr/>
        </p:nvSpPr>
        <p:spPr>
          <a:xfrm>
            <a:off x="2200275" y="5402711"/>
            <a:ext cx="6781800" cy="289823"/>
          </a:xfrm>
          <a:prstGeom prst="rect">
            <a:avLst/>
          </a:prstGeom>
        </p:spPr>
        <p:txBody>
          <a:bodyPr vert="horz" wrap="square" lIns="0" tIns="12700" rIns="0" bIns="0" rtlCol="0">
            <a:spAutoFit/>
          </a:bodyPr>
          <a:lstStyle/>
          <a:p>
            <a:pPr marL="12700">
              <a:lnSpc>
                <a:spcPct val="100000"/>
              </a:lnSpc>
              <a:spcBef>
                <a:spcPts val="100"/>
              </a:spcBef>
            </a:pPr>
            <a:r>
              <a:rPr sz="1800" spc="-145" dirty="0">
                <a:latin typeface="Arial"/>
                <a:cs typeface="Arial"/>
              </a:rPr>
              <a:t>Fig </a:t>
            </a:r>
            <a:r>
              <a:rPr lang="en-US" spc="-70" dirty="0" smtClean="0">
                <a:latin typeface="Arial"/>
                <a:cs typeface="Arial"/>
              </a:rPr>
              <a:t>11</a:t>
            </a:r>
            <a:r>
              <a:rPr sz="1800" spc="-70" dirty="0" smtClean="0">
                <a:latin typeface="Arial"/>
                <a:cs typeface="Arial"/>
              </a:rPr>
              <a:t>: </a:t>
            </a:r>
            <a:r>
              <a:rPr lang="en-US" sz="1800" spc="-114" dirty="0" smtClean="0">
                <a:latin typeface="Arial"/>
                <a:cs typeface="Arial"/>
              </a:rPr>
              <a:t>Output </a:t>
            </a:r>
            <a:r>
              <a:rPr lang="en-US" spc="-114" dirty="0" smtClean="0">
                <a:latin typeface="Arial"/>
                <a:cs typeface="Arial"/>
              </a:rPr>
              <a:t>of the power Consumption of the circuit   </a:t>
            </a:r>
            <a:endParaRPr sz="1800" dirty="0">
              <a:latin typeface="Arial"/>
              <a:cs typeface="Arial"/>
            </a:endParaRPr>
          </a:p>
        </p:txBody>
      </p:sp>
      <p:sp>
        <p:nvSpPr>
          <p:cNvPr id="2" name="TextBox 1"/>
          <p:cNvSpPr txBox="1"/>
          <p:nvPr/>
        </p:nvSpPr>
        <p:spPr>
          <a:xfrm>
            <a:off x="381000" y="5867400"/>
            <a:ext cx="10420350" cy="646331"/>
          </a:xfrm>
          <a:prstGeom prst="rect">
            <a:avLst/>
          </a:prstGeom>
          <a:noFill/>
        </p:spPr>
        <p:txBody>
          <a:bodyPr wrap="square" rtlCol="0">
            <a:spAutoFit/>
          </a:bodyPr>
          <a:lstStyle/>
          <a:p>
            <a:r>
              <a:rPr lang="en-US" dirty="0" smtClean="0"/>
              <a:t>The Fig11 shows the Power Consumption of the circuit and the fluctuations on the graph are those of the </a:t>
            </a:r>
            <a:r>
              <a:rPr lang="en-US" dirty="0" err="1" smtClean="0"/>
              <a:t>logicoperations</a:t>
            </a:r>
            <a:r>
              <a:rPr lang="en-US" dirty="0" smtClean="0"/>
              <a:t> of the circuit when the power consumption is the highest. </a:t>
            </a:r>
            <a:endParaRPr lang="en-US" dirty="0"/>
          </a:p>
        </p:txBody>
      </p:sp>
      <p:pic>
        <p:nvPicPr>
          <p:cNvPr id="3" name="Picture 2"/>
          <p:cNvPicPr>
            <a:picLocks noChangeAspect="1"/>
          </p:cNvPicPr>
          <p:nvPr/>
        </p:nvPicPr>
        <p:blipFill>
          <a:blip r:embed="rId2"/>
          <a:stretch>
            <a:fillRect/>
          </a:stretch>
        </p:blipFill>
        <p:spPr>
          <a:xfrm>
            <a:off x="399495" y="1128023"/>
            <a:ext cx="9580202" cy="4129777"/>
          </a:xfrm>
          <a:prstGeom prst="rect">
            <a:avLst/>
          </a:prstGeom>
        </p:spPr>
      </p:pic>
    </p:spTree>
    <p:extLst>
      <p:ext uri="{BB962C8B-B14F-4D97-AF65-F5344CB8AC3E}">
        <p14:creationId xmlns:p14="http://schemas.microsoft.com/office/powerpoint/2010/main" val="67137393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96802" y="468555"/>
            <a:ext cx="8077200" cy="769441"/>
          </a:xfrm>
          <a:prstGeom prst="rect">
            <a:avLst/>
          </a:prstGeom>
        </p:spPr>
        <p:txBody>
          <a:bodyPr wrap="square">
            <a:spAutoFit/>
          </a:bodyPr>
          <a:lstStyle/>
          <a:p>
            <a:pPr algn="ctr"/>
            <a:r>
              <a:rPr lang="en-US" sz="4400" b="1" dirty="0">
                <a:solidFill>
                  <a:schemeClr val="bg2">
                    <a:lumMod val="50000"/>
                  </a:schemeClr>
                </a:solidFill>
              </a:rPr>
              <a:t>RESULT </a:t>
            </a:r>
            <a:r>
              <a:rPr lang="en-US" sz="4400" b="1" dirty="0" smtClean="0">
                <a:solidFill>
                  <a:schemeClr val="bg2">
                    <a:lumMod val="50000"/>
                  </a:schemeClr>
                </a:solidFill>
              </a:rPr>
              <a:t>ANALYSIS</a:t>
            </a:r>
            <a:endParaRPr lang="en-US" sz="4400" dirty="0">
              <a:solidFill>
                <a:schemeClr val="bg2">
                  <a:lumMod val="50000"/>
                </a:schemeClr>
              </a:solidFill>
              <a:latin typeface="+mj-lt"/>
            </a:endParaRPr>
          </a:p>
        </p:txBody>
      </p:sp>
      <p:sp>
        <p:nvSpPr>
          <p:cNvPr id="5" name="TextBox 4"/>
          <p:cNvSpPr txBox="1"/>
          <p:nvPr/>
        </p:nvSpPr>
        <p:spPr>
          <a:xfrm>
            <a:off x="3200400" y="3411235"/>
            <a:ext cx="4419600" cy="369332"/>
          </a:xfrm>
          <a:prstGeom prst="rect">
            <a:avLst/>
          </a:prstGeom>
          <a:noFill/>
        </p:spPr>
        <p:txBody>
          <a:bodyPr wrap="square" rtlCol="0">
            <a:spAutoFit/>
          </a:bodyPr>
          <a:lstStyle/>
          <a:p>
            <a:r>
              <a:rPr lang="en-US" dirty="0" smtClean="0"/>
              <a:t>Fig 12: The average power of the adder </a:t>
            </a:r>
            <a:endParaRPr lang="en-US" dirty="0"/>
          </a:p>
        </p:txBody>
      </p:sp>
      <p:sp>
        <p:nvSpPr>
          <p:cNvPr id="3" name="Slide Number Placeholder 2"/>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23</a:t>
            </a:fld>
            <a:endParaRPr lang="en-US" dirty="0"/>
          </a:p>
        </p:txBody>
      </p:sp>
      <p:sp>
        <p:nvSpPr>
          <p:cNvPr id="6" name="object 6"/>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4" name="TextBox 3"/>
          <p:cNvSpPr txBox="1"/>
          <p:nvPr/>
        </p:nvSpPr>
        <p:spPr>
          <a:xfrm>
            <a:off x="1714499" y="4038600"/>
            <a:ext cx="7391400" cy="646331"/>
          </a:xfrm>
          <a:prstGeom prst="rect">
            <a:avLst/>
          </a:prstGeom>
          <a:noFill/>
        </p:spPr>
        <p:txBody>
          <a:bodyPr wrap="square" rtlCol="0">
            <a:spAutoFit/>
          </a:bodyPr>
          <a:lstStyle/>
          <a:p>
            <a:r>
              <a:rPr lang="en-US" dirty="0" smtClean="0"/>
              <a:t>As we can see from the average power is calculated by using the calculator function of the software. </a:t>
            </a:r>
            <a:endParaRPr lang="en-US" dirty="0"/>
          </a:p>
        </p:txBody>
      </p:sp>
      <p:pic>
        <p:nvPicPr>
          <p:cNvPr id="10" name="Picture 9"/>
          <p:cNvPicPr>
            <a:picLocks noChangeAspect="1"/>
          </p:cNvPicPr>
          <p:nvPr/>
        </p:nvPicPr>
        <p:blipFill>
          <a:blip r:embed="rId2"/>
          <a:stretch>
            <a:fillRect/>
          </a:stretch>
        </p:blipFill>
        <p:spPr>
          <a:xfrm>
            <a:off x="2590800" y="1228453"/>
            <a:ext cx="4648200" cy="221304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marL="38100">
              <a:lnSpc>
                <a:spcPts val="1240"/>
              </a:lnSpc>
            </a:pPr>
            <a:fld id="{81D60167-4931-47E6-BA6A-407CBD079E47}" type="slidenum">
              <a:rPr lang="en-US" smtClean="0"/>
              <a:pPr marL="38100">
                <a:lnSpc>
                  <a:spcPts val="1240"/>
                </a:lnSpc>
              </a:pPr>
              <a:t>24</a:t>
            </a:fld>
            <a:endParaRPr lang="en-US" dirty="0"/>
          </a:p>
        </p:txBody>
      </p:sp>
      <p:sp>
        <p:nvSpPr>
          <p:cNvPr id="4" name="TextBox 3"/>
          <p:cNvSpPr txBox="1"/>
          <p:nvPr/>
        </p:nvSpPr>
        <p:spPr>
          <a:xfrm>
            <a:off x="2743200" y="3411954"/>
            <a:ext cx="4648200" cy="369332"/>
          </a:xfrm>
          <a:prstGeom prst="rect">
            <a:avLst/>
          </a:prstGeom>
          <a:noFill/>
        </p:spPr>
        <p:txBody>
          <a:bodyPr wrap="square" rtlCol="0">
            <a:spAutoFit/>
          </a:bodyPr>
          <a:lstStyle/>
          <a:p>
            <a:r>
              <a:rPr lang="en-US" dirty="0" smtClean="0"/>
              <a:t>Fig 13 : Rise and Fall time of the Adder  </a:t>
            </a:r>
            <a:endParaRPr lang="en-US" dirty="0"/>
          </a:p>
        </p:txBody>
      </p:sp>
      <p:sp>
        <p:nvSpPr>
          <p:cNvPr id="5" name="object 6"/>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8" name="Rectangle 7"/>
          <p:cNvSpPr/>
          <p:nvPr/>
        </p:nvSpPr>
        <p:spPr>
          <a:xfrm>
            <a:off x="1196802" y="468555"/>
            <a:ext cx="8077200" cy="769441"/>
          </a:xfrm>
          <a:prstGeom prst="rect">
            <a:avLst/>
          </a:prstGeom>
        </p:spPr>
        <p:txBody>
          <a:bodyPr wrap="square">
            <a:spAutoFit/>
          </a:bodyPr>
          <a:lstStyle/>
          <a:p>
            <a:pPr algn="ctr"/>
            <a:r>
              <a:rPr lang="en-US" sz="4400" b="1" dirty="0">
                <a:solidFill>
                  <a:schemeClr val="bg2">
                    <a:lumMod val="50000"/>
                  </a:schemeClr>
                </a:solidFill>
              </a:rPr>
              <a:t>RESULT </a:t>
            </a:r>
            <a:r>
              <a:rPr lang="en-US" sz="4400" b="1" dirty="0" smtClean="0">
                <a:solidFill>
                  <a:schemeClr val="bg2">
                    <a:lumMod val="50000"/>
                  </a:schemeClr>
                </a:solidFill>
              </a:rPr>
              <a:t>ANALYSIS(CONT)</a:t>
            </a:r>
            <a:endParaRPr lang="en-US" sz="4400" dirty="0">
              <a:solidFill>
                <a:schemeClr val="bg2">
                  <a:lumMod val="50000"/>
                </a:schemeClr>
              </a:solidFill>
              <a:latin typeface="+mj-lt"/>
            </a:endParaRPr>
          </a:p>
        </p:txBody>
      </p:sp>
      <p:sp>
        <p:nvSpPr>
          <p:cNvPr id="11" name="TextBox 10"/>
          <p:cNvSpPr txBox="1"/>
          <p:nvPr/>
        </p:nvSpPr>
        <p:spPr>
          <a:xfrm>
            <a:off x="1182006" y="4114800"/>
            <a:ext cx="8305800" cy="923330"/>
          </a:xfrm>
          <a:prstGeom prst="rect">
            <a:avLst/>
          </a:prstGeom>
          <a:noFill/>
        </p:spPr>
        <p:txBody>
          <a:bodyPr wrap="square" rtlCol="0">
            <a:spAutoFit/>
          </a:bodyPr>
          <a:lstStyle/>
          <a:p>
            <a:r>
              <a:rPr lang="en-US" dirty="0" smtClean="0"/>
              <a:t>As we can see from above Rise Time and Fall time is calculated by using the calculator and the output of the calculator is shown in the main interface of the software </a:t>
            </a:r>
            <a:endParaRPr lang="en-US" dirty="0"/>
          </a:p>
        </p:txBody>
      </p:sp>
      <p:pic>
        <p:nvPicPr>
          <p:cNvPr id="6" name="Picture 5"/>
          <p:cNvPicPr>
            <a:picLocks noChangeAspect="1"/>
          </p:cNvPicPr>
          <p:nvPr/>
        </p:nvPicPr>
        <p:blipFill rotWithShape="1">
          <a:blip r:embed="rId2"/>
          <a:srcRect t="91205" r="29869"/>
          <a:stretch/>
        </p:blipFill>
        <p:spPr>
          <a:xfrm>
            <a:off x="2057400" y="1828800"/>
            <a:ext cx="6105522" cy="1331242"/>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3" name="object 3"/>
          <p:cNvSpPr/>
          <p:nvPr/>
        </p:nvSpPr>
        <p:spPr>
          <a:xfrm>
            <a:off x="313267" y="5064468"/>
            <a:ext cx="1071330" cy="1074420"/>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152400" y="609600"/>
            <a:ext cx="10363200" cy="689932"/>
          </a:xfrm>
          <a:prstGeom prst="rect">
            <a:avLst/>
          </a:prstGeom>
        </p:spPr>
        <p:txBody>
          <a:bodyPr vert="horz" wrap="square" lIns="0" tIns="12700" rIns="0" bIns="0" rtlCol="0">
            <a:spAutoFit/>
          </a:bodyPr>
          <a:lstStyle/>
          <a:p>
            <a:pPr marL="12700" algn="ctr">
              <a:lnSpc>
                <a:spcPct val="100000"/>
              </a:lnSpc>
              <a:spcBef>
                <a:spcPts val="100"/>
              </a:spcBef>
            </a:pPr>
            <a:r>
              <a:rPr lang="en-US" sz="4400" b="1" dirty="0" smtClean="0">
                <a:solidFill>
                  <a:schemeClr val="bg2">
                    <a:lumMod val="50000"/>
                  </a:schemeClr>
                </a:solidFill>
                <a:latin typeface="Times New Roman" panose="02020603050405020304" pitchFamily="18" charset="0"/>
                <a:cs typeface="Times New Roman" panose="02020603050405020304" pitchFamily="18" charset="0"/>
              </a:rPr>
              <a:t>Comparison</a:t>
            </a:r>
            <a:endParaRPr sz="440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9" name="object 30"/>
          <p:cNvSpPr txBox="1">
            <a:spLocks noGrp="1"/>
          </p:cNvSpPr>
          <p:nvPr>
            <p:ph type="sldNum" sz="quarter" idx="12"/>
          </p:nvPr>
        </p:nvSpPr>
        <p:spPr>
          <a:xfrm>
            <a:off x="109728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25</a:t>
            </a:fld>
            <a:endParaRPr dirty="0"/>
          </a:p>
        </p:txBody>
      </p:sp>
      <p:sp>
        <p:nvSpPr>
          <p:cNvPr id="7" name="object 7"/>
          <p:cNvSpPr txBox="1"/>
          <p:nvPr/>
        </p:nvSpPr>
        <p:spPr>
          <a:xfrm>
            <a:off x="10876026" y="5782462"/>
            <a:ext cx="1809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rlito"/>
                <a:cs typeface="Carlito"/>
              </a:rPr>
              <a:t>19</a:t>
            </a:r>
            <a:endParaRPr sz="1200">
              <a:latin typeface="Carlito"/>
              <a:cs typeface="Carlito"/>
            </a:endParaRPr>
          </a:p>
        </p:txBody>
      </p:sp>
      <p:sp>
        <p:nvSpPr>
          <p:cNvPr id="8" name="TextBox 7"/>
          <p:cNvSpPr txBox="1"/>
          <p:nvPr/>
        </p:nvSpPr>
        <p:spPr>
          <a:xfrm>
            <a:off x="1913953" y="1653954"/>
            <a:ext cx="6477000" cy="369332"/>
          </a:xfrm>
          <a:prstGeom prst="rect">
            <a:avLst/>
          </a:prstGeom>
          <a:noFill/>
        </p:spPr>
        <p:txBody>
          <a:bodyPr wrap="square" rtlCol="0">
            <a:spAutoFit/>
          </a:bodyPr>
          <a:lstStyle/>
          <a:p>
            <a:r>
              <a:rPr lang="en-US" b="1" dirty="0" smtClean="0"/>
              <a:t>Table1</a:t>
            </a:r>
            <a:r>
              <a:rPr lang="en-US" dirty="0" smtClean="0"/>
              <a:t> : Performance Comparison of Various Adders(45nm)</a:t>
            </a:r>
            <a:endParaRPr lang="en-US" dirty="0"/>
          </a:p>
        </p:txBody>
      </p:sp>
      <p:pic>
        <p:nvPicPr>
          <p:cNvPr id="6" name="Content Placeholder 5"/>
          <p:cNvPicPr>
            <a:picLocks noGrp="1" noChangeAspect="1"/>
          </p:cNvPicPr>
          <p:nvPr>
            <p:ph idx="1"/>
          </p:nvPr>
        </p:nvPicPr>
        <p:blipFill rotWithShape="1">
          <a:blip r:embed="rId3"/>
          <a:srcRect b="57505"/>
          <a:stretch/>
        </p:blipFill>
        <p:spPr>
          <a:xfrm>
            <a:off x="1913953" y="2160589"/>
            <a:ext cx="5791200" cy="2903879"/>
          </a:xfrm>
          <a:prstGeom prst="rect">
            <a:avLst/>
          </a:prstGeom>
        </p:spPr>
      </p:pic>
    </p:spTree>
    <p:extLst>
      <p:ext uri="{BB962C8B-B14F-4D97-AF65-F5344CB8AC3E}">
        <p14:creationId xmlns:p14="http://schemas.microsoft.com/office/powerpoint/2010/main" val="15002899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3" name="object 3"/>
          <p:cNvSpPr/>
          <p:nvPr/>
        </p:nvSpPr>
        <p:spPr>
          <a:xfrm>
            <a:off x="313267" y="5064468"/>
            <a:ext cx="1071330" cy="1074420"/>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152400" y="609600"/>
            <a:ext cx="10363200" cy="689932"/>
          </a:xfrm>
          <a:prstGeom prst="rect">
            <a:avLst/>
          </a:prstGeom>
        </p:spPr>
        <p:txBody>
          <a:bodyPr vert="horz" wrap="square" lIns="0" tIns="12700" rIns="0" bIns="0" rtlCol="0">
            <a:spAutoFit/>
          </a:bodyPr>
          <a:lstStyle/>
          <a:p>
            <a:pPr marL="12700" algn="ctr">
              <a:lnSpc>
                <a:spcPct val="100000"/>
              </a:lnSpc>
              <a:spcBef>
                <a:spcPts val="100"/>
              </a:spcBef>
            </a:pPr>
            <a:r>
              <a:rPr lang="en-US" sz="4400" b="1" dirty="0" smtClean="0">
                <a:solidFill>
                  <a:schemeClr val="bg2">
                    <a:lumMod val="50000"/>
                  </a:schemeClr>
                </a:solidFill>
                <a:latin typeface="Times New Roman" panose="02020603050405020304" pitchFamily="18" charset="0"/>
                <a:cs typeface="Times New Roman" panose="02020603050405020304" pitchFamily="18" charset="0"/>
              </a:rPr>
              <a:t>Comparison</a:t>
            </a:r>
            <a:endParaRPr sz="440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9" name="object 30"/>
          <p:cNvSpPr txBox="1">
            <a:spLocks noGrp="1"/>
          </p:cNvSpPr>
          <p:nvPr>
            <p:ph type="sldNum" sz="quarter" idx="12"/>
          </p:nvPr>
        </p:nvSpPr>
        <p:spPr>
          <a:xfrm>
            <a:off x="10972800" y="5867400"/>
            <a:ext cx="811019" cy="503578"/>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26</a:t>
            </a:fld>
            <a:endParaRPr dirty="0"/>
          </a:p>
        </p:txBody>
      </p:sp>
      <p:sp>
        <p:nvSpPr>
          <p:cNvPr id="7" name="object 7"/>
          <p:cNvSpPr txBox="1"/>
          <p:nvPr/>
        </p:nvSpPr>
        <p:spPr>
          <a:xfrm>
            <a:off x="10876026" y="5782462"/>
            <a:ext cx="180975"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rlito"/>
                <a:cs typeface="Carlito"/>
              </a:rPr>
              <a:t>19</a:t>
            </a:r>
            <a:endParaRPr sz="1200">
              <a:latin typeface="Carlito"/>
              <a:cs typeface="Carlito"/>
            </a:endParaRPr>
          </a:p>
        </p:txBody>
      </p:sp>
      <p:sp>
        <p:nvSpPr>
          <p:cNvPr id="8" name="TextBox 7"/>
          <p:cNvSpPr txBox="1"/>
          <p:nvPr/>
        </p:nvSpPr>
        <p:spPr>
          <a:xfrm>
            <a:off x="1913953" y="1653954"/>
            <a:ext cx="6477000" cy="369332"/>
          </a:xfrm>
          <a:prstGeom prst="rect">
            <a:avLst/>
          </a:prstGeom>
          <a:noFill/>
        </p:spPr>
        <p:txBody>
          <a:bodyPr wrap="square" rtlCol="0">
            <a:spAutoFit/>
          </a:bodyPr>
          <a:lstStyle/>
          <a:p>
            <a:r>
              <a:rPr lang="en-US" b="1" dirty="0" smtClean="0"/>
              <a:t>Table2</a:t>
            </a:r>
            <a:r>
              <a:rPr lang="en-US" dirty="0" smtClean="0"/>
              <a:t> : Performance Comparison of Various Adders (90 nm)</a:t>
            </a:r>
            <a:endParaRPr lang="en-US" dirty="0"/>
          </a:p>
        </p:txBody>
      </p:sp>
      <p:pic>
        <p:nvPicPr>
          <p:cNvPr id="10" name="Content Placeholder 9"/>
          <p:cNvPicPr>
            <a:picLocks noGrp="1" noChangeAspect="1"/>
          </p:cNvPicPr>
          <p:nvPr>
            <p:ph idx="1"/>
          </p:nvPr>
        </p:nvPicPr>
        <p:blipFill rotWithShape="1">
          <a:blip r:embed="rId3"/>
          <a:srcRect t="40531"/>
          <a:stretch/>
        </p:blipFill>
        <p:spPr>
          <a:xfrm>
            <a:off x="1913953" y="2209800"/>
            <a:ext cx="6315647" cy="2971800"/>
          </a:xfrm>
          <a:prstGeom prst="rect">
            <a:avLst/>
          </a:prstGeom>
        </p:spPr>
      </p:pic>
    </p:spTree>
    <p:extLst>
      <p:ext uri="{BB962C8B-B14F-4D97-AF65-F5344CB8AC3E}">
        <p14:creationId xmlns:p14="http://schemas.microsoft.com/office/powerpoint/2010/main" val="21063442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4871" y="610260"/>
            <a:ext cx="8596668" cy="627736"/>
          </a:xfrm>
          <a:prstGeom prst="rect">
            <a:avLst/>
          </a:prstGeom>
        </p:spPr>
        <p:txBody>
          <a:bodyPr vert="horz" wrap="square" lIns="0" tIns="12065" rIns="0" bIns="0" rtlCol="0">
            <a:spAutoFit/>
          </a:bodyPr>
          <a:lstStyle/>
          <a:p>
            <a:pPr marL="12700" algn="ctr">
              <a:lnSpc>
                <a:spcPct val="100000"/>
              </a:lnSpc>
              <a:spcBef>
                <a:spcPts val="95"/>
              </a:spcBef>
            </a:pPr>
            <a:r>
              <a:rPr lang="en-US" sz="4000" b="1" dirty="0">
                <a:solidFill>
                  <a:schemeClr val="bg2">
                    <a:lumMod val="50000"/>
                  </a:schemeClr>
                </a:solidFill>
                <a:ea typeface="+mn-ea"/>
              </a:rPr>
              <a:t>CONCLUSION</a:t>
            </a:r>
            <a:endParaRPr sz="4000" dirty="0">
              <a:solidFill>
                <a:schemeClr val="bg2">
                  <a:lumMod val="50000"/>
                </a:schemeClr>
              </a:solidFill>
            </a:endParaRPr>
          </a:p>
        </p:txBody>
      </p:sp>
      <p:sp>
        <p:nvSpPr>
          <p:cNvPr id="10" name="TextBox 9"/>
          <p:cNvSpPr txBox="1"/>
          <p:nvPr/>
        </p:nvSpPr>
        <p:spPr>
          <a:xfrm>
            <a:off x="152400" y="1600200"/>
            <a:ext cx="10820400" cy="2246769"/>
          </a:xfrm>
          <a:prstGeom prst="rect">
            <a:avLst/>
          </a:prstGeom>
          <a:noFill/>
        </p:spPr>
        <p:txBody>
          <a:bodyPr wrap="square" rtlCol="0">
            <a:spAutoFit/>
          </a:bodyPr>
          <a:lstStyle/>
          <a:p>
            <a:r>
              <a:rPr lang="en-US" sz="2000" dirty="0"/>
              <a:t>As technology advances and the demand for high-performance, low-power systems continues to grow, the importance of optimizing adder designs becomes even more critical. By understanding the strengths and limitations of various adder types, engineers can make informed decisions when developing processors, signal processing units, and other digital systems</a:t>
            </a:r>
            <a:r>
              <a:rPr lang="en-US" sz="2000" dirty="0" smtClean="0"/>
              <a:t>.</a:t>
            </a:r>
          </a:p>
          <a:p>
            <a:r>
              <a:rPr lang="en-US" sz="2000" dirty="0" smtClean="0"/>
              <a:t>Ultimately</a:t>
            </a:r>
            <a:r>
              <a:rPr lang="en-US" sz="2000" dirty="0"/>
              <a:t>, mastering adder design is not just about improving basic arithmetic operations—it's about enabling faster, smarter, and more energy-efficient computing for the future</a:t>
            </a:r>
            <a:endParaRPr lang="en-US" dirty="0">
              <a:cs typeface="Arial" pitchFamily="34" charset="0"/>
            </a:endParaRPr>
          </a:p>
        </p:txBody>
      </p:sp>
      <p:sp>
        <p:nvSpPr>
          <p:cNvPr id="5" name="object 6"/>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idx="4294967295"/>
          </p:nvPr>
        </p:nvSpPr>
        <p:spPr>
          <a:xfrm>
            <a:off x="0" y="592138"/>
            <a:ext cx="3576638" cy="627062"/>
          </a:xfrm>
          <a:prstGeom prst="rect">
            <a:avLst/>
          </a:prstGeom>
        </p:spPr>
        <p:txBody>
          <a:bodyPr vert="horz" wrap="square" lIns="0" tIns="12065" rIns="0" bIns="0" rtlCol="0">
            <a:spAutoFit/>
          </a:bodyPr>
          <a:lstStyle/>
          <a:p>
            <a:pPr marL="12700">
              <a:lnSpc>
                <a:spcPct val="100000"/>
              </a:lnSpc>
              <a:spcBef>
                <a:spcPts val="95"/>
              </a:spcBef>
            </a:pPr>
            <a:r>
              <a:rPr lang="en-US" sz="4000" b="1" dirty="0">
                <a:solidFill>
                  <a:schemeClr val="bg2">
                    <a:lumMod val="50000"/>
                  </a:schemeClr>
                </a:solidFill>
              </a:rPr>
              <a:t>REFERENCES</a:t>
            </a:r>
            <a:endParaRPr sz="4000" dirty="0">
              <a:solidFill>
                <a:schemeClr val="bg2">
                  <a:lumMod val="50000"/>
                </a:schemeClr>
              </a:solidFill>
            </a:endParaRPr>
          </a:p>
        </p:txBody>
      </p:sp>
      <p:sp>
        <p:nvSpPr>
          <p:cNvPr id="5" name="object 5"/>
          <p:cNvSpPr/>
          <p:nvPr/>
        </p:nvSpPr>
        <p:spPr>
          <a:xfrm>
            <a:off x="10183601" y="69596"/>
            <a:ext cx="2008505" cy="2336800"/>
          </a:xfrm>
          <a:custGeom>
            <a:avLst/>
            <a:gdLst/>
            <a:ahLst/>
            <a:cxnLst/>
            <a:rect l="l" t="t" r="r" b="b"/>
            <a:pathLst>
              <a:path w="2008504" h="2336800">
                <a:moveTo>
                  <a:pt x="1344505" y="2032000"/>
                </a:moveTo>
                <a:lnTo>
                  <a:pt x="715951" y="2032000"/>
                </a:lnTo>
                <a:lnTo>
                  <a:pt x="750209" y="2057400"/>
                </a:lnTo>
                <a:lnTo>
                  <a:pt x="764850" y="2057400"/>
                </a:lnTo>
                <a:lnTo>
                  <a:pt x="778847" y="2070100"/>
                </a:lnTo>
                <a:lnTo>
                  <a:pt x="791607" y="2082800"/>
                </a:lnTo>
                <a:lnTo>
                  <a:pt x="802533" y="2095500"/>
                </a:lnTo>
                <a:lnTo>
                  <a:pt x="805547" y="2108200"/>
                </a:lnTo>
                <a:lnTo>
                  <a:pt x="808835" y="2108200"/>
                </a:lnTo>
                <a:lnTo>
                  <a:pt x="811480" y="2120900"/>
                </a:lnTo>
                <a:lnTo>
                  <a:pt x="812566" y="2120900"/>
                </a:lnTo>
                <a:lnTo>
                  <a:pt x="818096" y="2146300"/>
                </a:lnTo>
                <a:lnTo>
                  <a:pt x="820614" y="2159000"/>
                </a:lnTo>
                <a:lnTo>
                  <a:pt x="820728" y="2171700"/>
                </a:lnTo>
                <a:lnTo>
                  <a:pt x="819043" y="2184400"/>
                </a:lnTo>
                <a:lnTo>
                  <a:pt x="821817" y="2235200"/>
                </a:lnTo>
                <a:lnTo>
                  <a:pt x="838664" y="2286000"/>
                </a:lnTo>
                <a:lnTo>
                  <a:pt x="867799" y="2311400"/>
                </a:lnTo>
                <a:lnTo>
                  <a:pt x="907435" y="2336800"/>
                </a:lnTo>
                <a:lnTo>
                  <a:pt x="1158869" y="2336800"/>
                </a:lnTo>
                <a:lnTo>
                  <a:pt x="1176691" y="2324100"/>
                </a:lnTo>
                <a:lnTo>
                  <a:pt x="1193298" y="2311400"/>
                </a:lnTo>
                <a:lnTo>
                  <a:pt x="1208679" y="2298700"/>
                </a:lnTo>
                <a:lnTo>
                  <a:pt x="1213505" y="2286000"/>
                </a:lnTo>
                <a:lnTo>
                  <a:pt x="1218045" y="2286000"/>
                </a:lnTo>
                <a:lnTo>
                  <a:pt x="1221966" y="2273300"/>
                </a:lnTo>
                <a:lnTo>
                  <a:pt x="1224935" y="2273300"/>
                </a:lnTo>
                <a:lnTo>
                  <a:pt x="1228364" y="2260600"/>
                </a:lnTo>
                <a:lnTo>
                  <a:pt x="1231539" y="2260600"/>
                </a:lnTo>
                <a:lnTo>
                  <a:pt x="1231539" y="2247900"/>
                </a:lnTo>
                <a:lnTo>
                  <a:pt x="1235766" y="2235200"/>
                </a:lnTo>
                <a:lnTo>
                  <a:pt x="1238492" y="2222500"/>
                </a:lnTo>
                <a:lnTo>
                  <a:pt x="1239361" y="2209800"/>
                </a:lnTo>
                <a:lnTo>
                  <a:pt x="1238016" y="2184400"/>
                </a:lnTo>
                <a:lnTo>
                  <a:pt x="1238016" y="2171700"/>
                </a:lnTo>
                <a:lnTo>
                  <a:pt x="1243302" y="2133600"/>
                </a:lnTo>
                <a:lnTo>
                  <a:pt x="1258114" y="2095500"/>
                </a:lnTo>
                <a:lnTo>
                  <a:pt x="1280878" y="2070100"/>
                </a:lnTo>
                <a:lnTo>
                  <a:pt x="1310025" y="2044700"/>
                </a:lnTo>
                <a:lnTo>
                  <a:pt x="1327301" y="2044700"/>
                </a:lnTo>
                <a:lnTo>
                  <a:pt x="1344505" y="2032000"/>
                </a:lnTo>
                <a:close/>
              </a:path>
              <a:path w="2008504" h="2336800">
                <a:moveTo>
                  <a:pt x="1850283" y="1778000"/>
                </a:moveTo>
                <a:lnTo>
                  <a:pt x="1123462" y="1778000"/>
                </a:lnTo>
                <a:lnTo>
                  <a:pt x="1113810" y="1790700"/>
                </a:lnTo>
                <a:lnTo>
                  <a:pt x="210205" y="1790700"/>
                </a:lnTo>
                <a:lnTo>
                  <a:pt x="210205" y="1803400"/>
                </a:lnTo>
                <a:lnTo>
                  <a:pt x="206776" y="1803400"/>
                </a:lnTo>
                <a:lnTo>
                  <a:pt x="206776" y="1854200"/>
                </a:lnTo>
                <a:lnTo>
                  <a:pt x="210205" y="1854200"/>
                </a:lnTo>
                <a:lnTo>
                  <a:pt x="210205" y="1866900"/>
                </a:lnTo>
                <a:lnTo>
                  <a:pt x="213380" y="1866900"/>
                </a:lnTo>
                <a:lnTo>
                  <a:pt x="213380" y="1879600"/>
                </a:lnTo>
                <a:lnTo>
                  <a:pt x="216682" y="1879600"/>
                </a:lnTo>
                <a:lnTo>
                  <a:pt x="216682" y="1892300"/>
                </a:lnTo>
                <a:lnTo>
                  <a:pt x="223286" y="1892300"/>
                </a:lnTo>
                <a:lnTo>
                  <a:pt x="223286" y="1905000"/>
                </a:lnTo>
                <a:lnTo>
                  <a:pt x="226461" y="1905000"/>
                </a:lnTo>
                <a:lnTo>
                  <a:pt x="254748" y="1943100"/>
                </a:lnTo>
                <a:lnTo>
                  <a:pt x="284602" y="1981200"/>
                </a:lnTo>
                <a:lnTo>
                  <a:pt x="316035" y="2019300"/>
                </a:lnTo>
                <a:lnTo>
                  <a:pt x="349060" y="2057400"/>
                </a:lnTo>
                <a:lnTo>
                  <a:pt x="383687" y="2082800"/>
                </a:lnTo>
                <a:lnTo>
                  <a:pt x="398818" y="2095500"/>
                </a:lnTo>
                <a:lnTo>
                  <a:pt x="415103" y="2108200"/>
                </a:lnTo>
                <a:lnTo>
                  <a:pt x="491637" y="2108200"/>
                </a:lnTo>
                <a:lnTo>
                  <a:pt x="521514" y="2082800"/>
                </a:lnTo>
                <a:lnTo>
                  <a:pt x="553867" y="2044700"/>
                </a:lnTo>
                <a:lnTo>
                  <a:pt x="563801" y="2044700"/>
                </a:lnTo>
                <a:lnTo>
                  <a:pt x="573996" y="2032000"/>
                </a:lnTo>
                <a:lnTo>
                  <a:pt x="584764" y="2019300"/>
                </a:lnTo>
                <a:lnTo>
                  <a:pt x="596412" y="2019300"/>
                </a:lnTo>
                <a:lnTo>
                  <a:pt x="635655" y="2006600"/>
                </a:lnTo>
                <a:lnTo>
                  <a:pt x="1748529" y="2006600"/>
                </a:lnTo>
                <a:lnTo>
                  <a:pt x="1758589" y="1993900"/>
                </a:lnTo>
                <a:lnTo>
                  <a:pt x="1777736" y="1968500"/>
                </a:lnTo>
                <a:lnTo>
                  <a:pt x="1795943" y="1955800"/>
                </a:lnTo>
                <a:lnTo>
                  <a:pt x="1830725" y="1905000"/>
                </a:lnTo>
                <a:lnTo>
                  <a:pt x="1852839" y="1841500"/>
                </a:lnTo>
                <a:lnTo>
                  <a:pt x="1854639" y="1816100"/>
                </a:lnTo>
                <a:lnTo>
                  <a:pt x="1850283" y="1790700"/>
                </a:lnTo>
                <a:lnTo>
                  <a:pt x="1850283" y="1778000"/>
                </a:lnTo>
                <a:close/>
              </a:path>
              <a:path w="2008504" h="2336800">
                <a:moveTo>
                  <a:pt x="1748529" y="2006600"/>
                </a:moveTo>
                <a:lnTo>
                  <a:pt x="1462504" y="2006600"/>
                </a:lnTo>
                <a:lnTo>
                  <a:pt x="1473855" y="2019300"/>
                </a:lnTo>
                <a:lnTo>
                  <a:pt x="1486602" y="2019300"/>
                </a:lnTo>
                <a:lnTo>
                  <a:pt x="1491803" y="2032000"/>
                </a:lnTo>
                <a:lnTo>
                  <a:pt x="1500017" y="2032000"/>
                </a:lnTo>
                <a:lnTo>
                  <a:pt x="1503192" y="2044700"/>
                </a:lnTo>
                <a:lnTo>
                  <a:pt x="1509669" y="2044700"/>
                </a:lnTo>
                <a:lnTo>
                  <a:pt x="1513098" y="2057400"/>
                </a:lnTo>
                <a:lnTo>
                  <a:pt x="1516273" y="2057400"/>
                </a:lnTo>
                <a:lnTo>
                  <a:pt x="1533894" y="2082800"/>
                </a:lnTo>
                <a:lnTo>
                  <a:pt x="1555230" y="2095500"/>
                </a:lnTo>
                <a:lnTo>
                  <a:pt x="1579281" y="2108200"/>
                </a:lnTo>
                <a:lnTo>
                  <a:pt x="1636447" y="2108200"/>
                </a:lnTo>
                <a:lnTo>
                  <a:pt x="1651909" y="2095500"/>
                </a:lnTo>
                <a:lnTo>
                  <a:pt x="1666895" y="2082800"/>
                </a:lnTo>
                <a:lnTo>
                  <a:pt x="1676801" y="2082800"/>
                </a:lnTo>
                <a:lnTo>
                  <a:pt x="1696992" y="2057400"/>
                </a:lnTo>
                <a:lnTo>
                  <a:pt x="1717742" y="2044700"/>
                </a:lnTo>
                <a:lnTo>
                  <a:pt x="1738469" y="2019300"/>
                </a:lnTo>
                <a:lnTo>
                  <a:pt x="1748529" y="2006600"/>
                </a:lnTo>
                <a:close/>
              </a:path>
              <a:path w="2008504" h="2336800">
                <a:moveTo>
                  <a:pt x="1390227" y="2006600"/>
                </a:moveTo>
                <a:lnTo>
                  <a:pt x="659864" y="2006600"/>
                </a:lnTo>
                <a:lnTo>
                  <a:pt x="671141" y="2019300"/>
                </a:lnTo>
                <a:lnTo>
                  <a:pt x="681502" y="2019300"/>
                </a:lnTo>
                <a:lnTo>
                  <a:pt x="698774" y="2032000"/>
                </a:lnTo>
                <a:lnTo>
                  <a:pt x="1361710" y="2032000"/>
                </a:lnTo>
                <a:lnTo>
                  <a:pt x="1378986" y="2019300"/>
                </a:lnTo>
                <a:lnTo>
                  <a:pt x="1390227" y="2006600"/>
                </a:lnTo>
                <a:close/>
              </a:path>
              <a:path w="2008504" h="2336800">
                <a:moveTo>
                  <a:pt x="878034" y="1765300"/>
                </a:moveTo>
                <a:lnTo>
                  <a:pt x="218902" y="1765300"/>
                </a:lnTo>
                <a:lnTo>
                  <a:pt x="215459" y="1778000"/>
                </a:lnTo>
                <a:lnTo>
                  <a:pt x="212659" y="1790700"/>
                </a:lnTo>
                <a:lnTo>
                  <a:pt x="946678" y="1790700"/>
                </a:lnTo>
                <a:lnTo>
                  <a:pt x="940074" y="1778000"/>
                </a:lnTo>
                <a:lnTo>
                  <a:pt x="897699" y="1778000"/>
                </a:lnTo>
                <a:lnTo>
                  <a:pt x="878034" y="1765300"/>
                </a:lnTo>
                <a:close/>
              </a:path>
              <a:path w="2008504" h="2336800">
                <a:moveTo>
                  <a:pt x="2008398" y="952500"/>
                </a:moveTo>
                <a:lnTo>
                  <a:pt x="1539260" y="952500"/>
                </a:lnTo>
                <a:lnTo>
                  <a:pt x="1539260" y="965200"/>
                </a:lnTo>
                <a:lnTo>
                  <a:pt x="1542435" y="977900"/>
                </a:lnTo>
                <a:lnTo>
                  <a:pt x="1545864" y="977900"/>
                </a:lnTo>
                <a:lnTo>
                  <a:pt x="1545864" y="990600"/>
                </a:lnTo>
                <a:lnTo>
                  <a:pt x="1550261" y="1003300"/>
                </a:lnTo>
                <a:lnTo>
                  <a:pt x="1557722" y="1028700"/>
                </a:lnTo>
                <a:lnTo>
                  <a:pt x="1562120" y="1054100"/>
                </a:lnTo>
                <a:lnTo>
                  <a:pt x="1565549" y="1066800"/>
                </a:lnTo>
                <a:lnTo>
                  <a:pt x="1566097" y="1079500"/>
                </a:lnTo>
                <a:lnTo>
                  <a:pt x="1567549" y="1092200"/>
                </a:lnTo>
                <a:lnTo>
                  <a:pt x="1569621" y="1104900"/>
                </a:lnTo>
                <a:lnTo>
                  <a:pt x="1572026" y="1117600"/>
                </a:lnTo>
                <a:lnTo>
                  <a:pt x="1572026" y="1181100"/>
                </a:lnTo>
                <a:lnTo>
                  <a:pt x="1572522" y="1193800"/>
                </a:lnTo>
                <a:lnTo>
                  <a:pt x="1574705" y="1219200"/>
                </a:lnTo>
                <a:lnTo>
                  <a:pt x="1575201" y="1231900"/>
                </a:lnTo>
                <a:lnTo>
                  <a:pt x="1572026" y="1270000"/>
                </a:lnTo>
                <a:lnTo>
                  <a:pt x="1571460" y="1282700"/>
                </a:lnTo>
                <a:lnTo>
                  <a:pt x="1569978" y="1282700"/>
                </a:lnTo>
                <a:lnTo>
                  <a:pt x="1567900" y="1295400"/>
                </a:lnTo>
                <a:lnTo>
                  <a:pt x="1565549" y="1295400"/>
                </a:lnTo>
                <a:lnTo>
                  <a:pt x="1562433" y="1320800"/>
                </a:lnTo>
                <a:lnTo>
                  <a:pt x="1558437" y="1333500"/>
                </a:lnTo>
                <a:lnTo>
                  <a:pt x="1553869" y="1346200"/>
                </a:lnTo>
                <a:lnTo>
                  <a:pt x="1549039" y="1358900"/>
                </a:lnTo>
                <a:lnTo>
                  <a:pt x="1546618" y="1371600"/>
                </a:lnTo>
                <a:lnTo>
                  <a:pt x="1541681" y="1384300"/>
                </a:lnTo>
                <a:lnTo>
                  <a:pt x="1539260" y="1397000"/>
                </a:lnTo>
                <a:lnTo>
                  <a:pt x="1536752" y="1409700"/>
                </a:lnTo>
                <a:lnTo>
                  <a:pt x="1533958" y="1409700"/>
                </a:lnTo>
                <a:lnTo>
                  <a:pt x="1530544" y="1422400"/>
                </a:lnTo>
                <a:lnTo>
                  <a:pt x="1526179" y="1435100"/>
                </a:lnTo>
                <a:lnTo>
                  <a:pt x="1516273" y="1447800"/>
                </a:lnTo>
                <a:lnTo>
                  <a:pt x="1510260" y="1460500"/>
                </a:lnTo>
                <a:lnTo>
                  <a:pt x="1502747" y="1485900"/>
                </a:lnTo>
                <a:lnTo>
                  <a:pt x="1494663" y="1498600"/>
                </a:lnTo>
                <a:lnTo>
                  <a:pt x="1486936" y="1511300"/>
                </a:lnTo>
                <a:lnTo>
                  <a:pt x="1477157" y="1524000"/>
                </a:lnTo>
                <a:lnTo>
                  <a:pt x="1477157" y="1536700"/>
                </a:lnTo>
                <a:lnTo>
                  <a:pt x="1473855" y="1536700"/>
                </a:lnTo>
                <a:lnTo>
                  <a:pt x="1464076" y="1549400"/>
                </a:lnTo>
                <a:lnTo>
                  <a:pt x="1447566" y="1574800"/>
                </a:lnTo>
                <a:lnTo>
                  <a:pt x="1440285" y="1574800"/>
                </a:lnTo>
                <a:lnTo>
                  <a:pt x="1425581" y="1600200"/>
                </a:lnTo>
                <a:lnTo>
                  <a:pt x="1418229" y="1600200"/>
                </a:lnTo>
                <a:lnTo>
                  <a:pt x="1411752" y="1612900"/>
                </a:lnTo>
                <a:lnTo>
                  <a:pt x="1408323" y="1612900"/>
                </a:lnTo>
                <a:lnTo>
                  <a:pt x="1401719" y="1625600"/>
                </a:lnTo>
                <a:lnTo>
                  <a:pt x="1388638" y="1638300"/>
                </a:lnTo>
                <a:lnTo>
                  <a:pt x="1365905" y="1663700"/>
                </a:lnTo>
                <a:lnTo>
                  <a:pt x="1351637" y="1676400"/>
                </a:lnTo>
                <a:lnTo>
                  <a:pt x="1337965" y="1689100"/>
                </a:lnTo>
                <a:lnTo>
                  <a:pt x="1324292" y="1689100"/>
                </a:lnTo>
                <a:lnTo>
                  <a:pt x="1310025" y="1701800"/>
                </a:lnTo>
                <a:lnTo>
                  <a:pt x="1290467" y="1714500"/>
                </a:lnTo>
                <a:lnTo>
                  <a:pt x="1267607" y="1727200"/>
                </a:lnTo>
                <a:lnTo>
                  <a:pt x="1247922" y="1739900"/>
                </a:lnTo>
                <a:lnTo>
                  <a:pt x="1211854" y="1752600"/>
                </a:lnTo>
                <a:lnTo>
                  <a:pt x="1205250" y="1765300"/>
                </a:lnTo>
                <a:lnTo>
                  <a:pt x="1178647" y="1765300"/>
                </a:lnTo>
                <a:lnTo>
                  <a:pt x="1167658" y="1778000"/>
                </a:lnTo>
                <a:lnTo>
                  <a:pt x="1847108" y="1778000"/>
                </a:lnTo>
                <a:lnTo>
                  <a:pt x="1843806" y="1765300"/>
                </a:lnTo>
                <a:lnTo>
                  <a:pt x="1840631" y="1752600"/>
                </a:lnTo>
                <a:lnTo>
                  <a:pt x="1834251" y="1752600"/>
                </a:lnTo>
                <a:lnTo>
                  <a:pt x="1830360" y="1739900"/>
                </a:lnTo>
                <a:lnTo>
                  <a:pt x="1825825" y="1739900"/>
                </a:lnTo>
                <a:lnTo>
                  <a:pt x="1820946" y="1727200"/>
                </a:lnTo>
                <a:lnTo>
                  <a:pt x="1811040" y="1714500"/>
                </a:lnTo>
                <a:lnTo>
                  <a:pt x="1801261" y="1714500"/>
                </a:lnTo>
                <a:lnTo>
                  <a:pt x="1779189" y="1676400"/>
                </a:lnTo>
                <a:lnTo>
                  <a:pt x="1767272" y="1638300"/>
                </a:lnTo>
                <a:lnTo>
                  <a:pt x="1765810" y="1600200"/>
                </a:lnTo>
                <a:lnTo>
                  <a:pt x="1775099" y="1562100"/>
                </a:lnTo>
                <a:lnTo>
                  <a:pt x="1789815" y="1524000"/>
                </a:lnTo>
                <a:lnTo>
                  <a:pt x="1797155" y="1511300"/>
                </a:lnTo>
                <a:lnTo>
                  <a:pt x="1804436" y="1485900"/>
                </a:lnTo>
                <a:lnTo>
                  <a:pt x="1819890" y="1447800"/>
                </a:lnTo>
                <a:lnTo>
                  <a:pt x="1843393" y="1422400"/>
                </a:lnTo>
                <a:lnTo>
                  <a:pt x="1872659" y="1409700"/>
                </a:lnTo>
                <a:lnTo>
                  <a:pt x="1905401" y="1397000"/>
                </a:lnTo>
                <a:lnTo>
                  <a:pt x="1986312" y="1397000"/>
                </a:lnTo>
                <a:lnTo>
                  <a:pt x="2000905" y="1384300"/>
                </a:lnTo>
                <a:lnTo>
                  <a:pt x="2008398" y="1384300"/>
                </a:lnTo>
                <a:lnTo>
                  <a:pt x="2008398" y="952500"/>
                </a:lnTo>
                <a:close/>
              </a:path>
              <a:path w="2008504" h="2336800">
                <a:moveTo>
                  <a:pt x="537210" y="1447800"/>
                </a:moveTo>
                <a:lnTo>
                  <a:pt x="229763" y="1447800"/>
                </a:lnTo>
                <a:lnTo>
                  <a:pt x="239010" y="1460500"/>
                </a:lnTo>
                <a:lnTo>
                  <a:pt x="246971" y="1473200"/>
                </a:lnTo>
                <a:lnTo>
                  <a:pt x="253694" y="1485900"/>
                </a:lnTo>
                <a:lnTo>
                  <a:pt x="259227" y="1498600"/>
                </a:lnTo>
                <a:lnTo>
                  <a:pt x="264690" y="1511300"/>
                </a:lnTo>
                <a:lnTo>
                  <a:pt x="271117" y="1536700"/>
                </a:lnTo>
                <a:lnTo>
                  <a:pt x="278140" y="1549400"/>
                </a:lnTo>
                <a:lnTo>
                  <a:pt x="285389" y="1574800"/>
                </a:lnTo>
                <a:lnTo>
                  <a:pt x="296122" y="1612900"/>
                </a:lnTo>
                <a:lnTo>
                  <a:pt x="294866" y="1651000"/>
                </a:lnTo>
                <a:lnTo>
                  <a:pt x="283156" y="1689100"/>
                </a:lnTo>
                <a:lnTo>
                  <a:pt x="262529" y="1714500"/>
                </a:lnTo>
                <a:lnTo>
                  <a:pt x="249448" y="1727200"/>
                </a:lnTo>
                <a:lnTo>
                  <a:pt x="242092" y="1739900"/>
                </a:lnTo>
                <a:lnTo>
                  <a:pt x="235081" y="1739900"/>
                </a:lnTo>
                <a:lnTo>
                  <a:pt x="228713" y="1752600"/>
                </a:lnTo>
                <a:lnTo>
                  <a:pt x="223286" y="1765300"/>
                </a:lnTo>
                <a:lnTo>
                  <a:pt x="858369" y="1765300"/>
                </a:lnTo>
                <a:lnTo>
                  <a:pt x="838728" y="1752600"/>
                </a:lnTo>
                <a:lnTo>
                  <a:pt x="825647" y="1752600"/>
                </a:lnTo>
                <a:lnTo>
                  <a:pt x="815741" y="1739900"/>
                </a:lnTo>
                <a:lnTo>
                  <a:pt x="792881" y="1727200"/>
                </a:lnTo>
                <a:lnTo>
                  <a:pt x="766719" y="1727200"/>
                </a:lnTo>
                <a:lnTo>
                  <a:pt x="756392" y="1714500"/>
                </a:lnTo>
                <a:lnTo>
                  <a:pt x="734501" y="1701800"/>
                </a:lnTo>
                <a:lnTo>
                  <a:pt x="724174" y="1689100"/>
                </a:lnTo>
                <a:lnTo>
                  <a:pt x="717332" y="1689100"/>
                </a:lnTo>
                <a:lnTo>
                  <a:pt x="711442" y="1676400"/>
                </a:lnTo>
                <a:lnTo>
                  <a:pt x="701187" y="1676400"/>
                </a:lnTo>
                <a:lnTo>
                  <a:pt x="684931" y="1663700"/>
                </a:lnTo>
                <a:lnTo>
                  <a:pt x="678021" y="1651000"/>
                </a:lnTo>
                <a:lnTo>
                  <a:pt x="671755" y="1651000"/>
                </a:lnTo>
                <a:lnTo>
                  <a:pt x="665536" y="1638300"/>
                </a:lnTo>
                <a:lnTo>
                  <a:pt x="658769" y="1638300"/>
                </a:lnTo>
                <a:lnTo>
                  <a:pt x="635655" y="1600200"/>
                </a:lnTo>
                <a:lnTo>
                  <a:pt x="619399" y="1587500"/>
                </a:lnTo>
                <a:lnTo>
                  <a:pt x="603262" y="1562100"/>
                </a:lnTo>
                <a:lnTo>
                  <a:pt x="588697" y="1536700"/>
                </a:lnTo>
                <a:lnTo>
                  <a:pt x="574750" y="1524000"/>
                </a:lnTo>
                <a:lnTo>
                  <a:pt x="560471" y="1498600"/>
                </a:lnTo>
                <a:lnTo>
                  <a:pt x="557891" y="1485900"/>
                </a:lnTo>
                <a:lnTo>
                  <a:pt x="555073" y="1485900"/>
                </a:lnTo>
                <a:lnTo>
                  <a:pt x="551684" y="1473200"/>
                </a:lnTo>
                <a:lnTo>
                  <a:pt x="547390" y="1473200"/>
                </a:lnTo>
                <a:lnTo>
                  <a:pt x="544346" y="1460500"/>
                </a:lnTo>
                <a:lnTo>
                  <a:pt x="540754" y="1460500"/>
                </a:lnTo>
                <a:lnTo>
                  <a:pt x="537210" y="1447800"/>
                </a:lnTo>
                <a:close/>
              </a:path>
              <a:path w="2008504" h="2336800">
                <a:moveTo>
                  <a:pt x="521228" y="939800"/>
                </a:moveTo>
                <a:lnTo>
                  <a:pt x="98826" y="939800"/>
                </a:lnTo>
                <a:lnTo>
                  <a:pt x="64639" y="952500"/>
                </a:lnTo>
                <a:lnTo>
                  <a:pt x="17316" y="1003300"/>
                </a:lnTo>
                <a:lnTo>
                  <a:pt x="7132" y="1054100"/>
                </a:lnTo>
                <a:lnTo>
                  <a:pt x="2377" y="1092200"/>
                </a:lnTo>
                <a:lnTo>
                  <a:pt x="0" y="1143000"/>
                </a:lnTo>
                <a:lnTo>
                  <a:pt x="0" y="1193800"/>
                </a:lnTo>
                <a:lnTo>
                  <a:pt x="2377" y="1244600"/>
                </a:lnTo>
                <a:lnTo>
                  <a:pt x="7132" y="1295400"/>
                </a:lnTo>
                <a:lnTo>
                  <a:pt x="18687" y="1346200"/>
                </a:lnTo>
                <a:lnTo>
                  <a:pt x="42612" y="1384300"/>
                </a:lnTo>
                <a:lnTo>
                  <a:pt x="75944" y="1409700"/>
                </a:lnTo>
                <a:lnTo>
                  <a:pt x="171123" y="1409700"/>
                </a:lnTo>
                <a:lnTo>
                  <a:pt x="186853" y="1422400"/>
                </a:lnTo>
                <a:lnTo>
                  <a:pt x="201940" y="1422400"/>
                </a:lnTo>
                <a:lnTo>
                  <a:pt x="216682" y="1435100"/>
                </a:lnTo>
                <a:lnTo>
                  <a:pt x="223286" y="1435100"/>
                </a:lnTo>
                <a:lnTo>
                  <a:pt x="226461" y="1447800"/>
                </a:lnTo>
                <a:lnTo>
                  <a:pt x="534309" y="1447800"/>
                </a:lnTo>
                <a:lnTo>
                  <a:pt x="530880" y="1435100"/>
                </a:lnTo>
                <a:lnTo>
                  <a:pt x="527705" y="1422400"/>
                </a:lnTo>
                <a:lnTo>
                  <a:pt x="524276" y="1409700"/>
                </a:lnTo>
                <a:lnTo>
                  <a:pt x="521228" y="1397000"/>
                </a:lnTo>
                <a:lnTo>
                  <a:pt x="517799" y="1397000"/>
                </a:lnTo>
                <a:lnTo>
                  <a:pt x="517799" y="1384300"/>
                </a:lnTo>
                <a:lnTo>
                  <a:pt x="514624" y="1384300"/>
                </a:lnTo>
                <a:lnTo>
                  <a:pt x="511195" y="1371600"/>
                </a:lnTo>
                <a:lnTo>
                  <a:pt x="508020" y="1358900"/>
                </a:lnTo>
                <a:lnTo>
                  <a:pt x="504718" y="1346200"/>
                </a:lnTo>
                <a:lnTo>
                  <a:pt x="502297" y="1333500"/>
                </a:lnTo>
                <a:lnTo>
                  <a:pt x="497360" y="1308100"/>
                </a:lnTo>
                <a:lnTo>
                  <a:pt x="494939" y="1308100"/>
                </a:lnTo>
                <a:lnTo>
                  <a:pt x="494939" y="1295400"/>
                </a:lnTo>
                <a:lnTo>
                  <a:pt x="487144" y="1257300"/>
                </a:lnTo>
                <a:lnTo>
                  <a:pt x="484537" y="1219200"/>
                </a:lnTo>
                <a:lnTo>
                  <a:pt x="482354" y="1193800"/>
                </a:lnTo>
                <a:lnTo>
                  <a:pt x="481858" y="1168400"/>
                </a:lnTo>
                <a:lnTo>
                  <a:pt x="482354" y="1155700"/>
                </a:lnTo>
                <a:lnTo>
                  <a:pt x="484537" y="1130300"/>
                </a:lnTo>
                <a:lnTo>
                  <a:pt x="485033" y="1104900"/>
                </a:lnTo>
                <a:lnTo>
                  <a:pt x="485569" y="1092200"/>
                </a:lnTo>
                <a:lnTo>
                  <a:pt x="486747" y="1092200"/>
                </a:lnTo>
                <a:lnTo>
                  <a:pt x="487926" y="1079500"/>
                </a:lnTo>
                <a:lnTo>
                  <a:pt x="488462" y="1079500"/>
                </a:lnTo>
                <a:lnTo>
                  <a:pt x="490349" y="1066800"/>
                </a:lnTo>
                <a:lnTo>
                  <a:pt x="491653" y="1054100"/>
                </a:lnTo>
                <a:lnTo>
                  <a:pt x="492980" y="1054100"/>
                </a:lnTo>
                <a:lnTo>
                  <a:pt x="494939" y="1041400"/>
                </a:lnTo>
                <a:lnTo>
                  <a:pt x="497858" y="1028700"/>
                </a:lnTo>
                <a:lnTo>
                  <a:pt x="501432" y="1003300"/>
                </a:lnTo>
                <a:lnTo>
                  <a:pt x="505029" y="990600"/>
                </a:lnTo>
                <a:lnTo>
                  <a:pt x="508020" y="977900"/>
                </a:lnTo>
                <a:lnTo>
                  <a:pt x="517799" y="952500"/>
                </a:lnTo>
                <a:lnTo>
                  <a:pt x="521228" y="939800"/>
                </a:lnTo>
                <a:close/>
              </a:path>
              <a:path w="2008504" h="2336800">
                <a:moveTo>
                  <a:pt x="1971028" y="1397000"/>
                </a:moveTo>
                <a:lnTo>
                  <a:pt x="1918990" y="1397000"/>
                </a:lnTo>
                <a:lnTo>
                  <a:pt x="1925467" y="1409700"/>
                </a:lnTo>
                <a:lnTo>
                  <a:pt x="1955221" y="1409700"/>
                </a:lnTo>
                <a:lnTo>
                  <a:pt x="1971028" y="1397000"/>
                </a:lnTo>
                <a:close/>
              </a:path>
              <a:path w="2008504" h="2336800">
                <a:moveTo>
                  <a:pt x="1856621" y="914400"/>
                </a:moveTo>
                <a:lnTo>
                  <a:pt x="1526179" y="914400"/>
                </a:lnTo>
                <a:lnTo>
                  <a:pt x="1528600" y="927100"/>
                </a:lnTo>
                <a:lnTo>
                  <a:pt x="1533537" y="939800"/>
                </a:lnTo>
                <a:lnTo>
                  <a:pt x="1535958" y="952500"/>
                </a:lnTo>
                <a:lnTo>
                  <a:pt x="1997603" y="952500"/>
                </a:lnTo>
                <a:lnTo>
                  <a:pt x="1992120" y="939800"/>
                </a:lnTo>
                <a:lnTo>
                  <a:pt x="1971314" y="939800"/>
                </a:lnTo>
                <a:lnTo>
                  <a:pt x="1964837" y="927100"/>
                </a:lnTo>
                <a:lnTo>
                  <a:pt x="1870317" y="927100"/>
                </a:lnTo>
                <a:lnTo>
                  <a:pt x="1856621" y="914400"/>
                </a:lnTo>
                <a:close/>
              </a:path>
              <a:path w="2008504" h="2336800">
                <a:moveTo>
                  <a:pt x="524276" y="927100"/>
                </a:moveTo>
                <a:lnTo>
                  <a:pt x="187091" y="927100"/>
                </a:lnTo>
                <a:lnTo>
                  <a:pt x="183916" y="939800"/>
                </a:lnTo>
                <a:lnTo>
                  <a:pt x="524276" y="939800"/>
                </a:lnTo>
                <a:lnTo>
                  <a:pt x="524276" y="927100"/>
                </a:lnTo>
                <a:close/>
              </a:path>
              <a:path w="2008504" h="2336800">
                <a:moveTo>
                  <a:pt x="530880" y="914400"/>
                </a:moveTo>
                <a:lnTo>
                  <a:pt x="211286" y="914400"/>
                </a:lnTo>
                <a:lnTo>
                  <a:pt x="199162" y="927100"/>
                </a:lnTo>
                <a:lnTo>
                  <a:pt x="527705" y="927100"/>
                </a:lnTo>
                <a:lnTo>
                  <a:pt x="530880" y="914400"/>
                </a:lnTo>
                <a:close/>
              </a:path>
              <a:path w="2008504" h="2336800">
                <a:moveTo>
                  <a:pt x="551668" y="863600"/>
                </a:moveTo>
                <a:lnTo>
                  <a:pt x="252905" y="863600"/>
                </a:lnTo>
                <a:lnTo>
                  <a:pt x="248591" y="876300"/>
                </a:lnTo>
                <a:lnTo>
                  <a:pt x="243086" y="889000"/>
                </a:lnTo>
                <a:lnTo>
                  <a:pt x="236367" y="901700"/>
                </a:lnTo>
                <a:lnTo>
                  <a:pt x="231434" y="901700"/>
                </a:lnTo>
                <a:lnTo>
                  <a:pt x="221615" y="914400"/>
                </a:lnTo>
                <a:lnTo>
                  <a:pt x="534309" y="914400"/>
                </a:lnTo>
                <a:lnTo>
                  <a:pt x="534309" y="901700"/>
                </a:lnTo>
                <a:lnTo>
                  <a:pt x="539683" y="889000"/>
                </a:lnTo>
                <a:lnTo>
                  <a:pt x="551668" y="863600"/>
                </a:lnTo>
                <a:close/>
              </a:path>
              <a:path w="2008504" h="2336800">
                <a:moveTo>
                  <a:pt x="1834027" y="901700"/>
                </a:moveTo>
                <a:lnTo>
                  <a:pt x="1519702" y="901700"/>
                </a:lnTo>
                <a:lnTo>
                  <a:pt x="1522877" y="914400"/>
                </a:lnTo>
                <a:lnTo>
                  <a:pt x="1843806" y="914400"/>
                </a:lnTo>
                <a:lnTo>
                  <a:pt x="1834027" y="901700"/>
                </a:lnTo>
                <a:close/>
              </a:path>
              <a:path w="2008504" h="2336800">
                <a:moveTo>
                  <a:pt x="1775099" y="762000"/>
                </a:moveTo>
                <a:lnTo>
                  <a:pt x="1437914" y="762000"/>
                </a:lnTo>
                <a:lnTo>
                  <a:pt x="1444518" y="774700"/>
                </a:lnTo>
                <a:lnTo>
                  <a:pt x="1447566" y="774700"/>
                </a:lnTo>
                <a:lnTo>
                  <a:pt x="1454481" y="787400"/>
                </a:lnTo>
                <a:lnTo>
                  <a:pt x="1460409" y="800100"/>
                </a:lnTo>
                <a:lnTo>
                  <a:pt x="1465693" y="800100"/>
                </a:lnTo>
                <a:lnTo>
                  <a:pt x="1470680" y="812800"/>
                </a:lnTo>
                <a:lnTo>
                  <a:pt x="1480332" y="825500"/>
                </a:lnTo>
                <a:lnTo>
                  <a:pt x="1489577" y="838200"/>
                </a:lnTo>
                <a:lnTo>
                  <a:pt x="1497905" y="863600"/>
                </a:lnTo>
                <a:lnTo>
                  <a:pt x="1505639" y="876300"/>
                </a:lnTo>
                <a:lnTo>
                  <a:pt x="1513098" y="889000"/>
                </a:lnTo>
                <a:lnTo>
                  <a:pt x="1516273" y="901700"/>
                </a:lnTo>
                <a:lnTo>
                  <a:pt x="1830725" y="901700"/>
                </a:lnTo>
                <a:lnTo>
                  <a:pt x="1827550" y="889000"/>
                </a:lnTo>
                <a:lnTo>
                  <a:pt x="1820946" y="889000"/>
                </a:lnTo>
                <a:lnTo>
                  <a:pt x="1817517" y="876300"/>
                </a:lnTo>
                <a:lnTo>
                  <a:pt x="1814342" y="876300"/>
                </a:lnTo>
                <a:lnTo>
                  <a:pt x="1807865" y="863600"/>
                </a:lnTo>
                <a:lnTo>
                  <a:pt x="1804436" y="863600"/>
                </a:lnTo>
                <a:lnTo>
                  <a:pt x="1804436" y="850900"/>
                </a:lnTo>
                <a:lnTo>
                  <a:pt x="1801261" y="850900"/>
                </a:lnTo>
                <a:lnTo>
                  <a:pt x="1801261" y="838200"/>
                </a:lnTo>
                <a:lnTo>
                  <a:pt x="1795816" y="825500"/>
                </a:lnTo>
                <a:lnTo>
                  <a:pt x="1789418" y="800100"/>
                </a:lnTo>
                <a:lnTo>
                  <a:pt x="1782401" y="787400"/>
                </a:lnTo>
                <a:lnTo>
                  <a:pt x="1775099" y="774700"/>
                </a:lnTo>
                <a:lnTo>
                  <a:pt x="1775099" y="762000"/>
                </a:lnTo>
                <a:close/>
              </a:path>
              <a:path w="2008504" h="2336800">
                <a:moveTo>
                  <a:pt x="789452" y="609600"/>
                </a:moveTo>
                <a:lnTo>
                  <a:pt x="239542" y="609600"/>
                </a:lnTo>
                <a:lnTo>
                  <a:pt x="249448" y="622300"/>
                </a:lnTo>
                <a:lnTo>
                  <a:pt x="276245" y="660400"/>
                </a:lnTo>
                <a:lnTo>
                  <a:pt x="291993" y="698500"/>
                </a:lnTo>
                <a:lnTo>
                  <a:pt x="295454" y="736600"/>
                </a:lnTo>
                <a:lnTo>
                  <a:pt x="285389" y="774700"/>
                </a:lnTo>
                <a:lnTo>
                  <a:pt x="278090" y="800100"/>
                </a:lnTo>
                <a:lnTo>
                  <a:pt x="263350" y="838200"/>
                </a:lnTo>
                <a:lnTo>
                  <a:pt x="256052" y="863600"/>
                </a:lnTo>
                <a:lnTo>
                  <a:pt x="557042" y="863600"/>
                </a:lnTo>
                <a:lnTo>
                  <a:pt x="570123" y="838200"/>
                </a:lnTo>
                <a:lnTo>
                  <a:pt x="580156" y="812800"/>
                </a:lnTo>
                <a:lnTo>
                  <a:pt x="585033" y="812800"/>
                </a:lnTo>
                <a:lnTo>
                  <a:pt x="589935" y="800100"/>
                </a:lnTo>
                <a:lnTo>
                  <a:pt x="594836" y="800100"/>
                </a:lnTo>
                <a:lnTo>
                  <a:pt x="599714" y="787400"/>
                </a:lnTo>
                <a:lnTo>
                  <a:pt x="604129" y="787400"/>
                </a:lnTo>
                <a:lnTo>
                  <a:pt x="607889" y="774700"/>
                </a:lnTo>
                <a:lnTo>
                  <a:pt x="611626" y="774700"/>
                </a:lnTo>
                <a:lnTo>
                  <a:pt x="615970" y="762000"/>
                </a:lnTo>
                <a:lnTo>
                  <a:pt x="620921" y="762000"/>
                </a:lnTo>
                <a:lnTo>
                  <a:pt x="625860" y="749300"/>
                </a:lnTo>
                <a:lnTo>
                  <a:pt x="630775" y="749300"/>
                </a:lnTo>
                <a:lnTo>
                  <a:pt x="635655" y="736600"/>
                </a:lnTo>
                <a:lnTo>
                  <a:pt x="662859" y="711200"/>
                </a:lnTo>
                <a:lnTo>
                  <a:pt x="690598" y="685800"/>
                </a:lnTo>
                <a:lnTo>
                  <a:pt x="719505" y="660400"/>
                </a:lnTo>
                <a:lnTo>
                  <a:pt x="750209" y="635000"/>
                </a:lnTo>
                <a:lnTo>
                  <a:pt x="789452" y="609600"/>
                </a:lnTo>
                <a:close/>
              </a:path>
              <a:path w="2008504" h="2336800">
                <a:moveTo>
                  <a:pt x="1785735" y="635000"/>
                </a:moveTo>
                <a:lnTo>
                  <a:pt x="1310025" y="635000"/>
                </a:lnTo>
                <a:lnTo>
                  <a:pt x="1315494" y="647700"/>
                </a:lnTo>
                <a:lnTo>
                  <a:pt x="1327670" y="660400"/>
                </a:lnTo>
                <a:lnTo>
                  <a:pt x="1333139" y="660400"/>
                </a:lnTo>
                <a:lnTo>
                  <a:pt x="1352824" y="673100"/>
                </a:lnTo>
                <a:lnTo>
                  <a:pt x="1355872" y="673100"/>
                </a:lnTo>
                <a:lnTo>
                  <a:pt x="1360823" y="685800"/>
                </a:lnTo>
                <a:lnTo>
                  <a:pt x="1370677" y="685800"/>
                </a:lnTo>
                <a:lnTo>
                  <a:pt x="1375557" y="698500"/>
                </a:lnTo>
                <a:lnTo>
                  <a:pt x="1380490" y="698500"/>
                </a:lnTo>
                <a:lnTo>
                  <a:pt x="1385399" y="711200"/>
                </a:lnTo>
                <a:lnTo>
                  <a:pt x="1390309" y="711200"/>
                </a:lnTo>
                <a:lnTo>
                  <a:pt x="1405053" y="723900"/>
                </a:lnTo>
                <a:lnTo>
                  <a:pt x="1434485" y="762000"/>
                </a:lnTo>
                <a:lnTo>
                  <a:pt x="1771670" y="762000"/>
                </a:lnTo>
                <a:lnTo>
                  <a:pt x="1767925" y="749300"/>
                </a:lnTo>
                <a:lnTo>
                  <a:pt x="1766002" y="736600"/>
                </a:lnTo>
                <a:lnTo>
                  <a:pt x="1765294" y="723900"/>
                </a:lnTo>
                <a:lnTo>
                  <a:pt x="1765193" y="698500"/>
                </a:lnTo>
                <a:lnTo>
                  <a:pt x="1770495" y="685800"/>
                </a:lnTo>
                <a:lnTo>
                  <a:pt x="1773908" y="673100"/>
                </a:lnTo>
                <a:lnTo>
                  <a:pt x="1778274" y="660400"/>
                </a:lnTo>
                <a:lnTo>
                  <a:pt x="1781421" y="647700"/>
                </a:lnTo>
                <a:lnTo>
                  <a:pt x="1785735" y="635000"/>
                </a:lnTo>
                <a:close/>
              </a:path>
              <a:path w="2008504" h="2336800">
                <a:moveTo>
                  <a:pt x="1804436" y="609600"/>
                </a:moveTo>
                <a:lnTo>
                  <a:pt x="1269484" y="609600"/>
                </a:lnTo>
                <a:lnTo>
                  <a:pt x="1287292" y="622300"/>
                </a:lnTo>
                <a:lnTo>
                  <a:pt x="1294005" y="635000"/>
                </a:lnTo>
                <a:lnTo>
                  <a:pt x="1791240" y="635000"/>
                </a:lnTo>
                <a:lnTo>
                  <a:pt x="1797959" y="622300"/>
                </a:lnTo>
                <a:lnTo>
                  <a:pt x="1801261" y="622300"/>
                </a:lnTo>
                <a:lnTo>
                  <a:pt x="1804436" y="609600"/>
                </a:lnTo>
                <a:close/>
              </a:path>
              <a:path w="2008504" h="2336800">
                <a:moveTo>
                  <a:pt x="820394" y="596900"/>
                </a:moveTo>
                <a:lnTo>
                  <a:pt x="230128" y="596900"/>
                </a:lnTo>
                <a:lnTo>
                  <a:pt x="234662" y="609600"/>
                </a:lnTo>
                <a:lnTo>
                  <a:pt x="812566" y="609600"/>
                </a:lnTo>
                <a:lnTo>
                  <a:pt x="820394" y="596900"/>
                </a:lnTo>
                <a:close/>
              </a:path>
              <a:path w="2008504" h="2336800">
                <a:moveTo>
                  <a:pt x="1833566" y="584200"/>
                </a:moveTo>
                <a:lnTo>
                  <a:pt x="1215156" y="584200"/>
                </a:lnTo>
                <a:lnTo>
                  <a:pt x="1232821" y="596900"/>
                </a:lnTo>
                <a:lnTo>
                  <a:pt x="1251129" y="609600"/>
                </a:lnTo>
                <a:lnTo>
                  <a:pt x="1820946" y="609600"/>
                </a:lnTo>
                <a:lnTo>
                  <a:pt x="1827715" y="596900"/>
                </a:lnTo>
                <a:lnTo>
                  <a:pt x="1833566" y="584200"/>
                </a:lnTo>
                <a:close/>
              </a:path>
              <a:path w="2008504" h="2336800">
                <a:moveTo>
                  <a:pt x="838623" y="584200"/>
                </a:moveTo>
                <a:lnTo>
                  <a:pt x="223286" y="584200"/>
                </a:lnTo>
                <a:lnTo>
                  <a:pt x="226237" y="596900"/>
                </a:lnTo>
                <a:lnTo>
                  <a:pt x="829187" y="596900"/>
                </a:lnTo>
                <a:lnTo>
                  <a:pt x="838623" y="584200"/>
                </a:lnTo>
                <a:close/>
              </a:path>
              <a:path w="2008504" h="2336800">
                <a:moveTo>
                  <a:pt x="912816" y="558800"/>
                </a:moveTo>
                <a:lnTo>
                  <a:pt x="212659" y="558800"/>
                </a:lnTo>
                <a:lnTo>
                  <a:pt x="215459" y="571500"/>
                </a:lnTo>
                <a:lnTo>
                  <a:pt x="218902" y="584200"/>
                </a:lnTo>
                <a:lnTo>
                  <a:pt x="861588" y="584200"/>
                </a:lnTo>
                <a:lnTo>
                  <a:pt x="868065" y="571500"/>
                </a:lnTo>
                <a:lnTo>
                  <a:pt x="901539" y="571500"/>
                </a:lnTo>
                <a:lnTo>
                  <a:pt x="912816" y="558800"/>
                </a:lnTo>
                <a:close/>
              </a:path>
              <a:path w="2008504" h="2336800">
                <a:moveTo>
                  <a:pt x="1847108" y="558800"/>
                </a:moveTo>
                <a:lnTo>
                  <a:pt x="1133241" y="558800"/>
                </a:lnTo>
                <a:lnTo>
                  <a:pt x="1143147" y="571500"/>
                </a:lnTo>
                <a:lnTo>
                  <a:pt x="1169674" y="571500"/>
                </a:lnTo>
                <a:lnTo>
                  <a:pt x="1184063" y="584200"/>
                </a:lnTo>
                <a:lnTo>
                  <a:pt x="1838823" y="584200"/>
                </a:lnTo>
                <a:lnTo>
                  <a:pt x="1843806" y="571500"/>
                </a:lnTo>
                <a:lnTo>
                  <a:pt x="1847108" y="558800"/>
                </a:lnTo>
                <a:close/>
              </a:path>
              <a:path w="2008504" h="2336800">
                <a:moveTo>
                  <a:pt x="506210" y="241300"/>
                </a:moveTo>
                <a:lnTo>
                  <a:pt x="408422" y="241300"/>
                </a:lnTo>
                <a:lnTo>
                  <a:pt x="393339" y="254000"/>
                </a:lnTo>
                <a:lnTo>
                  <a:pt x="383687" y="254000"/>
                </a:lnTo>
                <a:lnTo>
                  <a:pt x="350732" y="292100"/>
                </a:lnTo>
                <a:lnTo>
                  <a:pt x="318716" y="330200"/>
                </a:lnTo>
                <a:lnTo>
                  <a:pt x="287785" y="355600"/>
                </a:lnTo>
                <a:lnTo>
                  <a:pt x="258085" y="393700"/>
                </a:lnTo>
                <a:lnTo>
                  <a:pt x="229763" y="444500"/>
                </a:lnTo>
                <a:lnTo>
                  <a:pt x="215170" y="469900"/>
                </a:lnTo>
                <a:lnTo>
                  <a:pt x="206458" y="495300"/>
                </a:lnTo>
                <a:lnTo>
                  <a:pt x="204510" y="520700"/>
                </a:lnTo>
                <a:lnTo>
                  <a:pt x="210205" y="558800"/>
                </a:lnTo>
                <a:lnTo>
                  <a:pt x="1004907" y="558800"/>
                </a:lnTo>
                <a:lnTo>
                  <a:pt x="1016056" y="546100"/>
                </a:lnTo>
                <a:lnTo>
                  <a:pt x="1853712" y="546100"/>
                </a:lnTo>
                <a:lnTo>
                  <a:pt x="1853712" y="533400"/>
                </a:lnTo>
                <a:lnTo>
                  <a:pt x="1856137" y="508000"/>
                </a:lnTo>
                <a:lnTo>
                  <a:pt x="1853680" y="482600"/>
                </a:lnTo>
                <a:lnTo>
                  <a:pt x="1846318" y="457200"/>
                </a:lnTo>
                <a:lnTo>
                  <a:pt x="1834027" y="431800"/>
                </a:lnTo>
                <a:lnTo>
                  <a:pt x="1814899" y="406400"/>
                </a:lnTo>
                <a:lnTo>
                  <a:pt x="1777788" y="355600"/>
                </a:lnTo>
                <a:lnTo>
                  <a:pt x="1758589" y="342900"/>
                </a:lnTo>
                <a:lnTo>
                  <a:pt x="1748752" y="330200"/>
                </a:lnTo>
                <a:lnTo>
                  <a:pt x="610041" y="330200"/>
                </a:lnTo>
                <a:lnTo>
                  <a:pt x="586093" y="317500"/>
                </a:lnTo>
                <a:lnTo>
                  <a:pt x="564860" y="304800"/>
                </a:lnTo>
                <a:lnTo>
                  <a:pt x="547390" y="279400"/>
                </a:lnTo>
                <a:lnTo>
                  <a:pt x="528455" y="266700"/>
                </a:lnTo>
                <a:lnTo>
                  <a:pt x="506210" y="241300"/>
                </a:lnTo>
                <a:close/>
              </a:path>
              <a:path w="2008504" h="2336800">
                <a:moveTo>
                  <a:pt x="1850283" y="546100"/>
                </a:moveTo>
                <a:lnTo>
                  <a:pt x="1038759" y="546100"/>
                </a:lnTo>
                <a:lnTo>
                  <a:pt x="1050421" y="558800"/>
                </a:lnTo>
                <a:lnTo>
                  <a:pt x="1850283" y="558800"/>
                </a:lnTo>
                <a:lnTo>
                  <a:pt x="1850283" y="546100"/>
                </a:lnTo>
                <a:close/>
              </a:path>
              <a:path w="2008504" h="2336800">
                <a:moveTo>
                  <a:pt x="1331424" y="292100"/>
                </a:moveTo>
                <a:lnTo>
                  <a:pt x="750209" y="292100"/>
                </a:lnTo>
                <a:lnTo>
                  <a:pt x="717697" y="304800"/>
                </a:lnTo>
                <a:lnTo>
                  <a:pt x="688106" y="317500"/>
                </a:lnTo>
                <a:lnTo>
                  <a:pt x="681502" y="330200"/>
                </a:lnTo>
                <a:lnTo>
                  <a:pt x="1395242" y="330200"/>
                </a:lnTo>
                <a:lnTo>
                  <a:pt x="1369080" y="317500"/>
                </a:lnTo>
                <a:lnTo>
                  <a:pt x="1362476" y="304800"/>
                </a:lnTo>
                <a:lnTo>
                  <a:pt x="1341029" y="304800"/>
                </a:lnTo>
                <a:lnTo>
                  <a:pt x="1331424" y="292100"/>
                </a:lnTo>
                <a:close/>
              </a:path>
              <a:path w="2008504" h="2336800">
                <a:moveTo>
                  <a:pt x="1644749" y="228600"/>
                </a:moveTo>
                <a:lnTo>
                  <a:pt x="1568724" y="228600"/>
                </a:lnTo>
                <a:lnTo>
                  <a:pt x="1557058" y="241300"/>
                </a:lnTo>
                <a:lnTo>
                  <a:pt x="1546261" y="241300"/>
                </a:lnTo>
                <a:lnTo>
                  <a:pt x="1536059" y="254000"/>
                </a:lnTo>
                <a:lnTo>
                  <a:pt x="1526179" y="266700"/>
                </a:lnTo>
                <a:lnTo>
                  <a:pt x="1522877" y="266700"/>
                </a:lnTo>
                <a:lnTo>
                  <a:pt x="1519702" y="279400"/>
                </a:lnTo>
                <a:lnTo>
                  <a:pt x="1516273" y="279400"/>
                </a:lnTo>
                <a:lnTo>
                  <a:pt x="1505863" y="292100"/>
                </a:lnTo>
                <a:lnTo>
                  <a:pt x="1494238" y="304800"/>
                </a:lnTo>
                <a:lnTo>
                  <a:pt x="1481376" y="317500"/>
                </a:lnTo>
                <a:lnTo>
                  <a:pt x="1467251" y="317500"/>
                </a:lnTo>
                <a:lnTo>
                  <a:pt x="1457599" y="330200"/>
                </a:lnTo>
                <a:lnTo>
                  <a:pt x="1748752" y="330200"/>
                </a:lnTo>
                <a:lnTo>
                  <a:pt x="1738916" y="317500"/>
                </a:lnTo>
                <a:lnTo>
                  <a:pt x="1718933" y="292100"/>
                </a:lnTo>
                <a:lnTo>
                  <a:pt x="1698331" y="266700"/>
                </a:lnTo>
                <a:lnTo>
                  <a:pt x="1676801" y="254000"/>
                </a:lnTo>
                <a:lnTo>
                  <a:pt x="1661519" y="241300"/>
                </a:lnTo>
                <a:lnTo>
                  <a:pt x="1644749" y="228600"/>
                </a:lnTo>
                <a:close/>
              </a:path>
              <a:path w="2008504" h="2336800">
                <a:moveTo>
                  <a:pt x="1152926" y="0"/>
                </a:moveTo>
                <a:lnTo>
                  <a:pt x="920516" y="0"/>
                </a:lnTo>
                <a:lnTo>
                  <a:pt x="879386" y="25400"/>
                </a:lnTo>
                <a:lnTo>
                  <a:pt x="846840" y="50800"/>
                </a:lnTo>
                <a:lnTo>
                  <a:pt x="826558" y="88900"/>
                </a:lnTo>
                <a:lnTo>
                  <a:pt x="822218" y="139700"/>
                </a:lnTo>
                <a:lnTo>
                  <a:pt x="822218" y="177800"/>
                </a:lnTo>
                <a:lnTo>
                  <a:pt x="818051" y="203200"/>
                </a:lnTo>
                <a:lnTo>
                  <a:pt x="805930" y="241300"/>
                </a:lnTo>
                <a:lnTo>
                  <a:pt x="786428" y="266700"/>
                </a:lnTo>
                <a:lnTo>
                  <a:pt x="760115" y="292100"/>
                </a:lnTo>
                <a:lnTo>
                  <a:pt x="1321820" y="292100"/>
                </a:lnTo>
                <a:lnTo>
                  <a:pt x="1313454" y="279400"/>
                </a:lnTo>
                <a:lnTo>
                  <a:pt x="1282379" y="266700"/>
                </a:lnTo>
                <a:lnTo>
                  <a:pt x="1258971" y="241300"/>
                </a:lnTo>
                <a:lnTo>
                  <a:pt x="1244802" y="203200"/>
                </a:lnTo>
                <a:lnTo>
                  <a:pt x="1241445" y="152400"/>
                </a:lnTo>
                <a:lnTo>
                  <a:pt x="1240024" y="101600"/>
                </a:lnTo>
                <a:lnTo>
                  <a:pt x="1223316" y="63500"/>
                </a:lnTo>
                <a:lnTo>
                  <a:pt x="1194368" y="25400"/>
                </a:lnTo>
                <a:lnTo>
                  <a:pt x="1156228" y="12700"/>
                </a:lnTo>
                <a:lnTo>
                  <a:pt x="1152926" y="0"/>
                </a:lnTo>
                <a:close/>
              </a:path>
              <a:path w="2008504" h="2336800">
                <a:moveTo>
                  <a:pt x="455696" y="228600"/>
                </a:moveTo>
                <a:lnTo>
                  <a:pt x="439827" y="228600"/>
                </a:lnTo>
                <a:lnTo>
                  <a:pt x="423993" y="241300"/>
                </a:lnTo>
                <a:lnTo>
                  <a:pt x="481632" y="241300"/>
                </a:lnTo>
                <a:lnTo>
                  <a:pt x="455696" y="228600"/>
                </a:lnTo>
                <a:close/>
              </a:path>
            </a:pathLst>
          </a:custGeom>
          <a:solidFill>
            <a:srgbClr val="A4A4A4">
              <a:alpha val="19999"/>
            </a:srgbClr>
          </a:solidFill>
        </p:spPr>
        <p:txBody>
          <a:bodyPr wrap="square" lIns="0" tIns="0" rIns="0" bIns="0" rtlCol="0"/>
          <a:lstStyle/>
          <a:p>
            <a:endParaRPr/>
          </a:p>
        </p:txBody>
      </p:sp>
      <p:sp>
        <p:nvSpPr>
          <p:cNvPr id="10" name="TextBox 9"/>
          <p:cNvSpPr txBox="1"/>
          <p:nvPr/>
        </p:nvSpPr>
        <p:spPr>
          <a:xfrm>
            <a:off x="2590800" y="1219200"/>
            <a:ext cx="6934200" cy="369332"/>
          </a:xfrm>
          <a:prstGeom prst="rect">
            <a:avLst/>
          </a:prstGeom>
          <a:noFill/>
        </p:spPr>
        <p:txBody>
          <a:bodyPr wrap="square" rtlCol="0">
            <a:spAutoFit/>
          </a:bodyPr>
          <a:lstStyle/>
          <a:p>
            <a:endParaRPr lang="en-US" dirty="0"/>
          </a:p>
        </p:txBody>
      </p:sp>
      <p:sp>
        <p:nvSpPr>
          <p:cNvPr id="2" name="TextBox 1"/>
          <p:cNvSpPr txBox="1"/>
          <p:nvPr/>
        </p:nvSpPr>
        <p:spPr>
          <a:xfrm>
            <a:off x="228600" y="1403866"/>
            <a:ext cx="8915400" cy="4247317"/>
          </a:xfrm>
          <a:prstGeom prst="rect">
            <a:avLst/>
          </a:prstGeom>
          <a:noFill/>
        </p:spPr>
        <p:txBody>
          <a:bodyPr wrap="square" rtlCol="0">
            <a:spAutoFit/>
          </a:bodyPr>
          <a:lstStyle/>
          <a:p>
            <a:endParaRPr lang="en-US" dirty="0">
              <a:solidFill>
                <a:srgbClr val="000000"/>
              </a:solidFill>
              <a:latin typeface="Times New Roman"/>
              <a:cs typeface="Times New Roman"/>
            </a:endParaRPr>
          </a:p>
          <a:p>
            <a:r>
              <a:rPr lang="en-US" smtClean="0">
                <a:solidFill>
                  <a:srgbClr val="000000"/>
                </a:solidFill>
                <a:latin typeface="Times New Roman"/>
                <a:cs typeface="Times New Roman"/>
              </a:rPr>
              <a:t>[</a:t>
            </a:r>
            <a:r>
              <a:rPr lang="en-US" dirty="0">
                <a:solidFill>
                  <a:srgbClr val="000000"/>
                </a:solidFill>
                <a:latin typeface="Times New Roman"/>
                <a:cs typeface="Times New Roman"/>
              </a:rPr>
              <a:t>1]P. Das, A. L. </a:t>
            </a:r>
            <a:r>
              <a:rPr lang="en-US" dirty="0" err="1">
                <a:solidFill>
                  <a:srgbClr val="000000"/>
                </a:solidFill>
                <a:latin typeface="Times New Roman"/>
                <a:cs typeface="Times New Roman"/>
              </a:rPr>
              <a:t>Bhalerao</a:t>
            </a:r>
            <a:r>
              <a:rPr lang="en-US" dirty="0">
                <a:solidFill>
                  <a:srgbClr val="000000"/>
                </a:solidFill>
                <a:latin typeface="Times New Roman"/>
                <a:cs typeface="Times New Roman"/>
              </a:rPr>
              <a:t>, A. Mane, A. A Angeline, and V. S. K. </a:t>
            </a:r>
            <a:r>
              <a:rPr lang="en-US" dirty="0" err="1">
                <a:solidFill>
                  <a:srgbClr val="000000"/>
                </a:solidFill>
                <a:latin typeface="Times New Roman"/>
                <a:cs typeface="Times New Roman"/>
              </a:rPr>
              <a:t>Bhaaskaran</a:t>
            </a:r>
            <a:r>
              <a:rPr lang="en-US" dirty="0">
                <a:solidFill>
                  <a:srgbClr val="000000"/>
                </a:solidFill>
                <a:latin typeface="Times New Roman"/>
                <a:cs typeface="Times New Roman"/>
              </a:rPr>
              <a:t>, “Design of Manchester Carry Chain Adder using High speed Domino Logic,” IOP Conference Series: Materials Science and Engineering, vol. 561, no. 1, p. 012125, Oct. 2019, </a:t>
            </a:r>
            <a:r>
              <a:rPr lang="en-US" dirty="0" err="1">
                <a:solidFill>
                  <a:srgbClr val="000000"/>
                </a:solidFill>
                <a:latin typeface="Times New Roman"/>
                <a:cs typeface="Times New Roman"/>
              </a:rPr>
              <a:t>doi</a:t>
            </a:r>
            <a:r>
              <a:rPr lang="en-US" dirty="0">
                <a:solidFill>
                  <a:srgbClr val="000000"/>
                </a:solidFill>
                <a:latin typeface="Times New Roman"/>
                <a:cs typeface="Times New Roman"/>
              </a:rPr>
              <a:t>: 10.1088/1757-899X/561/1/012125.</a:t>
            </a:r>
          </a:p>
          <a:p>
            <a:r>
              <a:rPr lang="en-US" dirty="0" smtClean="0">
                <a:solidFill>
                  <a:srgbClr val="000000"/>
                </a:solidFill>
                <a:latin typeface="Times New Roman"/>
                <a:cs typeface="Times New Roman"/>
              </a:rPr>
              <a:t>[</a:t>
            </a:r>
            <a:r>
              <a:rPr lang="en-US" dirty="0">
                <a:solidFill>
                  <a:srgbClr val="000000"/>
                </a:solidFill>
                <a:latin typeface="Times New Roman"/>
                <a:cs typeface="Times New Roman"/>
              </a:rPr>
              <a:t>2]G. V, E. CHENGUTTUVAN, and D. SUBRAMANIYAM, “Design of Power and Area Efficient Carry Skip Adder and FIR filter Implementation,” El-</a:t>
            </a:r>
            <a:r>
              <a:rPr lang="en-US" dirty="0" err="1">
                <a:solidFill>
                  <a:srgbClr val="000000"/>
                </a:solidFill>
                <a:latin typeface="Times New Roman"/>
                <a:cs typeface="Times New Roman"/>
              </a:rPr>
              <a:t>Cezeri</a:t>
            </a:r>
            <a:r>
              <a:rPr lang="en-US" dirty="0">
                <a:solidFill>
                  <a:srgbClr val="000000"/>
                </a:solidFill>
                <a:latin typeface="Times New Roman"/>
                <a:cs typeface="Times New Roman"/>
              </a:rPr>
              <a:t> Fen </a:t>
            </a:r>
            <a:r>
              <a:rPr lang="en-US" dirty="0" err="1">
                <a:solidFill>
                  <a:srgbClr val="000000"/>
                </a:solidFill>
                <a:latin typeface="Times New Roman"/>
                <a:cs typeface="Times New Roman"/>
              </a:rPr>
              <a:t>ve</a:t>
            </a:r>
            <a:r>
              <a:rPr lang="en-US" dirty="0">
                <a:solidFill>
                  <a:srgbClr val="000000"/>
                </a:solidFill>
                <a:latin typeface="Times New Roman"/>
                <a:cs typeface="Times New Roman"/>
              </a:rPr>
              <a:t> </a:t>
            </a:r>
            <a:r>
              <a:rPr lang="en-US" dirty="0" err="1">
                <a:solidFill>
                  <a:srgbClr val="000000"/>
                </a:solidFill>
                <a:latin typeface="Times New Roman"/>
                <a:cs typeface="Times New Roman"/>
              </a:rPr>
              <a:t>Mühendislik</a:t>
            </a:r>
            <a:r>
              <a:rPr lang="en-US" dirty="0">
                <a:solidFill>
                  <a:srgbClr val="000000"/>
                </a:solidFill>
                <a:latin typeface="Times New Roman"/>
                <a:cs typeface="Times New Roman"/>
              </a:rPr>
              <a:t> </a:t>
            </a:r>
            <a:r>
              <a:rPr lang="en-US" dirty="0" err="1">
                <a:solidFill>
                  <a:srgbClr val="000000"/>
                </a:solidFill>
                <a:latin typeface="Times New Roman"/>
                <a:cs typeface="Times New Roman"/>
              </a:rPr>
              <a:t>Dergisi</a:t>
            </a:r>
            <a:r>
              <a:rPr lang="en-US" dirty="0">
                <a:solidFill>
                  <a:srgbClr val="000000"/>
                </a:solidFill>
                <a:latin typeface="Times New Roman"/>
                <a:cs typeface="Times New Roman"/>
              </a:rPr>
              <a:t>, Dec. 2022, </a:t>
            </a:r>
            <a:r>
              <a:rPr lang="en-US" dirty="0" err="1">
                <a:solidFill>
                  <a:srgbClr val="000000"/>
                </a:solidFill>
                <a:latin typeface="Times New Roman"/>
                <a:cs typeface="Times New Roman"/>
              </a:rPr>
              <a:t>doi</a:t>
            </a:r>
            <a:r>
              <a:rPr lang="en-US" dirty="0">
                <a:solidFill>
                  <a:srgbClr val="000000"/>
                </a:solidFill>
                <a:latin typeface="Times New Roman"/>
                <a:cs typeface="Times New Roman"/>
              </a:rPr>
              <a:t>: 10.31202/ecjse.1162711</a:t>
            </a:r>
            <a:r>
              <a:rPr lang="en-US" dirty="0" smtClean="0">
                <a:solidFill>
                  <a:srgbClr val="000000"/>
                </a:solidFill>
                <a:latin typeface="Times New Roman"/>
                <a:cs typeface="Times New Roman"/>
              </a:rPr>
              <a:t>.</a:t>
            </a:r>
            <a:endParaRPr lang="en-US" dirty="0">
              <a:solidFill>
                <a:srgbClr val="000000"/>
              </a:solidFill>
              <a:latin typeface="Times New Roman"/>
              <a:cs typeface="Times New Roman"/>
            </a:endParaRPr>
          </a:p>
          <a:p>
            <a:r>
              <a:rPr lang="en-US" dirty="0" smtClean="0">
                <a:solidFill>
                  <a:srgbClr val="000000"/>
                </a:solidFill>
                <a:latin typeface="Times New Roman"/>
                <a:cs typeface="Times New Roman"/>
              </a:rPr>
              <a:t>[</a:t>
            </a:r>
            <a:r>
              <a:rPr lang="en-US" dirty="0">
                <a:solidFill>
                  <a:srgbClr val="000000"/>
                </a:solidFill>
                <a:latin typeface="Times New Roman"/>
                <a:cs typeface="Times New Roman"/>
              </a:rPr>
              <a:t>3]P. </a:t>
            </a:r>
            <a:r>
              <a:rPr lang="en-US" dirty="0" err="1">
                <a:solidFill>
                  <a:srgbClr val="000000"/>
                </a:solidFill>
                <a:latin typeface="Times New Roman"/>
                <a:cs typeface="Times New Roman"/>
              </a:rPr>
              <a:t>Balasubramanian</a:t>
            </a:r>
            <a:r>
              <a:rPr lang="en-US" dirty="0">
                <a:solidFill>
                  <a:srgbClr val="000000"/>
                </a:solidFill>
                <a:latin typeface="Times New Roman"/>
                <a:cs typeface="Times New Roman"/>
              </a:rPr>
              <a:t> and N. E. </a:t>
            </a:r>
            <a:r>
              <a:rPr lang="en-US" dirty="0" err="1">
                <a:solidFill>
                  <a:srgbClr val="000000"/>
                </a:solidFill>
                <a:latin typeface="Times New Roman"/>
                <a:cs typeface="Times New Roman"/>
              </a:rPr>
              <a:t>Mastorakis</a:t>
            </a:r>
            <a:r>
              <a:rPr lang="en-US" dirty="0">
                <a:solidFill>
                  <a:srgbClr val="000000"/>
                </a:solidFill>
                <a:latin typeface="Times New Roman"/>
                <a:cs typeface="Times New Roman"/>
              </a:rPr>
              <a:t>, “High-Speed and Energy-Efficient Carry Look-Ahead Adder,” Journal of Low Power Electronics and Applications, vol. 12, no. 3, p. 46, Aug. 2022, </a:t>
            </a:r>
            <a:r>
              <a:rPr lang="en-US" dirty="0" err="1">
                <a:solidFill>
                  <a:srgbClr val="000000"/>
                </a:solidFill>
                <a:latin typeface="Times New Roman"/>
                <a:cs typeface="Times New Roman"/>
              </a:rPr>
              <a:t>doi</a:t>
            </a:r>
            <a:r>
              <a:rPr lang="en-US" dirty="0">
                <a:solidFill>
                  <a:srgbClr val="000000"/>
                </a:solidFill>
                <a:latin typeface="Times New Roman"/>
                <a:cs typeface="Times New Roman"/>
              </a:rPr>
              <a:t>: 10.3390/jlpea12030046.</a:t>
            </a:r>
          </a:p>
          <a:p>
            <a:r>
              <a:rPr lang="en-US" dirty="0">
                <a:solidFill>
                  <a:srgbClr val="000000"/>
                </a:solidFill>
                <a:latin typeface="Times New Roman"/>
                <a:cs typeface="Times New Roman"/>
              </a:rPr>
              <a:t> </a:t>
            </a:r>
            <a:endParaRPr lang="en-US" i="1" dirty="0" smtClean="0">
              <a:latin typeface="Times New Roman" panose="02020603050405020304" pitchFamily="18" charset="0"/>
              <a:cs typeface="Times New Roman" panose="02020603050405020304" pitchFamily="18" charset="0"/>
            </a:endParaRPr>
          </a:p>
          <a:p>
            <a:endParaRPr lang="en-US" i="1" dirty="0" smtClean="0">
              <a:latin typeface="Times New Roman" panose="02020603050405020304" pitchFamily="18" charset="0"/>
              <a:cs typeface="Times New Roman" panose="02020603050405020304" pitchFamily="18" charset="0"/>
            </a:endParaRPr>
          </a:p>
          <a:p>
            <a:endParaRPr lang="en-US" i="1"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sldNum" sz="quarter" idx="12"/>
          </p:nvPr>
        </p:nvSpPr>
        <p:spPr>
          <a:xfrm>
            <a:off x="11960225" y="6465888"/>
            <a:ext cx="231775" cy="177800"/>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29</a:t>
            </a:fld>
            <a:endParaRPr dirty="0"/>
          </a:p>
        </p:txBody>
      </p:sp>
      <p:sp>
        <p:nvSpPr>
          <p:cNvPr id="3" name="TextBox 2"/>
          <p:cNvSpPr txBox="1"/>
          <p:nvPr/>
        </p:nvSpPr>
        <p:spPr>
          <a:xfrm>
            <a:off x="3048000" y="2743200"/>
            <a:ext cx="4711867" cy="1015663"/>
          </a:xfrm>
          <a:prstGeom prst="rect">
            <a:avLst/>
          </a:prstGeom>
          <a:noFill/>
        </p:spPr>
        <p:txBody>
          <a:bodyPr wrap="none" rtlCol="0">
            <a:spAutoFit/>
          </a:bodyPr>
          <a:lstStyle/>
          <a:p>
            <a:r>
              <a:rPr lang="en-US" sz="6000" dirty="0">
                <a:solidFill>
                  <a:schemeClr val="accent4"/>
                </a:solidFill>
                <a:latin typeface="Times New Roman" panose="02020603050405020304" pitchFamily="18" charset="0"/>
                <a:cs typeface="Times New Roman" panose="02020603050405020304" pitchFamily="18" charset="0"/>
              </a:rPr>
              <a:t>THANK 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4965</TotalTime>
  <Words>1636</Words>
  <Application>Microsoft Office PowerPoint</Application>
  <PresentationFormat>Widescreen</PresentationFormat>
  <Paragraphs>260</Paragraphs>
  <Slides>29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Arial Unicode MS</vt:lpstr>
      <vt:lpstr>Calibri</vt:lpstr>
      <vt:lpstr>Carlito</vt:lpstr>
      <vt:lpstr>MS Mincho</vt:lpstr>
      <vt:lpstr>Times New Roman</vt:lpstr>
      <vt:lpstr>Trebuchet MS</vt:lpstr>
      <vt:lpstr>Wingdings 3</vt:lpstr>
      <vt:lpstr>Facet</vt:lpstr>
      <vt:lpstr>16-bit Adder with Manchester Carry Ahead. </vt:lpstr>
      <vt:lpstr>PowerPoint Presentation</vt:lpstr>
      <vt:lpstr>INTRODUCTION</vt:lpstr>
      <vt:lpstr>BACKGROUND</vt:lpstr>
      <vt:lpstr>BACKGROUND</vt:lpstr>
      <vt:lpstr>BACKGROUND</vt:lpstr>
      <vt:lpstr>BACKGROUND</vt:lpstr>
      <vt:lpstr>BACKGROUND</vt:lpstr>
      <vt:lpstr>BACKGROUND</vt:lpstr>
      <vt:lpstr>LITERATURE REVIEW</vt:lpstr>
      <vt:lpstr>PROBLEM STATMENT</vt:lpstr>
      <vt:lpstr>OBJECTIVES</vt:lpstr>
      <vt:lpstr>METHODOLOGY</vt:lpstr>
      <vt:lpstr>METHODOLOGY</vt:lpstr>
      <vt:lpstr>METHODOLOGY(CONT)</vt:lpstr>
      <vt:lpstr>METHODOLOGY(CONT)</vt:lpstr>
      <vt:lpstr>METHODOLOGY(CONT)</vt:lpstr>
      <vt:lpstr>METHODOLOGY(CONT)</vt:lpstr>
      <vt:lpstr>IMPLEMENTATION</vt:lpstr>
      <vt:lpstr>Simulation </vt:lpstr>
      <vt:lpstr>      Simulation(CONT)    </vt:lpstr>
      <vt:lpstr>      Simulation(CONT)   </vt:lpstr>
      <vt:lpstr>PowerPoint Presentation</vt:lpstr>
      <vt:lpstr>PowerPoint Presentation</vt:lpstr>
      <vt:lpstr>Comparison</vt:lpstr>
      <vt:lpstr>Comparison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lokman hossen</dc:creator>
  <cp:lastModifiedBy>LENOVO</cp:lastModifiedBy>
  <cp:revision>204</cp:revision>
  <dcterms:created xsi:type="dcterms:W3CDTF">2022-02-24T07:11:07Z</dcterms:created>
  <dcterms:modified xsi:type="dcterms:W3CDTF">2025-04-26T07:37:49Z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2021-12-24T00:00:00Z</vt:filetime>
  </property>
  <property fmtid="{D5CDD505-2E9C-101B-9397-08002B2CF9AE}" pid="3" name="Creator">
    <vt:lpwstr>Microsoft® PowerPoint® 2010</vt:lpwstr>
  </property>
  <property fmtid="{D5CDD505-2E9C-101B-9397-08002B2CF9AE}" pid="4" name="LastSaved">
    <vt:filetime>2022-02-24T00:00:00Z</vt:filetime>
  </property>
</Properties>
</file>