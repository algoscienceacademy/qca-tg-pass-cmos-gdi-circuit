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8" r:id="rId3"/>
    <p:sldId id="333" r:id="rId4"/>
    <p:sldId id="288" r:id="rId5"/>
    <p:sldId id="334" r:id="rId6"/>
    <p:sldId id="268" r:id="rId7"/>
    <p:sldId id="283" r:id="rId8"/>
    <p:sldId id="348" r:id="rId9"/>
    <p:sldId id="349" r:id="rId10"/>
    <p:sldId id="335" r:id="rId11"/>
    <p:sldId id="337" r:id="rId12"/>
    <p:sldId id="338" r:id="rId13"/>
    <p:sldId id="339" r:id="rId14"/>
    <p:sldId id="350" r:id="rId15"/>
    <p:sldId id="340" r:id="rId16"/>
    <p:sldId id="351" r:id="rId17"/>
    <p:sldId id="342" r:id="rId18"/>
    <p:sldId id="343" r:id="rId19"/>
    <p:sldId id="345" r:id="rId20"/>
    <p:sldId id="344" r:id="rId21"/>
    <p:sldId id="352" r:id="rId22"/>
    <p:sldId id="347" r:id="rId23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FAA28"/>
    <a:srgbClr val="334436"/>
    <a:srgbClr val="E3DBC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C18286-B338-40E4-A1DF-69A9D49425D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26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36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362" name="Google Shape;36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b37d1f1062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378" name="Google Shape;378;gb37d1f1062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b37d1f1062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378" name="Google Shape;378;gb37d1f1062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gb37d1f1062_0_2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131" name="Google Shape;1131;gb37d1f1062_0_2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gb37d1f1062_0_2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131" name="Google Shape;1131;gb37d1f1062_0_2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1524e77840e_1_2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513" name="Google Shape;513;g1524e77840e_1_2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g1524e77840e_1_1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916" name="Google Shape;916;g1524e77840e_1_1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4">
          <a:extLst>
            <a:ext uri="{FF2B5EF4-FFF2-40B4-BE49-F238E27FC236}">
              <a16:creationId xmlns:a16="http://schemas.microsoft.com/office/drawing/2014/main" id="{6D6B41D8-E3B1-3603-1F98-09A575E8E1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g1524e77840e_1_159:notes">
            <a:extLst>
              <a:ext uri="{FF2B5EF4-FFF2-40B4-BE49-F238E27FC236}">
                <a16:creationId xmlns:a16="http://schemas.microsoft.com/office/drawing/2014/main" id="{1DF42778-B955-E3BE-340F-0307992530E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916" name="Google Shape;916;g1524e77840e_1_159:notes">
            <a:extLst>
              <a:ext uri="{FF2B5EF4-FFF2-40B4-BE49-F238E27FC236}">
                <a16:creationId xmlns:a16="http://schemas.microsoft.com/office/drawing/2014/main" id="{5C50185C-87E4-44B7-013C-5967869FD1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878856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4">
          <a:extLst>
            <a:ext uri="{FF2B5EF4-FFF2-40B4-BE49-F238E27FC236}">
              <a16:creationId xmlns:a16="http://schemas.microsoft.com/office/drawing/2014/main" id="{A6C2FDE9-ECFE-3AF5-F4BE-5664C59731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g1524e77840e_1_159:notes">
            <a:extLst>
              <a:ext uri="{FF2B5EF4-FFF2-40B4-BE49-F238E27FC236}">
                <a16:creationId xmlns:a16="http://schemas.microsoft.com/office/drawing/2014/main" id="{4BEAC5B4-6630-AB62-F7BF-80E37592DE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916" name="Google Shape;916;g1524e77840e_1_159:notes">
            <a:extLst>
              <a:ext uri="{FF2B5EF4-FFF2-40B4-BE49-F238E27FC236}">
                <a16:creationId xmlns:a16="http://schemas.microsoft.com/office/drawing/2014/main" id="{DB36036E-ADE8-32CB-5A8C-9F0B077F34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911042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gb37d1f1062_0_2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131" name="Google Shape;1131;gb37d1f1062_0_2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gb37d1f1062_0_2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131" name="Google Shape;1131;gb37d1f1062_0_2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gb37d1f1062_0_2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131" name="Google Shape;1131;gb37d1f1062_0_2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gb37d1f1062_0_2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131" name="Google Shape;1131;gb37d1f1062_0_2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9">
          <a:extLst>
            <a:ext uri="{FF2B5EF4-FFF2-40B4-BE49-F238E27FC236}">
              <a16:creationId xmlns:a16="http://schemas.microsoft.com/office/drawing/2014/main" id="{F676F30A-509A-6B56-A220-E1EAAC2319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gb37d1f1062_0_210:notes">
            <a:extLst>
              <a:ext uri="{FF2B5EF4-FFF2-40B4-BE49-F238E27FC236}">
                <a16:creationId xmlns:a16="http://schemas.microsoft.com/office/drawing/2014/main" id="{45290869-5A91-D1E5-8A97-DCCEC7917B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131" name="Google Shape;1131;gb37d1f1062_0_210:notes">
            <a:extLst>
              <a:ext uri="{FF2B5EF4-FFF2-40B4-BE49-F238E27FC236}">
                <a16:creationId xmlns:a16="http://schemas.microsoft.com/office/drawing/2014/main" id="{898D1222-4DEB-B4C6-1437-8C452A8B2B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531407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gb37d1f1062_0_2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131" name="Google Shape;1131;gb37d1f1062_0_2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9">
          <a:extLst>
            <a:ext uri="{FF2B5EF4-FFF2-40B4-BE49-F238E27FC236}">
              <a16:creationId xmlns:a16="http://schemas.microsoft.com/office/drawing/2014/main" id="{9A9A4A60-1AF3-CC77-B1D8-EB58B225D9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gb37d1f1062_0_210:notes">
            <a:extLst>
              <a:ext uri="{FF2B5EF4-FFF2-40B4-BE49-F238E27FC236}">
                <a16:creationId xmlns:a16="http://schemas.microsoft.com/office/drawing/2014/main" id="{A8C03556-2542-3088-1F73-CE846E91E55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131" name="Google Shape;1131;gb37d1f1062_0_210:notes">
            <a:extLst>
              <a:ext uri="{FF2B5EF4-FFF2-40B4-BE49-F238E27FC236}">
                <a16:creationId xmlns:a16="http://schemas.microsoft.com/office/drawing/2014/main" id="{83D5800D-9BD8-9969-C392-65002FD41D7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7007079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gb37d1f1062_0_2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131" name="Google Shape;1131;gb37d1f1062_0_2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gb37d1f1062_0_2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131" name="Google Shape;1131;gb37d1f1062_0_2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gb37d1f1062_0_2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131" name="Google Shape;1131;gb37d1f1062_0_2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gb37d1f1062_0_2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131" name="Google Shape;1131;gb37d1f1062_0_2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9">
          <a:extLst>
            <a:ext uri="{FF2B5EF4-FFF2-40B4-BE49-F238E27FC236}">
              <a16:creationId xmlns:a16="http://schemas.microsoft.com/office/drawing/2014/main" id="{0BD9DFAE-744C-9E62-36BF-964DC390AE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gb37d1f1062_0_210:notes">
            <a:extLst>
              <a:ext uri="{FF2B5EF4-FFF2-40B4-BE49-F238E27FC236}">
                <a16:creationId xmlns:a16="http://schemas.microsoft.com/office/drawing/2014/main" id="{DBB6F03C-9DAF-B5BD-7B66-7819BB138E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131" name="Google Shape;1131;gb37d1f1062_0_210:notes">
            <a:extLst>
              <a:ext uri="{FF2B5EF4-FFF2-40B4-BE49-F238E27FC236}">
                <a16:creationId xmlns:a16="http://schemas.microsoft.com/office/drawing/2014/main" id="{9296D8CC-694C-BB68-40E8-4977B545EA5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7258088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gb37d1f1062_0_2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131" name="Google Shape;1131;gb37d1f1062_0_2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/>
          <a:srcRect t="3688" r="62189"/>
          <a:stretch>
            <a:fillRect/>
          </a:stretch>
        </p:blipFill>
        <p:spPr>
          <a:xfrm>
            <a:off x="7764750" y="1521950"/>
            <a:ext cx="1379249" cy="2533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720000" y="955075"/>
            <a:ext cx="5294700" cy="170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4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720000" y="2902750"/>
            <a:ext cx="37350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6346300" y="759479"/>
            <a:ext cx="3735241" cy="4004501"/>
          </a:xfrm>
          <a:custGeom>
            <a:avLst/>
            <a:gdLst/>
            <a:ahLst/>
            <a:cxnLst/>
            <a:rect l="l" t="t" r="r" b="b"/>
            <a:pathLst>
              <a:path w="195460" h="209550" extrusionOk="0">
                <a:moveTo>
                  <a:pt x="183548" y="11656"/>
                </a:moveTo>
                <a:lnTo>
                  <a:pt x="183548" y="197894"/>
                </a:lnTo>
                <a:lnTo>
                  <a:pt x="11912" y="197894"/>
                </a:lnTo>
                <a:lnTo>
                  <a:pt x="11912" y="11656"/>
                </a:lnTo>
                <a:close/>
                <a:moveTo>
                  <a:pt x="0" y="0"/>
                </a:moveTo>
                <a:lnTo>
                  <a:pt x="0" y="209550"/>
                </a:lnTo>
                <a:lnTo>
                  <a:pt x="195460" y="209550"/>
                </a:lnTo>
                <a:lnTo>
                  <a:pt x="19546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8"/>
          <p:cNvSpPr txBox="1">
            <a:spLocks noGrp="1"/>
          </p:cNvSpPr>
          <p:nvPr>
            <p:ph type="title"/>
          </p:nvPr>
        </p:nvSpPr>
        <p:spPr>
          <a:xfrm>
            <a:off x="1388100" y="1199575"/>
            <a:ext cx="63678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56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6" name="Google Shape;46;p8"/>
          <p:cNvSpPr/>
          <p:nvPr/>
        </p:nvSpPr>
        <p:spPr>
          <a:xfrm flipH="1">
            <a:off x="7271700" y="641925"/>
            <a:ext cx="1152300" cy="1152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7" name="Google Shape;47;p8"/>
          <p:cNvPicPr preferRelativeResize="0"/>
          <p:nvPr/>
        </p:nvPicPr>
        <p:blipFill rotWithShape="1">
          <a:blip r:embed="rId2"/>
          <a:srcRect l="35695" b="37830"/>
          <a:stretch>
            <a:fillRect/>
          </a:stretch>
        </p:blipFill>
        <p:spPr>
          <a:xfrm flipH="1">
            <a:off x="6705601" y="3443923"/>
            <a:ext cx="2438399" cy="1699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3"/>
          <p:cNvPicPr preferRelativeResize="0"/>
          <p:nvPr/>
        </p:nvPicPr>
        <p:blipFill rotWithShape="1">
          <a:blip r:embed="rId2"/>
          <a:srcRect r="25317"/>
          <a:stretch>
            <a:fillRect/>
          </a:stretch>
        </p:blipFill>
        <p:spPr>
          <a:xfrm rot="5400000">
            <a:off x="174625" y="2495374"/>
            <a:ext cx="2726400" cy="2632201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3"/>
          <p:cNvSpPr txBox="1">
            <a:spLocks noGrp="1"/>
          </p:cNvSpPr>
          <p:nvPr>
            <p:ph type="title"/>
          </p:nvPr>
        </p:nvSpPr>
        <p:spPr>
          <a:xfrm>
            <a:off x="3070500" y="1219313"/>
            <a:ext cx="26697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0" name="Google Shape;70;p13"/>
          <p:cNvSpPr txBox="1">
            <a:spLocks noGrp="1"/>
          </p:cNvSpPr>
          <p:nvPr>
            <p:ph type="title" idx="2" hasCustomPrompt="1"/>
          </p:nvPr>
        </p:nvSpPr>
        <p:spPr>
          <a:xfrm>
            <a:off x="3070500" y="626138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1" name="Google Shape;71;p13"/>
          <p:cNvSpPr txBox="1">
            <a:spLocks noGrp="1"/>
          </p:cNvSpPr>
          <p:nvPr>
            <p:ph type="subTitle" idx="1"/>
          </p:nvPr>
        </p:nvSpPr>
        <p:spPr>
          <a:xfrm>
            <a:off x="3070500" y="1805838"/>
            <a:ext cx="26697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3"/>
          <p:cNvSpPr txBox="1">
            <a:spLocks noGrp="1"/>
          </p:cNvSpPr>
          <p:nvPr>
            <p:ph type="title" idx="3"/>
          </p:nvPr>
        </p:nvSpPr>
        <p:spPr>
          <a:xfrm>
            <a:off x="5754300" y="1219313"/>
            <a:ext cx="26697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3" name="Google Shape;73;p13"/>
          <p:cNvSpPr txBox="1">
            <a:spLocks noGrp="1"/>
          </p:cNvSpPr>
          <p:nvPr>
            <p:ph type="title" idx="4" hasCustomPrompt="1"/>
          </p:nvPr>
        </p:nvSpPr>
        <p:spPr>
          <a:xfrm>
            <a:off x="5754300" y="626138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4" name="Google Shape;74;p13"/>
          <p:cNvSpPr txBox="1">
            <a:spLocks noGrp="1"/>
          </p:cNvSpPr>
          <p:nvPr>
            <p:ph type="subTitle" idx="5"/>
          </p:nvPr>
        </p:nvSpPr>
        <p:spPr>
          <a:xfrm>
            <a:off x="5754300" y="1805838"/>
            <a:ext cx="26697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3"/>
          <p:cNvSpPr txBox="1">
            <a:spLocks noGrp="1"/>
          </p:cNvSpPr>
          <p:nvPr>
            <p:ph type="title" idx="6"/>
          </p:nvPr>
        </p:nvSpPr>
        <p:spPr>
          <a:xfrm>
            <a:off x="3070500" y="3130788"/>
            <a:ext cx="26697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title" idx="7" hasCustomPrompt="1"/>
          </p:nvPr>
        </p:nvSpPr>
        <p:spPr>
          <a:xfrm>
            <a:off x="3070500" y="2537613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7" name="Google Shape;77;p13"/>
          <p:cNvSpPr txBox="1">
            <a:spLocks noGrp="1"/>
          </p:cNvSpPr>
          <p:nvPr>
            <p:ph type="subTitle" idx="8"/>
          </p:nvPr>
        </p:nvSpPr>
        <p:spPr>
          <a:xfrm>
            <a:off x="3070500" y="3717313"/>
            <a:ext cx="26697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title" idx="9"/>
          </p:nvPr>
        </p:nvSpPr>
        <p:spPr>
          <a:xfrm>
            <a:off x="5754300" y="3130788"/>
            <a:ext cx="26697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title" idx="13" hasCustomPrompt="1"/>
          </p:nvPr>
        </p:nvSpPr>
        <p:spPr>
          <a:xfrm>
            <a:off x="5754300" y="2537613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0" name="Google Shape;80;p13"/>
          <p:cNvSpPr txBox="1">
            <a:spLocks noGrp="1"/>
          </p:cNvSpPr>
          <p:nvPr>
            <p:ph type="subTitle" idx="14"/>
          </p:nvPr>
        </p:nvSpPr>
        <p:spPr>
          <a:xfrm>
            <a:off x="5754300" y="3717313"/>
            <a:ext cx="26697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3"/>
          <p:cNvSpPr/>
          <p:nvPr/>
        </p:nvSpPr>
        <p:spPr>
          <a:xfrm>
            <a:off x="738800" y="2805475"/>
            <a:ext cx="1484400" cy="14841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3"/>
          <p:cNvSpPr/>
          <p:nvPr/>
        </p:nvSpPr>
        <p:spPr>
          <a:xfrm>
            <a:off x="8065250" y="-3038796"/>
            <a:ext cx="3735241" cy="4004501"/>
          </a:xfrm>
          <a:custGeom>
            <a:avLst/>
            <a:gdLst/>
            <a:ahLst/>
            <a:cxnLst/>
            <a:rect l="l" t="t" r="r" b="b"/>
            <a:pathLst>
              <a:path w="195460" h="209550" extrusionOk="0">
                <a:moveTo>
                  <a:pt x="183548" y="11656"/>
                </a:moveTo>
                <a:lnTo>
                  <a:pt x="183548" y="197894"/>
                </a:lnTo>
                <a:lnTo>
                  <a:pt x="11912" y="197894"/>
                </a:lnTo>
                <a:lnTo>
                  <a:pt x="11912" y="11656"/>
                </a:lnTo>
                <a:close/>
                <a:moveTo>
                  <a:pt x="0" y="0"/>
                </a:moveTo>
                <a:lnTo>
                  <a:pt x="0" y="209550"/>
                </a:lnTo>
                <a:lnTo>
                  <a:pt x="195460" y="209550"/>
                </a:lnTo>
                <a:lnTo>
                  <a:pt x="19546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1">
  <p:cSld name="BLANK_1_1_1_1_2"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5" name="Google Shape;175;p25"/>
          <p:cNvSpPr txBox="1">
            <a:spLocks noGrp="1"/>
          </p:cNvSpPr>
          <p:nvPr>
            <p:ph type="title" idx="2"/>
          </p:nvPr>
        </p:nvSpPr>
        <p:spPr>
          <a:xfrm>
            <a:off x="1959975" y="1297375"/>
            <a:ext cx="5243100" cy="36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76" name="Google Shape;176;p25"/>
          <p:cNvSpPr txBox="1">
            <a:spLocks noGrp="1"/>
          </p:cNvSpPr>
          <p:nvPr>
            <p:ph type="subTitle" idx="1"/>
          </p:nvPr>
        </p:nvSpPr>
        <p:spPr>
          <a:xfrm>
            <a:off x="1959985" y="1561325"/>
            <a:ext cx="52431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25"/>
          <p:cNvSpPr txBox="1">
            <a:spLocks noGrp="1"/>
          </p:cNvSpPr>
          <p:nvPr>
            <p:ph type="title" idx="3"/>
          </p:nvPr>
        </p:nvSpPr>
        <p:spPr>
          <a:xfrm>
            <a:off x="1959975" y="2125208"/>
            <a:ext cx="5243100" cy="36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78" name="Google Shape;178;p25"/>
          <p:cNvSpPr txBox="1">
            <a:spLocks noGrp="1"/>
          </p:cNvSpPr>
          <p:nvPr>
            <p:ph type="subTitle" idx="4"/>
          </p:nvPr>
        </p:nvSpPr>
        <p:spPr>
          <a:xfrm>
            <a:off x="1959985" y="2389175"/>
            <a:ext cx="52431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9" name="Google Shape;179;p25"/>
          <p:cNvSpPr txBox="1">
            <a:spLocks noGrp="1"/>
          </p:cNvSpPr>
          <p:nvPr>
            <p:ph type="title" idx="5"/>
          </p:nvPr>
        </p:nvSpPr>
        <p:spPr>
          <a:xfrm>
            <a:off x="1959975" y="2953042"/>
            <a:ext cx="5243100" cy="36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80" name="Google Shape;180;p25"/>
          <p:cNvSpPr txBox="1">
            <a:spLocks noGrp="1"/>
          </p:cNvSpPr>
          <p:nvPr>
            <p:ph type="subTitle" idx="6"/>
          </p:nvPr>
        </p:nvSpPr>
        <p:spPr>
          <a:xfrm>
            <a:off x="1959985" y="3217025"/>
            <a:ext cx="52431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1" name="Google Shape;181;p25"/>
          <p:cNvSpPr txBox="1">
            <a:spLocks noGrp="1"/>
          </p:cNvSpPr>
          <p:nvPr>
            <p:ph type="title" idx="7"/>
          </p:nvPr>
        </p:nvSpPr>
        <p:spPr>
          <a:xfrm>
            <a:off x="1959975" y="3780875"/>
            <a:ext cx="5243100" cy="36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82" name="Google Shape;182;p25"/>
          <p:cNvSpPr txBox="1">
            <a:spLocks noGrp="1"/>
          </p:cNvSpPr>
          <p:nvPr>
            <p:ph type="subTitle" idx="8"/>
          </p:nvPr>
        </p:nvSpPr>
        <p:spPr>
          <a:xfrm>
            <a:off x="1959985" y="4044875"/>
            <a:ext cx="52431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5">
  <p:cSld name="CUSTOM_1_2"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7"/>
          <p:cNvSpPr txBox="1">
            <a:spLocks noGrp="1"/>
          </p:cNvSpPr>
          <p:nvPr>
            <p:ph type="title"/>
          </p:nvPr>
        </p:nvSpPr>
        <p:spPr>
          <a:xfrm>
            <a:off x="72005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Anaheim"/>
                <a:ea typeface="Anaheim"/>
                <a:cs typeface="Anaheim"/>
                <a:sym typeface="Anahei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Anaheim"/>
                <a:ea typeface="Anaheim"/>
                <a:cs typeface="Anaheim"/>
                <a:sym typeface="Anahei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Anaheim"/>
                <a:ea typeface="Anaheim"/>
                <a:cs typeface="Anaheim"/>
                <a:sym typeface="Anahei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Anaheim"/>
                <a:ea typeface="Anaheim"/>
                <a:cs typeface="Anaheim"/>
                <a:sym typeface="Anahei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Anaheim"/>
                <a:ea typeface="Anaheim"/>
                <a:cs typeface="Anaheim"/>
                <a:sym typeface="Anahei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Anaheim"/>
                <a:ea typeface="Anaheim"/>
                <a:cs typeface="Anaheim"/>
                <a:sym typeface="Anahei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Anaheim"/>
                <a:ea typeface="Anaheim"/>
                <a:cs typeface="Anaheim"/>
                <a:sym typeface="Anahei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Anaheim"/>
                <a:ea typeface="Anaheim"/>
                <a:cs typeface="Anaheim"/>
                <a:sym typeface="Anaheim"/>
              </a:defRPr>
            </a:lvl9pPr>
          </a:lstStyle>
          <a:p>
            <a:endParaRPr/>
          </a:p>
        </p:txBody>
      </p:sp>
      <p:pic>
        <p:nvPicPr>
          <p:cNvPr id="304" name="Google Shape;304;p37"/>
          <p:cNvPicPr preferRelativeResize="0"/>
          <p:nvPr/>
        </p:nvPicPr>
        <p:blipFill rotWithShape="1">
          <a:blip r:embed="rId2"/>
          <a:srcRect l="72414" t="38107" r="-31446"/>
          <a:stretch>
            <a:fillRect/>
          </a:stretch>
        </p:blipFill>
        <p:spPr>
          <a:xfrm rot="10800000" flipH="1">
            <a:off x="-6008" y="3669179"/>
            <a:ext cx="2667924" cy="2016624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37"/>
          <p:cNvSpPr/>
          <p:nvPr/>
        </p:nvSpPr>
        <p:spPr>
          <a:xfrm rot="10800000">
            <a:off x="-2010349" y="4551874"/>
            <a:ext cx="3735241" cy="4004501"/>
          </a:xfrm>
          <a:custGeom>
            <a:avLst/>
            <a:gdLst/>
            <a:ahLst/>
            <a:cxnLst/>
            <a:rect l="l" t="t" r="r" b="b"/>
            <a:pathLst>
              <a:path w="195460" h="209550" extrusionOk="0">
                <a:moveTo>
                  <a:pt x="183548" y="11656"/>
                </a:moveTo>
                <a:lnTo>
                  <a:pt x="183548" y="197894"/>
                </a:lnTo>
                <a:lnTo>
                  <a:pt x="11912" y="197894"/>
                </a:lnTo>
                <a:lnTo>
                  <a:pt x="11912" y="11656"/>
                </a:lnTo>
                <a:close/>
                <a:moveTo>
                  <a:pt x="0" y="0"/>
                </a:moveTo>
                <a:lnTo>
                  <a:pt x="0" y="209550"/>
                </a:lnTo>
                <a:lnTo>
                  <a:pt x="195460" y="209550"/>
                </a:lnTo>
                <a:lnTo>
                  <a:pt x="19546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06" name="Google Shape;306;p37"/>
          <p:cNvPicPr preferRelativeResize="0"/>
          <p:nvPr/>
        </p:nvPicPr>
        <p:blipFill rotWithShape="1">
          <a:blip r:embed="rId2"/>
          <a:srcRect l="72414" t="38107" r="-31446"/>
          <a:stretch>
            <a:fillRect/>
          </a:stretch>
        </p:blipFill>
        <p:spPr>
          <a:xfrm flipH="1">
            <a:off x="6484914" y="-280150"/>
            <a:ext cx="2667924" cy="2016624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37"/>
          <p:cNvSpPr/>
          <p:nvPr/>
        </p:nvSpPr>
        <p:spPr>
          <a:xfrm>
            <a:off x="7421938" y="-3150721"/>
            <a:ext cx="3735241" cy="4004501"/>
          </a:xfrm>
          <a:custGeom>
            <a:avLst/>
            <a:gdLst/>
            <a:ahLst/>
            <a:cxnLst/>
            <a:rect l="l" t="t" r="r" b="b"/>
            <a:pathLst>
              <a:path w="195460" h="209550" extrusionOk="0">
                <a:moveTo>
                  <a:pt x="183548" y="11656"/>
                </a:moveTo>
                <a:lnTo>
                  <a:pt x="183548" y="197894"/>
                </a:lnTo>
                <a:lnTo>
                  <a:pt x="11912" y="197894"/>
                </a:lnTo>
                <a:lnTo>
                  <a:pt x="11912" y="11656"/>
                </a:lnTo>
                <a:close/>
                <a:moveTo>
                  <a:pt x="0" y="0"/>
                </a:moveTo>
                <a:lnTo>
                  <a:pt x="0" y="209550"/>
                </a:lnTo>
                <a:lnTo>
                  <a:pt x="195460" y="209550"/>
                </a:lnTo>
                <a:lnTo>
                  <a:pt x="19546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4"/>
          <p:cNvSpPr/>
          <p:nvPr/>
        </p:nvSpPr>
        <p:spPr>
          <a:xfrm rot="10800000">
            <a:off x="5466157" y="38325"/>
            <a:ext cx="3545443" cy="1362071"/>
          </a:xfrm>
          <a:custGeom>
            <a:avLst/>
            <a:gdLst/>
            <a:ahLst/>
            <a:cxnLst/>
            <a:rect l="l" t="t" r="r" b="b"/>
            <a:pathLst>
              <a:path w="285750" h="109778" extrusionOk="0">
                <a:moveTo>
                  <a:pt x="217594" y="0"/>
                </a:moveTo>
                <a:lnTo>
                  <a:pt x="215917" y="245"/>
                </a:lnTo>
                <a:lnTo>
                  <a:pt x="214241" y="532"/>
                </a:lnTo>
                <a:lnTo>
                  <a:pt x="213014" y="777"/>
                </a:lnTo>
                <a:lnTo>
                  <a:pt x="211829" y="1063"/>
                </a:lnTo>
                <a:lnTo>
                  <a:pt x="210684" y="1390"/>
                </a:lnTo>
                <a:lnTo>
                  <a:pt x="209539" y="1758"/>
                </a:lnTo>
                <a:lnTo>
                  <a:pt x="208394" y="2208"/>
                </a:lnTo>
                <a:lnTo>
                  <a:pt x="207290" y="2658"/>
                </a:lnTo>
                <a:lnTo>
                  <a:pt x="206227" y="3148"/>
                </a:lnTo>
                <a:lnTo>
                  <a:pt x="205164" y="3680"/>
                </a:lnTo>
                <a:lnTo>
                  <a:pt x="204101" y="4211"/>
                </a:lnTo>
                <a:lnTo>
                  <a:pt x="203079" y="4825"/>
                </a:lnTo>
                <a:lnTo>
                  <a:pt x="202057" y="5479"/>
                </a:lnTo>
                <a:lnTo>
                  <a:pt x="201076" y="6133"/>
                </a:lnTo>
                <a:lnTo>
                  <a:pt x="200095" y="6828"/>
                </a:lnTo>
                <a:lnTo>
                  <a:pt x="199113" y="7564"/>
                </a:lnTo>
                <a:lnTo>
                  <a:pt x="198173" y="8300"/>
                </a:lnTo>
                <a:lnTo>
                  <a:pt x="197233" y="9077"/>
                </a:lnTo>
                <a:lnTo>
                  <a:pt x="196088" y="10058"/>
                </a:lnTo>
                <a:lnTo>
                  <a:pt x="194984" y="11080"/>
                </a:lnTo>
                <a:lnTo>
                  <a:pt x="193921" y="12143"/>
                </a:lnTo>
                <a:lnTo>
                  <a:pt x="192899" y="13206"/>
                </a:lnTo>
                <a:lnTo>
                  <a:pt x="191917" y="14310"/>
                </a:lnTo>
                <a:lnTo>
                  <a:pt x="190936" y="15455"/>
                </a:lnTo>
                <a:lnTo>
                  <a:pt x="189996" y="16600"/>
                </a:lnTo>
                <a:lnTo>
                  <a:pt x="189096" y="17744"/>
                </a:lnTo>
                <a:lnTo>
                  <a:pt x="188197" y="18930"/>
                </a:lnTo>
                <a:lnTo>
                  <a:pt x="187379" y="20157"/>
                </a:lnTo>
                <a:lnTo>
                  <a:pt x="186561" y="21383"/>
                </a:lnTo>
                <a:lnTo>
                  <a:pt x="185785" y="22651"/>
                </a:lnTo>
                <a:lnTo>
                  <a:pt x="185008" y="23918"/>
                </a:lnTo>
                <a:lnTo>
                  <a:pt x="184272" y="25226"/>
                </a:lnTo>
                <a:lnTo>
                  <a:pt x="183577" y="26576"/>
                </a:lnTo>
                <a:lnTo>
                  <a:pt x="182882" y="27925"/>
                </a:lnTo>
                <a:lnTo>
                  <a:pt x="181737" y="30255"/>
                </a:lnTo>
                <a:lnTo>
                  <a:pt x="180551" y="32586"/>
                </a:lnTo>
                <a:lnTo>
                  <a:pt x="179325" y="34916"/>
                </a:lnTo>
                <a:lnTo>
                  <a:pt x="178711" y="36061"/>
                </a:lnTo>
                <a:lnTo>
                  <a:pt x="178057" y="37206"/>
                </a:lnTo>
                <a:lnTo>
                  <a:pt x="177567" y="37942"/>
                </a:lnTo>
                <a:lnTo>
                  <a:pt x="177076" y="38678"/>
                </a:lnTo>
                <a:lnTo>
                  <a:pt x="176585" y="39373"/>
                </a:lnTo>
                <a:lnTo>
                  <a:pt x="176013" y="40068"/>
                </a:lnTo>
                <a:lnTo>
                  <a:pt x="175440" y="40722"/>
                </a:lnTo>
                <a:lnTo>
                  <a:pt x="174868" y="41335"/>
                </a:lnTo>
                <a:lnTo>
                  <a:pt x="174255" y="41908"/>
                </a:lnTo>
                <a:lnTo>
                  <a:pt x="173601" y="42439"/>
                </a:lnTo>
                <a:lnTo>
                  <a:pt x="172906" y="42971"/>
                </a:lnTo>
                <a:lnTo>
                  <a:pt x="172210" y="43421"/>
                </a:lnTo>
                <a:lnTo>
                  <a:pt x="171475" y="43870"/>
                </a:lnTo>
                <a:lnTo>
                  <a:pt x="170698" y="44238"/>
                </a:lnTo>
                <a:lnTo>
                  <a:pt x="169880" y="44606"/>
                </a:lnTo>
                <a:lnTo>
                  <a:pt x="169062" y="44892"/>
                </a:lnTo>
                <a:lnTo>
                  <a:pt x="168204" y="45138"/>
                </a:lnTo>
                <a:lnTo>
                  <a:pt x="167304" y="45383"/>
                </a:lnTo>
                <a:lnTo>
                  <a:pt x="166486" y="45506"/>
                </a:lnTo>
                <a:lnTo>
                  <a:pt x="165669" y="45628"/>
                </a:lnTo>
                <a:lnTo>
                  <a:pt x="164851" y="45710"/>
                </a:lnTo>
                <a:lnTo>
                  <a:pt x="164033" y="45751"/>
                </a:lnTo>
                <a:lnTo>
                  <a:pt x="163216" y="45710"/>
                </a:lnTo>
                <a:lnTo>
                  <a:pt x="162398" y="45669"/>
                </a:lnTo>
                <a:lnTo>
                  <a:pt x="161621" y="45628"/>
                </a:lnTo>
                <a:lnTo>
                  <a:pt x="160803" y="45506"/>
                </a:lnTo>
                <a:lnTo>
                  <a:pt x="160027" y="45342"/>
                </a:lnTo>
                <a:lnTo>
                  <a:pt x="159250" y="45179"/>
                </a:lnTo>
                <a:lnTo>
                  <a:pt x="158473" y="44974"/>
                </a:lnTo>
                <a:lnTo>
                  <a:pt x="157696" y="44770"/>
                </a:lnTo>
                <a:lnTo>
                  <a:pt x="156919" y="44484"/>
                </a:lnTo>
                <a:lnTo>
                  <a:pt x="156142" y="44238"/>
                </a:lnTo>
                <a:lnTo>
                  <a:pt x="154589" y="43584"/>
                </a:lnTo>
                <a:lnTo>
                  <a:pt x="153567" y="43093"/>
                </a:lnTo>
                <a:lnTo>
                  <a:pt x="152585" y="42603"/>
                </a:lnTo>
                <a:lnTo>
                  <a:pt x="151645" y="42071"/>
                </a:lnTo>
                <a:lnTo>
                  <a:pt x="150705" y="41499"/>
                </a:lnTo>
                <a:lnTo>
                  <a:pt x="149764" y="40886"/>
                </a:lnTo>
                <a:lnTo>
                  <a:pt x="148906" y="40231"/>
                </a:lnTo>
                <a:lnTo>
                  <a:pt x="148047" y="39577"/>
                </a:lnTo>
                <a:lnTo>
                  <a:pt x="147188" y="38882"/>
                </a:lnTo>
                <a:lnTo>
                  <a:pt x="146412" y="38146"/>
                </a:lnTo>
                <a:lnTo>
                  <a:pt x="145594" y="37410"/>
                </a:lnTo>
                <a:lnTo>
                  <a:pt x="144858" y="36634"/>
                </a:lnTo>
                <a:lnTo>
                  <a:pt x="144122" y="35816"/>
                </a:lnTo>
                <a:lnTo>
                  <a:pt x="143386" y="34998"/>
                </a:lnTo>
                <a:lnTo>
                  <a:pt x="142691" y="34180"/>
                </a:lnTo>
                <a:lnTo>
                  <a:pt x="141996" y="33281"/>
                </a:lnTo>
                <a:lnTo>
                  <a:pt x="141342" y="32381"/>
                </a:lnTo>
                <a:lnTo>
                  <a:pt x="139011" y="29070"/>
                </a:lnTo>
                <a:lnTo>
                  <a:pt x="136722" y="25758"/>
                </a:lnTo>
                <a:lnTo>
                  <a:pt x="134473" y="22405"/>
                </a:lnTo>
                <a:lnTo>
                  <a:pt x="132183" y="19053"/>
                </a:lnTo>
                <a:lnTo>
                  <a:pt x="131079" y="17458"/>
                </a:lnTo>
                <a:lnTo>
                  <a:pt x="129894" y="15945"/>
                </a:lnTo>
                <a:lnTo>
                  <a:pt x="128708" y="14433"/>
                </a:lnTo>
                <a:lnTo>
                  <a:pt x="127482" y="13002"/>
                </a:lnTo>
                <a:lnTo>
                  <a:pt x="126173" y="11612"/>
                </a:lnTo>
                <a:lnTo>
                  <a:pt x="125478" y="10916"/>
                </a:lnTo>
                <a:lnTo>
                  <a:pt x="124783" y="10262"/>
                </a:lnTo>
                <a:lnTo>
                  <a:pt x="124047" y="9649"/>
                </a:lnTo>
                <a:lnTo>
                  <a:pt x="123311" y="9036"/>
                </a:lnTo>
                <a:lnTo>
                  <a:pt x="122575" y="8422"/>
                </a:lnTo>
                <a:lnTo>
                  <a:pt x="121758" y="7850"/>
                </a:lnTo>
                <a:lnTo>
                  <a:pt x="120367" y="6910"/>
                </a:lnTo>
                <a:lnTo>
                  <a:pt x="118936" y="6051"/>
                </a:lnTo>
                <a:lnTo>
                  <a:pt x="117465" y="5274"/>
                </a:lnTo>
                <a:lnTo>
                  <a:pt x="116729" y="4906"/>
                </a:lnTo>
                <a:lnTo>
                  <a:pt x="115952" y="4579"/>
                </a:lnTo>
                <a:lnTo>
                  <a:pt x="115216" y="4293"/>
                </a:lnTo>
                <a:lnTo>
                  <a:pt x="114439" y="4007"/>
                </a:lnTo>
                <a:lnTo>
                  <a:pt x="113621" y="3761"/>
                </a:lnTo>
                <a:lnTo>
                  <a:pt x="112844" y="3516"/>
                </a:lnTo>
                <a:lnTo>
                  <a:pt x="112027" y="3353"/>
                </a:lnTo>
                <a:lnTo>
                  <a:pt x="111209" y="3189"/>
                </a:lnTo>
                <a:lnTo>
                  <a:pt x="110391" y="3066"/>
                </a:lnTo>
                <a:lnTo>
                  <a:pt x="109533" y="2944"/>
                </a:lnTo>
                <a:lnTo>
                  <a:pt x="108388" y="2903"/>
                </a:lnTo>
                <a:lnTo>
                  <a:pt x="107284" y="2862"/>
                </a:lnTo>
                <a:lnTo>
                  <a:pt x="106221" y="2944"/>
                </a:lnTo>
                <a:lnTo>
                  <a:pt x="105199" y="3066"/>
                </a:lnTo>
                <a:lnTo>
                  <a:pt x="104177" y="3271"/>
                </a:lnTo>
                <a:lnTo>
                  <a:pt x="103195" y="3516"/>
                </a:lnTo>
                <a:lnTo>
                  <a:pt x="102214" y="3843"/>
                </a:lnTo>
                <a:lnTo>
                  <a:pt x="101274" y="4211"/>
                </a:lnTo>
                <a:lnTo>
                  <a:pt x="100374" y="4661"/>
                </a:lnTo>
                <a:lnTo>
                  <a:pt x="99516" y="5152"/>
                </a:lnTo>
                <a:lnTo>
                  <a:pt x="98657" y="5724"/>
                </a:lnTo>
                <a:lnTo>
                  <a:pt x="97839" y="6337"/>
                </a:lnTo>
                <a:lnTo>
                  <a:pt x="97022" y="7032"/>
                </a:lnTo>
                <a:lnTo>
                  <a:pt x="96245" y="7809"/>
                </a:lnTo>
                <a:lnTo>
                  <a:pt x="95509" y="8627"/>
                </a:lnTo>
                <a:lnTo>
                  <a:pt x="94814" y="9485"/>
                </a:lnTo>
                <a:lnTo>
                  <a:pt x="93955" y="10630"/>
                </a:lnTo>
                <a:lnTo>
                  <a:pt x="93178" y="11816"/>
                </a:lnTo>
                <a:lnTo>
                  <a:pt x="92483" y="13043"/>
                </a:lnTo>
                <a:lnTo>
                  <a:pt x="91829" y="14310"/>
                </a:lnTo>
                <a:lnTo>
                  <a:pt x="91216" y="15577"/>
                </a:lnTo>
                <a:lnTo>
                  <a:pt x="90603" y="16845"/>
                </a:lnTo>
                <a:lnTo>
                  <a:pt x="89540" y="19462"/>
                </a:lnTo>
                <a:lnTo>
                  <a:pt x="88517" y="21996"/>
                </a:lnTo>
                <a:lnTo>
                  <a:pt x="87536" y="24531"/>
                </a:lnTo>
                <a:lnTo>
                  <a:pt x="86514" y="27025"/>
                </a:lnTo>
                <a:lnTo>
                  <a:pt x="85983" y="28293"/>
                </a:lnTo>
                <a:lnTo>
                  <a:pt x="85410" y="29479"/>
                </a:lnTo>
                <a:lnTo>
                  <a:pt x="84838" y="30623"/>
                </a:lnTo>
                <a:lnTo>
                  <a:pt x="84265" y="31686"/>
                </a:lnTo>
                <a:lnTo>
                  <a:pt x="83652" y="32749"/>
                </a:lnTo>
                <a:lnTo>
                  <a:pt x="83039" y="33772"/>
                </a:lnTo>
                <a:lnTo>
                  <a:pt x="82385" y="34753"/>
                </a:lnTo>
                <a:lnTo>
                  <a:pt x="81730" y="35734"/>
                </a:lnTo>
                <a:lnTo>
                  <a:pt x="81035" y="36674"/>
                </a:lnTo>
                <a:lnTo>
                  <a:pt x="80340" y="37615"/>
                </a:lnTo>
                <a:lnTo>
                  <a:pt x="79604" y="38514"/>
                </a:lnTo>
                <a:lnTo>
                  <a:pt x="78868" y="39373"/>
                </a:lnTo>
                <a:lnTo>
                  <a:pt x="78092" y="40231"/>
                </a:lnTo>
                <a:lnTo>
                  <a:pt x="77274" y="41049"/>
                </a:lnTo>
                <a:lnTo>
                  <a:pt x="76456" y="41826"/>
                </a:lnTo>
                <a:lnTo>
                  <a:pt x="75639" y="42603"/>
                </a:lnTo>
                <a:lnTo>
                  <a:pt x="74780" y="43339"/>
                </a:lnTo>
                <a:lnTo>
                  <a:pt x="73880" y="44034"/>
                </a:lnTo>
                <a:lnTo>
                  <a:pt x="72981" y="44729"/>
                </a:lnTo>
                <a:lnTo>
                  <a:pt x="72081" y="45383"/>
                </a:lnTo>
                <a:lnTo>
                  <a:pt x="71141" y="46037"/>
                </a:lnTo>
                <a:lnTo>
                  <a:pt x="70201" y="46651"/>
                </a:lnTo>
                <a:lnTo>
                  <a:pt x="69219" y="47223"/>
                </a:lnTo>
                <a:lnTo>
                  <a:pt x="68197" y="47795"/>
                </a:lnTo>
                <a:lnTo>
                  <a:pt x="67216" y="48327"/>
                </a:lnTo>
                <a:lnTo>
                  <a:pt x="66153" y="48858"/>
                </a:lnTo>
                <a:lnTo>
                  <a:pt x="65090" y="49349"/>
                </a:lnTo>
                <a:lnTo>
                  <a:pt x="64027" y="49799"/>
                </a:lnTo>
                <a:lnTo>
                  <a:pt x="62923" y="50248"/>
                </a:lnTo>
                <a:lnTo>
                  <a:pt x="61819" y="50657"/>
                </a:lnTo>
                <a:lnTo>
                  <a:pt x="60715" y="51066"/>
                </a:lnTo>
                <a:lnTo>
                  <a:pt x="59530" y="51434"/>
                </a:lnTo>
                <a:lnTo>
                  <a:pt x="58385" y="51761"/>
                </a:lnTo>
                <a:lnTo>
                  <a:pt x="57199" y="52088"/>
                </a:lnTo>
                <a:lnTo>
                  <a:pt x="55605" y="52456"/>
                </a:lnTo>
                <a:lnTo>
                  <a:pt x="53969" y="52783"/>
                </a:lnTo>
                <a:lnTo>
                  <a:pt x="52375" y="52988"/>
                </a:lnTo>
                <a:lnTo>
                  <a:pt x="50780" y="53192"/>
                </a:lnTo>
                <a:lnTo>
                  <a:pt x="49226" y="53274"/>
                </a:lnTo>
                <a:lnTo>
                  <a:pt x="47673" y="53315"/>
                </a:lnTo>
                <a:lnTo>
                  <a:pt x="46078" y="53274"/>
                </a:lnTo>
                <a:lnTo>
                  <a:pt x="44565" y="53192"/>
                </a:lnTo>
                <a:lnTo>
                  <a:pt x="43012" y="53070"/>
                </a:lnTo>
                <a:lnTo>
                  <a:pt x="41499" y="52865"/>
                </a:lnTo>
                <a:lnTo>
                  <a:pt x="39986" y="52579"/>
                </a:lnTo>
                <a:lnTo>
                  <a:pt x="38514" y="52252"/>
                </a:lnTo>
                <a:lnTo>
                  <a:pt x="37042" y="51843"/>
                </a:lnTo>
                <a:lnTo>
                  <a:pt x="35611" y="51434"/>
                </a:lnTo>
                <a:lnTo>
                  <a:pt x="34180" y="50944"/>
                </a:lnTo>
                <a:lnTo>
                  <a:pt x="32749" y="50371"/>
                </a:lnTo>
                <a:lnTo>
                  <a:pt x="31400" y="49758"/>
                </a:lnTo>
                <a:lnTo>
                  <a:pt x="30010" y="49104"/>
                </a:lnTo>
                <a:lnTo>
                  <a:pt x="28702" y="48409"/>
                </a:lnTo>
                <a:lnTo>
                  <a:pt x="27393" y="47673"/>
                </a:lnTo>
                <a:lnTo>
                  <a:pt x="26085" y="46855"/>
                </a:lnTo>
                <a:lnTo>
                  <a:pt x="24858" y="46037"/>
                </a:lnTo>
                <a:lnTo>
                  <a:pt x="23632" y="45138"/>
                </a:lnTo>
                <a:lnTo>
                  <a:pt x="22405" y="44197"/>
                </a:lnTo>
                <a:lnTo>
                  <a:pt x="21261" y="43216"/>
                </a:lnTo>
                <a:lnTo>
                  <a:pt x="20116" y="42194"/>
                </a:lnTo>
                <a:lnTo>
                  <a:pt x="19012" y="41131"/>
                </a:lnTo>
                <a:lnTo>
                  <a:pt x="17949" y="40027"/>
                </a:lnTo>
                <a:lnTo>
                  <a:pt x="16927" y="38882"/>
                </a:lnTo>
                <a:lnTo>
                  <a:pt x="15945" y="37737"/>
                </a:lnTo>
                <a:lnTo>
                  <a:pt x="14964" y="36511"/>
                </a:lnTo>
                <a:lnTo>
                  <a:pt x="14065" y="35284"/>
                </a:lnTo>
                <a:lnTo>
                  <a:pt x="13043" y="33731"/>
                </a:lnTo>
                <a:lnTo>
                  <a:pt x="12061" y="32177"/>
                </a:lnTo>
                <a:lnTo>
                  <a:pt x="11203" y="30582"/>
                </a:lnTo>
                <a:lnTo>
                  <a:pt x="10385" y="28947"/>
                </a:lnTo>
                <a:lnTo>
                  <a:pt x="9649" y="27271"/>
                </a:lnTo>
                <a:lnTo>
                  <a:pt x="8954" y="25594"/>
                </a:lnTo>
                <a:lnTo>
                  <a:pt x="8382" y="23836"/>
                </a:lnTo>
                <a:lnTo>
                  <a:pt x="7891" y="22078"/>
                </a:lnTo>
                <a:lnTo>
                  <a:pt x="7687" y="21465"/>
                </a:lnTo>
                <a:lnTo>
                  <a:pt x="7441" y="20933"/>
                </a:lnTo>
                <a:lnTo>
                  <a:pt x="7155" y="20525"/>
                </a:lnTo>
                <a:lnTo>
                  <a:pt x="6991" y="20361"/>
                </a:lnTo>
                <a:lnTo>
                  <a:pt x="6787" y="20198"/>
                </a:lnTo>
                <a:lnTo>
                  <a:pt x="6583" y="20034"/>
                </a:lnTo>
                <a:lnTo>
                  <a:pt x="6378" y="19911"/>
                </a:lnTo>
                <a:lnTo>
                  <a:pt x="5928" y="19748"/>
                </a:lnTo>
                <a:lnTo>
                  <a:pt x="5397" y="19666"/>
                </a:lnTo>
                <a:lnTo>
                  <a:pt x="4825" y="19666"/>
                </a:lnTo>
                <a:lnTo>
                  <a:pt x="4334" y="19748"/>
                </a:lnTo>
                <a:lnTo>
                  <a:pt x="3884" y="19870"/>
                </a:lnTo>
                <a:lnTo>
                  <a:pt x="3475" y="20116"/>
                </a:lnTo>
                <a:lnTo>
                  <a:pt x="3107" y="20402"/>
                </a:lnTo>
                <a:lnTo>
                  <a:pt x="2821" y="20770"/>
                </a:lnTo>
                <a:lnTo>
                  <a:pt x="2576" y="21261"/>
                </a:lnTo>
                <a:lnTo>
                  <a:pt x="2412" y="21751"/>
                </a:lnTo>
                <a:lnTo>
                  <a:pt x="2290" y="22364"/>
                </a:lnTo>
                <a:lnTo>
                  <a:pt x="1390" y="29969"/>
                </a:lnTo>
                <a:lnTo>
                  <a:pt x="940" y="33772"/>
                </a:lnTo>
                <a:lnTo>
                  <a:pt x="572" y="37574"/>
                </a:lnTo>
                <a:lnTo>
                  <a:pt x="368" y="40313"/>
                </a:lnTo>
                <a:lnTo>
                  <a:pt x="204" y="43053"/>
                </a:lnTo>
                <a:lnTo>
                  <a:pt x="82" y="45833"/>
                </a:lnTo>
                <a:lnTo>
                  <a:pt x="0" y="48572"/>
                </a:lnTo>
                <a:lnTo>
                  <a:pt x="0" y="51312"/>
                </a:lnTo>
                <a:lnTo>
                  <a:pt x="41" y="54051"/>
                </a:lnTo>
                <a:lnTo>
                  <a:pt x="123" y="56831"/>
                </a:lnTo>
                <a:lnTo>
                  <a:pt x="204" y="59570"/>
                </a:lnTo>
                <a:lnTo>
                  <a:pt x="368" y="62187"/>
                </a:lnTo>
                <a:lnTo>
                  <a:pt x="532" y="64763"/>
                </a:lnTo>
                <a:lnTo>
                  <a:pt x="736" y="67339"/>
                </a:lnTo>
                <a:lnTo>
                  <a:pt x="981" y="69955"/>
                </a:lnTo>
                <a:lnTo>
                  <a:pt x="1267" y="72531"/>
                </a:lnTo>
                <a:lnTo>
                  <a:pt x="1595" y="75107"/>
                </a:lnTo>
                <a:lnTo>
                  <a:pt x="1922" y="77683"/>
                </a:lnTo>
                <a:lnTo>
                  <a:pt x="2330" y="80218"/>
                </a:lnTo>
                <a:lnTo>
                  <a:pt x="2739" y="82793"/>
                </a:lnTo>
                <a:lnTo>
                  <a:pt x="3189" y="85328"/>
                </a:lnTo>
                <a:lnTo>
                  <a:pt x="3680" y="87904"/>
                </a:lnTo>
                <a:lnTo>
                  <a:pt x="4211" y="90439"/>
                </a:lnTo>
                <a:lnTo>
                  <a:pt x="4784" y="92974"/>
                </a:lnTo>
                <a:lnTo>
                  <a:pt x="5356" y="95509"/>
                </a:lnTo>
                <a:lnTo>
                  <a:pt x="6010" y="98003"/>
                </a:lnTo>
                <a:lnTo>
                  <a:pt x="6705" y="100538"/>
                </a:lnTo>
                <a:lnTo>
                  <a:pt x="6951" y="101274"/>
                </a:lnTo>
                <a:lnTo>
                  <a:pt x="7196" y="102010"/>
                </a:lnTo>
                <a:lnTo>
                  <a:pt x="7768" y="103482"/>
                </a:lnTo>
                <a:lnTo>
                  <a:pt x="8136" y="104218"/>
                </a:lnTo>
                <a:lnTo>
                  <a:pt x="8504" y="104913"/>
                </a:lnTo>
                <a:lnTo>
                  <a:pt x="8913" y="105526"/>
                </a:lnTo>
                <a:lnTo>
                  <a:pt x="9363" y="106139"/>
                </a:lnTo>
                <a:lnTo>
                  <a:pt x="9853" y="106712"/>
                </a:lnTo>
                <a:lnTo>
                  <a:pt x="10344" y="107202"/>
                </a:lnTo>
                <a:lnTo>
                  <a:pt x="10876" y="107652"/>
                </a:lnTo>
                <a:lnTo>
                  <a:pt x="11448" y="108061"/>
                </a:lnTo>
                <a:lnTo>
                  <a:pt x="12061" y="108429"/>
                </a:lnTo>
                <a:lnTo>
                  <a:pt x="12675" y="108756"/>
                </a:lnTo>
                <a:lnTo>
                  <a:pt x="13370" y="109042"/>
                </a:lnTo>
                <a:lnTo>
                  <a:pt x="14024" y="109287"/>
                </a:lnTo>
                <a:lnTo>
                  <a:pt x="14760" y="109451"/>
                </a:lnTo>
                <a:lnTo>
                  <a:pt x="15496" y="109574"/>
                </a:lnTo>
                <a:lnTo>
                  <a:pt x="16232" y="109696"/>
                </a:lnTo>
                <a:lnTo>
                  <a:pt x="17008" y="109737"/>
                </a:lnTo>
                <a:lnTo>
                  <a:pt x="19053" y="109778"/>
                </a:lnTo>
                <a:lnTo>
                  <a:pt x="21056" y="109778"/>
                </a:lnTo>
                <a:lnTo>
                  <a:pt x="25104" y="109696"/>
                </a:lnTo>
                <a:lnTo>
                  <a:pt x="33240" y="109451"/>
                </a:lnTo>
                <a:lnTo>
                  <a:pt x="35407" y="109369"/>
                </a:lnTo>
                <a:lnTo>
                  <a:pt x="37574" y="109287"/>
                </a:lnTo>
                <a:lnTo>
                  <a:pt x="41908" y="109001"/>
                </a:lnTo>
                <a:lnTo>
                  <a:pt x="48041" y="108592"/>
                </a:lnTo>
                <a:lnTo>
                  <a:pt x="54133" y="108143"/>
                </a:lnTo>
                <a:lnTo>
                  <a:pt x="59284" y="107734"/>
                </a:lnTo>
                <a:lnTo>
                  <a:pt x="64395" y="107284"/>
                </a:lnTo>
                <a:lnTo>
                  <a:pt x="70119" y="106793"/>
                </a:lnTo>
                <a:lnTo>
                  <a:pt x="75802" y="106221"/>
                </a:lnTo>
                <a:lnTo>
                  <a:pt x="86514" y="105199"/>
                </a:lnTo>
                <a:lnTo>
                  <a:pt x="97308" y="104136"/>
                </a:lnTo>
                <a:lnTo>
                  <a:pt x="106139" y="103318"/>
                </a:lnTo>
                <a:lnTo>
                  <a:pt x="111945" y="102746"/>
                </a:lnTo>
                <a:lnTo>
                  <a:pt x="117792" y="102214"/>
                </a:lnTo>
                <a:lnTo>
                  <a:pt x="123025" y="101805"/>
                </a:lnTo>
                <a:lnTo>
                  <a:pt x="128258" y="101396"/>
                </a:lnTo>
                <a:lnTo>
                  <a:pt x="134677" y="100947"/>
                </a:lnTo>
                <a:lnTo>
                  <a:pt x="141096" y="100538"/>
                </a:lnTo>
                <a:lnTo>
                  <a:pt x="145062" y="100252"/>
                </a:lnTo>
                <a:lnTo>
                  <a:pt x="147066" y="100170"/>
                </a:lnTo>
                <a:lnTo>
                  <a:pt x="149069" y="100088"/>
                </a:lnTo>
                <a:lnTo>
                  <a:pt x="162357" y="99843"/>
                </a:lnTo>
                <a:lnTo>
                  <a:pt x="168981" y="99761"/>
                </a:lnTo>
                <a:lnTo>
                  <a:pt x="172292" y="99720"/>
                </a:lnTo>
                <a:lnTo>
                  <a:pt x="175604" y="99720"/>
                </a:lnTo>
                <a:lnTo>
                  <a:pt x="178016" y="99761"/>
                </a:lnTo>
                <a:lnTo>
                  <a:pt x="180469" y="99843"/>
                </a:lnTo>
                <a:lnTo>
                  <a:pt x="185335" y="100047"/>
                </a:lnTo>
                <a:lnTo>
                  <a:pt x="190200" y="100293"/>
                </a:lnTo>
                <a:lnTo>
                  <a:pt x="195025" y="100661"/>
                </a:lnTo>
                <a:lnTo>
                  <a:pt x="199972" y="101069"/>
                </a:lnTo>
                <a:lnTo>
                  <a:pt x="204919" y="101519"/>
                </a:lnTo>
                <a:lnTo>
                  <a:pt x="209825" y="102051"/>
                </a:lnTo>
                <a:lnTo>
                  <a:pt x="214732" y="102582"/>
                </a:lnTo>
                <a:lnTo>
                  <a:pt x="219679" y="103155"/>
                </a:lnTo>
                <a:lnTo>
                  <a:pt x="224585" y="103768"/>
                </a:lnTo>
                <a:lnTo>
                  <a:pt x="229491" y="104381"/>
                </a:lnTo>
                <a:lnTo>
                  <a:pt x="234398" y="104953"/>
                </a:lnTo>
                <a:lnTo>
                  <a:pt x="237668" y="105321"/>
                </a:lnTo>
                <a:lnTo>
                  <a:pt x="240898" y="105608"/>
                </a:lnTo>
                <a:lnTo>
                  <a:pt x="247399" y="106180"/>
                </a:lnTo>
                <a:lnTo>
                  <a:pt x="250139" y="106425"/>
                </a:lnTo>
                <a:lnTo>
                  <a:pt x="252919" y="106589"/>
                </a:lnTo>
                <a:lnTo>
                  <a:pt x="255699" y="106712"/>
                </a:lnTo>
                <a:lnTo>
                  <a:pt x="258438" y="106793"/>
                </a:lnTo>
                <a:lnTo>
                  <a:pt x="261219" y="106875"/>
                </a:lnTo>
                <a:lnTo>
                  <a:pt x="263999" y="106834"/>
                </a:lnTo>
                <a:lnTo>
                  <a:pt x="266738" y="106793"/>
                </a:lnTo>
                <a:lnTo>
                  <a:pt x="269518" y="106671"/>
                </a:lnTo>
                <a:lnTo>
                  <a:pt x="271236" y="106589"/>
                </a:lnTo>
                <a:lnTo>
                  <a:pt x="272994" y="106466"/>
                </a:lnTo>
                <a:lnTo>
                  <a:pt x="276428" y="106139"/>
                </a:lnTo>
                <a:lnTo>
                  <a:pt x="283338" y="105362"/>
                </a:lnTo>
                <a:lnTo>
                  <a:pt x="283788" y="105281"/>
                </a:lnTo>
                <a:lnTo>
                  <a:pt x="284196" y="105117"/>
                </a:lnTo>
                <a:lnTo>
                  <a:pt x="284523" y="104872"/>
                </a:lnTo>
                <a:lnTo>
                  <a:pt x="284810" y="104586"/>
                </a:lnTo>
                <a:lnTo>
                  <a:pt x="285096" y="104299"/>
                </a:lnTo>
                <a:lnTo>
                  <a:pt x="285341" y="103931"/>
                </a:lnTo>
                <a:lnTo>
                  <a:pt x="285750" y="103155"/>
                </a:lnTo>
                <a:lnTo>
                  <a:pt x="285750" y="102214"/>
                </a:lnTo>
                <a:lnTo>
                  <a:pt x="283583" y="95345"/>
                </a:lnTo>
                <a:lnTo>
                  <a:pt x="282070" y="90603"/>
                </a:lnTo>
                <a:lnTo>
                  <a:pt x="280476" y="85901"/>
                </a:lnTo>
                <a:lnTo>
                  <a:pt x="278840" y="81240"/>
                </a:lnTo>
                <a:lnTo>
                  <a:pt x="277123" y="76620"/>
                </a:lnTo>
                <a:lnTo>
                  <a:pt x="275365" y="72000"/>
                </a:lnTo>
                <a:lnTo>
                  <a:pt x="273484" y="67420"/>
                </a:lnTo>
                <a:lnTo>
                  <a:pt x="271563" y="62882"/>
                </a:lnTo>
                <a:lnTo>
                  <a:pt x="269559" y="58385"/>
                </a:lnTo>
                <a:lnTo>
                  <a:pt x="267515" y="53928"/>
                </a:lnTo>
                <a:lnTo>
                  <a:pt x="265389" y="49472"/>
                </a:lnTo>
                <a:lnTo>
                  <a:pt x="263181" y="45056"/>
                </a:lnTo>
                <a:lnTo>
                  <a:pt x="260892" y="40681"/>
                </a:lnTo>
                <a:lnTo>
                  <a:pt x="258561" y="36306"/>
                </a:lnTo>
                <a:lnTo>
                  <a:pt x="256149" y="32013"/>
                </a:lnTo>
                <a:lnTo>
                  <a:pt x="253655" y="27720"/>
                </a:lnTo>
                <a:lnTo>
                  <a:pt x="251079" y="23468"/>
                </a:lnTo>
                <a:lnTo>
                  <a:pt x="249811" y="21424"/>
                </a:lnTo>
                <a:lnTo>
                  <a:pt x="248503" y="19462"/>
                </a:lnTo>
                <a:lnTo>
                  <a:pt x="247113" y="17499"/>
                </a:lnTo>
                <a:lnTo>
                  <a:pt x="245682" y="15618"/>
                </a:lnTo>
                <a:lnTo>
                  <a:pt x="244169" y="13778"/>
                </a:lnTo>
                <a:lnTo>
                  <a:pt x="242616" y="11980"/>
                </a:lnTo>
                <a:lnTo>
                  <a:pt x="241798" y="11121"/>
                </a:lnTo>
                <a:lnTo>
                  <a:pt x="240939" y="10262"/>
                </a:lnTo>
                <a:lnTo>
                  <a:pt x="240081" y="9445"/>
                </a:lnTo>
                <a:lnTo>
                  <a:pt x="239222" y="8627"/>
                </a:lnTo>
                <a:lnTo>
                  <a:pt x="238364" y="7891"/>
                </a:lnTo>
                <a:lnTo>
                  <a:pt x="237546" y="7155"/>
                </a:lnTo>
                <a:lnTo>
                  <a:pt x="236646" y="6460"/>
                </a:lnTo>
                <a:lnTo>
                  <a:pt x="235788" y="5806"/>
                </a:lnTo>
                <a:lnTo>
                  <a:pt x="234888" y="5192"/>
                </a:lnTo>
                <a:lnTo>
                  <a:pt x="233989" y="4579"/>
                </a:lnTo>
                <a:lnTo>
                  <a:pt x="233048" y="4007"/>
                </a:lnTo>
                <a:lnTo>
                  <a:pt x="232108" y="3475"/>
                </a:lnTo>
                <a:lnTo>
                  <a:pt x="231127" y="2985"/>
                </a:lnTo>
                <a:lnTo>
                  <a:pt x="230145" y="2535"/>
                </a:lnTo>
                <a:lnTo>
                  <a:pt x="229123" y="2085"/>
                </a:lnTo>
                <a:lnTo>
                  <a:pt x="228101" y="1717"/>
                </a:lnTo>
                <a:lnTo>
                  <a:pt x="227079" y="1349"/>
                </a:lnTo>
                <a:lnTo>
                  <a:pt x="226016" y="1022"/>
                </a:lnTo>
                <a:lnTo>
                  <a:pt x="224912" y="777"/>
                </a:lnTo>
                <a:lnTo>
                  <a:pt x="223808" y="532"/>
                </a:lnTo>
                <a:lnTo>
                  <a:pt x="222132" y="245"/>
                </a:lnTo>
                <a:lnTo>
                  <a:pt x="22045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44"/>
          <p:cNvSpPr/>
          <p:nvPr/>
        </p:nvSpPr>
        <p:spPr>
          <a:xfrm flipH="1">
            <a:off x="0" y="0"/>
            <a:ext cx="9144000" cy="5143648"/>
          </a:xfrm>
          <a:custGeom>
            <a:avLst/>
            <a:gdLst/>
            <a:ahLst/>
            <a:cxnLst/>
            <a:rect l="l" t="t" r="r" b="b"/>
            <a:pathLst>
              <a:path w="285750" h="160739" extrusionOk="0">
                <a:moveTo>
                  <a:pt x="278825" y="6764"/>
                </a:moveTo>
                <a:lnTo>
                  <a:pt x="278825" y="153975"/>
                </a:lnTo>
                <a:lnTo>
                  <a:pt x="6925" y="153975"/>
                </a:lnTo>
                <a:lnTo>
                  <a:pt x="6925" y="6764"/>
                </a:lnTo>
                <a:close/>
                <a:moveTo>
                  <a:pt x="0" y="0"/>
                </a:moveTo>
                <a:lnTo>
                  <a:pt x="0" y="160739"/>
                </a:lnTo>
                <a:lnTo>
                  <a:pt x="285750" y="160739"/>
                </a:lnTo>
                <a:lnTo>
                  <a:pt x="28575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45"/>
          <p:cNvSpPr/>
          <p:nvPr/>
        </p:nvSpPr>
        <p:spPr>
          <a:xfrm>
            <a:off x="127347" y="3686724"/>
            <a:ext cx="3791903" cy="1456754"/>
          </a:xfrm>
          <a:custGeom>
            <a:avLst/>
            <a:gdLst/>
            <a:ahLst/>
            <a:cxnLst/>
            <a:rect l="l" t="t" r="r" b="b"/>
            <a:pathLst>
              <a:path w="285750" h="109778" extrusionOk="0">
                <a:moveTo>
                  <a:pt x="217594" y="0"/>
                </a:moveTo>
                <a:lnTo>
                  <a:pt x="215917" y="245"/>
                </a:lnTo>
                <a:lnTo>
                  <a:pt x="214241" y="532"/>
                </a:lnTo>
                <a:lnTo>
                  <a:pt x="213014" y="777"/>
                </a:lnTo>
                <a:lnTo>
                  <a:pt x="211829" y="1063"/>
                </a:lnTo>
                <a:lnTo>
                  <a:pt x="210684" y="1390"/>
                </a:lnTo>
                <a:lnTo>
                  <a:pt x="209539" y="1758"/>
                </a:lnTo>
                <a:lnTo>
                  <a:pt x="208394" y="2208"/>
                </a:lnTo>
                <a:lnTo>
                  <a:pt x="207290" y="2658"/>
                </a:lnTo>
                <a:lnTo>
                  <a:pt x="206227" y="3148"/>
                </a:lnTo>
                <a:lnTo>
                  <a:pt x="205164" y="3680"/>
                </a:lnTo>
                <a:lnTo>
                  <a:pt x="204101" y="4211"/>
                </a:lnTo>
                <a:lnTo>
                  <a:pt x="203079" y="4825"/>
                </a:lnTo>
                <a:lnTo>
                  <a:pt x="202057" y="5479"/>
                </a:lnTo>
                <a:lnTo>
                  <a:pt x="201076" y="6133"/>
                </a:lnTo>
                <a:lnTo>
                  <a:pt x="200095" y="6828"/>
                </a:lnTo>
                <a:lnTo>
                  <a:pt x="199113" y="7564"/>
                </a:lnTo>
                <a:lnTo>
                  <a:pt x="198173" y="8300"/>
                </a:lnTo>
                <a:lnTo>
                  <a:pt x="197233" y="9077"/>
                </a:lnTo>
                <a:lnTo>
                  <a:pt x="196088" y="10058"/>
                </a:lnTo>
                <a:lnTo>
                  <a:pt x="194984" y="11080"/>
                </a:lnTo>
                <a:lnTo>
                  <a:pt x="193921" y="12143"/>
                </a:lnTo>
                <a:lnTo>
                  <a:pt x="192899" y="13206"/>
                </a:lnTo>
                <a:lnTo>
                  <a:pt x="191917" y="14310"/>
                </a:lnTo>
                <a:lnTo>
                  <a:pt x="190936" y="15455"/>
                </a:lnTo>
                <a:lnTo>
                  <a:pt x="189996" y="16600"/>
                </a:lnTo>
                <a:lnTo>
                  <a:pt x="189096" y="17744"/>
                </a:lnTo>
                <a:lnTo>
                  <a:pt x="188197" y="18930"/>
                </a:lnTo>
                <a:lnTo>
                  <a:pt x="187379" y="20157"/>
                </a:lnTo>
                <a:lnTo>
                  <a:pt x="186561" y="21383"/>
                </a:lnTo>
                <a:lnTo>
                  <a:pt x="185785" y="22651"/>
                </a:lnTo>
                <a:lnTo>
                  <a:pt x="185008" y="23918"/>
                </a:lnTo>
                <a:lnTo>
                  <a:pt x="184272" y="25226"/>
                </a:lnTo>
                <a:lnTo>
                  <a:pt x="183577" y="26576"/>
                </a:lnTo>
                <a:lnTo>
                  <a:pt x="182882" y="27925"/>
                </a:lnTo>
                <a:lnTo>
                  <a:pt x="181737" y="30255"/>
                </a:lnTo>
                <a:lnTo>
                  <a:pt x="180551" y="32586"/>
                </a:lnTo>
                <a:lnTo>
                  <a:pt x="179325" y="34916"/>
                </a:lnTo>
                <a:lnTo>
                  <a:pt x="178711" y="36061"/>
                </a:lnTo>
                <a:lnTo>
                  <a:pt x="178057" y="37206"/>
                </a:lnTo>
                <a:lnTo>
                  <a:pt x="177567" y="37942"/>
                </a:lnTo>
                <a:lnTo>
                  <a:pt x="177076" y="38678"/>
                </a:lnTo>
                <a:lnTo>
                  <a:pt x="176585" y="39373"/>
                </a:lnTo>
                <a:lnTo>
                  <a:pt x="176013" y="40068"/>
                </a:lnTo>
                <a:lnTo>
                  <a:pt x="175440" y="40722"/>
                </a:lnTo>
                <a:lnTo>
                  <a:pt x="174868" y="41335"/>
                </a:lnTo>
                <a:lnTo>
                  <a:pt x="174255" y="41908"/>
                </a:lnTo>
                <a:lnTo>
                  <a:pt x="173601" y="42439"/>
                </a:lnTo>
                <a:lnTo>
                  <a:pt x="172906" y="42971"/>
                </a:lnTo>
                <a:lnTo>
                  <a:pt x="172210" y="43421"/>
                </a:lnTo>
                <a:lnTo>
                  <a:pt x="171475" y="43870"/>
                </a:lnTo>
                <a:lnTo>
                  <a:pt x="170698" y="44238"/>
                </a:lnTo>
                <a:lnTo>
                  <a:pt x="169880" y="44606"/>
                </a:lnTo>
                <a:lnTo>
                  <a:pt x="169062" y="44892"/>
                </a:lnTo>
                <a:lnTo>
                  <a:pt x="168204" y="45138"/>
                </a:lnTo>
                <a:lnTo>
                  <a:pt x="167304" y="45383"/>
                </a:lnTo>
                <a:lnTo>
                  <a:pt x="166486" y="45506"/>
                </a:lnTo>
                <a:lnTo>
                  <a:pt x="165669" y="45628"/>
                </a:lnTo>
                <a:lnTo>
                  <a:pt x="164851" y="45710"/>
                </a:lnTo>
                <a:lnTo>
                  <a:pt x="164033" y="45751"/>
                </a:lnTo>
                <a:lnTo>
                  <a:pt x="163216" y="45710"/>
                </a:lnTo>
                <a:lnTo>
                  <a:pt x="162398" y="45669"/>
                </a:lnTo>
                <a:lnTo>
                  <a:pt x="161621" y="45628"/>
                </a:lnTo>
                <a:lnTo>
                  <a:pt x="160803" y="45506"/>
                </a:lnTo>
                <a:lnTo>
                  <a:pt x="160027" y="45342"/>
                </a:lnTo>
                <a:lnTo>
                  <a:pt x="159250" y="45179"/>
                </a:lnTo>
                <a:lnTo>
                  <a:pt x="158473" y="44974"/>
                </a:lnTo>
                <a:lnTo>
                  <a:pt x="157696" y="44770"/>
                </a:lnTo>
                <a:lnTo>
                  <a:pt x="156919" y="44484"/>
                </a:lnTo>
                <a:lnTo>
                  <a:pt x="156142" y="44238"/>
                </a:lnTo>
                <a:lnTo>
                  <a:pt x="154589" y="43584"/>
                </a:lnTo>
                <a:lnTo>
                  <a:pt x="153567" y="43093"/>
                </a:lnTo>
                <a:lnTo>
                  <a:pt x="152585" y="42603"/>
                </a:lnTo>
                <a:lnTo>
                  <a:pt x="151645" y="42071"/>
                </a:lnTo>
                <a:lnTo>
                  <a:pt x="150705" y="41499"/>
                </a:lnTo>
                <a:lnTo>
                  <a:pt x="149764" y="40886"/>
                </a:lnTo>
                <a:lnTo>
                  <a:pt x="148906" y="40231"/>
                </a:lnTo>
                <a:lnTo>
                  <a:pt x="148047" y="39577"/>
                </a:lnTo>
                <a:lnTo>
                  <a:pt x="147188" y="38882"/>
                </a:lnTo>
                <a:lnTo>
                  <a:pt x="146412" y="38146"/>
                </a:lnTo>
                <a:lnTo>
                  <a:pt x="145594" y="37410"/>
                </a:lnTo>
                <a:lnTo>
                  <a:pt x="144858" y="36634"/>
                </a:lnTo>
                <a:lnTo>
                  <a:pt x="144122" y="35816"/>
                </a:lnTo>
                <a:lnTo>
                  <a:pt x="143386" y="34998"/>
                </a:lnTo>
                <a:lnTo>
                  <a:pt x="142691" y="34180"/>
                </a:lnTo>
                <a:lnTo>
                  <a:pt x="141996" y="33281"/>
                </a:lnTo>
                <a:lnTo>
                  <a:pt x="141342" y="32381"/>
                </a:lnTo>
                <a:lnTo>
                  <a:pt x="139011" y="29070"/>
                </a:lnTo>
                <a:lnTo>
                  <a:pt x="136722" y="25758"/>
                </a:lnTo>
                <a:lnTo>
                  <a:pt x="134473" y="22405"/>
                </a:lnTo>
                <a:lnTo>
                  <a:pt x="132183" y="19053"/>
                </a:lnTo>
                <a:lnTo>
                  <a:pt x="131079" y="17458"/>
                </a:lnTo>
                <a:lnTo>
                  <a:pt x="129894" y="15945"/>
                </a:lnTo>
                <a:lnTo>
                  <a:pt x="128708" y="14433"/>
                </a:lnTo>
                <a:lnTo>
                  <a:pt x="127482" y="13002"/>
                </a:lnTo>
                <a:lnTo>
                  <a:pt x="126173" y="11612"/>
                </a:lnTo>
                <a:lnTo>
                  <a:pt x="125478" y="10916"/>
                </a:lnTo>
                <a:lnTo>
                  <a:pt x="124783" y="10262"/>
                </a:lnTo>
                <a:lnTo>
                  <a:pt x="124047" y="9649"/>
                </a:lnTo>
                <a:lnTo>
                  <a:pt x="123311" y="9036"/>
                </a:lnTo>
                <a:lnTo>
                  <a:pt x="122575" y="8422"/>
                </a:lnTo>
                <a:lnTo>
                  <a:pt x="121758" y="7850"/>
                </a:lnTo>
                <a:lnTo>
                  <a:pt x="120367" y="6910"/>
                </a:lnTo>
                <a:lnTo>
                  <a:pt x="118936" y="6051"/>
                </a:lnTo>
                <a:lnTo>
                  <a:pt x="117465" y="5274"/>
                </a:lnTo>
                <a:lnTo>
                  <a:pt x="116729" y="4906"/>
                </a:lnTo>
                <a:lnTo>
                  <a:pt x="115952" y="4579"/>
                </a:lnTo>
                <a:lnTo>
                  <a:pt x="115216" y="4293"/>
                </a:lnTo>
                <a:lnTo>
                  <a:pt x="114439" y="4007"/>
                </a:lnTo>
                <a:lnTo>
                  <a:pt x="113621" y="3761"/>
                </a:lnTo>
                <a:lnTo>
                  <a:pt x="112844" y="3516"/>
                </a:lnTo>
                <a:lnTo>
                  <a:pt x="112027" y="3353"/>
                </a:lnTo>
                <a:lnTo>
                  <a:pt x="111209" y="3189"/>
                </a:lnTo>
                <a:lnTo>
                  <a:pt x="110391" y="3066"/>
                </a:lnTo>
                <a:lnTo>
                  <a:pt x="109533" y="2944"/>
                </a:lnTo>
                <a:lnTo>
                  <a:pt x="108388" y="2903"/>
                </a:lnTo>
                <a:lnTo>
                  <a:pt x="107284" y="2862"/>
                </a:lnTo>
                <a:lnTo>
                  <a:pt x="106221" y="2944"/>
                </a:lnTo>
                <a:lnTo>
                  <a:pt x="105199" y="3066"/>
                </a:lnTo>
                <a:lnTo>
                  <a:pt x="104177" y="3271"/>
                </a:lnTo>
                <a:lnTo>
                  <a:pt x="103195" y="3516"/>
                </a:lnTo>
                <a:lnTo>
                  <a:pt x="102214" y="3843"/>
                </a:lnTo>
                <a:lnTo>
                  <a:pt x="101274" y="4211"/>
                </a:lnTo>
                <a:lnTo>
                  <a:pt x="100374" y="4661"/>
                </a:lnTo>
                <a:lnTo>
                  <a:pt x="99516" y="5152"/>
                </a:lnTo>
                <a:lnTo>
                  <a:pt x="98657" y="5724"/>
                </a:lnTo>
                <a:lnTo>
                  <a:pt x="97839" y="6337"/>
                </a:lnTo>
                <a:lnTo>
                  <a:pt x="97022" y="7032"/>
                </a:lnTo>
                <a:lnTo>
                  <a:pt x="96245" y="7809"/>
                </a:lnTo>
                <a:lnTo>
                  <a:pt x="95509" y="8627"/>
                </a:lnTo>
                <a:lnTo>
                  <a:pt x="94814" y="9485"/>
                </a:lnTo>
                <a:lnTo>
                  <a:pt x="93955" y="10630"/>
                </a:lnTo>
                <a:lnTo>
                  <a:pt x="93178" y="11816"/>
                </a:lnTo>
                <a:lnTo>
                  <a:pt x="92483" y="13043"/>
                </a:lnTo>
                <a:lnTo>
                  <a:pt x="91829" y="14310"/>
                </a:lnTo>
                <a:lnTo>
                  <a:pt x="91216" y="15577"/>
                </a:lnTo>
                <a:lnTo>
                  <a:pt x="90603" y="16845"/>
                </a:lnTo>
                <a:lnTo>
                  <a:pt x="89540" y="19462"/>
                </a:lnTo>
                <a:lnTo>
                  <a:pt x="88517" y="21996"/>
                </a:lnTo>
                <a:lnTo>
                  <a:pt x="87536" y="24531"/>
                </a:lnTo>
                <a:lnTo>
                  <a:pt x="86514" y="27025"/>
                </a:lnTo>
                <a:lnTo>
                  <a:pt x="85983" y="28293"/>
                </a:lnTo>
                <a:lnTo>
                  <a:pt x="85410" y="29479"/>
                </a:lnTo>
                <a:lnTo>
                  <a:pt x="84838" y="30623"/>
                </a:lnTo>
                <a:lnTo>
                  <a:pt x="84265" y="31686"/>
                </a:lnTo>
                <a:lnTo>
                  <a:pt x="83652" y="32749"/>
                </a:lnTo>
                <a:lnTo>
                  <a:pt x="83039" y="33772"/>
                </a:lnTo>
                <a:lnTo>
                  <a:pt x="82385" y="34753"/>
                </a:lnTo>
                <a:lnTo>
                  <a:pt x="81730" y="35734"/>
                </a:lnTo>
                <a:lnTo>
                  <a:pt x="81035" y="36674"/>
                </a:lnTo>
                <a:lnTo>
                  <a:pt x="80340" y="37615"/>
                </a:lnTo>
                <a:lnTo>
                  <a:pt x="79604" y="38514"/>
                </a:lnTo>
                <a:lnTo>
                  <a:pt x="78868" y="39373"/>
                </a:lnTo>
                <a:lnTo>
                  <a:pt x="78092" y="40231"/>
                </a:lnTo>
                <a:lnTo>
                  <a:pt x="77274" y="41049"/>
                </a:lnTo>
                <a:lnTo>
                  <a:pt x="76456" y="41826"/>
                </a:lnTo>
                <a:lnTo>
                  <a:pt x="75639" y="42603"/>
                </a:lnTo>
                <a:lnTo>
                  <a:pt x="74780" y="43339"/>
                </a:lnTo>
                <a:lnTo>
                  <a:pt x="73880" y="44034"/>
                </a:lnTo>
                <a:lnTo>
                  <a:pt x="72981" y="44729"/>
                </a:lnTo>
                <a:lnTo>
                  <a:pt x="72081" y="45383"/>
                </a:lnTo>
                <a:lnTo>
                  <a:pt x="71141" y="46037"/>
                </a:lnTo>
                <a:lnTo>
                  <a:pt x="70201" y="46651"/>
                </a:lnTo>
                <a:lnTo>
                  <a:pt x="69219" y="47223"/>
                </a:lnTo>
                <a:lnTo>
                  <a:pt x="68197" y="47795"/>
                </a:lnTo>
                <a:lnTo>
                  <a:pt x="67216" y="48327"/>
                </a:lnTo>
                <a:lnTo>
                  <a:pt x="66153" y="48858"/>
                </a:lnTo>
                <a:lnTo>
                  <a:pt x="65090" y="49349"/>
                </a:lnTo>
                <a:lnTo>
                  <a:pt x="64027" y="49799"/>
                </a:lnTo>
                <a:lnTo>
                  <a:pt x="62923" y="50248"/>
                </a:lnTo>
                <a:lnTo>
                  <a:pt x="61819" y="50657"/>
                </a:lnTo>
                <a:lnTo>
                  <a:pt x="60715" y="51066"/>
                </a:lnTo>
                <a:lnTo>
                  <a:pt x="59530" y="51434"/>
                </a:lnTo>
                <a:lnTo>
                  <a:pt x="58385" y="51761"/>
                </a:lnTo>
                <a:lnTo>
                  <a:pt x="57199" y="52088"/>
                </a:lnTo>
                <a:lnTo>
                  <a:pt x="55605" y="52456"/>
                </a:lnTo>
                <a:lnTo>
                  <a:pt x="53969" y="52783"/>
                </a:lnTo>
                <a:lnTo>
                  <a:pt x="52375" y="52988"/>
                </a:lnTo>
                <a:lnTo>
                  <a:pt x="50780" y="53192"/>
                </a:lnTo>
                <a:lnTo>
                  <a:pt x="49226" y="53274"/>
                </a:lnTo>
                <a:lnTo>
                  <a:pt x="47673" y="53315"/>
                </a:lnTo>
                <a:lnTo>
                  <a:pt x="46078" y="53274"/>
                </a:lnTo>
                <a:lnTo>
                  <a:pt x="44565" y="53192"/>
                </a:lnTo>
                <a:lnTo>
                  <a:pt x="43012" y="53070"/>
                </a:lnTo>
                <a:lnTo>
                  <a:pt x="41499" y="52865"/>
                </a:lnTo>
                <a:lnTo>
                  <a:pt x="39986" y="52579"/>
                </a:lnTo>
                <a:lnTo>
                  <a:pt x="38514" y="52252"/>
                </a:lnTo>
                <a:lnTo>
                  <a:pt x="37042" y="51843"/>
                </a:lnTo>
                <a:lnTo>
                  <a:pt x="35611" y="51434"/>
                </a:lnTo>
                <a:lnTo>
                  <a:pt x="34180" y="50944"/>
                </a:lnTo>
                <a:lnTo>
                  <a:pt x="32749" y="50371"/>
                </a:lnTo>
                <a:lnTo>
                  <a:pt x="31400" y="49758"/>
                </a:lnTo>
                <a:lnTo>
                  <a:pt x="30010" y="49104"/>
                </a:lnTo>
                <a:lnTo>
                  <a:pt x="28702" y="48409"/>
                </a:lnTo>
                <a:lnTo>
                  <a:pt x="27393" y="47673"/>
                </a:lnTo>
                <a:lnTo>
                  <a:pt x="26085" y="46855"/>
                </a:lnTo>
                <a:lnTo>
                  <a:pt x="24858" y="46037"/>
                </a:lnTo>
                <a:lnTo>
                  <a:pt x="23632" y="45138"/>
                </a:lnTo>
                <a:lnTo>
                  <a:pt x="22405" y="44197"/>
                </a:lnTo>
                <a:lnTo>
                  <a:pt x="21261" y="43216"/>
                </a:lnTo>
                <a:lnTo>
                  <a:pt x="20116" y="42194"/>
                </a:lnTo>
                <a:lnTo>
                  <a:pt x="19012" y="41131"/>
                </a:lnTo>
                <a:lnTo>
                  <a:pt x="17949" y="40027"/>
                </a:lnTo>
                <a:lnTo>
                  <a:pt x="16927" y="38882"/>
                </a:lnTo>
                <a:lnTo>
                  <a:pt x="15945" y="37737"/>
                </a:lnTo>
                <a:lnTo>
                  <a:pt x="14964" y="36511"/>
                </a:lnTo>
                <a:lnTo>
                  <a:pt x="14065" y="35284"/>
                </a:lnTo>
                <a:lnTo>
                  <a:pt x="13043" y="33731"/>
                </a:lnTo>
                <a:lnTo>
                  <a:pt x="12061" y="32177"/>
                </a:lnTo>
                <a:lnTo>
                  <a:pt x="11203" y="30582"/>
                </a:lnTo>
                <a:lnTo>
                  <a:pt x="10385" y="28947"/>
                </a:lnTo>
                <a:lnTo>
                  <a:pt x="9649" y="27271"/>
                </a:lnTo>
                <a:lnTo>
                  <a:pt x="8954" y="25594"/>
                </a:lnTo>
                <a:lnTo>
                  <a:pt x="8382" y="23836"/>
                </a:lnTo>
                <a:lnTo>
                  <a:pt x="7891" y="22078"/>
                </a:lnTo>
                <a:lnTo>
                  <a:pt x="7687" y="21465"/>
                </a:lnTo>
                <a:lnTo>
                  <a:pt x="7441" y="20933"/>
                </a:lnTo>
                <a:lnTo>
                  <a:pt x="7155" y="20525"/>
                </a:lnTo>
                <a:lnTo>
                  <a:pt x="6991" y="20361"/>
                </a:lnTo>
                <a:lnTo>
                  <a:pt x="6787" y="20198"/>
                </a:lnTo>
                <a:lnTo>
                  <a:pt x="6583" y="20034"/>
                </a:lnTo>
                <a:lnTo>
                  <a:pt x="6378" y="19911"/>
                </a:lnTo>
                <a:lnTo>
                  <a:pt x="5928" y="19748"/>
                </a:lnTo>
                <a:lnTo>
                  <a:pt x="5397" y="19666"/>
                </a:lnTo>
                <a:lnTo>
                  <a:pt x="4825" y="19666"/>
                </a:lnTo>
                <a:lnTo>
                  <a:pt x="4334" y="19748"/>
                </a:lnTo>
                <a:lnTo>
                  <a:pt x="3884" y="19870"/>
                </a:lnTo>
                <a:lnTo>
                  <a:pt x="3475" y="20116"/>
                </a:lnTo>
                <a:lnTo>
                  <a:pt x="3107" y="20402"/>
                </a:lnTo>
                <a:lnTo>
                  <a:pt x="2821" y="20770"/>
                </a:lnTo>
                <a:lnTo>
                  <a:pt x="2576" y="21261"/>
                </a:lnTo>
                <a:lnTo>
                  <a:pt x="2412" y="21751"/>
                </a:lnTo>
                <a:lnTo>
                  <a:pt x="2290" y="22364"/>
                </a:lnTo>
                <a:lnTo>
                  <a:pt x="1390" y="29969"/>
                </a:lnTo>
                <a:lnTo>
                  <a:pt x="940" y="33772"/>
                </a:lnTo>
                <a:lnTo>
                  <a:pt x="572" y="37574"/>
                </a:lnTo>
                <a:lnTo>
                  <a:pt x="368" y="40313"/>
                </a:lnTo>
                <a:lnTo>
                  <a:pt x="204" y="43053"/>
                </a:lnTo>
                <a:lnTo>
                  <a:pt x="82" y="45833"/>
                </a:lnTo>
                <a:lnTo>
                  <a:pt x="0" y="48572"/>
                </a:lnTo>
                <a:lnTo>
                  <a:pt x="0" y="51312"/>
                </a:lnTo>
                <a:lnTo>
                  <a:pt x="41" y="54051"/>
                </a:lnTo>
                <a:lnTo>
                  <a:pt x="123" y="56831"/>
                </a:lnTo>
                <a:lnTo>
                  <a:pt x="204" y="59570"/>
                </a:lnTo>
                <a:lnTo>
                  <a:pt x="368" y="62187"/>
                </a:lnTo>
                <a:lnTo>
                  <a:pt x="532" y="64763"/>
                </a:lnTo>
                <a:lnTo>
                  <a:pt x="736" y="67339"/>
                </a:lnTo>
                <a:lnTo>
                  <a:pt x="981" y="69955"/>
                </a:lnTo>
                <a:lnTo>
                  <a:pt x="1267" y="72531"/>
                </a:lnTo>
                <a:lnTo>
                  <a:pt x="1595" y="75107"/>
                </a:lnTo>
                <a:lnTo>
                  <a:pt x="1922" y="77683"/>
                </a:lnTo>
                <a:lnTo>
                  <a:pt x="2330" y="80218"/>
                </a:lnTo>
                <a:lnTo>
                  <a:pt x="2739" y="82793"/>
                </a:lnTo>
                <a:lnTo>
                  <a:pt x="3189" y="85328"/>
                </a:lnTo>
                <a:lnTo>
                  <a:pt x="3680" y="87904"/>
                </a:lnTo>
                <a:lnTo>
                  <a:pt x="4211" y="90439"/>
                </a:lnTo>
                <a:lnTo>
                  <a:pt x="4784" y="92974"/>
                </a:lnTo>
                <a:lnTo>
                  <a:pt x="5356" y="95509"/>
                </a:lnTo>
                <a:lnTo>
                  <a:pt x="6010" y="98003"/>
                </a:lnTo>
                <a:lnTo>
                  <a:pt x="6705" y="100538"/>
                </a:lnTo>
                <a:lnTo>
                  <a:pt x="6951" y="101274"/>
                </a:lnTo>
                <a:lnTo>
                  <a:pt x="7196" y="102010"/>
                </a:lnTo>
                <a:lnTo>
                  <a:pt x="7768" y="103482"/>
                </a:lnTo>
                <a:lnTo>
                  <a:pt x="8136" y="104218"/>
                </a:lnTo>
                <a:lnTo>
                  <a:pt x="8504" y="104913"/>
                </a:lnTo>
                <a:lnTo>
                  <a:pt x="8913" y="105526"/>
                </a:lnTo>
                <a:lnTo>
                  <a:pt x="9363" y="106139"/>
                </a:lnTo>
                <a:lnTo>
                  <a:pt x="9853" y="106712"/>
                </a:lnTo>
                <a:lnTo>
                  <a:pt x="10344" y="107202"/>
                </a:lnTo>
                <a:lnTo>
                  <a:pt x="10876" y="107652"/>
                </a:lnTo>
                <a:lnTo>
                  <a:pt x="11448" y="108061"/>
                </a:lnTo>
                <a:lnTo>
                  <a:pt x="12061" y="108429"/>
                </a:lnTo>
                <a:lnTo>
                  <a:pt x="12675" y="108756"/>
                </a:lnTo>
                <a:lnTo>
                  <a:pt x="13370" y="109042"/>
                </a:lnTo>
                <a:lnTo>
                  <a:pt x="14024" y="109287"/>
                </a:lnTo>
                <a:lnTo>
                  <a:pt x="14760" y="109451"/>
                </a:lnTo>
                <a:lnTo>
                  <a:pt x="15496" y="109574"/>
                </a:lnTo>
                <a:lnTo>
                  <a:pt x="16232" y="109696"/>
                </a:lnTo>
                <a:lnTo>
                  <a:pt x="17008" y="109737"/>
                </a:lnTo>
                <a:lnTo>
                  <a:pt x="19053" y="109778"/>
                </a:lnTo>
                <a:lnTo>
                  <a:pt x="21056" y="109778"/>
                </a:lnTo>
                <a:lnTo>
                  <a:pt x="25104" y="109696"/>
                </a:lnTo>
                <a:lnTo>
                  <a:pt x="33240" y="109451"/>
                </a:lnTo>
                <a:lnTo>
                  <a:pt x="35407" y="109369"/>
                </a:lnTo>
                <a:lnTo>
                  <a:pt x="37574" y="109287"/>
                </a:lnTo>
                <a:lnTo>
                  <a:pt x="41908" y="109001"/>
                </a:lnTo>
                <a:lnTo>
                  <a:pt x="48041" y="108592"/>
                </a:lnTo>
                <a:lnTo>
                  <a:pt x="54133" y="108143"/>
                </a:lnTo>
                <a:lnTo>
                  <a:pt x="59284" y="107734"/>
                </a:lnTo>
                <a:lnTo>
                  <a:pt x="64395" y="107284"/>
                </a:lnTo>
                <a:lnTo>
                  <a:pt x="70119" y="106793"/>
                </a:lnTo>
                <a:lnTo>
                  <a:pt x="75802" y="106221"/>
                </a:lnTo>
                <a:lnTo>
                  <a:pt x="86514" y="105199"/>
                </a:lnTo>
                <a:lnTo>
                  <a:pt x="97308" y="104136"/>
                </a:lnTo>
                <a:lnTo>
                  <a:pt x="106139" y="103318"/>
                </a:lnTo>
                <a:lnTo>
                  <a:pt x="111945" y="102746"/>
                </a:lnTo>
                <a:lnTo>
                  <a:pt x="117792" y="102214"/>
                </a:lnTo>
                <a:lnTo>
                  <a:pt x="123025" y="101805"/>
                </a:lnTo>
                <a:lnTo>
                  <a:pt x="128258" y="101396"/>
                </a:lnTo>
                <a:lnTo>
                  <a:pt x="134677" y="100947"/>
                </a:lnTo>
                <a:lnTo>
                  <a:pt x="141096" y="100538"/>
                </a:lnTo>
                <a:lnTo>
                  <a:pt x="145062" y="100252"/>
                </a:lnTo>
                <a:lnTo>
                  <a:pt x="147066" y="100170"/>
                </a:lnTo>
                <a:lnTo>
                  <a:pt x="149069" y="100088"/>
                </a:lnTo>
                <a:lnTo>
                  <a:pt x="162357" y="99843"/>
                </a:lnTo>
                <a:lnTo>
                  <a:pt x="168981" y="99761"/>
                </a:lnTo>
                <a:lnTo>
                  <a:pt x="172292" y="99720"/>
                </a:lnTo>
                <a:lnTo>
                  <a:pt x="175604" y="99720"/>
                </a:lnTo>
                <a:lnTo>
                  <a:pt x="178016" y="99761"/>
                </a:lnTo>
                <a:lnTo>
                  <a:pt x="180469" y="99843"/>
                </a:lnTo>
                <a:lnTo>
                  <a:pt x="185335" y="100047"/>
                </a:lnTo>
                <a:lnTo>
                  <a:pt x="190200" y="100293"/>
                </a:lnTo>
                <a:lnTo>
                  <a:pt x="195025" y="100661"/>
                </a:lnTo>
                <a:lnTo>
                  <a:pt x="199972" y="101069"/>
                </a:lnTo>
                <a:lnTo>
                  <a:pt x="204919" y="101519"/>
                </a:lnTo>
                <a:lnTo>
                  <a:pt x="209825" y="102051"/>
                </a:lnTo>
                <a:lnTo>
                  <a:pt x="214732" y="102582"/>
                </a:lnTo>
                <a:lnTo>
                  <a:pt x="219679" y="103155"/>
                </a:lnTo>
                <a:lnTo>
                  <a:pt x="224585" y="103768"/>
                </a:lnTo>
                <a:lnTo>
                  <a:pt x="229491" y="104381"/>
                </a:lnTo>
                <a:lnTo>
                  <a:pt x="234398" y="104953"/>
                </a:lnTo>
                <a:lnTo>
                  <a:pt x="237668" y="105321"/>
                </a:lnTo>
                <a:lnTo>
                  <a:pt x="240898" y="105608"/>
                </a:lnTo>
                <a:lnTo>
                  <a:pt x="247399" y="106180"/>
                </a:lnTo>
                <a:lnTo>
                  <a:pt x="250139" y="106425"/>
                </a:lnTo>
                <a:lnTo>
                  <a:pt x="252919" y="106589"/>
                </a:lnTo>
                <a:lnTo>
                  <a:pt x="255699" y="106712"/>
                </a:lnTo>
                <a:lnTo>
                  <a:pt x="258438" y="106793"/>
                </a:lnTo>
                <a:lnTo>
                  <a:pt x="261219" y="106875"/>
                </a:lnTo>
                <a:lnTo>
                  <a:pt x="263999" y="106834"/>
                </a:lnTo>
                <a:lnTo>
                  <a:pt x="266738" y="106793"/>
                </a:lnTo>
                <a:lnTo>
                  <a:pt x="269518" y="106671"/>
                </a:lnTo>
                <a:lnTo>
                  <a:pt x="271236" y="106589"/>
                </a:lnTo>
                <a:lnTo>
                  <a:pt x="272994" y="106466"/>
                </a:lnTo>
                <a:lnTo>
                  <a:pt x="276428" y="106139"/>
                </a:lnTo>
                <a:lnTo>
                  <a:pt x="283338" y="105362"/>
                </a:lnTo>
                <a:lnTo>
                  <a:pt x="283788" y="105281"/>
                </a:lnTo>
                <a:lnTo>
                  <a:pt x="284196" y="105117"/>
                </a:lnTo>
                <a:lnTo>
                  <a:pt x="284523" y="104872"/>
                </a:lnTo>
                <a:lnTo>
                  <a:pt x="284810" y="104586"/>
                </a:lnTo>
                <a:lnTo>
                  <a:pt x="285096" y="104299"/>
                </a:lnTo>
                <a:lnTo>
                  <a:pt x="285341" y="103931"/>
                </a:lnTo>
                <a:lnTo>
                  <a:pt x="285750" y="103155"/>
                </a:lnTo>
                <a:lnTo>
                  <a:pt x="285750" y="102214"/>
                </a:lnTo>
                <a:lnTo>
                  <a:pt x="283583" y="95345"/>
                </a:lnTo>
                <a:lnTo>
                  <a:pt x="282070" y="90603"/>
                </a:lnTo>
                <a:lnTo>
                  <a:pt x="280476" y="85901"/>
                </a:lnTo>
                <a:lnTo>
                  <a:pt x="278840" y="81240"/>
                </a:lnTo>
                <a:lnTo>
                  <a:pt x="277123" y="76620"/>
                </a:lnTo>
                <a:lnTo>
                  <a:pt x="275365" y="72000"/>
                </a:lnTo>
                <a:lnTo>
                  <a:pt x="273484" y="67420"/>
                </a:lnTo>
                <a:lnTo>
                  <a:pt x="271563" y="62882"/>
                </a:lnTo>
                <a:lnTo>
                  <a:pt x="269559" y="58385"/>
                </a:lnTo>
                <a:lnTo>
                  <a:pt x="267515" y="53928"/>
                </a:lnTo>
                <a:lnTo>
                  <a:pt x="265389" y="49472"/>
                </a:lnTo>
                <a:lnTo>
                  <a:pt x="263181" y="45056"/>
                </a:lnTo>
                <a:lnTo>
                  <a:pt x="260892" y="40681"/>
                </a:lnTo>
                <a:lnTo>
                  <a:pt x="258561" y="36306"/>
                </a:lnTo>
                <a:lnTo>
                  <a:pt x="256149" y="32013"/>
                </a:lnTo>
                <a:lnTo>
                  <a:pt x="253655" y="27720"/>
                </a:lnTo>
                <a:lnTo>
                  <a:pt x="251079" y="23468"/>
                </a:lnTo>
                <a:lnTo>
                  <a:pt x="249811" y="21424"/>
                </a:lnTo>
                <a:lnTo>
                  <a:pt x="248503" y="19462"/>
                </a:lnTo>
                <a:lnTo>
                  <a:pt x="247113" y="17499"/>
                </a:lnTo>
                <a:lnTo>
                  <a:pt x="245682" y="15618"/>
                </a:lnTo>
                <a:lnTo>
                  <a:pt x="244169" y="13778"/>
                </a:lnTo>
                <a:lnTo>
                  <a:pt x="242616" y="11980"/>
                </a:lnTo>
                <a:lnTo>
                  <a:pt x="241798" y="11121"/>
                </a:lnTo>
                <a:lnTo>
                  <a:pt x="240939" y="10262"/>
                </a:lnTo>
                <a:lnTo>
                  <a:pt x="240081" y="9445"/>
                </a:lnTo>
                <a:lnTo>
                  <a:pt x="239222" y="8627"/>
                </a:lnTo>
                <a:lnTo>
                  <a:pt x="238364" y="7891"/>
                </a:lnTo>
                <a:lnTo>
                  <a:pt x="237546" y="7155"/>
                </a:lnTo>
                <a:lnTo>
                  <a:pt x="236646" y="6460"/>
                </a:lnTo>
                <a:lnTo>
                  <a:pt x="235788" y="5806"/>
                </a:lnTo>
                <a:lnTo>
                  <a:pt x="234888" y="5192"/>
                </a:lnTo>
                <a:lnTo>
                  <a:pt x="233989" y="4579"/>
                </a:lnTo>
                <a:lnTo>
                  <a:pt x="233048" y="4007"/>
                </a:lnTo>
                <a:lnTo>
                  <a:pt x="232108" y="3475"/>
                </a:lnTo>
                <a:lnTo>
                  <a:pt x="231127" y="2985"/>
                </a:lnTo>
                <a:lnTo>
                  <a:pt x="230145" y="2535"/>
                </a:lnTo>
                <a:lnTo>
                  <a:pt x="229123" y="2085"/>
                </a:lnTo>
                <a:lnTo>
                  <a:pt x="228101" y="1717"/>
                </a:lnTo>
                <a:lnTo>
                  <a:pt x="227079" y="1349"/>
                </a:lnTo>
                <a:lnTo>
                  <a:pt x="226016" y="1022"/>
                </a:lnTo>
                <a:lnTo>
                  <a:pt x="224912" y="777"/>
                </a:lnTo>
                <a:lnTo>
                  <a:pt x="223808" y="532"/>
                </a:lnTo>
                <a:lnTo>
                  <a:pt x="222132" y="245"/>
                </a:lnTo>
                <a:lnTo>
                  <a:pt x="22045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p45"/>
          <p:cNvSpPr/>
          <p:nvPr/>
        </p:nvSpPr>
        <p:spPr>
          <a:xfrm flipH="1">
            <a:off x="0" y="0"/>
            <a:ext cx="9144000" cy="5143648"/>
          </a:xfrm>
          <a:custGeom>
            <a:avLst/>
            <a:gdLst/>
            <a:ahLst/>
            <a:cxnLst/>
            <a:rect l="l" t="t" r="r" b="b"/>
            <a:pathLst>
              <a:path w="285750" h="160739" extrusionOk="0">
                <a:moveTo>
                  <a:pt x="278825" y="6764"/>
                </a:moveTo>
                <a:lnTo>
                  <a:pt x="278825" y="153975"/>
                </a:lnTo>
                <a:lnTo>
                  <a:pt x="6925" y="153975"/>
                </a:lnTo>
                <a:lnTo>
                  <a:pt x="6925" y="6764"/>
                </a:lnTo>
                <a:close/>
                <a:moveTo>
                  <a:pt x="0" y="0"/>
                </a:moveTo>
                <a:lnTo>
                  <a:pt x="0" y="160739"/>
                </a:lnTo>
                <a:lnTo>
                  <a:pt x="285750" y="160739"/>
                </a:lnTo>
                <a:lnTo>
                  <a:pt x="28575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ontserrat ExtraBold"/>
              <a:buNone/>
              <a:defRPr sz="2800">
                <a:solidFill>
                  <a:schemeClr val="dk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bas Neue" panose="020B0606020202050201"/>
              <a:buNone/>
              <a:defRPr sz="28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bas Neue" panose="020B0606020202050201"/>
              <a:buNone/>
              <a:defRPr sz="28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bas Neue" panose="020B0606020202050201"/>
              <a:buNone/>
              <a:defRPr sz="28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bas Neue" panose="020B0606020202050201"/>
              <a:buNone/>
              <a:defRPr sz="28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bas Neue" panose="020B0606020202050201"/>
              <a:buNone/>
              <a:defRPr sz="28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bas Neue" panose="020B0606020202050201"/>
              <a:buNone/>
              <a:defRPr sz="28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bas Neue" panose="020B0606020202050201"/>
              <a:buNone/>
              <a:defRPr sz="28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bas Neue" panose="020B0606020202050201"/>
              <a:buNone/>
              <a:defRPr sz="28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Char char="●"/>
              <a:defRPr sz="18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○"/>
              <a:defRPr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■"/>
              <a:defRPr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●"/>
              <a:defRPr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○"/>
              <a:defRPr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■"/>
              <a:defRPr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●"/>
              <a:defRPr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○"/>
              <a:defRPr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■"/>
              <a:defRPr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hdr="0" ftr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slide" Target="slide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slide" Target="slide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jpg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53"/>
          <p:cNvSpPr txBox="1">
            <a:spLocks noGrp="1"/>
          </p:cNvSpPr>
          <p:nvPr>
            <p:ph type="ctrTitle"/>
          </p:nvPr>
        </p:nvSpPr>
        <p:spPr>
          <a:xfrm>
            <a:off x="163547" y="312137"/>
            <a:ext cx="8702606" cy="73085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2"/>
            </a:solidFill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ctr"/>
            <a:r>
              <a:rPr lang="en-US" sz="2000" dirty="0"/>
              <a:t>AN ULTRA LOW POWER 10 TRANSISTOR 1 BIT MAGNITUDE COMPARATOR USING GATE DIFFUSION INPUT TECHNIQUE </a:t>
            </a:r>
          </a:p>
        </p:txBody>
      </p:sp>
      <p:sp>
        <p:nvSpPr>
          <p:cNvPr id="365" name="Google Shape;365;p53"/>
          <p:cNvSpPr txBox="1">
            <a:spLocks noGrp="1"/>
          </p:cNvSpPr>
          <p:nvPr>
            <p:ph type="subTitle" idx="1"/>
          </p:nvPr>
        </p:nvSpPr>
        <p:spPr>
          <a:xfrm>
            <a:off x="3393281" y="3241281"/>
            <a:ext cx="2793963" cy="952102"/>
          </a:xfrm>
          <a:prstGeom prst="rect">
            <a:avLst/>
          </a:prstGeom>
          <a:ln>
            <a:solidFill>
              <a:srgbClr val="334436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sz="1400" b="1" dirty="0">
                <a:sym typeface="Poppins SemiBold"/>
              </a:rPr>
              <a:t>Supervised by: </a:t>
            </a:r>
          </a:p>
          <a:p>
            <a:pPr algn="ctr"/>
            <a:r>
              <a:rPr lang="en-US" sz="1400" b="1" dirty="0">
                <a:sym typeface="Poppins SemiBold"/>
              </a:rPr>
              <a:t>Riazul Islam</a:t>
            </a:r>
          </a:p>
          <a:p>
            <a:pPr algn="ctr"/>
            <a:r>
              <a:rPr lang="en-US" sz="1400" b="1" dirty="0">
                <a:sym typeface="Poppins SemiBold"/>
              </a:rPr>
              <a:t>Lecturer</a:t>
            </a:r>
          </a:p>
        </p:txBody>
      </p:sp>
      <p:sp>
        <p:nvSpPr>
          <p:cNvPr id="6" name="Google Shape;365;p53"/>
          <p:cNvSpPr txBox="1"/>
          <p:nvPr/>
        </p:nvSpPr>
        <p:spPr>
          <a:xfrm>
            <a:off x="2919572" y="1794269"/>
            <a:ext cx="3304856" cy="730850"/>
          </a:xfrm>
          <a:prstGeom prst="rect">
            <a:avLst/>
          </a:prstGeom>
          <a:solidFill>
            <a:schemeClr val="bg1"/>
          </a:solidFill>
          <a:ln>
            <a:solidFill>
              <a:srgbClr val="334436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None/>
              <a:defRPr sz="1800" b="0" i="0" u="none" strike="noStrike" cap="none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None/>
              <a:defRPr sz="1800" b="0" i="0" u="none" strike="noStrike" cap="none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None/>
              <a:defRPr sz="1800" b="0" i="0" u="none" strike="noStrike" cap="none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None/>
              <a:defRPr sz="1800" b="0" i="0" u="none" strike="noStrike" cap="none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None/>
              <a:defRPr sz="1800" b="0" i="0" u="none" strike="noStrike" cap="none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None/>
              <a:defRPr sz="1800" b="0" i="0" u="none" strike="noStrike" cap="none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None/>
              <a:defRPr sz="1800" b="0" i="0" u="none" strike="noStrike" cap="none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None/>
              <a:defRPr sz="1800" b="0" i="0" u="none" strike="noStrike" cap="none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None/>
              <a:defRPr sz="1800" b="0" i="0" u="none" strike="noStrike" cap="none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r>
              <a:rPr lang="en-US" sz="1400" b="1" dirty="0"/>
              <a:t>Shahrear Hossain Shawon</a:t>
            </a:r>
          </a:p>
          <a:p>
            <a:pPr>
              <a:lnSpc>
                <a:spcPct val="150000"/>
              </a:lnSpc>
            </a:pPr>
            <a:r>
              <a:rPr lang="en-US" sz="1400" b="1" dirty="0"/>
              <a:t>ID: ET223104</a:t>
            </a:r>
          </a:p>
        </p:txBody>
      </p:sp>
      <p:sp>
        <p:nvSpPr>
          <p:cNvPr id="7" name="Google Shape;365;p53"/>
          <p:cNvSpPr txBox="1"/>
          <p:nvPr/>
        </p:nvSpPr>
        <p:spPr>
          <a:xfrm>
            <a:off x="78581" y="3992563"/>
            <a:ext cx="6502397" cy="9521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None/>
              <a:defRPr sz="1800" b="0" i="0" u="none" strike="noStrike" cap="none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None/>
              <a:defRPr sz="1800" b="0" i="0" u="none" strike="noStrike" cap="none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None/>
              <a:defRPr sz="1800" b="0" i="0" u="none" strike="noStrike" cap="none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None/>
              <a:defRPr sz="1800" b="0" i="0" u="none" strike="noStrike" cap="none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None/>
              <a:defRPr sz="1800" b="0" i="0" u="none" strike="noStrike" cap="none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None/>
              <a:defRPr sz="1800" b="0" i="0" u="none" strike="noStrike" cap="none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None/>
              <a:defRPr sz="1800" b="0" i="0" u="none" strike="noStrike" cap="none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None/>
              <a:defRPr sz="1800" b="0" i="0" u="none" strike="noStrike" cap="none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None/>
              <a:defRPr sz="1800" b="0" i="0" u="none" strike="noStrike" cap="none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pPr>
              <a:lnSpc>
                <a:spcPct val="150000"/>
              </a:lnSpc>
            </a:pPr>
            <a:r>
              <a:rPr lang="en-GB" sz="1200" b="1" dirty="0"/>
              <a:t>Department of</a:t>
            </a:r>
          </a:p>
          <a:p>
            <a:pPr>
              <a:lnSpc>
                <a:spcPct val="150000"/>
              </a:lnSpc>
            </a:pPr>
            <a:r>
              <a:rPr lang="en-GB" sz="1200" b="1" dirty="0"/>
              <a:t>Electrical and Electronic Engineering</a:t>
            </a:r>
            <a:endParaRPr lang="en-US" sz="1200" b="1" dirty="0"/>
          </a:p>
          <a:p>
            <a:pPr>
              <a:lnSpc>
                <a:spcPct val="150000"/>
              </a:lnSpc>
            </a:pPr>
            <a:r>
              <a:rPr lang="en-GB" sz="1400" dirty="0"/>
              <a:t>INTERNATIONAL ISLAMIC UNIVERSITY CHITTAGONG</a:t>
            </a:r>
            <a:endParaRPr lang="en-US" sz="1400" dirty="0"/>
          </a:p>
        </p:txBody>
      </p:sp>
    </p:spTree>
  </p:cSld>
  <p:clrMapOvr>
    <a:masterClrMapping/>
  </p:clrMapOvr>
  <p:transition spd="slow">
    <p:push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55">
            <a:hlinkClick r:id="rId4" action="ppaction://hlinksldjump"/>
          </p:cNvPr>
          <p:cNvSpPr txBox="1">
            <a:spLocks noGrp="1"/>
          </p:cNvSpPr>
          <p:nvPr>
            <p:ph type="title"/>
          </p:nvPr>
        </p:nvSpPr>
        <p:spPr>
          <a:xfrm>
            <a:off x="3246670" y="460950"/>
            <a:ext cx="1922640" cy="527700"/>
          </a:xfrm>
          <a:prstGeom prst="rect">
            <a:avLst/>
          </a:prstGeom>
          <a:ln>
            <a:solidFill>
              <a:schemeClr val="bg1">
                <a:lumMod val="25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600" b="1" dirty="0"/>
              <a:t>INTRODUCTION</a:t>
            </a:r>
            <a:endParaRPr lang="en-US" sz="1600" dirty="0"/>
          </a:p>
        </p:txBody>
      </p:sp>
      <p:sp>
        <p:nvSpPr>
          <p:cNvPr id="32" name="Google Shape;380;p55">
            <a:hlinkClick r:id="rId4" action="ppaction://hlinksldjump"/>
          </p:cNvPr>
          <p:cNvSpPr txBox="1"/>
          <p:nvPr/>
        </p:nvSpPr>
        <p:spPr>
          <a:xfrm>
            <a:off x="3246670" y="988650"/>
            <a:ext cx="2873911" cy="527700"/>
          </a:xfrm>
          <a:prstGeom prst="rect">
            <a:avLst/>
          </a:prstGeom>
          <a:noFill/>
          <a:ln>
            <a:solidFill>
              <a:schemeClr val="bg1">
                <a:lumMod val="25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ontserrat ExtraBold"/>
              <a:buNone/>
              <a:defRPr sz="2000" b="0" i="0" u="none" strike="noStrike" cap="none">
                <a:solidFill>
                  <a:schemeClr val="dk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>
            <a:r>
              <a:rPr lang="en-US" sz="1600" b="1" dirty="0"/>
              <a:t>PROBLEM STATEMENT</a:t>
            </a:r>
            <a:endParaRPr lang="en-US" sz="1600" dirty="0"/>
          </a:p>
        </p:txBody>
      </p:sp>
      <p:sp>
        <p:nvSpPr>
          <p:cNvPr id="33" name="Google Shape;380;p55">
            <a:hlinkClick r:id="rId4" action="ppaction://hlinksldjump"/>
          </p:cNvPr>
          <p:cNvSpPr txBox="1"/>
          <p:nvPr/>
        </p:nvSpPr>
        <p:spPr>
          <a:xfrm>
            <a:off x="3246670" y="1521355"/>
            <a:ext cx="1701414" cy="527700"/>
          </a:xfrm>
          <a:prstGeom prst="rect">
            <a:avLst/>
          </a:prstGeom>
          <a:noFill/>
          <a:ln>
            <a:solidFill>
              <a:schemeClr val="bg1">
                <a:lumMod val="25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ontserrat ExtraBold"/>
              <a:buNone/>
              <a:defRPr sz="2000" b="0" i="0" u="none" strike="noStrike" cap="none">
                <a:solidFill>
                  <a:schemeClr val="dk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>
            <a:r>
              <a:rPr lang="en-US" sz="1600" b="1" dirty="0"/>
              <a:t>OBJECTIVES</a:t>
            </a:r>
            <a:endParaRPr lang="en-US" sz="1600" dirty="0"/>
          </a:p>
        </p:txBody>
      </p:sp>
      <p:sp>
        <p:nvSpPr>
          <p:cNvPr id="34" name="Google Shape;380;p55">
            <a:hlinkClick r:id="rId4" action="ppaction://hlinksldjump"/>
          </p:cNvPr>
          <p:cNvSpPr txBox="1"/>
          <p:nvPr/>
        </p:nvSpPr>
        <p:spPr>
          <a:xfrm>
            <a:off x="3241709" y="2051424"/>
            <a:ext cx="2517536" cy="527700"/>
          </a:xfrm>
          <a:prstGeom prst="rect">
            <a:avLst/>
          </a:prstGeom>
          <a:noFill/>
          <a:ln>
            <a:solidFill>
              <a:schemeClr val="bg1">
                <a:lumMod val="25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ontserrat ExtraBold"/>
              <a:buNone/>
              <a:defRPr sz="2000" b="0" i="0" u="none" strike="noStrike" cap="none">
                <a:solidFill>
                  <a:schemeClr val="dk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>
            <a:r>
              <a:rPr lang="en-US" sz="1600" b="1" dirty="0"/>
              <a:t>METHODOLOGY</a:t>
            </a:r>
            <a:endParaRPr lang="en-US" sz="1600" dirty="0"/>
          </a:p>
        </p:txBody>
      </p:sp>
      <p:sp>
        <p:nvSpPr>
          <p:cNvPr id="35" name="Google Shape;380;p55">
            <a:hlinkClick r:id="rId4" action="ppaction://hlinksldjump"/>
          </p:cNvPr>
          <p:cNvSpPr txBox="1"/>
          <p:nvPr/>
        </p:nvSpPr>
        <p:spPr>
          <a:xfrm>
            <a:off x="3241709" y="2579124"/>
            <a:ext cx="2517536" cy="527700"/>
          </a:xfrm>
          <a:prstGeom prst="rect">
            <a:avLst/>
          </a:prstGeom>
          <a:noFill/>
          <a:ln>
            <a:solidFill>
              <a:schemeClr val="bg1">
                <a:lumMod val="25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ontserrat ExtraBold"/>
              <a:buNone/>
              <a:defRPr sz="2000" b="0" i="0" u="none" strike="noStrike" cap="none">
                <a:solidFill>
                  <a:schemeClr val="dk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>
            <a:r>
              <a:rPr lang="en-US" sz="1600" b="1" dirty="0"/>
              <a:t>LITERATURE REVIEW</a:t>
            </a:r>
            <a:endParaRPr lang="en-US" sz="1600" dirty="0"/>
          </a:p>
        </p:txBody>
      </p:sp>
      <p:sp>
        <p:nvSpPr>
          <p:cNvPr id="36" name="Google Shape;380;p55">
            <a:hlinkClick r:id="rId4" action="ppaction://hlinksldjump"/>
          </p:cNvPr>
          <p:cNvSpPr txBox="1"/>
          <p:nvPr/>
        </p:nvSpPr>
        <p:spPr>
          <a:xfrm>
            <a:off x="3241708" y="3106458"/>
            <a:ext cx="4036915" cy="527700"/>
          </a:xfrm>
          <a:prstGeom prst="rect">
            <a:avLst/>
          </a:prstGeom>
          <a:noFill/>
          <a:ln>
            <a:solidFill>
              <a:schemeClr val="bg1">
                <a:lumMod val="25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ontserrat ExtraBold"/>
              <a:buNone/>
              <a:defRPr sz="2000" b="0" i="0" u="none" strike="noStrike" cap="none">
                <a:solidFill>
                  <a:schemeClr val="dk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>
            <a:r>
              <a:rPr lang="en-US" sz="1600" b="1" dirty="0"/>
              <a:t>INTRODUCTION TO COMPARATOR</a:t>
            </a:r>
            <a:endParaRPr lang="en-US" sz="1600" dirty="0"/>
          </a:p>
        </p:txBody>
      </p:sp>
      <p:sp>
        <p:nvSpPr>
          <p:cNvPr id="37" name="Google Shape;380;p55">
            <a:hlinkClick r:id="rId4" action="ppaction://hlinksldjump"/>
          </p:cNvPr>
          <p:cNvSpPr txBox="1"/>
          <p:nvPr/>
        </p:nvSpPr>
        <p:spPr>
          <a:xfrm>
            <a:off x="3244524" y="3634158"/>
            <a:ext cx="2514721" cy="527700"/>
          </a:xfrm>
          <a:prstGeom prst="rect">
            <a:avLst/>
          </a:prstGeom>
          <a:noFill/>
          <a:ln>
            <a:solidFill>
              <a:schemeClr val="bg1">
                <a:lumMod val="25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ontserrat ExtraBold"/>
              <a:buNone/>
              <a:defRPr sz="2000" b="0" i="0" u="none" strike="noStrike" cap="none">
                <a:solidFill>
                  <a:schemeClr val="dk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>
            <a:r>
              <a:rPr lang="en-US" sz="1600" b="1" dirty="0"/>
              <a:t>CMOS LOGIC STYLES</a:t>
            </a:r>
            <a:endParaRPr lang="en-US" sz="1600" dirty="0"/>
          </a:p>
        </p:txBody>
      </p:sp>
      <p:sp>
        <p:nvSpPr>
          <p:cNvPr id="38" name="Google Shape;380;p55">
            <a:hlinkClick r:id="rId4" action="ppaction://hlinksldjump"/>
          </p:cNvPr>
          <p:cNvSpPr txBox="1"/>
          <p:nvPr/>
        </p:nvSpPr>
        <p:spPr>
          <a:xfrm>
            <a:off x="3244524" y="4161858"/>
            <a:ext cx="5464399" cy="527700"/>
          </a:xfrm>
          <a:prstGeom prst="rect">
            <a:avLst/>
          </a:prstGeom>
          <a:noFill/>
          <a:ln>
            <a:solidFill>
              <a:schemeClr val="bg1">
                <a:lumMod val="25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ontserrat ExtraBold"/>
              <a:buNone/>
              <a:defRPr sz="2000" b="0" i="0" u="none" strike="noStrike" cap="none">
                <a:solidFill>
                  <a:schemeClr val="dk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>
            <a:r>
              <a:rPr lang="en-US" sz="1600" b="1" dirty="0"/>
              <a:t>CIRCUIT DESIGN  COMPARE IN VARIOUS  TECHNIQUE</a:t>
            </a:r>
          </a:p>
        </p:txBody>
      </p:sp>
      <p:sp>
        <p:nvSpPr>
          <p:cNvPr id="45" name="Google Shape;45;p3"/>
          <p:cNvSpPr/>
          <p:nvPr/>
        </p:nvSpPr>
        <p:spPr>
          <a:xfrm>
            <a:off x="247786" y="1938493"/>
            <a:ext cx="2483910" cy="376781"/>
          </a:xfrm>
          <a:prstGeom prst="rect">
            <a:avLst/>
          </a:prstGeom>
          <a:noFill/>
          <a:ln>
            <a:solidFill>
              <a:srgbClr val="334436"/>
            </a:solidFill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ctr"/>
            <a:r>
              <a:rPr lang="en-US" sz="2800" dirty="0">
                <a:solidFill>
                  <a:srgbClr val="334436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rPr>
              <a:t>Table of Contents</a:t>
            </a:r>
            <a:endParaRPr sz="2800" dirty="0">
              <a:solidFill>
                <a:srgbClr val="33443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7CFB445-04BC-8C46-EF0F-3CEE7D621C33}"/>
              </a:ext>
            </a:extLst>
          </p:cNvPr>
          <p:cNvSpPr txBox="1"/>
          <p:nvPr/>
        </p:nvSpPr>
        <p:spPr>
          <a:xfrm>
            <a:off x="8708923" y="4689558"/>
            <a:ext cx="5671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01</a:t>
            </a:r>
          </a:p>
        </p:txBody>
      </p:sp>
    </p:spTree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"/>
          <p:cNvSpPr/>
          <p:nvPr/>
        </p:nvSpPr>
        <p:spPr>
          <a:xfrm>
            <a:off x="247786" y="1938493"/>
            <a:ext cx="2483910" cy="376781"/>
          </a:xfrm>
          <a:prstGeom prst="rect">
            <a:avLst/>
          </a:prstGeom>
          <a:noFill/>
          <a:ln>
            <a:solidFill>
              <a:srgbClr val="334436"/>
            </a:solidFill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ctr"/>
            <a:r>
              <a:rPr lang="en-US" sz="2800" dirty="0">
                <a:solidFill>
                  <a:srgbClr val="334436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rPr>
              <a:t>Table of Contents</a:t>
            </a:r>
            <a:endParaRPr sz="2800" dirty="0">
              <a:solidFill>
                <a:srgbClr val="33443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" name="Google Shape;380;p55">
            <a:hlinkClick r:id="rId4" action="ppaction://hlinksldjump"/>
          </p:cNvPr>
          <p:cNvSpPr txBox="1">
            <a:spLocks noGrp="1"/>
          </p:cNvSpPr>
          <p:nvPr>
            <p:ph type="title"/>
          </p:nvPr>
        </p:nvSpPr>
        <p:spPr>
          <a:xfrm>
            <a:off x="3362494" y="1074895"/>
            <a:ext cx="5068274" cy="527700"/>
          </a:xfrm>
          <a:prstGeom prst="rect">
            <a:avLst/>
          </a:prstGeom>
          <a:ln>
            <a:solidFill>
              <a:schemeClr val="bg1">
                <a:lumMod val="25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600" b="1" dirty="0"/>
              <a:t>GATE DIFFUSION INPUT (GDI) TECHNIQUE</a:t>
            </a:r>
          </a:p>
        </p:txBody>
      </p:sp>
      <p:sp>
        <p:nvSpPr>
          <p:cNvPr id="17" name="Google Shape;380;p55">
            <a:hlinkClick r:id="rId4" action="ppaction://hlinksldjump"/>
          </p:cNvPr>
          <p:cNvSpPr txBox="1"/>
          <p:nvPr/>
        </p:nvSpPr>
        <p:spPr>
          <a:xfrm>
            <a:off x="3362494" y="1602595"/>
            <a:ext cx="5068274" cy="527700"/>
          </a:xfrm>
          <a:prstGeom prst="rect">
            <a:avLst/>
          </a:prstGeom>
          <a:noFill/>
          <a:ln>
            <a:solidFill>
              <a:schemeClr val="bg1">
                <a:lumMod val="25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ontserrat ExtraBold"/>
              <a:buNone/>
              <a:defRPr sz="2000" b="0" i="0" u="none" strike="noStrike" cap="none">
                <a:solidFill>
                  <a:schemeClr val="dk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>
            <a:r>
              <a:rPr lang="en-US" sz="1600" b="1" dirty="0"/>
              <a:t>PROPOSED 10 TRANSISTOR GDI MAGNITUDE COMPARATOR</a:t>
            </a:r>
          </a:p>
        </p:txBody>
      </p:sp>
      <p:sp>
        <p:nvSpPr>
          <p:cNvPr id="18" name="Google Shape;380;p55">
            <a:hlinkClick r:id="rId4" action="ppaction://hlinksldjump"/>
          </p:cNvPr>
          <p:cNvSpPr txBox="1"/>
          <p:nvPr/>
        </p:nvSpPr>
        <p:spPr>
          <a:xfrm>
            <a:off x="3362494" y="2127964"/>
            <a:ext cx="2817326" cy="527700"/>
          </a:xfrm>
          <a:prstGeom prst="rect">
            <a:avLst/>
          </a:prstGeom>
          <a:noFill/>
          <a:ln>
            <a:solidFill>
              <a:schemeClr val="bg1">
                <a:lumMod val="25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ontserrat ExtraBold"/>
              <a:buNone/>
              <a:defRPr sz="2000" b="0" i="0" u="none" strike="noStrike" cap="none">
                <a:solidFill>
                  <a:schemeClr val="dk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>
            <a:r>
              <a:rPr lang="en-US" sz="1600" b="1" dirty="0"/>
              <a:t>SIMULATION RESULTS </a:t>
            </a:r>
            <a:endParaRPr lang="en-US" sz="1600" dirty="0"/>
          </a:p>
        </p:txBody>
      </p:sp>
      <p:sp>
        <p:nvSpPr>
          <p:cNvPr id="19" name="Google Shape;380;p55">
            <a:hlinkClick r:id="rId4" action="ppaction://hlinksldjump"/>
          </p:cNvPr>
          <p:cNvSpPr txBox="1"/>
          <p:nvPr/>
        </p:nvSpPr>
        <p:spPr>
          <a:xfrm>
            <a:off x="3362494" y="2655664"/>
            <a:ext cx="3754586" cy="527700"/>
          </a:xfrm>
          <a:prstGeom prst="rect">
            <a:avLst/>
          </a:prstGeom>
          <a:noFill/>
          <a:ln>
            <a:solidFill>
              <a:schemeClr val="bg1">
                <a:lumMod val="25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ontserrat ExtraBold"/>
              <a:buNone/>
              <a:defRPr sz="2000" b="0" i="0" u="none" strike="noStrike" cap="none">
                <a:solidFill>
                  <a:schemeClr val="dk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>
            <a:r>
              <a:rPr lang="en-US" sz="1600" b="1" dirty="0"/>
              <a:t>PERFORMANCE COMPARISON</a:t>
            </a:r>
            <a:endParaRPr lang="en-US" sz="1600" dirty="0"/>
          </a:p>
        </p:txBody>
      </p:sp>
      <p:sp>
        <p:nvSpPr>
          <p:cNvPr id="20" name="Google Shape;380;p55">
            <a:hlinkClick r:id="rId4" action="ppaction://hlinksldjump"/>
          </p:cNvPr>
          <p:cNvSpPr txBox="1"/>
          <p:nvPr/>
        </p:nvSpPr>
        <p:spPr>
          <a:xfrm>
            <a:off x="3362494" y="3188966"/>
            <a:ext cx="1828938" cy="527700"/>
          </a:xfrm>
          <a:prstGeom prst="rect">
            <a:avLst/>
          </a:prstGeom>
          <a:noFill/>
          <a:ln>
            <a:solidFill>
              <a:schemeClr val="bg1">
                <a:lumMod val="25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ontserrat ExtraBold"/>
              <a:buNone/>
              <a:defRPr sz="2000" b="0" i="0" u="none" strike="noStrike" cap="none">
                <a:solidFill>
                  <a:schemeClr val="dk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>
            <a:r>
              <a:rPr lang="en-US" sz="1600" b="1" dirty="0"/>
              <a:t>CONCLUSION</a:t>
            </a:r>
            <a:endParaRPr lang="en-US" sz="1600" dirty="0"/>
          </a:p>
        </p:txBody>
      </p:sp>
      <p:sp>
        <p:nvSpPr>
          <p:cNvPr id="21" name="Google Shape;380;p55">
            <a:hlinkClick r:id="rId4" action="ppaction://hlinksldjump"/>
          </p:cNvPr>
          <p:cNvSpPr txBox="1"/>
          <p:nvPr/>
        </p:nvSpPr>
        <p:spPr>
          <a:xfrm>
            <a:off x="3362494" y="3716666"/>
            <a:ext cx="1828938" cy="527700"/>
          </a:xfrm>
          <a:prstGeom prst="rect">
            <a:avLst/>
          </a:prstGeom>
          <a:noFill/>
          <a:ln>
            <a:solidFill>
              <a:schemeClr val="bg1">
                <a:lumMod val="25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ontserrat ExtraBold"/>
              <a:buNone/>
              <a:defRPr sz="2000" b="0" i="0" u="none" strike="noStrike" cap="none">
                <a:solidFill>
                  <a:schemeClr val="dk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>
            <a:r>
              <a:rPr lang="en-US" sz="1600" b="1" dirty="0"/>
              <a:t>FUTURE WORK</a:t>
            </a:r>
            <a:endParaRPr lang="en-US" sz="16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8071F4E-829E-40B6-FFDD-714AA63B2797}"/>
              </a:ext>
            </a:extLst>
          </p:cNvPr>
          <p:cNvSpPr txBox="1"/>
          <p:nvPr/>
        </p:nvSpPr>
        <p:spPr>
          <a:xfrm>
            <a:off x="8708923" y="4689558"/>
            <a:ext cx="5671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02</a:t>
            </a:r>
          </a:p>
        </p:txBody>
      </p:sp>
    </p:spTree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p85"/>
          <p:cNvSpPr txBox="1">
            <a:spLocks noGrp="1"/>
          </p:cNvSpPr>
          <p:nvPr>
            <p:ph type="title"/>
          </p:nvPr>
        </p:nvSpPr>
        <p:spPr>
          <a:xfrm>
            <a:off x="2986616" y="294891"/>
            <a:ext cx="2140913" cy="386338"/>
          </a:xfrm>
          <a:prstGeom prst="rect">
            <a:avLst/>
          </a:prstGeom>
          <a:ln>
            <a:solidFill>
              <a:srgbClr val="334436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800" b="1" dirty="0"/>
              <a:t>INTRODUCTION</a:t>
            </a:r>
            <a:endParaRPr lang="en-US" sz="1800" dirty="0"/>
          </a:p>
        </p:txBody>
      </p:sp>
      <p:sp>
        <p:nvSpPr>
          <p:cNvPr id="3" name="Google Shape;1195;p86"/>
          <p:cNvSpPr txBox="1"/>
          <p:nvPr/>
        </p:nvSpPr>
        <p:spPr>
          <a:xfrm>
            <a:off x="652294" y="829056"/>
            <a:ext cx="6972058" cy="3633215"/>
          </a:xfrm>
          <a:prstGeom prst="rect">
            <a:avLst/>
          </a:prstGeom>
          <a:solidFill>
            <a:schemeClr val="bg1"/>
          </a:solidFill>
          <a:ln>
            <a:solidFill>
              <a:srgbClr val="334436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Magnitude comparators are fundamental building blocks in digital VLSI systems, used to compare two binary inputs and determine A greater than B, A less than B, or A equal to B.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They play a crucial role in arithmetic logic units (ALUs), processors, memory address decoding, digital controllers, and embedded systems.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The growing demand for ultra-low-power and high-speed integrated circuits has increased the need for comparator designs with lower transistor count, reduced power consumption, and faster propagation delay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This thesis proposes and analyzes an Ultra-Low-Power 10-Transistor 1-Bit Magnitude Comparator using the Gate Diffusion Input (GDI) Technique, and evaluates its performance in terms of power, propagation delay, and power-delay product (PDP) across 180 nm, 90 nm, and 45 nm PTM technology </a:t>
            </a:r>
            <a:r>
              <a:rPr lang="en-US" dirty="0" err="1"/>
              <a:t>nodes.Select</a:t>
            </a:r>
            <a:r>
              <a:rPr lang="en-US" dirty="0"/>
              <a:t> 52 more words to run Humanizer.</a:t>
            </a:r>
          </a:p>
          <a:p>
            <a:r>
              <a:rPr lang="en-US" dirty="0"/>
              <a:t>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774A48A-D195-F278-57C4-66F00CC5B1DC}"/>
              </a:ext>
            </a:extLst>
          </p:cNvPr>
          <p:cNvSpPr txBox="1"/>
          <p:nvPr/>
        </p:nvSpPr>
        <p:spPr>
          <a:xfrm>
            <a:off x="8708923" y="4689558"/>
            <a:ext cx="5671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03</a:t>
            </a:r>
          </a:p>
        </p:txBody>
      </p:sp>
    </p:spTree>
  </p:cSld>
  <p:clrMapOvr>
    <a:masterClrMapping/>
  </p:clrMapOvr>
  <p:transition spd="slow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p85"/>
          <p:cNvSpPr txBox="1">
            <a:spLocks noGrp="1"/>
          </p:cNvSpPr>
          <p:nvPr>
            <p:ph type="title"/>
          </p:nvPr>
        </p:nvSpPr>
        <p:spPr>
          <a:xfrm>
            <a:off x="2904401" y="327531"/>
            <a:ext cx="2941012" cy="386338"/>
          </a:xfrm>
          <a:prstGeom prst="rect">
            <a:avLst/>
          </a:prstGeom>
          <a:ln>
            <a:solidFill>
              <a:srgbClr val="334436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800" b="1" dirty="0"/>
              <a:t>PROBLEM STATEMENT</a:t>
            </a:r>
            <a:endParaRPr lang="en-US" sz="1800" dirty="0"/>
          </a:p>
        </p:txBody>
      </p:sp>
      <p:sp>
        <p:nvSpPr>
          <p:cNvPr id="3" name="Google Shape;1195;p86"/>
          <p:cNvSpPr txBox="1"/>
          <p:nvPr/>
        </p:nvSpPr>
        <p:spPr>
          <a:xfrm>
            <a:off x="652294" y="1110852"/>
            <a:ext cx="7445226" cy="3511948"/>
          </a:xfrm>
          <a:prstGeom prst="rect">
            <a:avLst/>
          </a:prstGeom>
          <a:solidFill>
            <a:schemeClr val="bg1"/>
          </a:solidFill>
          <a:ln>
            <a:solidFill>
              <a:srgbClr val="334436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US" dirty="0"/>
              <a:t>High transistor count in conventional CMOS comparators.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US" dirty="0"/>
              <a:t>Increased power consumption and silicon area.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US" dirty="0"/>
              <a:t>Higher propagation delay due to complex logic paths.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US" dirty="0"/>
              <a:t>Leakage current and parasitic capacitance at scaled technology nodes.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US" dirty="0"/>
              <a:t>Need for an ultra-low-power, high-speed comparator design.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US" dirty="0"/>
              <a:t>GDI technique offers reduced transistor count and improved efficiency.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US" dirty="0"/>
              <a:t>Comparative evaluation is required using Power, Delay, PDP, and Transistor Count.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B42230E-4479-DBCD-1A9C-D79E8DDB0AC0}"/>
              </a:ext>
            </a:extLst>
          </p:cNvPr>
          <p:cNvSpPr txBox="1"/>
          <p:nvPr/>
        </p:nvSpPr>
        <p:spPr>
          <a:xfrm>
            <a:off x="8720498" y="4689558"/>
            <a:ext cx="5671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04</a:t>
            </a:r>
          </a:p>
        </p:txBody>
      </p:sp>
    </p:spTree>
  </p:cSld>
  <p:clrMapOvr>
    <a:masterClrMapping/>
  </p:clrMapOvr>
  <p:transition spd="slow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65"/>
          <p:cNvSpPr/>
          <p:nvPr/>
        </p:nvSpPr>
        <p:spPr>
          <a:xfrm flipH="1">
            <a:off x="1301897" y="1289899"/>
            <a:ext cx="770250" cy="723256"/>
          </a:xfrm>
          <a:prstGeom prst="ellipse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dirty="0">
                <a:ln w="0"/>
                <a:solidFill>
                  <a:schemeClr val="bg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01</a:t>
            </a:r>
            <a:endParaRPr sz="3000" dirty="0">
              <a:ln w="0"/>
              <a:solidFill>
                <a:schemeClr val="bg2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517" name="Google Shape;517;p65"/>
          <p:cNvSpPr txBox="1">
            <a:spLocks noGrp="1"/>
          </p:cNvSpPr>
          <p:nvPr>
            <p:ph type="title"/>
          </p:nvPr>
        </p:nvSpPr>
        <p:spPr>
          <a:xfrm>
            <a:off x="72005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OBJECTIVES</a:t>
            </a:r>
            <a:endParaRPr dirty="0"/>
          </a:p>
        </p:txBody>
      </p:sp>
      <p:sp>
        <p:nvSpPr>
          <p:cNvPr id="518" name="Google Shape;518;p65"/>
          <p:cNvSpPr txBox="1"/>
          <p:nvPr/>
        </p:nvSpPr>
        <p:spPr>
          <a:xfrm flipH="1">
            <a:off x="2202068" y="1295020"/>
            <a:ext cx="5046764" cy="629260"/>
          </a:xfrm>
          <a:prstGeom prst="rect">
            <a:avLst/>
          </a:prstGeom>
          <a:noFill/>
          <a:ln>
            <a:solidFill>
              <a:srgbClr val="334436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b="1" dirty="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To design and simulate 1 Bit Comparator using CMOS GDI technique.</a:t>
            </a:r>
            <a:endParaRPr b="1" dirty="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4" name="Google Shape;515;p65"/>
          <p:cNvSpPr/>
          <p:nvPr/>
        </p:nvSpPr>
        <p:spPr>
          <a:xfrm flipH="1">
            <a:off x="1354768" y="2408306"/>
            <a:ext cx="717379" cy="717141"/>
          </a:xfrm>
          <a:prstGeom prst="ellipse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dirty="0">
                <a:ln w="0"/>
                <a:solidFill>
                  <a:schemeClr val="bg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02</a:t>
            </a:r>
            <a:endParaRPr sz="3000" dirty="0">
              <a:ln w="0"/>
              <a:solidFill>
                <a:schemeClr val="bg2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25" name="Google Shape;518;p65"/>
          <p:cNvSpPr txBox="1"/>
          <p:nvPr/>
        </p:nvSpPr>
        <p:spPr>
          <a:xfrm flipH="1">
            <a:off x="2202068" y="2452246"/>
            <a:ext cx="5046764" cy="629260"/>
          </a:xfrm>
          <a:prstGeom prst="rect">
            <a:avLst/>
          </a:prstGeom>
          <a:noFill/>
          <a:ln>
            <a:solidFill>
              <a:srgbClr val="334436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b="1" dirty="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Reduce Transistor Number of the Comparator</a:t>
            </a:r>
            <a:endParaRPr b="1" dirty="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6" name="Google Shape;515;p65"/>
          <p:cNvSpPr/>
          <p:nvPr/>
        </p:nvSpPr>
        <p:spPr>
          <a:xfrm flipH="1">
            <a:off x="1362141" y="3520598"/>
            <a:ext cx="717379" cy="717141"/>
          </a:xfrm>
          <a:prstGeom prst="ellipse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dirty="0">
                <a:ln w="0"/>
                <a:solidFill>
                  <a:schemeClr val="bg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03</a:t>
            </a:r>
            <a:endParaRPr sz="3000" dirty="0">
              <a:ln w="0"/>
              <a:solidFill>
                <a:schemeClr val="bg2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27" name="Google Shape;518;p65"/>
          <p:cNvSpPr txBox="1"/>
          <p:nvPr/>
        </p:nvSpPr>
        <p:spPr>
          <a:xfrm flipH="1">
            <a:off x="2202068" y="3564538"/>
            <a:ext cx="6374119" cy="629260"/>
          </a:xfrm>
          <a:prstGeom prst="rect">
            <a:avLst/>
          </a:prstGeom>
          <a:noFill/>
          <a:ln>
            <a:solidFill>
              <a:srgbClr val="334436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b="1" dirty="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To evaluate and compare key performance parameters such as:</a:t>
            </a:r>
          </a:p>
          <a:p>
            <a:pPr lvl="0"/>
            <a:r>
              <a:rPr lang="en-US" b="1" dirty="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Rise time, Fall time, Propagation delay, Power consumption. PDP</a:t>
            </a:r>
            <a:endParaRPr b="1" dirty="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A119F9C-BB9F-59D3-9E6E-FCFA4DBC2016}"/>
              </a:ext>
            </a:extLst>
          </p:cNvPr>
          <p:cNvSpPr txBox="1"/>
          <p:nvPr/>
        </p:nvSpPr>
        <p:spPr>
          <a:xfrm>
            <a:off x="8708923" y="4689558"/>
            <a:ext cx="5671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05</a:t>
            </a:r>
          </a:p>
        </p:txBody>
      </p:sp>
    </p:spTree>
  </p:cSld>
  <p:clrMapOvr>
    <a:masterClrMapping/>
  </p:clrMapOvr>
  <p:transition spd="slow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Google Shape;921;p80"/>
          <p:cNvSpPr txBox="1">
            <a:spLocks noGrp="1"/>
          </p:cNvSpPr>
          <p:nvPr>
            <p:ph type="title"/>
          </p:nvPr>
        </p:nvSpPr>
        <p:spPr>
          <a:xfrm>
            <a:off x="660366" y="103297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METHODOLOGY</a:t>
            </a:r>
            <a:endParaRPr dirty="0"/>
          </a:p>
        </p:txBody>
      </p:sp>
      <p:grpSp>
        <p:nvGrpSpPr>
          <p:cNvPr id="949" name="Google Shape;949;p80"/>
          <p:cNvGrpSpPr/>
          <p:nvPr/>
        </p:nvGrpSpPr>
        <p:grpSpPr>
          <a:xfrm>
            <a:off x="1144187" y="3889748"/>
            <a:ext cx="360726" cy="361204"/>
            <a:chOff x="3510335" y="2892499"/>
            <a:chExt cx="360726" cy="361204"/>
          </a:xfrm>
        </p:grpSpPr>
        <p:sp>
          <p:nvSpPr>
            <p:cNvPr id="950" name="Google Shape;950;p80"/>
            <p:cNvSpPr/>
            <p:nvPr/>
          </p:nvSpPr>
          <p:spPr>
            <a:xfrm>
              <a:off x="3511864" y="2892499"/>
              <a:ext cx="359197" cy="358751"/>
            </a:xfrm>
            <a:custGeom>
              <a:avLst/>
              <a:gdLst/>
              <a:ahLst/>
              <a:cxnLst/>
              <a:rect l="l" t="t" r="r" b="b"/>
              <a:pathLst>
                <a:path w="11276" h="11262" extrusionOk="0">
                  <a:moveTo>
                    <a:pt x="2035" y="8898"/>
                  </a:moveTo>
                  <a:cubicBezTo>
                    <a:pt x="2132" y="8898"/>
                    <a:pt x="2227" y="8934"/>
                    <a:pt x="2298" y="9005"/>
                  </a:cubicBezTo>
                  <a:cubicBezTo>
                    <a:pt x="2453" y="9160"/>
                    <a:pt x="2453" y="9398"/>
                    <a:pt x="2298" y="9541"/>
                  </a:cubicBezTo>
                  <a:cubicBezTo>
                    <a:pt x="2227" y="9618"/>
                    <a:pt x="2132" y="9657"/>
                    <a:pt x="2035" y="9657"/>
                  </a:cubicBezTo>
                  <a:cubicBezTo>
                    <a:pt x="1938" y="9657"/>
                    <a:pt x="1840" y="9618"/>
                    <a:pt x="1763" y="9541"/>
                  </a:cubicBezTo>
                  <a:cubicBezTo>
                    <a:pt x="1620" y="9398"/>
                    <a:pt x="1620" y="9160"/>
                    <a:pt x="1763" y="9005"/>
                  </a:cubicBezTo>
                  <a:cubicBezTo>
                    <a:pt x="1840" y="8934"/>
                    <a:pt x="1938" y="8898"/>
                    <a:pt x="2035" y="8898"/>
                  </a:cubicBezTo>
                  <a:close/>
                  <a:moveTo>
                    <a:pt x="10477" y="1"/>
                  </a:moveTo>
                  <a:cubicBezTo>
                    <a:pt x="10261" y="1"/>
                    <a:pt x="10042" y="82"/>
                    <a:pt x="9871" y="254"/>
                  </a:cubicBezTo>
                  <a:lnTo>
                    <a:pt x="6882" y="3243"/>
                  </a:lnTo>
                  <a:cubicBezTo>
                    <a:pt x="6716" y="3196"/>
                    <a:pt x="6544" y="3172"/>
                    <a:pt x="6368" y="3172"/>
                  </a:cubicBezTo>
                  <a:cubicBezTo>
                    <a:pt x="6053" y="3172"/>
                    <a:pt x="5727" y="3249"/>
                    <a:pt x="5406" y="3409"/>
                  </a:cubicBezTo>
                  <a:cubicBezTo>
                    <a:pt x="5204" y="3516"/>
                    <a:pt x="4668" y="3766"/>
                    <a:pt x="4013" y="4040"/>
                  </a:cubicBezTo>
                  <a:cubicBezTo>
                    <a:pt x="3906" y="4076"/>
                    <a:pt x="3858" y="4195"/>
                    <a:pt x="3906" y="4290"/>
                  </a:cubicBezTo>
                  <a:cubicBezTo>
                    <a:pt x="3942" y="4371"/>
                    <a:pt x="4017" y="4411"/>
                    <a:pt x="4088" y="4411"/>
                  </a:cubicBezTo>
                  <a:cubicBezTo>
                    <a:pt x="4112" y="4411"/>
                    <a:pt x="4135" y="4406"/>
                    <a:pt x="4156" y="4398"/>
                  </a:cubicBezTo>
                  <a:cubicBezTo>
                    <a:pt x="4834" y="4124"/>
                    <a:pt x="5382" y="3862"/>
                    <a:pt x="5585" y="3755"/>
                  </a:cubicBezTo>
                  <a:cubicBezTo>
                    <a:pt x="5849" y="3621"/>
                    <a:pt x="6112" y="3561"/>
                    <a:pt x="6358" y="3561"/>
                  </a:cubicBezTo>
                  <a:cubicBezTo>
                    <a:pt x="7385" y="3561"/>
                    <a:pt x="8130" y="4607"/>
                    <a:pt x="7573" y="5731"/>
                  </a:cubicBezTo>
                  <a:cubicBezTo>
                    <a:pt x="7418" y="6029"/>
                    <a:pt x="6930" y="7053"/>
                    <a:pt x="6573" y="8100"/>
                  </a:cubicBezTo>
                  <a:cubicBezTo>
                    <a:pt x="6454" y="8469"/>
                    <a:pt x="6358" y="8803"/>
                    <a:pt x="6299" y="9100"/>
                  </a:cubicBezTo>
                  <a:lnTo>
                    <a:pt x="2227" y="5017"/>
                  </a:lnTo>
                  <a:cubicBezTo>
                    <a:pt x="2572" y="4945"/>
                    <a:pt x="2965" y="4838"/>
                    <a:pt x="3418" y="4671"/>
                  </a:cubicBezTo>
                  <a:cubicBezTo>
                    <a:pt x="3525" y="4648"/>
                    <a:pt x="3584" y="4528"/>
                    <a:pt x="3537" y="4421"/>
                  </a:cubicBezTo>
                  <a:cubicBezTo>
                    <a:pt x="3509" y="4340"/>
                    <a:pt x="3434" y="4286"/>
                    <a:pt x="3352" y="4286"/>
                  </a:cubicBezTo>
                  <a:cubicBezTo>
                    <a:pt x="3326" y="4286"/>
                    <a:pt x="3300" y="4291"/>
                    <a:pt x="3275" y="4302"/>
                  </a:cubicBezTo>
                  <a:cubicBezTo>
                    <a:pt x="2656" y="4517"/>
                    <a:pt x="2203" y="4636"/>
                    <a:pt x="1870" y="4671"/>
                  </a:cubicBezTo>
                  <a:lnTo>
                    <a:pt x="1453" y="4255"/>
                  </a:lnTo>
                  <a:cubicBezTo>
                    <a:pt x="1298" y="4100"/>
                    <a:pt x="1090" y="4022"/>
                    <a:pt x="880" y="4022"/>
                  </a:cubicBezTo>
                  <a:cubicBezTo>
                    <a:pt x="670" y="4022"/>
                    <a:pt x="459" y="4100"/>
                    <a:pt x="298" y="4255"/>
                  </a:cubicBezTo>
                  <a:cubicBezTo>
                    <a:pt x="84" y="4481"/>
                    <a:pt x="1" y="4826"/>
                    <a:pt x="120" y="5136"/>
                  </a:cubicBezTo>
                  <a:cubicBezTo>
                    <a:pt x="157" y="5219"/>
                    <a:pt x="230" y="5266"/>
                    <a:pt x="311" y="5266"/>
                  </a:cubicBezTo>
                  <a:cubicBezTo>
                    <a:pt x="334" y="5266"/>
                    <a:pt x="358" y="5263"/>
                    <a:pt x="382" y="5255"/>
                  </a:cubicBezTo>
                  <a:cubicBezTo>
                    <a:pt x="489" y="5207"/>
                    <a:pt x="524" y="5112"/>
                    <a:pt x="501" y="5005"/>
                  </a:cubicBezTo>
                  <a:cubicBezTo>
                    <a:pt x="379" y="4700"/>
                    <a:pt x="626" y="4433"/>
                    <a:pt x="894" y="4433"/>
                  </a:cubicBezTo>
                  <a:cubicBezTo>
                    <a:pt x="992" y="4433"/>
                    <a:pt x="1093" y="4469"/>
                    <a:pt x="1179" y="4552"/>
                  </a:cubicBezTo>
                  <a:lnTo>
                    <a:pt x="6799" y="10172"/>
                  </a:lnTo>
                  <a:cubicBezTo>
                    <a:pt x="6954" y="10327"/>
                    <a:pt x="6954" y="10601"/>
                    <a:pt x="6799" y="10744"/>
                  </a:cubicBezTo>
                  <a:cubicBezTo>
                    <a:pt x="6716" y="10827"/>
                    <a:pt x="6606" y="10869"/>
                    <a:pt x="6498" y="10869"/>
                  </a:cubicBezTo>
                  <a:cubicBezTo>
                    <a:pt x="6391" y="10869"/>
                    <a:pt x="6287" y="10827"/>
                    <a:pt x="6216" y="10744"/>
                  </a:cubicBezTo>
                  <a:lnTo>
                    <a:pt x="989" y="5529"/>
                  </a:lnTo>
                  <a:cubicBezTo>
                    <a:pt x="953" y="5487"/>
                    <a:pt x="902" y="5466"/>
                    <a:pt x="850" y="5466"/>
                  </a:cubicBezTo>
                  <a:cubicBezTo>
                    <a:pt x="798" y="5466"/>
                    <a:pt x="745" y="5487"/>
                    <a:pt x="703" y="5529"/>
                  </a:cubicBezTo>
                  <a:cubicBezTo>
                    <a:pt x="632" y="5600"/>
                    <a:pt x="632" y="5731"/>
                    <a:pt x="703" y="5802"/>
                  </a:cubicBezTo>
                  <a:lnTo>
                    <a:pt x="2977" y="8088"/>
                  </a:lnTo>
                  <a:lnTo>
                    <a:pt x="2441" y="8624"/>
                  </a:lnTo>
                  <a:cubicBezTo>
                    <a:pt x="2319" y="8551"/>
                    <a:pt x="2182" y="8513"/>
                    <a:pt x="2046" y="8513"/>
                  </a:cubicBezTo>
                  <a:cubicBezTo>
                    <a:pt x="1852" y="8513"/>
                    <a:pt x="1660" y="8589"/>
                    <a:pt x="1513" y="8743"/>
                  </a:cubicBezTo>
                  <a:cubicBezTo>
                    <a:pt x="1215" y="9041"/>
                    <a:pt x="1215" y="9541"/>
                    <a:pt x="1513" y="9839"/>
                  </a:cubicBezTo>
                  <a:cubicBezTo>
                    <a:pt x="1661" y="9987"/>
                    <a:pt x="1861" y="10062"/>
                    <a:pt x="2060" y="10062"/>
                  </a:cubicBezTo>
                  <a:cubicBezTo>
                    <a:pt x="2260" y="10062"/>
                    <a:pt x="2459" y="9987"/>
                    <a:pt x="2608" y="9839"/>
                  </a:cubicBezTo>
                  <a:cubicBezTo>
                    <a:pt x="2870" y="9589"/>
                    <a:pt x="2906" y="9196"/>
                    <a:pt x="2727" y="8898"/>
                  </a:cubicBezTo>
                  <a:lnTo>
                    <a:pt x="3263" y="8362"/>
                  </a:lnTo>
                  <a:lnTo>
                    <a:pt x="5930" y="11029"/>
                  </a:lnTo>
                  <a:cubicBezTo>
                    <a:pt x="6085" y="11184"/>
                    <a:pt x="6293" y="11261"/>
                    <a:pt x="6501" y="11261"/>
                  </a:cubicBezTo>
                  <a:cubicBezTo>
                    <a:pt x="6710" y="11261"/>
                    <a:pt x="6918" y="11184"/>
                    <a:pt x="7073" y="11029"/>
                  </a:cubicBezTo>
                  <a:cubicBezTo>
                    <a:pt x="7359" y="10696"/>
                    <a:pt x="7359" y="10184"/>
                    <a:pt x="7049" y="9874"/>
                  </a:cubicBezTo>
                  <a:lnTo>
                    <a:pt x="6632" y="9458"/>
                  </a:lnTo>
                  <a:cubicBezTo>
                    <a:pt x="6751" y="8529"/>
                    <a:pt x="7299" y="7136"/>
                    <a:pt x="7906" y="5910"/>
                  </a:cubicBezTo>
                  <a:cubicBezTo>
                    <a:pt x="8168" y="5421"/>
                    <a:pt x="8204" y="4898"/>
                    <a:pt x="8073" y="4433"/>
                  </a:cubicBezTo>
                  <a:lnTo>
                    <a:pt x="11109" y="1397"/>
                  </a:lnTo>
                  <a:cubicBezTo>
                    <a:pt x="11181" y="1314"/>
                    <a:pt x="11169" y="1195"/>
                    <a:pt x="11097" y="1123"/>
                  </a:cubicBezTo>
                  <a:cubicBezTo>
                    <a:pt x="11055" y="1086"/>
                    <a:pt x="11008" y="1070"/>
                    <a:pt x="10963" y="1070"/>
                  </a:cubicBezTo>
                  <a:cubicBezTo>
                    <a:pt x="10906" y="1070"/>
                    <a:pt x="10851" y="1095"/>
                    <a:pt x="10811" y="1135"/>
                  </a:cubicBezTo>
                  <a:cubicBezTo>
                    <a:pt x="10800" y="1147"/>
                    <a:pt x="10990" y="969"/>
                    <a:pt x="7906" y="4040"/>
                  </a:cubicBezTo>
                  <a:cubicBezTo>
                    <a:pt x="7763" y="3778"/>
                    <a:pt x="7537" y="3564"/>
                    <a:pt x="7275" y="3409"/>
                  </a:cubicBezTo>
                  <a:lnTo>
                    <a:pt x="10157" y="528"/>
                  </a:lnTo>
                  <a:cubicBezTo>
                    <a:pt x="10248" y="437"/>
                    <a:pt x="10365" y="393"/>
                    <a:pt x="10480" y="393"/>
                  </a:cubicBezTo>
                  <a:cubicBezTo>
                    <a:pt x="10636" y="393"/>
                    <a:pt x="10789" y="473"/>
                    <a:pt x="10871" y="623"/>
                  </a:cubicBezTo>
                  <a:cubicBezTo>
                    <a:pt x="10912" y="690"/>
                    <a:pt x="10983" y="733"/>
                    <a:pt x="11054" y="733"/>
                  </a:cubicBezTo>
                  <a:cubicBezTo>
                    <a:pt x="11085" y="733"/>
                    <a:pt x="11116" y="725"/>
                    <a:pt x="11145" y="707"/>
                  </a:cubicBezTo>
                  <a:cubicBezTo>
                    <a:pt x="11228" y="647"/>
                    <a:pt x="11276" y="528"/>
                    <a:pt x="11216" y="433"/>
                  </a:cubicBezTo>
                  <a:cubicBezTo>
                    <a:pt x="11058" y="152"/>
                    <a:pt x="10770" y="1"/>
                    <a:pt x="1047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80"/>
            <p:cNvSpPr/>
            <p:nvPr/>
          </p:nvSpPr>
          <p:spPr>
            <a:xfrm>
              <a:off x="3510335" y="2959936"/>
              <a:ext cx="176413" cy="43291"/>
            </a:xfrm>
            <a:custGeom>
              <a:avLst/>
              <a:gdLst/>
              <a:ahLst/>
              <a:cxnLst/>
              <a:rect l="l" t="t" r="r" b="b"/>
              <a:pathLst>
                <a:path w="5538" h="1359" extrusionOk="0">
                  <a:moveTo>
                    <a:pt x="3439" y="0"/>
                  </a:moveTo>
                  <a:cubicBezTo>
                    <a:pt x="2239" y="0"/>
                    <a:pt x="999" y="350"/>
                    <a:pt x="96" y="995"/>
                  </a:cubicBezTo>
                  <a:cubicBezTo>
                    <a:pt x="13" y="1054"/>
                    <a:pt x="1" y="1185"/>
                    <a:pt x="60" y="1280"/>
                  </a:cubicBezTo>
                  <a:cubicBezTo>
                    <a:pt x="96" y="1330"/>
                    <a:pt x="156" y="1358"/>
                    <a:pt x="217" y="1358"/>
                  </a:cubicBezTo>
                  <a:cubicBezTo>
                    <a:pt x="259" y="1358"/>
                    <a:pt x="300" y="1345"/>
                    <a:pt x="334" y="1316"/>
                  </a:cubicBezTo>
                  <a:cubicBezTo>
                    <a:pt x="965" y="876"/>
                    <a:pt x="1787" y="578"/>
                    <a:pt x="2656" y="459"/>
                  </a:cubicBezTo>
                  <a:cubicBezTo>
                    <a:pt x="2927" y="424"/>
                    <a:pt x="3196" y="407"/>
                    <a:pt x="3459" y="407"/>
                  </a:cubicBezTo>
                  <a:cubicBezTo>
                    <a:pt x="4099" y="407"/>
                    <a:pt x="4708" y="510"/>
                    <a:pt x="5240" y="721"/>
                  </a:cubicBezTo>
                  <a:cubicBezTo>
                    <a:pt x="5258" y="729"/>
                    <a:pt x="5279" y="733"/>
                    <a:pt x="5300" y="733"/>
                  </a:cubicBezTo>
                  <a:cubicBezTo>
                    <a:pt x="5373" y="733"/>
                    <a:pt x="5453" y="687"/>
                    <a:pt x="5490" y="614"/>
                  </a:cubicBezTo>
                  <a:cubicBezTo>
                    <a:pt x="5537" y="506"/>
                    <a:pt x="5478" y="387"/>
                    <a:pt x="5383" y="352"/>
                  </a:cubicBezTo>
                  <a:cubicBezTo>
                    <a:pt x="4795" y="114"/>
                    <a:pt x="4123" y="0"/>
                    <a:pt x="34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80"/>
            <p:cNvSpPr/>
            <p:nvPr/>
          </p:nvSpPr>
          <p:spPr>
            <a:xfrm>
              <a:off x="3530435" y="2920213"/>
              <a:ext cx="133918" cy="35072"/>
            </a:xfrm>
            <a:custGeom>
              <a:avLst/>
              <a:gdLst/>
              <a:ahLst/>
              <a:cxnLst/>
              <a:rect l="l" t="t" r="r" b="b"/>
              <a:pathLst>
                <a:path w="4204" h="1101" extrusionOk="0">
                  <a:moveTo>
                    <a:pt x="2585" y="0"/>
                  </a:moveTo>
                  <a:cubicBezTo>
                    <a:pt x="1695" y="0"/>
                    <a:pt x="780" y="258"/>
                    <a:pt x="108" y="741"/>
                  </a:cubicBezTo>
                  <a:cubicBezTo>
                    <a:pt x="13" y="801"/>
                    <a:pt x="1" y="932"/>
                    <a:pt x="60" y="1027"/>
                  </a:cubicBezTo>
                  <a:cubicBezTo>
                    <a:pt x="95" y="1076"/>
                    <a:pt x="158" y="1100"/>
                    <a:pt x="221" y="1100"/>
                  </a:cubicBezTo>
                  <a:cubicBezTo>
                    <a:pt x="266" y="1100"/>
                    <a:pt x="311" y="1088"/>
                    <a:pt x="346" y="1063"/>
                  </a:cubicBezTo>
                  <a:cubicBezTo>
                    <a:pt x="955" y="637"/>
                    <a:pt x="1801" y="405"/>
                    <a:pt x="2613" y="405"/>
                  </a:cubicBezTo>
                  <a:cubicBezTo>
                    <a:pt x="3071" y="405"/>
                    <a:pt x="3519" y="479"/>
                    <a:pt x="3906" y="634"/>
                  </a:cubicBezTo>
                  <a:cubicBezTo>
                    <a:pt x="3925" y="642"/>
                    <a:pt x="3945" y="646"/>
                    <a:pt x="3966" y="646"/>
                  </a:cubicBezTo>
                  <a:cubicBezTo>
                    <a:pt x="4039" y="646"/>
                    <a:pt x="4119" y="599"/>
                    <a:pt x="4156" y="515"/>
                  </a:cubicBezTo>
                  <a:cubicBezTo>
                    <a:pt x="4204" y="408"/>
                    <a:pt x="4144" y="289"/>
                    <a:pt x="4049" y="265"/>
                  </a:cubicBezTo>
                  <a:cubicBezTo>
                    <a:pt x="3604" y="86"/>
                    <a:pt x="3099" y="0"/>
                    <a:pt x="258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80"/>
            <p:cNvSpPr/>
            <p:nvPr/>
          </p:nvSpPr>
          <p:spPr>
            <a:xfrm>
              <a:off x="3761416" y="3078787"/>
              <a:ext cx="53134" cy="174916"/>
            </a:xfrm>
            <a:custGeom>
              <a:avLst/>
              <a:gdLst/>
              <a:ahLst/>
              <a:cxnLst/>
              <a:rect l="l" t="t" r="r" b="b"/>
              <a:pathLst>
                <a:path w="1668" h="5491" extrusionOk="0">
                  <a:moveTo>
                    <a:pt x="830" y="1"/>
                  </a:moveTo>
                  <a:cubicBezTo>
                    <a:pt x="807" y="1"/>
                    <a:pt x="784" y="5"/>
                    <a:pt x="763" y="14"/>
                  </a:cubicBezTo>
                  <a:cubicBezTo>
                    <a:pt x="656" y="62"/>
                    <a:pt x="608" y="181"/>
                    <a:pt x="656" y="276"/>
                  </a:cubicBezTo>
                  <a:cubicBezTo>
                    <a:pt x="953" y="1002"/>
                    <a:pt x="1061" y="1919"/>
                    <a:pt x="918" y="2848"/>
                  </a:cubicBezTo>
                  <a:cubicBezTo>
                    <a:pt x="799" y="3717"/>
                    <a:pt x="501" y="4550"/>
                    <a:pt x="60" y="5169"/>
                  </a:cubicBezTo>
                  <a:cubicBezTo>
                    <a:pt x="1" y="5253"/>
                    <a:pt x="13" y="5372"/>
                    <a:pt x="108" y="5443"/>
                  </a:cubicBezTo>
                  <a:cubicBezTo>
                    <a:pt x="136" y="5476"/>
                    <a:pt x="174" y="5491"/>
                    <a:pt x="213" y="5491"/>
                  </a:cubicBezTo>
                  <a:cubicBezTo>
                    <a:pt x="272" y="5491"/>
                    <a:pt x="334" y="5458"/>
                    <a:pt x="370" y="5407"/>
                  </a:cubicBezTo>
                  <a:cubicBezTo>
                    <a:pt x="1370" y="3991"/>
                    <a:pt x="1668" y="1740"/>
                    <a:pt x="1013" y="121"/>
                  </a:cubicBezTo>
                  <a:cubicBezTo>
                    <a:pt x="977" y="41"/>
                    <a:pt x="901" y="1"/>
                    <a:pt x="83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80"/>
            <p:cNvSpPr/>
            <p:nvPr/>
          </p:nvSpPr>
          <p:spPr>
            <a:xfrm>
              <a:off x="3809230" y="3100990"/>
              <a:ext cx="42877" cy="132326"/>
            </a:xfrm>
            <a:custGeom>
              <a:avLst/>
              <a:gdLst/>
              <a:ahLst/>
              <a:cxnLst/>
              <a:rect l="l" t="t" r="r" b="b"/>
              <a:pathLst>
                <a:path w="1346" h="4154" extrusionOk="0">
                  <a:moveTo>
                    <a:pt x="674" y="1"/>
                  </a:moveTo>
                  <a:cubicBezTo>
                    <a:pt x="647" y="1"/>
                    <a:pt x="620" y="7"/>
                    <a:pt x="595" y="19"/>
                  </a:cubicBezTo>
                  <a:cubicBezTo>
                    <a:pt x="488" y="67"/>
                    <a:pt x="452" y="186"/>
                    <a:pt x="488" y="269"/>
                  </a:cubicBezTo>
                  <a:cubicBezTo>
                    <a:pt x="929" y="1365"/>
                    <a:pt x="750" y="2877"/>
                    <a:pt x="60" y="3829"/>
                  </a:cubicBezTo>
                  <a:cubicBezTo>
                    <a:pt x="0" y="3925"/>
                    <a:pt x="24" y="4044"/>
                    <a:pt x="107" y="4115"/>
                  </a:cubicBezTo>
                  <a:cubicBezTo>
                    <a:pt x="134" y="4142"/>
                    <a:pt x="170" y="4153"/>
                    <a:pt x="209" y="4153"/>
                  </a:cubicBezTo>
                  <a:cubicBezTo>
                    <a:pt x="273" y="4153"/>
                    <a:pt x="344" y="4120"/>
                    <a:pt x="381" y="4068"/>
                  </a:cubicBezTo>
                  <a:cubicBezTo>
                    <a:pt x="1119" y="3008"/>
                    <a:pt x="1345" y="1341"/>
                    <a:pt x="857" y="127"/>
                  </a:cubicBezTo>
                  <a:cubicBezTo>
                    <a:pt x="822" y="48"/>
                    <a:pt x="748" y="1"/>
                    <a:pt x="67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C2A363AB-28EB-5ADC-0AC7-072058187E67}"/>
              </a:ext>
            </a:extLst>
          </p:cNvPr>
          <p:cNvSpPr txBox="1"/>
          <p:nvPr/>
        </p:nvSpPr>
        <p:spPr>
          <a:xfrm>
            <a:off x="8708923" y="4689558"/>
            <a:ext cx="5671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06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5613DD-0BFA-BE9C-0B2D-08CA42B3FB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2272" y="675997"/>
            <a:ext cx="4419456" cy="3921597"/>
          </a:xfrm>
          <a:prstGeom prst="rect">
            <a:avLst/>
          </a:prstGeom>
        </p:spPr>
      </p:pic>
    </p:spTree>
  </p:cSld>
  <p:clrMapOvr>
    <a:masterClrMapping/>
  </p:clrMapOvr>
  <p:transition spd="slow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7">
          <a:extLst>
            <a:ext uri="{FF2B5EF4-FFF2-40B4-BE49-F238E27FC236}">
              <a16:creationId xmlns:a16="http://schemas.microsoft.com/office/drawing/2014/main" id="{7B9C5598-26F8-C459-2077-F3239917D5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Google Shape;921;p80">
            <a:extLst>
              <a:ext uri="{FF2B5EF4-FFF2-40B4-BE49-F238E27FC236}">
                <a16:creationId xmlns:a16="http://schemas.microsoft.com/office/drawing/2014/main" id="{3BDC10E9-C654-B7D9-CF94-BE5B5E69B46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60366" y="103297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dirty="0"/>
              <a:t>LITERATURE REVIEW</a:t>
            </a:r>
            <a:endParaRPr lang="en-US" dirty="0"/>
          </a:p>
        </p:txBody>
      </p:sp>
      <p:grpSp>
        <p:nvGrpSpPr>
          <p:cNvPr id="949" name="Google Shape;949;p80">
            <a:extLst>
              <a:ext uri="{FF2B5EF4-FFF2-40B4-BE49-F238E27FC236}">
                <a16:creationId xmlns:a16="http://schemas.microsoft.com/office/drawing/2014/main" id="{27BBB560-75E7-B02F-0F54-D7D38B381DDC}"/>
              </a:ext>
            </a:extLst>
          </p:cNvPr>
          <p:cNvGrpSpPr/>
          <p:nvPr/>
        </p:nvGrpSpPr>
        <p:grpSpPr>
          <a:xfrm>
            <a:off x="1144187" y="3889748"/>
            <a:ext cx="360726" cy="361204"/>
            <a:chOff x="3510335" y="2892499"/>
            <a:chExt cx="360726" cy="361204"/>
          </a:xfrm>
        </p:grpSpPr>
        <p:sp>
          <p:nvSpPr>
            <p:cNvPr id="950" name="Google Shape;950;p80">
              <a:extLst>
                <a:ext uri="{FF2B5EF4-FFF2-40B4-BE49-F238E27FC236}">
                  <a16:creationId xmlns:a16="http://schemas.microsoft.com/office/drawing/2014/main" id="{66B1F792-E889-18F6-E637-895619CDCD88}"/>
                </a:ext>
              </a:extLst>
            </p:cNvPr>
            <p:cNvSpPr/>
            <p:nvPr/>
          </p:nvSpPr>
          <p:spPr>
            <a:xfrm>
              <a:off x="3511864" y="2892499"/>
              <a:ext cx="359197" cy="358751"/>
            </a:xfrm>
            <a:custGeom>
              <a:avLst/>
              <a:gdLst/>
              <a:ahLst/>
              <a:cxnLst/>
              <a:rect l="l" t="t" r="r" b="b"/>
              <a:pathLst>
                <a:path w="11276" h="11262" extrusionOk="0">
                  <a:moveTo>
                    <a:pt x="2035" y="8898"/>
                  </a:moveTo>
                  <a:cubicBezTo>
                    <a:pt x="2132" y="8898"/>
                    <a:pt x="2227" y="8934"/>
                    <a:pt x="2298" y="9005"/>
                  </a:cubicBezTo>
                  <a:cubicBezTo>
                    <a:pt x="2453" y="9160"/>
                    <a:pt x="2453" y="9398"/>
                    <a:pt x="2298" y="9541"/>
                  </a:cubicBezTo>
                  <a:cubicBezTo>
                    <a:pt x="2227" y="9618"/>
                    <a:pt x="2132" y="9657"/>
                    <a:pt x="2035" y="9657"/>
                  </a:cubicBezTo>
                  <a:cubicBezTo>
                    <a:pt x="1938" y="9657"/>
                    <a:pt x="1840" y="9618"/>
                    <a:pt x="1763" y="9541"/>
                  </a:cubicBezTo>
                  <a:cubicBezTo>
                    <a:pt x="1620" y="9398"/>
                    <a:pt x="1620" y="9160"/>
                    <a:pt x="1763" y="9005"/>
                  </a:cubicBezTo>
                  <a:cubicBezTo>
                    <a:pt x="1840" y="8934"/>
                    <a:pt x="1938" y="8898"/>
                    <a:pt x="2035" y="8898"/>
                  </a:cubicBezTo>
                  <a:close/>
                  <a:moveTo>
                    <a:pt x="10477" y="1"/>
                  </a:moveTo>
                  <a:cubicBezTo>
                    <a:pt x="10261" y="1"/>
                    <a:pt x="10042" y="82"/>
                    <a:pt x="9871" y="254"/>
                  </a:cubicBezTo>
                  <a:lnTo>
                    <a:pt x="6882" y="3243"/>
                  </a:lnTo>
                  <a:cubicBezTo>
                    <a:pt x="6716" y="3196"/>
                    <a:pt x="6544" y="3172"/>
                    <a:pt x="6368" y="3172"/>
                  </a:cubicBezTo>
                  <a:cubicBezTo>
                    <a:pt x="6053" y="3172"/>
                    <a:pt x="5727" y="3249"/>
                    <a:pt x="5406" y="3409"/>
                  </a:cubicBezTo>
                  <a:cubicBezTo>
                    <a:pt x="5204" y="3516"/>
                    <a:pt x="4668" y="3766"/>
                    <a:pt x="4013" y="4040"/>
                  </a:cubicBezTo>
                  <a:cubicBezTo>
                    <a:pt x="3906" y="4076"/>
                    <a:pt x="3858" y="4195"/>
                    <a:pt x="3906" y="4290"/>
                  </a:cubicBezTo>
                  <a:cubicBezTo>
                    <a:pt x="3942" y="4371"/>
                    <a:pt x="4017" y="4411"/>
                    <a:pt x="4088" y="4411"/>
                  </a:cubicBezTo>
                  <a:cubicBezTo>
                    <a:pt x="4112" y="4411"/>
                    <a:pt x="4135" y="4406"/>
                    <a:pt x="4156" y="4398"/>
                  </a:cubicBezTo>
                  <a:cubicBezTo>
                    <a:pt x="4834" y="4124"/>
                    <a:pt x="5382" y="3862"/>
                    <a:pt x="5585" y="3755"/>
                  </a:cubicBezTo>
                  <a:cubicBezTo>
                    <a:pt x="5849" y="3621"/>
                    <a:pt x="6112" y="3561"/>
                    <a:pt x="6358" y="3561"/>
                  </a:cubicBezTo>
                  <a:cubicBezTo>
                    <a:pt x="7385" y="3561"/>
                    <a:pt x="8130" y="4607"/>
                    <a:pt x="7573" y="5731"/>
                  </a:cubicBezTo>
                  <a:cubicBezTo>
                    <a:pt x="7418" y="6029"/>
                    <a:pt x="6930" y="7053"/>
                    <a:pt x="6573" y="8100"/>
                  </a:cubicBezTo>
                  <a:cubicBezTo>
                    <a:pt x="6454" y="8469"/>
                    <a:pt x="6358" y="8803"/>
                    <a:pt x="6299" y="9100"/>
                  </a:cubicBezTo>
                  <a:lnTo>
                    <a:pt x="2227" y="5017"/>
                  </a:lnTo>
                  <a:cubicBezTo>
                    <a:pt x="2572" y="4945"/>
                    <a:pt x="2965" y="4838"/>
                    <a:pt x="3418" y="4671"/>
                  </a:cubicBezTo>
                  <a:cubicBezTo>
                    <a:pt x="3525" y="4648"/>
                    <a:pt x="3584" y="4528"/>
                    <a:pt x="3537" y="4421"/>
                  </a:cubicBezTo>
                  <a:cubicBezTo>
                    <a:pt x="3509" y="4340"/>
                    <a:pt x="3434" y="4286"/>
                    <a:pt x="3352" y="4286"/>
                  </a:cubicBezTo>
                  <a:cubicBezTo>
                    <a:pt x="3326" y="4286"/>
                    <a:pt x="3300" y="4291"/>
                    <a:pt x="3275" y="4302"/>
                  </a:cubicBezTo>
                  <a:cubicBezTo>
                    <a:pt x="2656" y="4517"/>
                    <a:pt x="2203" y="4636"/>
                    <a:pt x="1870" y="4671"/>
                  </a:cubicBezTo>
                  <a:lnTo>
                    <a:pt x="1453" y="4255"/>
                  </a:lnTo>
                  <a:cubicBezTo>
                    <a:pt x="1298" y="4100"/>
                    <a:pt x="1090" y="4022"/>
                    <a:pt x="880" y="4022"/>
                  </a:cubicBezTo>
                  <a:cubicBezTo>
                    <a:pt x="670" y="4022"/>
                    <a:pt x="459" y="4100"/>
                    <a:pt x="298" y="4255"/>
                  </a:cubicBezTo>
                  <a:cubicBezTo>
                    <a:pt x="84" y="4481"/>
                    <a:pt x="1" y="4826"/>
                    <a:pt x="120" y="5136"/>
                  </a:cubicBezTo>
                  <a:cubicBezTo>
                    <a:pt x="157" y="5219"/>
                    <a:pt x="230" y="5266"/>
                    <a:pt x="311" y="5266"/>
                  </a:cubicBezTo>
                  <a:cubicBezTo>
                    <a:pt x="334" y="5266"/>
                    <a:pt x="358" y="5263"/>
                    <a:pt x="382" y="5255"/>
                  </a:cubicBezTo>
                  <a:cubicBezTo>
                    <a:pt x="489" y="5207"/>
                    <a:pt x="524" y="5112"/>
                    <a:pt x="501" y="5005"/>
                  </a:cubicBezTo>
                  <a:cubicBezTo>
                    <a:pt x="379" y="4700"/>
                    <a:pt x="626" y="4433"/>
                    <a:pt x="894" y="4433"/>
                  </a:cubicBezTo>
                  <a:cubicBezTo>
                    <a:pt x="992" y="4433"/>
                    <a:pt x="1093" y="4469"/>
                    <a:pt x="1179" y="4552"/>
                  </a:cubicBezTo>
                  <a:lnTo>
                    <a:pt x="6799" y="10172"/>
                  </a:lnTo>
                  <a:cubicBezTo>
                    <a:pt x="6954" y="10327"/>
                    <a:pt x="6954" y="10601"/>
                    <a:pt x="6799" y="10744"/>
                  </a:cubicBezTo>
                  <a:cubicBezTo>
                    <a:pt x="6716" y="10827"/>
                    <a:pt x="6606" y="10869"/>
                    <a:pt x="6498" y="10869"/>
                  </a:cubicBezTo>
                  <a:cubicBezTo>
                    <a:pt x="6391" y="10869"/>
                    <a:pt x="6287" y="10827"/>
                    <a:pt x="6216" y="10744"/>
                  </a:cubicBezTo>
                  <a:lnTo>
                    <a:pt x="989" y="5529"/>
                  </a:lnTo>
                  <a:cubicBezTo>
                    <a:pt x="953" y="5487"/>
                    <a:pt x="902" y="5466"/>
                    <a:pt x="850" y="5466"/>
                  </a:cubicBezTo>
                  <a:cubicBezTo>
                    <a:pt x="798" y="5466"/>
                    <a:pt x="745" y="5487"/>
                    <a:pt x="703" y="5529"/>
                  </a:cubicBezTo>
                  <a:cubicBezTo>
                    <a:pt x="632" y="5600"/>
                    <a:pt x="632" y="5731"/>
                    <a:pt x="703" y="5802"/>
                  </a:cubicBezTo>
                  <a:lnTo>
                    <a:pt x="2977" y="8088"/>
                  </a:lnTo>
                  <a:lnTo>
                    <a:pt x="2441" y="8624"/>
                  </a:lnTo>
                  <a:cubicBezTo>
                    <a:pt x="2319" y="8551"/>
                    <a:pt x="2182" y="8513"/>
                    <a:pt x="2046" y="8513"/>
                  </a:cubicBezTo>
                  <a:cubicBezTo>
                    <a:pt x="1852" y="8513"/>
                    <a:pt x="1660" y="8589"/>
                    <a:pt x="1513" y="8743"/>
                  </a:cubicBezTo>
                  <a:cubicBezTo>
                    <a:pt x="1215" y="9041"/>
                    <a:pt x="1215" y="9541"/>
                    <a:pt x="1513" y="9839"/>
                  </a:cubicBezTo>
                  <a:cubicBezTo>
                    <a:pt x="1661" y="9987"/>
                    <a:pt x="1861" y="10062"/>
                    <a:pt x="2060" y="10062"/>
                  </a:cubicBezTo>
                  <a:cubicBezTo>
                    <a:pt x="2260" y="10062"/>
                    <a:pt x="2459" y="9987"/>
                    <a:pt x="2608" y="9839"/>
                  </a:cubicBezTo>
                  <a:cubicBezTo>
                    <a:pt x="2870" y="9589"/>
                    <a:pt x="2906" y="9196"/>
                    <a:pt x="2727" y="8898"/>
                  </a:cubicBezTo>
                  <a:lnTo>
                    <a:pt x="3263" y="8362"/>
                  </a:lnTo>
                  <a:lnTo>
                    <a:pt x="5930" y="11029"/>
                  </a:lnTo>
                  <a:cubicBezTo>
                    <a:pt x="6085" y="11184"/>
                    <a:pt x="6293" y="11261"/>
                    <a:pt x="6501" y="11261"/>
                  </a:cubicBezTo>
                  <a:cubicBezTo>
                    <a:pt x="6710" y="11261"/>
                    <a:pt x="6918" y="11184"/>
                    <a:pt x="7073" y="11029"/>
                  </a:cubicBezTo>
                  <a:cubicBezTo>
                    <a:pt x="7359" y="10696"/>
                    <a:pt x="7359" y="10184"/>
                    <a:pt x="7049" y="9874"/>
                  </a:cubicBezTo>
                  <a:lnTo>
                    <a:pt x="6632" y="9458"/>
                  </a:lnTo>
                  <a:cubicBezTo>
                    <a:pt x="6751" y="8529"/>
                    <a:pt x="7299" y="7136"/>
                    <a:pt x="7906" y="5910"/>
                  </a:cubicBezTo>
                  <a:cubicBezTo>
                    <a:pt x="8168" y="5421"/>
                    <a:pt x="8204" y="4898"/>
                    <a:pt x="8073" y="4433"/>
                  </a:cubicBezTo>
                  <a:lnTo>
                    <a:pt x="11109" y="1397"/>
                  </a:lnTo>
                  <a:cubicBezTo>
                    <a:pt x="11181" y="1314"/>
                    <a:pt x="11169" y="1195"/>
                    <a:pt x="11097" y="1123"/>
                  </a:cubicBezTo>
                  <a:cubicBezTo>
                    <a:pt x="11055" y="1086"/>
                    <a:pt x="11008" y="1070"/>
                    <a:pt x="10963" y="1070"/>
                  </a:cubicBezTo>
                  <a:cubicBezTo>
                    <a:pt x="10906" y="1070"/>
                    <a:pt x="10851" y="1095"/>
                    <a:pt x="10811" y="1135"/>
                  </a:cubicBezTo>
                  <a:cubicBezTo>
                    <a:pt x="10800" y="1147"/>
                    <a:pt x="10990" y="969"/>
                    <a:pt x="7906" y="4040"/>
                  </a:cubicBezTo>
                  <a:cubicBezTo>
                    <a:pt x="7763" y="3778"/>
                    <a:pt x="7537" y="3564"/>
                    <a:pt x="7275" y="3409"/>
                  </a:cubicBezTo>
                  <a:lnTo>
                    <a:pt x="10157" y="528"/>
                  </a:lnTo>
                  <a:cubicBezTo>
                    <a:pt x="10248" y="437"/>
                    <a:pt x="10365" y="393"/>
                    <a:pt x="10480" y="393"/>
                  </a:cubicBezTo>
                  <a:cubicBezTo>
                    <a:pt x="10636" y="393"/>
                    <a:pt x="10789" y="473"/>
                    <a:pt x="10871" y="623"/>
                  </a:cubicBezTo>
                  <a:cubicBezTo>
                    <a:pt x="10912" y="690"/>
                    <a:pt x="10983" y="733"/>
                    <a:pt x="11054" y="733"/>
                  </a:cubicBezTo>
                  <a:cubicBezTo>
                    <a:pt x="11085" y="733"/>
                    <a:pt x="11116" y="725"/>
                    <a:pt x="11145" y="707"/>
                  </a:cubicBezTo>
                  <a:cubicBezTo>
                    <a:pt x="11228" y="647"/>
                    <a:pt x="11276" y="528"/>
                    <a:pt x="11216" y="433"/>
                  </a:cubicBezTo>
                  <a:cubicBezTo>
                    <a:pt x="11058" y="152"/>
                    <a:pt x="10770" y="1"/>
                    <a:pt x="1047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80">
              <a:extLst>
                <a:ext uri="{FF2B5EF4-FFF2-40B4-BE49-F238E27FC236}">
                  <a16:creationId xmlns:a16="http://schemas.microsoft.com/office/drawing/2014/main" id="{5B0BEA37-17DC-0EB2-FA8C-ED9A8BDFB98A}"/>
                </a:ext>
              </a:extLst>
            </p:cNvPr>
            <p:cNvSpPr/>
            <p:nvPr/>
          </p:nvSpPr>
          <p:spPr>
            <a:xfrm>
              <a:off x="3510335" y="2959936"/>
              <a:ext cx="176413" cy="43291"/>
            </a:xfrm>
            <a:custGeom>
              <a:avLst/>
              <a:gdLst/>
              <a:ahLst/>
              <a:cxnLst/>
              <a:rect l="l" t="t" r="r" b="b"/>
              <a:pathLst>
                <a:path w="5538" h="1359" extrusionOk="0">
                  <a:moveTo>
                    <a:pt x="3439" y="0"/>
                  </a:moveTo>
                  <a:cubicBezTo>
                    <a:pt x="2239" y="0"/>
                    <a:pt x="999" y="350"/>
                    <a:pt x="96" y="995"/>
                  </a:cubicBezTo>
                  <a:cubicBezTo>
                    <a:pt x="13" y="1054"/>
                    <a:pt x="1" y="1185"/>
                    <a:pt x="60" y="1280"/>
                  </a:cubicBezTo>
                  <a:cubicBezTo>
                    <a:pt x="96" y="1330"/>
                    <a:pt x="156" y="1358"/>
                    <a:pt x="217" y="1358"/>
                  </a:cubicBezTo>
                  <a:cubicBezTo>
                    <a:pt x="259" y="1358"/>
                    <a:pt x="300" y="1345"/>
                    <a:pt x="334" y="1316"/>
                  </a:cubicBezTo>
                  <a:cubicBezTo>
                    <a:pt x="965" y="876"/>
                    <a:pt x="1787" y="578"/>
                    <a:pt x="2656" y="459"/>
                  </a:cubicBezTo>
                  <a:cubicBezTo>
                    <a:pt x="2927" y="424"/>
                    <a:pt x="3196" y="407"/>
                    <a:pt x="3459" y="407"/>
                  </a:cubicBezTo>
                  <a:cubicBezTo>
                    <a:pt x="4099" y="407"/>
                    <a:pt x="4708" y="510"/>
                    <a:pt x="5240" y="721"/>
                  </a:cubicBezTo>
                  <a:cubicBezTo>
                    <a:pt x="5258" y="729"/>
                    <a:pt x="5279" y="733"/>
                    <a:pt x="5300" y="733"/>
                  </a:cubicBezTo>
                  <a:cubicBezTo>
                    <a:pt x="5373" y="733"/>
                    <a:pt x="5453" y="687"/>
                    <a:pt x="5490" y="614"/>
                  </a:cubicBezTo>
                  <a:cubicBezTo>
                    <a:pt x="5537" y="506"/>
                    <a:pt x="5478" y="387"/>
                    <a:pt x="5383" y="352"/>
                  </a:cubicBezTo>
                  <a:cubicBezTo>
                    <a:pt x="4795" y="114"/>
                    <a:pt x="4123" y="0"/>
                    <a:pt x="34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80">
              <a:extLst>
                <a:ext uri="{FF2B5EF4-FFF2-40B4-BE49-F238E27FC236}">
                  <a16:creationId xmlns:a16="http://schemas.microsoft.com/office/drawing/2014/main" id="{44ABC34D-D679-3600-F644-817905D76E55}"/>
                </a:ext>
              </a:extLst>
            </p:cNvPr>
            <p:cNvSpPr/>
            <p:nvPr/>
          </p:nvSpPr>
          <p:spPr>
            <a:xfrm>
              <a:off x="3530435" y="2920213"/>
              <a:ext cx="133918" cy="35072"/>
            </a:xfrm>
            <a:custGeom>
              <a:avLst/>
              <a:gdLst/>
              <a:ahLst/>
              <a:cxnLst/>
              <a:rect l="l" t="t" r="r" b="b"/>
              <a:pathLst>
                <a:path w="4204" h="1101" extrusionOk="0">
                  <a:moveTo>
                    <a:pt x="2585" y="0"/>
                  </a:moveTo>
                  <a:cubicBezTo>
                    <a:pt x="1695" y="0"/>
                    <a:pt x="780" y="258"/>
                    <a:pt x="108" y="741"/>
                  </a:cubicBezTo>
                  <a:cubicBezTo>
                    <a:pt x="13" y="801"/>
                    <a:pt x="1" y="932"/>
                    <a:pt x="60" y="1027"/>
                  </a:cubicBezTo>
                  <a:cubicBezTo>
                    <a:pt x="95" y="1076"/>
                    <a:pt x="158" y="1100"/>
                    <a:pt x="221" y="1100"/>
                  </a:cubicBezTo>
                  <a:cubicBezTo>
                    <a:pt x="266" y="1100"/>
                    <a:pt x="311" y="1088"/>
                    <a:pt x="346" y="1063"/>
                  </a:cubicBezTo>
                  <a:cubicBezTo>
                    <a:pt x="955" y="637"/>
                    <a:pt x="1801" y="405"/>
                    <a:pt x="2613" y="405"/>
                  </a:cubicBezTo>
                  <a:cubicBezTo>
                    <a:pt x="3071" y="405"/>
                    <a:pt x="3519" y="479"/>
                    <a:pt x="3906" y="634"/>
                  </a:cubicBezTo>
                  <a:cubicBezTo>
                    <a:pt x="3925" y="642"/>
                    <a:pt x="3945" y="646"/>
                    <a:pt x="3966" y="646"/>
                  </a:cubicBezTo>
                  <a:cubicBezTo>
                    <a:pt x="4039" y="646"/>
                    <a:pt x="4119" y="599"/>
                    <a:pt x="4156" y="515"/>
                  </a:cubicBezTo>
                  <a:cubicBezTo>
                    <a:pt x="4204" y="408"/>
                    <a:pt x="4144" y="289"/>
                    <a:pt x="4049" y="265"/>
                  </a:cubicBezTo>
                  <a:cubicBezTo>
                    <a:pt x="3604" y="86"/>
                    <a:pt x="3099" y="0"/>
                    <a:pt x="258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80">
              <a:extLst>
                <a:ext uri="{FF2B5EF4-FFF2-40B4-BE49-F238E27FC236}">
                  <a16:creationId xmlns:a16="http://schemas.microsoft.com/office/drawing/2014/main" id="{3C986D49-6728-FD8B-9495-6A04FE0BD585}"/>
                </a:ext>
              </a:extLst>
            </p:cNvPr>
            <p:cNvSpPr/>
            <p:nvPr/>
          </p:nvSpPr>
          <p:spPr>
            <a:xfrm>
              <a:off x="3761416" y="3078787"/>
              <a:ext cx="53134" cy="174916"/>
            </a:xfrm>
            <a:custGeom>
              <a:avLst/>
              <a:gdLst/>
              <a:ahLst/>
              <a:cxnLst/>
              <a:rect l="l" t="t" r="r" b="b"/>
              <a:pathLst>
                <a:path w="1668" h="5491" extrusionOk="0">
                  <a:moveTo>
                    <a:pt x="830" y="1"/>
                  </a:moveTo>
                  <a:cubicBezTo>
                    <a:pt x="807" y="1"/>
                    <a:pt x="784" y="5"/>
                    <a:pt x="763" y="14"/>
                  </a:cubicBezTo>
                  <a:cubicBezTo>
                    <a:pt x="656" y="62"/>
                    <a:pt x="608" y="181"/>
                    <a:pt x="656" y="276"/>
                  </a:cubicBezTo>
                  <a:cubicBezTo>
                    <a:pt x="953" y="1002"/>
                    <a:pt x="1061" y="1919"/>
                    <a:pt x="918" y="2848"/>
                  </a:cubicBezTo>
                  <a:cubicBezTo>
                    <a:pt x="799" y="3717"/>
                    <a:pt x="501" y="4550"/>
                    <a:pt x="60" y="5169"/>
                  </a:cubicBezTo>
                  <a:cubicBezTo>
                    <a:pt x="1" y="5253"/>
                    <a:pt x="13" y="5372"/>
                    <a:pt x="108" y="5443"/>
                  </a:cubicBezTo>
                  <a:cubicBezTo>
                    <a:pt x="136" y="5476"/>
                    <a:pt x="174" y="5491"/>
                    <a:pt x="213" y="5491"/>
                  </a:cubicBezTo>
                  <a:cubicBezTo>
                    <a:pt x="272" y="5491"/>
                    <a:pt x="334" y="5458"/>
                    <a:pt x="370" y="5407"/>
                  </a:cubicBezTo>
                  <a:cubicBezTo>
                    <a:pt x="1370" y="3991"/>
                    <a:pt x="1668" y="1740"/>
                    <a:pt x="1013" y="121"/>
                  </a:cubicBezTo>
                  <a:cubicBezTo>
                    <a:pt x="977" y="41"/>
                    <a:pt x="901" y="1"/>
                    <a:pt x="83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80">
              <a:extLst>
                <a:ext uri="{FF2B5EF4-FFF2-40B4-BE49-F238E27FC236}">
                  <a16:creationId xmlns:a16="http://schemas.microsoft.com/office/drawing/2014/main" id="{4951C076-E574-EEC1-82D7-389A54C21A40}"/>
                </a:ext>
              </a:extLst>
            </p:cNvPr>
            <p:cNvSpPr/>
            <p:nvPr/>
          </p:nvSpPr>
          <p:spPr>
            <a:xfrm>
              <a:off x="3809230" y="3100990"/>
              <a:ext cx="42877" cy="132326"/>
            </a:xfrm>
            <a:custGeom>
              <a:avLst/>
              <a:gdLst/>
              <a:ahLst/>
              <a:cxnLst/>
              <a:rect l="l" t="t" r="r" b="b"/>
              <a:pathLst>
                <a:path w="1346" h="4154" extrusionOk="0">
                  <a:moveTo>
                    <a:pt x="674" y="1"/>
                  </a:moveTo>
                  <a:cubicBezTo>
                    <a:pt x="647" y="1"/>
                    <a:pt x="620" y="7"/>
                    <a:pt x="595" y="19"/>
                  </a:cubicBezTo>
                  <a:cubicBezTo>
                    <a:pt x="488" y="67"/>
                    <a:pt x="452" y="186"/>
                    <a:pt x="488" y="269"/>
                  </a:cubicBezTo>
                  <a:cubicBezTo>
                    <a:pt x="929" y="1365"/>
                    <a:pt x="750" y="2877"/>
                    <a:pt x="60" y="3829"/>
                  </a:cubicBezTo>
                  <a:cubicBezTo>
                    <a:pt x="0" y="3925"/>
                    <a:pt x="24" y="4044"/>
                    <a:pt x="107" y="4115"/>
                  </a:cubicBezTo>
                  <a:cubicBezTo>
                    <a:pt x="134" y="4142"/>
                    <a:pt x="170" y="4153"/>
                    <a:pt x="209" y="4153"/>
                  </a:cubicBezTo>
                  <a:cubicBezTo>
                    <a:pt x="273" y="4153"/>
                    <a:pt x="344" y="4120"/>
                    <a:pt x="381" y="4068"/>
                  </a:cubicBezTo>
                  <a:cubicBezTo>
                    <a:pt x="1119" y="3008"/>
                    <a:pt x="1345" y="1341"/>
                    <a:pt x="857" y="127"/>
                  </a:cubicBezTo>
                  <a:cubicBezTo>
                    <a:pt x="822" y="48"/>
                    <a:pt x="748" y="1"/>
                    <a:pt x="67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42606C12-86CA-9625-D62E-53AFA610763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36239259"/>
                  </p:ext>
                </p:extLst>
              </p:nvPr>
            </p:nvGraphicFramePr>
            <p:xfrm>
              <a:off x="275713" y="725950"/>
              <a:ext cx="8583504" cy="3261360"/>
            </p:xfrm>
            <a:graphic>
              <a:graphicData uri="http://schemas.openxmlformats.org/drawingml/2006/table">
                <a:tbl>
                  <a:tblPr firstRow="1" bandRow="1">
                    <a:tableStyleId>{2DC18286-B338-40E4-A1DF-69A9D49425DA}</a:tableStyleId>
                  </a:tblPr>
                  <a:tblGrid>
                    <a:gridCol w="2145876">
                      <a:extLst>
                        <a:ext uri="{9D8B030D-6E8A-4147-A177-3AD203B41FA5}">
                          <a16:colId xmlns:a16="http://schemas.microsoft.com/office/drawing/2014/main" val="1219548987"/>
                        </a:ext>
                      </a:extLst>
                    </a:gridCol>
                    <a:gridCol w="802551">
                      <a:extLst>
                        <a:ext uri="{9D8B030D-6E8A-4147-A177-3AD203B41FA5}">
                          <a16:colId xmlns:a16="http://schemas.microsoft.com/office/drawing/2014/main" val="1668607842"/>
                        </a:ext>
                      </a:extLst>
                    </a:gridCol>
                    <a:gridCol w="3213236">
                      <a:extLst>
                        <a:ext uri="{9D8B030D-6E8A-4147-A177-3AD203B41FA5}">
                          <a16:colId xmlns:a16="http://schemas.microsoft.com/office/drawing/2014/main" val="1714645405"/>
                        </a:ext>
                      </a:extLst>
                    </a:gridCol>
                    <a:gridCol w="2421841">
                      <a:extLst>
                        <a:ext uri="{9D8B030D-6E8A-4147-A177-3AD203B41FA5}">
                          <a16:colId xmlns:a16="http://schemas.microsoft.com/office/drawing/2014/main" val="3472251515"/>
                        </a:ext>
                      </a:extLst>
                    </a:gridCol>
                  </a:tblGrid>
                  <a:tr h="467614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      Researcher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         Year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Contribution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 Drawback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17220717"/>
                      </a:ext>
                    </a:extLst>
                  </a:tr>
                  <a:tr h="1017642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Arvind Kumar, Manoj Kumar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         2017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Proposed a </a:t>
                          </a:r>
                          <a:r>
                            <a:rPr lang="en-US" b="1" dirty="0"/>
                            <a:t>1-bit CMOS comparator using transistor stacking</a:t>
                          </a:r>
                          <a:r>
                            <a:rPr lang="en-US" dirty="0"/>
                            <a:t> across its XNOR and AND gates to reduce active-mode leakage power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Arial" panose="020B0604020202090204"/>
                              <a:ea typeface="Arial" panose="020B0604020202090204"/>
                              <a:cs typeface="Arial" panose="020B0604020202090204"/>
                              <a:sym typeface="Arial" panose="020B0604020202090204"/>
                            </a:rPr>
                            <a:t>Marginally higher propagation delay (</a:t>
                          </a:r>
                          <a14:m>
                            <m:oMath xmlns:m="http://schemas.openxmlformats.org/officeDocument/2006/math">
                              <m:r>
                                <a:rPr lang="en-US" sz="1400" b="0" i="0" u="none" strike="noStrike" cap="none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Arial" panose="020B0604020202090204"/>
                                  <a:cs typeface="Arial" panose="020B0604020202090204"/>
                                  <a:sym typeface="Arial" panose="020B0604020202090204"/>
                                </a:rPr>
                                <m:t>49.38</m:t>
                              </m:r>
                              <m:r>
                                <m:rPr>
                                  <m:nor/>
                                </m:rPr>
                                <a:rPr lang="en-US" sz="1400" b="0" i="0" u="none" strike="noStrike" cap="none">
                                  <a:solidFill>
                                    <a:srgbClr val="000000"/>
                                  </a:solidFill>
                                  <a:latin typeface="Arial" panose="020B0604020202090204"/>
                                  <a:ea typeface="Arial" panose="020B0604020202090204"/>
                                  <a:cs typeface="Arial" panose="020B0604020202090204"/>
                                  <a:sym typeface="Arial" panose="020B0604020202090204"/>
                                </a:rPr>
                                <m:t> ns</m:t>
                              </m:r>
                            </m:oMath>
                          </a14:m>
                          <a:r>
                            <a:rPr lang="en-US" sz="14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Arial" panose="020B0604020202090204"/>
                              <a:ea typeface="Arial" panose="020B0604020202090204"/>
                              <a:cs typeface="Arial" panose="020B0604020202090204"/>
                              <a:sym typeface="Arial" panose="020B0604020202090204"/>
                            </a:rPr>
                            <a:t>) and increased transistor count due to splitting transistors into series pairs.</a:t>
                          </a:r>
                          <a:r>
                            <a:rPr lang="en-US" dirty="0"/>
                            <a:t>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63024372"/>
                      </a:ext>
                    </a:extLst>
                  </a:tr>
                  <a:tr h="473143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Dheeraj Tailor, Tavesh Sharma, Manoj </a:t>
                          </a:r>
                          <a:r>
                            <a:rPr lang="en-US" dirty="0" err="1"/>
                            <a:t>Mumar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2019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Designed a </a:t>
                          </a:r>
                          <a:r>
                            <a:rPr lang="en-US" b="1" dirty="0"/>
                            <a:t>1-bit CMOS comparator utilizing MTCMOS (for NOR gates) and Forced Stacking (for inverters)</a:t>
                          </a:r>
                          <a:r>
                            <a:rPr lang="en-US" dirty="0"/>
                            <a:t> to minimize subthreshold leakage and active power.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MTCMOS is a </a:t>
                          </a:r>
                          <a:r>
                            <a:rPr lang="en-US" b="1" dirty="0"/>
                            <a:t>state-destructive technique</a:t>
                          </a:r>
                          <a:r>
                            <a:rPr lang="en-US" dirty="0"/>
                            <a:t> (outputs from active mode are lost in standby mode); requires additional sleep control signal routing.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0753534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42606C12-86CA-9625-D62E-53AFA610763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36239259"/>
                  </p:ext>
                </p:extLst>
              </p:nvPr>
            </p:nvGraphicFramePr>
            <p:xfrm>
              <a:off x="275713" y="725950"/>
              <a:ext cx="8583504" cy="3261360"/>
            </p:xfrm>
            <a:graphic>
              <a:graphicData uri="http://schemas.openxmlformats.org/drawingml/2006/table">
                <a:tbl>
                  <a:tblPr firstRow="1" bandRow="1">
                    <a:tableStyleId>{2DC18286-B338-40E4-A1DF-69A9D49425DA}</a:tableStyleId>
                  </a:tblPr>
                  <a:tblGrid>
                    <a:gridCol w="2145876">
                      <a:extLst>
                        <a:ext uri="{9D8B030D-6E8A-4147-A177-3AD203B41FA5}">
                          <a16:colId xmlns:a16="http://schemas.microsoft.com/office/drawing/2014/main" val="1219548987"/>
                        </a:ext>
                      </a:extLst>
                    </a:gridCol>
                    <a:gridCol w="802551">
                      <a:extLst>
                        <a:ext uri="{9D8B030D-6E8A-4147-A177-3AD203B41FA5}">
                          <a16:colId xmlns:a16="http://schemas.microsoft.com/office/drawing/2014/main" val="1668607842"/>
                        </a:ext>
                      </a:extLst>
                    </a:gridCol>
                    <a:gridCol w="3213236">
                      <a:extLst>
                        <a:ext uri="{9D8B030D-6E8A-4147-A177-3AD203B41FA5}">
                          <a16:colId xmlns:a16="http://schemas.microsoft.com/office/drawing/2014/main" val="1714645405"/>
                        </a:ext>
                      </a:extLst>
                    </a:gridCol>
                    <a:gridCol w="2421841">
                      <a:extLst>
                        <a:ext uri="{9D8B030D-6E8A-4147-A177-3AD203B41FA5}">
                          <a16:colId xmlns:a16="http://schemas.microsoft.com/office/drawing/2014/main" val="3472251515"/>
                        </a:ext>
                      </a:extLst>
                    </a:gridCol>
                  </a:tblGrid>
                  <a:tr h="51816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      Researcher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         Year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Contribution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 Drawback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17220717"/>
                      </a:ext>
                    </a:extLst>
                  </a:tr>
                  <a:tr h="137160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Arvind Kumar, Manoj Kumar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         2017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Proposed a </a:t>
                          </a:r>
                          <a:r>
                            <a:rPr lang="en-US" b="1" dirty="0"/>
                            <a:t>1-bit CMOS comparator using transistor stacking</a:t>
                          </a:r>
                          <a:r>
                            <a:rPr lang="en-US" dirty="0"/>
                            <a:t> across its XNOR and AND gates to reduce active-mode leakage power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54271" t="-38496" r="-251" b="-1039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63024372"/>
                      </a:ext>
                    </a:extLst>
                  </a:tr>
                  <a:tr h="137160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Dheeraj Tailor, Tavesh Sharma, Manoj </a:t>
                          </a:r>
                          <a:r>
                            <a:rPr lang="en-US" dirty="0" err="1"/>
                            <a:t>Mumar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2019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Designed a </a:t>
                          </a:r>
                          <a:r>
                            <a:rPr lang="en-US" b="1" dirty="0"/>
                            <a:t>1-bit CMOS comparator utilizing MTCMOS (for NOR gates) and Forced Stacking (for inverters)</a:t>
                          </a:r>
                          <a:r>
                            <a:rPr lang="en-US" dirty="0"/>
                            <a:t> to minimize subthreshold leakage and active power.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MTCMOS is a </a:t>
                          </a:r>
                          <a:r>
                            <a:rPr lang="en-US" b="1" dirty="0"/>
                            <a:t>state-destructive technique</a:t>
                          </a:r>
                          <a:r>
                            <a:rPr lang="en-US" dirty="0"/>
                            <a:t> (outputs from active mode are lost in standby mode); requires additional sleep control signal routing.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0753534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FD9F5F6B-CABD-EC9F-74E9-2E3D2AFE8CF7}"/>
              </a:ext>
            </a:extLst>
          </p:cNvPr>
          <p:cNvSpPr txBox="1"/>
          <p:nvPr/>
        </p:nvSpPr>
        <p:spPr>
          <a:xfrm>
            <a:off x="8708923" y="4689558"/>
            <a:ext cx="5671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3827274097"/>
      </p:ext>
    </p:extLst>
  </p:cSld>
  <p:clrMapOvr>
    <a:masterClrMapping/>
  </p:clrMapOvr>
  <p:transition spd="slow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7">
          <a:extLst>
            <a:ext uri="{FF2B5EF4-FFF2-40B4-BE49-F238E27FC236}">
              <a16:creationId xmlns:a16="http://schemas.microsoft.com/office/drawing/2014/main" id="{578AAF7F-BAC4-E014-6F23-323D4CC48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Google Shape;921;p80">
            <a:extLst>
              <a:ext uri="{FF2B5EF4-FFF2-40B4-BE49-F238E27FC236}">
                <a16:creationId xmlns:a16="http://schemas.microsoft.com/office/drawing/2014/main" id="{ABED49BF-D4EF-4FBD-D553-87843C74CF8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60366" y="103297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dirty="0"/>
              <a:t>LITERATURE REVIEW</a:t>
            </a:r>
            <a:endParaRPr lang="en-US" dirty="0"/>
          </a:p>
        </p:txBody>
      </p:sp>
      <p:grpSp>
        <p:nvGrpSpPr>
          <p:cNvPr id="949" name="Google Shape;949;p80">
            <a:extLst>
              <a:ext uri="{FF2B5EF4-FFF2-40B4-BE49-F238E27FC236}">
                <a16:creationId xmlns:a16="http://schemas.microsoft.com/office/drawing/2014/main" id="{57AF96C9-C73F-3410-BA6B-0A4479D48C03}"/>
              </a:ext>
            </a:extLst>
          </p:cNvPr>
          <p:cNvGrpSpPr/>
          <p:nvPr/>
        </p:nvGrpSpPr>
        <p:grpSpPr>
          <a:xfrm>
            <a:off x="1144187" y="3889748"/>
            <a:ext cx="360726" cy="361204"/>
            <a:chOff x="3510335" y="2892499"/>
            <a:chExt cx="360726" cy="361204"/>
          </a:xfrm>
        </p:grpSpPr>
        <p:sp>
          <p:nvSpPr>
            <p:cNvPr id="950" name="Google Shape;950;p80">
              <a:extLst>
                <a:ext uri="{FF2B5EF4-FFF2-40B4-BE49-F238E27FC236}">
                  <a16:creationId xmlns:a16="http://schemas.microsoft.com/office/drawing/2014/main" id="{FF3FA55E-FEBB-11CB-9123-2CD6599E371B}"/>
                </a:ext>
              </a:extLst>
            </p:cNvPr>
            <p:cNvSpPr/>
            <p:nvPr/>
          </p:nvSpPr>
          <p:spPr>
            <a:xfrm>
              <a:off x="3511864" y="2892499"/>
              <a:ext cx="359197" cy="358751"/>
            </a:xfrm>
            <a:custGeom>
              <a:avLst/>
              <a:gdLst/>
              <a:ahLst/>
              <a:cxnLst/>
              <a:rect l="l" t="t" r="r" b="b"/>
              <a:pathLst>
                <a:path w="11276" h="11262" extrusionOk="0">
                  <a:moveTo>
                    <a:pt x="2035" y="8898"/>
                  </a:moveTo>
                  <a:cubicBezTo>
                    <a:pt x="2132" y="8898"/>
                    <a:pt x="2227" y="8934"/>
                    <a:pt x="2298" y="9005"/>
                  </a:cubicBezTo>
                  <a:cubicBezTo>
                    <a:pt x="2453" y="9160"/>
                    <a:pt x="2453" y="9398"/>
                    <a:pt x="2298" y="9541"/>
                  </a:cubicBezTo>
                  <a:cubicBezTo>
                    <a:pt x="2227" y="9618"/>
                    <a:pt x="2132" y="9657"/>
                    <a:pt x="2035" y="9657"/>
                  </a:cubicBezTo>
                  <a:cubicBezTo>
                    <a:pt x="1938" y="9657"/>
                    <a:pt x="1840" y="9618"/>
                    <a:pt x="1763" y="9541"/>
                  </a:cubicBezTo>
                  <a:cubicBezTo>
                    <a:pt x="1620" y="9398"/>
                    <a:pt x="1620" y="9160"/>
                    <a:pt x="1763" y="9005"/>
                  </a:cubicBezTo>
                  <a:cubicBezTo>
                    <a:pt x="1840" y="8934"/>
                    <a:pt x="1938" y="8898"/>
                    <a:pt x="2035" y="8898"/>
                  </a:cubicBezTo>
                  <a:close/>
                  <a:moveTo>
                    <a:pt x="10477" y="1"/>
                  </a:moveTo>
                  <a:cubicBezTo>
                    <a:pt x="10261" y="1"/>
                    <a:pt x="10042" y="82"/>
                    <a:pt x="9871" y="254"/>
                  </a:cubicBezTo>
                  <a:lnTo>
                    <a:pt x="6882" y="3243"/>
                  </a:lnTo>
                  <a:cubicBezTo>
                    <a:pt x="6716" y="3196"/>
                    <a:pt x="6544" y="3172"/>
                    <a:pt x="6368" y="3172"/>
                  </a:cubicBezTo>
                  <a:cubicBezTo>
                    <a:pt x="6053" y="3172"/>
                    <a:pt x="5727" y="3249"/>
                    <a:pt x="5406" y="3409"/>
                  </a:cubicBezTo>
                  <a:cubicBezTo>
                    <a:pt x="5204" y="3516"/>
                    <a:pt x="4668" y="3766"/>
                    <a:pt x="4013" y="4040"/>
                  </a:cubicBezTo>
                  <a:cubicBezTo>
                    <a:pt x="3906" y="4076"/>
                    <a:pt x="3858" y="4195"/>
                    <a:pt x="3906" y="4290"/>
                  </a:cubicBezTo>
                  <a:cubicBezTo>
                    <a:pt x="3942" y="4371"/>
                    <a:pt x="4017" y="4411"/>
                    <a:pt x="4088" y="4411"/>
                  </a:cubicBezTo>
                  <a:cubicBezTo>
                    <a:pt x="4112" y="4411"/>
                    <a:pt x="4135" y="4406"/>
                    <a:pt x="4156" y="4398"/>
                  </a:cubicBezTo>
                  <a:cubicBezTo>
                    <a:pt x="4834" y="4124"/>
                    <a:pt x="5382" y="3862"/>
                    <a:pt x="5585" y="3755"/>
                  </a:cubicBezTo>
                  <a:cubicBezTo>
                    <a:pt x="5849" y="3621"/>
                    <a:pt x="6112" y="3561"/>
                    <a:pt x="6358" y="3561"/>
                  </a:cubicBezTo>
                  <a:cubicBezTo>
                    <a:pt x="7385" y="3561"/>
                    <a:pt x="8130" y="4607"/>
                    <a:pt x="7573" y="5731"/>
                  </a:cubicBezTo>
                  <a:cubicBezTo>
                    <a:pt x="7418" y="6029"/>
                    <a:pt x="6930" y="7053"/>
                    <a:pt x="6573" y="8100"/>
                  </a:cubicBezTo>
                  <a:cubicBezTo>
                    <a:pt x="6454" y="8469"/>
                    <a:pt x="6358" y="8803"/>
                    <a:pt x="6299" y="9100"/>
                  </a:cubicBezTo>
                  <a:lnTo>
                    <a:pt x="2227" y="5017"/>
                  </a:lnTo>
                  <a:cubicBezTo>
                    <a:pt x="2572" y="4945"/>
                    <a:pt x="2965" y="4838"/>
                    <a:pt x="3418" y="4671"/>
                  </a:cubicBezTo>
                  <a:cubicBezTo>
                    <a:pt x="3525" y="4648"/>
                    <a:pt x="3584" y="4528"/>
                    <a:pt x="3537" y="4421"/>
                  </a:cubicBezTo>
                  <a:cubicBezTo>
                    <a:pt x="3509" y="4340"/>
                    <a:pt x="3434" y="4286"/>
                    <a:pt x="3352" y="4286"/>
                  </a:cubicBezTo>
                  <a:cubicBezTo>
                    <a:pt x="3326" y="4286"/>
                    <a:pt x="3300" y="4291"/>
                    <a:pt x="3275" y="4302"/>
                  </a:cubicBezTo>
                  <a:cubicBezTo>
                    <a:pt x="2656" y="4517"/>
                    <a:pt x="2203" y="4636"/>
                    <a:pt x="1870" y="4671"/>
                  </a:cubicBezTo>
                  <a:lnTo>
                    <a:pt x="1453" y="4255"/>
                  </a:lnTo>
                  <a:cubicBezTo>
                    <a:pt x="1298" y="4100"/>
                    <a:pt x="1090" y="4022"/>
                    <a:pt x="880" y="4022"/>
                  </a:cubicBezTo>
                  <a:cubicBezTo>
                    <a:pt x="670" y="4022"/>
                    <a:pt x="459" y="4100"/>
                    <a:pt x="298" y="4255"/>
                  </a:cubicBezTo>
                  <a:cubicBezTo>
                    <a:pt x="84" y="4481"/>
                    <a:pt x="1" y="4826"/>
                    <a:pt x="120" y="5136"/>
                  </a:cubicBezTo>
                  <a:cubicBezTo>
                    <a:pt x="157" y="5219"/>
                    <a:pt x="230" y="5266"/>
                    <a:pt x="311" y="5266"/>
                  </a:cubicBezTo>
                  <a:cubicBezTo>
                    <a:pt x="334" y="5266"/>
                    <a:pt x="358" y="5263"/>
                    <a:pt x="382" y="5255"/>
                  </a:cubicBezTo>
                  <a:cubicBezTo>
                    <a:pt x="489" y="5207"/>
                    <a:pt x="524" y="5112"/>
                    <a:pt x="501" y="5005"/>
                  </a:cubicBezTo>
                  <a:cubicBezTo>
                    <a:pt x="379" y="4700"/>
                    <a:pt x="626" y="4433"/>
                    <a:pt x="894" y="4433"/>
                  </a:cubicBezTo>
                  <a:cubicBezTo>
                    <a:pt x="992" y="4433"/>
                    <a:pt x="1093" y="4469"/>
                    <a:pt x="1179" y="4552"/>
                  </a:cubicBezTo>
                  <a:lnTo>
                    <a:pt x="6799" y="10172"/>
                  </a:lnTo>
                  <a:cubicBezTo>
                    <a:pt x="6954" y="10327"/>
                    <a:pt x="6954" y="10601"/>
                    <a:pt x="6799" y="10744"/>
                  </a:cubicBezTo>
                  <a:cubicBezTo>
                    <a:pt x="6716" y="10827"/>
                    <a:pt x="6606" y="10869"/>
                    <a:pt x="6498" y="10869"/>
                  </a:cubicBezTo>
                  <a:cubicBezTo>
                    <a:pt x="6391" y="10869"/>
                    <a:pt x="6287" y="10827"/>
                    <a:pt x="6216" y="10744"/>
                  </a:cubicBezTo>
                  <a:lnTo>
                    <a:pt x="989" y="5529"/>
                  </a:lnTo>
                  <a:cubicBezTo>
                    <a:pt x="953" y="5487"/>
                    <a:pt x="902" y="5466"/>
                    <a:pt x="850" y="5466"/>
                  </a:cubicBezTo>
                  <a:cubicBezTo>
                    <a:pt x="798" y="5466"/>
                    <a:pt x="745" y="5487"/>
                    <a:pt x="703" y="5529"/>
                  </a:cubicBezTo>
                  <a:cubicBezTo>
                    <a:pt x="632" y="5600"/>
                    <a:pt x="632" y="5731"/>
                    <a:pt x="703" y="5802"/>
                  </a:cubicBezTo>
                  <a:lnTo>
                    <a:pt x="2977" y="8088"/>
                  </a:lnTo>
                  <a:lnTo>
                    <a:pt x="2441" y="8624"/>
                  </a:lnTo>
                  <a:cubicBezTo>
                    <a:pt x="2319" y="8551"/>
                    <a:pt x="2182" y="8513"/>
                    <a:pt x="2046" y="8513"/>
                  </a:cubicBezTo>
                  <a:cubicBezTo>
                    <a:pt x="1852" y="8513"/>
                    <a:pt x="1660" y="8589"/>
                    <a:pt x="1513" y="8743"/>
                  </a:cubicBezTo>
                  <a:cubicBezTo>
                    <a:pt x="1215" y="9041"/>
                    <a:pt x="1215" y="9541"/>
                    <a:pt x="1513" y="9839"/>
                  </a:cubicBezTo>
                  <a:cubicBezTo>
                    <a:pt x="1661" y="9987"/>
                    <a:pt x="1861" y="10062"/>
                    <a:pt x="2060" y="10062"/>
                  </a:cubicBezTo>
                  <a:cubicBezTo>
                    <a:pt x="2260" y="10062"/>
                    <a:pt x="2459" y="9987"/>
                    <a:pt x="2608" y="9839"/>
                  </a:cubicBezTo>
                  <a:cubicBezTo>
                    <a:pt x="2870" y="9589"/>
                    <a:pt x="2906" y="9196"/>
                    <a:pt x="2727" y="8898"/>
                  </a:cubicBezTo>
                  <a:lnTo>
                    <a:pt x="3263" y="8362"/>
                  </a:lnTo>
                  <a:lnTo>
                    <a:pt x="5930" y="11029"/>
                  </a:lnTo>
                  <a:cubicBezTo>
                    <a:pt x="6085" y="11184"/>
                    <a:pt x="6293" y="11261"/>
                    <a:pt x="6501" y="11261"/>
                  </a:cubicBezTo>
                  <a:cubicBezTo>
                    <a:pt x="6710" y="11261"/>
                    <a:pt x="6918" y="11184"/>
                    <a:pt x="7073" y="11029"/>
                  </a:cubicBezTo>
                  <a:cubicBezTo>
                    <a:pt x="7359" y="10696"/>
                    <a:pt x="7359" y="10184"/>
                    <a:pt x="7049" y="9874"/>
                  </a:cubicBezTo>
                  <a:lnTo>
                    <a:pt x="6632" y="9458"/>
                  </a:lnTo>
                  <a:cubicBezTo>
                    <a:pt x="6751" y="8529"/>
                    <a:pt x="7299" y="7136"/>
                    <a:pt x="7906" y="5910"/>
                  </a:cubicBezTo>
                  <a:cubicBezTo>
                    <a:pt x="8168" y="5421"/>
                    <a:pt x="8204" y="4898"/>
                    <a:pt x="8073" y="4433"/>
                  </a:cubicBezTo>
                  <a:lnTo>
                    <a:pt x="11109" y="1397"/>
                  </a:lnTo>
                  <a:cubicBezTo>
                    <a:pt x="11181" y="1314"/>
                    <a:pt x="11169" y="1195"/>
                    <a:pt x="11097" y="1123"/>
                  </a:cubicBezTo>
                  <a:cubicBezTo>
                    <a:pt x="11055" y="1086"/>
                    <a:pt x="11008" y="1070"/>
                    <a:pt x="10963" y="1070"/>
                  </a:cubicBezTo>
                  <a:cubicBezTo>
                    <a:pt x="10906" y="1070"/>
                    <a:pt x="10851" y="1095"/>
                    <a:pt x="10811" y="1135"/>
                  </a:cubicBezTo>
                  <a:cubicBezTo>
                    <a:pt x="10800" y="1147"/>
                    <a:pt x="10990" y="969"/>
                    <a:pt x="7906" y="4040"/>
                  </a:cubicBezTo>
                  <a:cubicBezTo>
                    <a:pt x="7763" y="3778"/>
                    <a:pt x="7537" y="3564"/>
                    <a:pt x="7275" y="3409"/>
                  </a:cubicBezTo>
                  <a:lnTo>
                    <a:pt x="10157" y="528"/>
                  </a:lnTo>
                  <a:cubicBezTo>
                    <a:pt x="10248" y="437"/>
                    <a:pt x="10365" y="393"/>
                    <a:pt x="10480" y="393"/>
                  </a:cubicBezTo>
                  <a:cubicBezTo>
                    <a:pt x="10636" y="393"/>
                    <a:pt x="10789" y="473"/>
                    <a:pt x="10871" y="623"/>
                  </a:cubicBezTo>
                  <a:cubicBezTo>
                    <a:pt x="10912" y="690"/>
                    <a:pt x="10983" y="733"/>
                    <a:pt x="11054" y="733"/>
                  </a:cubicBezTo>
                  <a:cubicBezTo>
                    <a:pt x="11085" y="733"/>
                    <a:pt x="11116" y="725"/>
                    <a:pt x="11145" y="707"/>
                  </a:cubicBezTo>
                  <a:cubicBezTo>
                    <a:pt x="11228" y="647"/>
                    <a:pt x="11276" y="528"/>
                    <a:pt x="11216" y="433"/>
                  </a:cubicBezTo>
                  <a:cubicBezTo>
                    <a:pt x="11058" y="152"/>
                    <a:pt x="10770" y="1"/>
                    <a:pt x="1047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80">
              <a:extLst>
                <a:ext uri="{FF2B5EF4-FFF2-40B4-BE49-F238E27FC236}">
                  <a16:creationId xmlns:a16="http://schemas.microsoft.com/office/drawing/2014/main" id="{AB732764-EF53-1413-9478-B7EB29206EF6}"/>
                </a:ext>
              </a:extLst>
            </p:cNvPr>
            <p:cNvSpPr/>
            <p:nvPr/>
          </p:nvSpPr>
          <p:spPr>
            <a:xfrm>
              <a:off x="3510335" y="2959936"/>
              <a:ext cx="176413" cy="43291"/>
            </a:xfrm>
            <a:custGeom>
              <a:avLst/>
              <a:gdLst/>
              <a:ahLst/>
              <a:cxnLst/>
              <a:rect l="l" t="t" r="r" b="b"/>
              <a:pathLst>
                <a:path w="5538" h="1359" extrusionOk="0">
                  <a:moveTo>
                    <a:pt x="3439" y="0"/>
                  </a:moveTo>
                  <a:cubicBezTo>
                    <a:pt x="2239" y="0"/>
                    <a:pt x="999" y="350"/>
                    <a:pt x="96" y="995"/>
                  </a:cubicBezTo>
                  <a:cubicBezTo>
                    <a:pt x="13" y="1054"/>
                    <a:pt x="1" y="1185"/>
                    <a:pt x="60" y="1280"/>
                  </a:cubicBezTo>
                  <a:cubicBezTo>
                    <a:pt x="96" y="1330"/>
                    <a:pt x="156" y="1358"/>
                    <a:pt x="217" y="1358"/>
                  </a:cubicBezTo>
                  <a:cubicBezTo>
                    <a:pt x="259" y="1358"/>
                    <a:pt x="300" y="1345"/>
                    <a:pt x="334" y="1316"/>
                  </a:cubicBezTo>
                  <a:cubicBezTo>
                    <a:pt x="965" y="876"/>
                    <a:pt x="1787" y="578"/>
                    <a:pt x="2656" y="459"/>
                  </a:cubicBezTo>
                  <a:cubicBezTo>
                    <a:pt x="2927" y="424"/>
                    <a:pt x="3196" y="407"/>
                    <a:pt x="3459" y="407"/>
                  </a:cubicBezTo>
                  <a:cubicBezTo>
                    <a:pt x="4099" y="407"/>
                    <a:pt x="4708" y="510"/>
                    <a:pt x="5240" y="721"/>
                  </a:cubicBezTo>
                  <a:cubicBezTo>
                    <a:pt x="5258" y="729"/>
                    <a:pt x="5279" y="733"/>
                    <a:pt x="5300" y="733"/>
                  </a:cubicBezTo>
                  <a:cubicBezTo>
                    <a:pt x="5373" y="733"/>
                    <a:pt x="5453" y="687"/>
                    <a:pt x="5490" y="614"/>
                  </a:cubicBezTo>
                  <a:cubicBezTo>
                    <a:pt x="5537" y="506"/>
                    <a:pt x="5478" y="387"/>
                    <a:pt x="5383" y="352"/>
                  </a:cubicBezTo>
                  <a:cubicBezTo>
                    <a:pt x="4795" y="114"/>
                    <a:pt x="4123" y="0"/>
                    <a:pt x="34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80">
              <a:extLst>
                <a:ext uri="{FF2B5EF4-FFF2-40B4-BE49-F238E27FC236}">
                  <a16:creationId xmlns:a16="http://schemas.microsoft.com/office/drawing/2014/main" id="{08CEF68B-DB76-DA4D-1F8A-B66EBA29E0C5}"/>
                </a:ext>
              </a:extLst>
            </p:cNvPr>
            <p:cNvSpPr/>
            <p:nvPr/>
          </p:nvSpPr>
          <p:spPr>
            <a:xfrm>
              <a:off x="3530435" y="2920213"/>
              <a:ext cx="133918" cy="35072"/>
            </a:xfrm>
            <a:custGeom>
              <a:avLst/>
              <a:gdLst/>
              <a:ahLst/>
              <a:cxnLst/>
              <a:rect l="l" t="t" r="r" b="b"/>
              <a:pathLst>
                <a:path w="4204" h="1101" extrusionOk="0">
                  <a:moveTo>
                    <a:pt x="2585" y="0"/>
                  </a:moveTo>
                  <a:cubicBezTo>
                    <a:pt x="1695" y="0"/>
                    <a:pt x="780" y="258"/>
                    <a:pt x="108" y="741"/>
                  </a:cubicBezTo>
                  <a:cubicBezTo>
                    <a:pt x="13" y="801"/>
                    <a:pt x="1" y="932"/>
                    <a:pt x="60" y="1027"/>
                  </a:cubicBezTo>
                  <a:cubicBezTo>
                    <a:pt x="95" y="1076"/>
                    <a:pt x="158" y="1100"/>
                    <a:pt x="221" y="1100"/>
                  </a:cubicBezTo>
                  <a:cubicBezTo>
                    <a:pt x="266" y="1100"/>
                    <a:pt x="311" y="1088"/>
                    <a:pt x="346" y="1063"/>
                  </a:cubicBezTo>
                  <a:cubicBezTo>
                    <a:pt x="955" y="637"/>
                    <a:pt x="1801" y="405"/>
                    <a:pt x="2613" y="405"/>
                  </a:cubicBezTo>
                  <a:cubicBezTo>
                    <a:pt x="3071" y="405"/>
                    <a:pt x="3519" y="479"/>
                    <a:pt x="3906" y="634"/>
                  </a:cubicBezTo>
                  <a:cubicBezTo>
                    <a:pt x="3925" y="642"/>
                    <a:pt x="3945" y="646"/>
                    <a:pt x="3966" y="646"/>
                  </a:cubicBezTo>
                  <a:cubicBezTo>
                    <a:pt x="4039" y="646"/>
                    <a:pt x="4119" y="599"/>
                    <a:pt x="4156" y="515"/>
                  </a:cubicBezTo>
                  <a:cubicBezTo>
                    <a:pt x="4204" y="408"/>
                    <a:pt x="4144" y="289"/>
                    <a:pt x="4049" y="265"/>
                  </a:cubicBezTo>
                  <a:cubicBezTo>
                    <a:pt x="3604" y="86"/>
                    <a:pt x="3099" y="0"/>
                    <a:pt x="258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80">
              <a:extLst>
                <a:ext uri="{FF2B5EF4-FFF2-40B4-BE49-F238E27FC236}">
                  <a16:creationId xmlns:a16="http://schemas.microsoft.com/office/drawing/2014/main" id="{1E1D371E-AD55-E2C0-1540-5F3947C53B9A}"/>
                </a:ext>
              </a:extLst>
            </p:cNvPr>
            <p:cNvSpPr/>
            <p:nvPr/>
          </p:nvSpPr>
          <p:spPr>
            <a:xfrm>
              <a:off x="3761416" y="3078787"/>
              <a:ext cx="53134" cy="174916"/>
            </a:xfrm>
            <a:custGeom>
              <a:avLst/>
              <a:gdLst/>
              <a:ahLst/>
              <a:cxnLst/>
              <a:rect l="l" t="t" r="r" b="b"/>
              <a:pathLst>
                <a:path w="1668" h="5491" extrusionOk="0">
                  <a:moveTo>
                    <a:pt x="830" y="1"/>
                  </a:moveTo>
                  <a:cubicBezTo>
                    <a:pt x="807" y="1"/>
                    <a:pt x="784" y="5"/>
                    <a:pt x="763" y="14"/>
                  </a:cubicBezTo>
                  <a:cubicBezTo>
                    <a:pt x="656" y="62"/>
                    <a:pt x="608" y="181"/>
                    <a:pt x="656" y="276"/>
                  </a:cubicBezTo>
                  <a:cubicBezTo>
                    <a:pt x="953" y="1002"/>
                    <a:pt x="1061" y="1919"/>
                    <a:pt x="918" y="2848"/>
                  </a:cubicBezTo>
                  <a:cubicBezTo>
                    <a:pt x="799" y="3717"/>
                    <a:pt x="501" y="4550"/>
                    <a:pt x="60" y="5169"/>
                  </a:cubicBezTo>
                  <a:cubicBezTo>
                    <a:pt x="1" y="5253"/>
                    <a:pt x="13" y="5372"/>
                    <a:pt x="108" y="5443"/>
                  </a:cubicBezTo>
                  <a:cubicBezTo>
                    <a:pt x="136" y="5476"/>
                    <a:pt x="174" y="5491"/>
                    <a:pt x="213" y="5491"/>
                  </a:cubicBezTo>
                  <a:cubicBezTo>
                    <a:pt x="272" y="5491"/>
                    <a:pt x="334" y="5458"/>
                    <a:pt x="370" y="5407"/>
                  </a:cubicBezTo>
                  <a:cubicBezTo>
                    <a:pt x="1370" y="3991"/>
                    <a:pt x="1668" y="1740"/>
                    <a:pt x="1013" y="121"/>
                  </a:cubicBezTo>
                  <a:cubicBezTo>
                    <a:pt x="977" y="41"/>
                    <a:pt x="901" y="1"/>
                    <a:pt x="83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80">
              <a:extLst>
                <a:ext uri="{FF2B5EF4-FFF2-40B4-BE49-F238E27FC236}">
                  <a16:creationId xmlns:a16="http://schemas.microsoft.com/office/drawing/2014/main" id="{6A93F0E3-5CD6-69A6-AF9F-E8DC374DAA7D}"/>
                </a:ext>
              </a:extLst>
            </p:cNvPr>
            <p:cNvSpPr/>
            <p:nvPr/>
          </p:nvSpPr>
          <p:spPr>
            <a:xfrm>
              <a:off x="3809230" y="3100990"/>
              <a:ext cx="42877" cy="132326"/>
            </a:xfrm>
            <a:custGeom>
              <a:avLst/>
              <a:gdLst/>
              <a:ahLst/>
              <a:cxnLst/>
              <a:rect l="l" t="t" r="r" b="b"/>
              <a:pathLst>
                <a:path w="1346" h="4154" extrusionOk="0">
                  <a:moveTo>
                    <a:pt x="674" y="1"/>
                  </a:moveTo>
                  <a:cubicBezTo>
                    <a:pt x="647" y="1"/>
                    <a:pt x="620" y="7"/>
                    <a:pt x="595" y="19"/>
                  </a:cubicBezTo>
                  <a:cubicBezTo>
                    <a:pt x="488" y="67"/>
                    <a:pt x="452" y="186"/>
                    <a:pt x="488" y="269"/>
                  </a:cubicBezTo>
                  <a:cubicBezTo>
                    <a:pt x="929" y="1365"/>
                    <a:pt x="750" y="2877"/>
                    <a:pt x="60" y="3829"/>
                  </a:cubicBezTo>
                  <a:cubicBezTo>
                    <a:pt x="0" y="3925"/>
                    <a:pt x="24" y="4044"/>
                    <a:pt x="107" y="4115"/>
                  </a:cubicBezTo>
                  <a:cubicBezTo>
                    <a:pt x="134" y="4142"/>
                    <a:pt x="170" y="4153"/>
                    <a:pt x="209" y="4153"/>
                  </a:cubicBezTo>
                  <a:cubicBezTo>
                    <a:pt x="273" y="4153"/>
                    <a:pt x="344" y="4120"/>
                    <a:pt x="381" y="4068"/>
                  </a:cubicBezTo>
                  <a:cubicBezTo>
                    <a:pt x="1119" y="3008"/>
                    <a:pt x="1345" y="1341"/>
                    <a:pt x="857" y="127"/>
                  </a:cubicBezTo>
                  <a:cubicBezTo>
                    <a:pt x="822" y="48"/>
                    <a:pt x="748" y="1"/>
                    <a:pt x="67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A3FD8FDC-ECCC-2D35-B458-68552399898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9330761"/>
                  </p:ext>
                </p:extLst>
              </p:nvPr>
            </p:nvGraphicFramePr>
            <p:xfrm>
              <a:off x="275713" y="725950"/>
              <a:ext cx="8583504" cy="3286506"/>
            </p:xfrm>
            <a:graphic>
              <a:graphicData uri="http://schemas.openxmlformats.org/drawingml/2006/table">
                <a:tbl>
                  <a:tblPr firstRow="1" bandRow="1">
                    <a:tableStyleId>{2DC18286-B338-40E4-A1DF-69A9D49425DA}</a:tableStyleId>
                  </a:tblPr>
                  <a:tblGrid>
                    <a:gridCol w="2145876">
                      <a:extLst>
                        <a:ext uri="{9D8B030D-6E8A-4147-A177-3AD203B41FA5}">
                          <a16:colId xmlns:a16="http://schemas.microsoft.com/office/drawing/2014/main" val="1219548987"/>
                        </a:ext>
                      </a:extLst>
                    </a:gridCol>
                    <a:gridCol w="802551">
                      <a:extLst>
                        <a:ext uri="{9D8B030D-6E8A-4147-A177-3AD203B41FA5}">
                          <a16:colId xmlns:a16="http://schemas.microsoft.com/office/drawing/2014/main" val="1668607842"/>
                        </a:ext>
                      </a:extLst>
                    </a:gridCol>
                    <a:gridCol w="3213236">
                      <a:extLst>
                        <a:ext uri="{9D8B030D-6E8A-4147-A177-3AD203B41FA5}">
                          <a16:colId xmlns:a16="http://schemas.microsoft.com/office/drawing/2014/main" val="1714645405"/>
                        </a:ext>
                      </a:extLst>
                    </a:gridCol>
                    <a:gridCol w="2421841">
                      <a:extLst>
                        <a:ext uri="{9D8B030D-6E8A-4147-A177-3AD203B41FA5}">
                          <a16:colId xmlns:a16="http://schemas.microsoft.com/office/drawing/2014/main" val="3472251515"/>
                        </a:ext>
                      </a:extLst>
                    </a:gridCol>
                  </a:tblGrid>
                  <a:tr h="467614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      Researcher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         Year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Contribution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 Drawback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17220717"/>
                      </a:ext>
                    </a:extLst>
                  </a:tr>
                  <a:tr h="1017642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Samiha Lubaba, K. M. Faisal , Moumita Sadia Islam, Mehedi Hasan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         2020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Developed a </a:t>
                          </a:r>
                          <a:r>
                            <a:rPr lang="en-US" b="1" dirty="0"/>
                            <a:t>2-bit hybrid magnitude comparator</a:t>
                          </a:r>
                          <a:r>
                            <a:rPr lang="en-US" dirty="0"/>
                            <a:t> using PTL/TGL-based XNOR gates for low-latency internal signal generation combined with C-CMOS output logic for high driving power and full swing.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Requires a total of </a:t>
                          </a:r>
                          <a:r>
                            <a:rPr lang="en-US" b="1" dirty="0"/>
                            <a:t>46 transistors</a:t>
                          </a:r>
                          <a:r>
                            <a:rPr lang="en-US" dirty="0"/>
                            <a:t>; average power dissipation (7.792 µW) remains slightly higher than pure GDI-based architectures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63024372"/>
                      </a:ext>
                    </a:extLst>
                  </a:tr>
                  <a:tr h="472617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 Yashmit Sharma, Premananda B.S, Divyanshu Ra, Kshitij Pandey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2025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Arial" panose="020B0604020202090204"/>
                              <a:ea typeface="Arial" panose="020B0604020202090204"/>
                              <a:cs typeface="Arial" panose="020B0604020202090204"/>
                              <a:sym typeface="Arial" panose="020B0604020202090204"/>
                            </a:rPr>
                            <a:t>Created a </a:t>
                          </a:r>
                          <a:r>
                            <a:rPr lang="en-US" sz="1400" b="1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Arial" panose="020B0604020202090204"/>
                              <a:ea typeface="Arial" panose="020B0604020202090204"/>
                              <a:cs typeface="Arial" panose="020B0604020202090204"/>
                              <a:sym typeface="Arial" panose="020B0604020202090204"/>
                            </a:rPr>
                            <a:t>1-bit hybrid comparator combining a 6T-MUX PTL Full Adder with TGL output gates</a:t>
                          </a:r>
                          <a:r>
                            <a:rPr lang="en-US" sz="14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Arial" panose="020B0604020202090204"/>
                              <a:ea typeface="Arial" panose="020B0604020202090204"/>
                              <a:cs typeface="Arial" panose="020B0604020202090204"/>
                              <a:sym typeface="Arial" panose="020B0604020202090204"/>
                            </a:rPr>
                            <a:t>, achieving a 22-transistor footprint and </a:t>
                          </a:r>
                          <a14:m>
                            <m:oMath xmlns:m="http://schemas.openxmlformats.org/officeDocument/2006/math">
                              <m:r>
                                <a:rPr lang="en-US" sz="1400" b="0" i="0" u="none" strike="noStrike" cap="none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Arial" panose="020B0604020202090204"/>
                                  <a:cs typeface="Arial" panose="020B0604020202090204"/>
                                  <a:sym typeface="Arial" panose="020B0604020202090204"/>
                                </a:rPr>
                                <m:t>58.7</m:t>
                              </m:r>
                              <m:r>
                                <a:rPr lang="en-US" sz="1400" b="0" i="0" u="none" strike="noStrike" cap="none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Arial" panose="020B0604020202090204"/>
                                  <a:cs typeface="Arial" panose="020B0604020202090204"/>
                                  <a:sym typeface="Arial" panose="020B0604020202090204"/>
                                </a:rPr>
                                <m:t>%</m:t>
                              </m:r>
                            </m:oMath>
                          </a14:m>
                          <a:r>
                            <a:rPr lang="en-US" sz="14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Arial" panose="020B0604020202090204"/>
                              <a:ea typeface="Arial" panose="020B0604020202090204"/>
                              <a:cs typeface="Arial" panose="020B0604020202090204"/>
                              <a:sym typeface="Arial" panose="020B0604020202090204"/>
                            </a:rPr>
                            <a:t>power reduction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Arial" panose="020B0604020202090204"/>
                              <a:ea typeface="Arial" panose="020B0604020202090204"/>
                              <a:cs typeface="Arial" panose="020B0604020202090204"/>
                              <a:sym typeface="Arial" panose="020B0604020202090204"/>
                            </a:rPr>
                            <a:t>Pass-transistor pathways can exhibit threshold voltage drop unless carefully sized/driven; requires inverted input signals (</a:t>
                          </a:r>
                          <a14:m>
                            <m:oMath xmlns:m="http://schemas.openxmlformats.org/officeDocument/2006/math">
                              <m:bar>
                                <m:barPr>
                                  <m:pos m:val="top"/>
                                  <m:ctrlPr>
                                    <a:rPr lang="en-US" sz="1400" b="0" i="1" u="none" strike="noStrike" cap="none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Arial" panose="020B0604020202090204"/>
                                      <a:cs typeface="Arial" panose="020B0604020202090204"/>
                                      <a:sym typeface="Arial" panose="020B0604020202090204"/>
                                    </a:rPr>
                                  </m:ctrlPr>
                                </m:barPr>
                                <m:e>
                                  <m:r>
                                    <a:rPr lang="en-US" sz="1400" b="0" i="1" u="none" strike="noStrike" cap="none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Arial" panose="020B0604020202090204"/>
                                      <a:cs typeface="Arial" panose="020B0604020202090204"/>
                                      <a:sym typeface="Arial" panose="020B0604020202090204"/>
                                    </a:rPr>
                                    <m:t>𝐴</m:t>
                                  </m:r>
                                </m:e>
                              </m:bar>
                              <m:r>
                                <a:rPr lang="en-US" sz="1400" b="0" i="0" u="none" strike="noStrike" cap="none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Arial" panose="020B0604020202090204"/>
                                  <a:cs typeface="Arial" panose="020B0604020202090204"/>
                                  <a:sym typeface="Arial" panose="020B0604020202090204"/>
                                </a:rPr>
                                <m:t>,</m:t>
                              </m:r>
                              <m:bar>
                                <m:barPr>
                                  <m:pos m:val="top"/>
                                  <m:ctrlPr>
                                    <a:rPr lang="en-US" sz="1400" b="0" i="1" u="none" strike="noStrike" cap="none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Arial" panose="020B0604020202090204"/>
                                      <a:cs typeface="Arial" panose="020B0604020202090204"/>
                                      <a:sym typeface="Arial" panose="020B0604020202090204"/>
                                    </a:rPr>
                                  </m:ctrlPr>
                                </m:barPr>
                                <m:e>
                                  <m:r>
                                    <a:rPr lang="en-US" sz="1400" b="0" i="1" u="none" strike="noStrike" cap="none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Arial" panose="020B0604020202090204"/>
                                      <a:cs typeface="Arial" panose="020B0604020202090204"/>
                                      <a:sym typeface="Arial" panose="020B0604020202090204"/>
                                    </a:rPr>
                                    <m:t>𝐵</m:t>
                                  </m:r>
                                </m:e>
                              </m:bar>
                            </m:oMath>
                          </a14:m>
                          <a:r>
                            <a:rPr lang="en-US" sz="14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Arial" panose="020B0604020202090204"/>
                              <a:ea typeface="Arial" panose="020B0604020202090204"/>
                              <a:cs typeface="Arial" panose="020B0604020202090204"/>
                              <a:sym typeface="Arial" panose="020B0604020202090204"/>
                            </a:rPr>
                            <a:t>).</a:t>
                          </a:r>
                          <a:r>
                            <a:rPr lang="en-US" dirty="0"/>
                            <a:t>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0753534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A3FD8FDC-ECCC-2D35-B458-68552399898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9330761"/>
                  </p:ext>
                </p:extLst>
              </p:nvPr>
            </p:nvGraphicFramePr>
            <p:xfrm>
              <a:off x="275713" y="725950"/>
              <a:ext cx="8583504" cy="3286506"/>
            </p:xfrm>
            <a:graphic>
              <a:graphicData uri="http://schemas.openxmlformats.org/drawingml/2006/table">
                <a:tbl>
                  <a:tblPr firstRow="1" bandRow="1">
                    <a:tableStyleId>{2DC18286-B338-40E4-A1DF-69A9D49425DA}</a:tableStyleId>
                  </a:tblPr>
                  <a:tblGrid>
                    <a:gridCol w="2145876">
                      <a:extLst>
                        <a:ext uri="{9D8B030D-6E8A-4147-A177-3AD203B41FA5}">
                          <a16:colId xmlns:a16="http://schemas.microsoft.com/office/drawing/2014/main" val="1219548987"/>
                        </a:ext>
                      </a:extLst>
                    </a:gridCol>
                    <a:gridCol w="802551">
                      <a:extLst>
                        <a:ext uri="{9D8B030D-6E8A-4147-A177-3AD203B41FA5}">
                          <a16:colId xmlns:a16="http://schemas.microsoft.com/office/drawing/2014/main" val="1668607842"/>
                        </a:ext>
                      </a:extLst>
                    </a:gridCol>
                    <a:gridCol w="3213236">
                      <a:extLst>
                        <a:ext uri="{9D8B030D-6E8A-4147-A177-3AD203B41FA5}">
                          <a16:colId xmlns:a16="http://schemas.microsoft.com/office/drawing/2014/main" val="1714645405"/>
                        </a:ext>
                      </a:extLst>
                    </a:gridCol>
                    <a:gridCol w="2421841">
                      <a:extLst>
                        <a:ext uri="{9D8B030D-6E8A-4147-A177-3AD203B41FA5}">
                          <a16:colId xmlns:a16="http://schemas.microsoft.com/office/drawing/2014/main" val="3472251515"/>
                        </a:ext>
                      </a:extLst>
                    </a:gridCol>
                  </a:tblGrid>
                  <a:tr h="51816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      Researcher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         Year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Contribution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 Drawback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17220717"/>
                      </a:ext>
                    </a:extLst>
                  </a:tr>
                  <a:tr h="137160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Samiha Lubaba, K. M. Faisal , Moumita Sadia Islam, Mehedi Hasan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         2020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Developed a </a:t>
                          </a:r>
                          <a:r>
                            <a:rPr lang="en-US" b="1" dirty="0"/>
                            <a:t>2-bit hybrid magnitude comparator</a:t>
                          </a:r>
                          <a:r>
                            <a:rPr lang="en-US" dirty="0"/>
                            <a:t> using PTL/TGL-based XNOR gates for low-latency internal signal generation combined with C-CMOS output logic for high driving power and full swing.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Requires a total of </a:t>
                          </a:r>
                          <a:r>
                            <a:rPr lang="en-US" b="1" dirty="0"/>
                            <a:t>46 transistors</a:t>
                          </a:r>
                          <a:r>
                            <a:rPr lang="en-US" dirty="0"/>
                            <a:t>; average power dissipation (7.792 µW) remains slightly higher than pure GDI-based architectures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63024372"/>
                      </a:ext>
                    </a:extLst>
                  </a:tr>
                  <a:tr h="1396746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 Yashmit Sharma, </a:t>
                          </a:r>
                          <a:r>
                            <a:rPr lang="en-US" dirty="0" err="1"/>
                            <a:t>Premananda</a:t>
                          </a:r>
                          <a:r>
                            <a:rPr lang="en-US" dirty="0"/>
                            <a:t> B.S, Divyanshu Ra, Kshitij Pandey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2025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92030" t="-136681" r="-75712" b="-48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54271" t="-136681" r="-251" b="-480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0753534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9B434324-1EF3-C8C4-C5CE-E9A28A9F00D9}"/>
              </a:ext>
            </a:extLst>
          </p:cNvPr>
          <p:cNvSpPr txBox="1"/>
          <p:nvPr/>
        </p:nvSpPr>
        <p:spPr>
          <a:xfrm>
            <a:off x="8708923" y="4689558"/>
            <a:ext cx="5671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4260868430"/>
      </p:ext>
    </p:extLst>
  </p:cSld>
  <p:clrMapOvr>
    <a:masterClrMapping/>
  </p:clrMapOvr>
  <p:transition spd="slow"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p85"/>
          <p:cNvSpPr txBox="1">
            <a:spLocks noGrp="1"/>
          </p:cNvSpPr>
          <p:nvPr>
            <p:ph type="title"/>
          </p:nvPr>
        </p:nvSpPr>
        <p:spPr>
          <a:xfrm>
            <a:off x="2191162" y="172501"/>
            <a:ext cx="4448344" cy="386338"/>
          </a:xfrm>
          <a:prstGeom prst="rect">
            <a:avLst/>
          </a:prstGeom>
          <a:ln>
            <a:solidFill>
              <a:srgbClr val="334436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800" b="1" dirty="0"/>
              <a:t>INTRODUCTION TO Comparator</a:t>
            </a:r>
            <a:endParaRPr lang="en-US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Google Shape;1195;p86"/>
              <p:cNvSpPr txBox="1"/>
              <p:nvPr/>
            </p:nvSpPr>
            <p:spPr>
              <a:xfrm>
                <a:off x="652294" y="914400"/>
                <a:ext cx="6781852" cy="399972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334436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285750" lvl="0" indent="-285750">
                  <a:buFont typeface="Wingdings" panose="05000000000000000000" pitchFamily="2" charset="2"/>
                  <a:buChar char="Ø"/>
                </a:pPr>
                <a:r>
                  <a:rPr lang="en-US" b="1" dirty="0"/>
                  <a:t>Definition</a:t>
                </a:r>
                <a:r>
                  <a:rPr lang="en-US" dirty="0"/>
                  <a:t>: A digital magnitude comparator is a combinational logic circuit used to compare two binary numbers (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) and determine their relative numerical values. </a:t>
                </a:r>
              </a:p>
              <a:p>
                <a:pPr marL="285750" lvl="0" indent="-285750">
                  <a:buFont typeface="Wingdings" panose="05000000000000000000" pitchFamily="2" charset="2"/>
                  <a:buChar char="Ø"/>
                </a:pPr>
                <a:endParaRPr lang="en-US" dirty="0"/>
              </a:p>
              <a:p>
                <a:pPr marL="285750" lvl="0" indent="-285750">
                  <a:buFont typeface="Wingdings" panose="05000000000000000000" pitchFamily="2" charset="2"/>
                  <a:buChar char="Ø"/>
                </a:pPr>
                <a:r>
                  <a:rPr lang="en-US" b="1" dirty="0"/>
                  <a:t>Output Signals</a:t>
                </a:r>
                <a:r>
                  <a:rPr lang="en-US" dirty="0"/>
                  <a:t>: It generates three distinct output signals to indicate the exact comparison result: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(Greater Than),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(Less Than),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(Equal To). </a:t>
                </a:r>
              </a:p>
              <a:p>
                <a:pPr marL="285750" lvl="0" indent="-285750">
                  <a:buFont typeface="Wingdings" panose="05000000000000000000" pitchFamily="2" charset="2"/>
                  <a:buChar char="Ø"/>
                </a:pPr>
                <a:endParaRPr lang="en-US" dirty="0"/>
              </a:p>
              <a:p>
                <a:pPr marL="285750" lvl="0" indent="-285750">
                  <a:buFont typeface="Wingdings" panose="05000000000000000000" pitchFamily="2" charset="2"/>
                  <a:buChar char="Ø"/>
                </a:pPr>
                <a:r>
                  <a:rPr lang="en-US" b="1" dirty="0"/>
                  <a:t>Implementation Techniques</a:t>
                </a:r>
                <a:r>
                  <a:rPr lang="en-US" dirty="0"/>
                  <a:t>: Designed using various CMOS logic styles such as Complementary CMOS (C-CMOS), Transmission Gate Logic (TGL), Pass Transistor Logic (PTL), and Gate Diffusion Input (GDI). </a:t>
                </a:r>
              </a:p>
              <a:p>
                <a:pPr marL="285750" lvl="0" indent="-285750">
                  <a:buFont typeface="Wingdings" panose="05000000000000000000" pitchFamily="2" charset="2"/>
                  <a:buChar char="Ø"/>
                </a:pPr>
                <a:endParaRPr lang="en-US" dirty="0"/>
              </a:p>
              <a:p>
                <a:pPr marL="285750" lvl="0" indent="-285750">
                  <a:buFont typeface="Wingdings" panose="05000000000000000000" pitchFamily="2" charset="2"/>
                  <a:buChar char="Ø"/>
                </a:pPr>
                <a:r>
                  <a:rPr lang="en-US" b="1" dirty="0"/>
                  <a:t>Applications</a:t>
                </a:r>
                <a:r>
                  <a:rPr lang="en-US" dirty="0"/>
                  <a:t>: Used in ALU, processors, memory circuits, address decoding, and digital control systems.</a:t>
                </a:r>
              </a:p>
              <a:p>
                <a:pPr>
                  <a:lnSpc>
                    <a:spcPct val="150000"/>
                  </a:lnSpc>
                </a:pPr>
                <a:endParaRPr lang="en-US" dirty="0"/>
              </a:p>
            </p:txBody>
          </p:sp>
        </mc:Choice>
        <mc:Fallback xmlns="">
          <p:sp>
            <p:nvSpPr>
              <p:cNvPr id="3" name="Google Shape;1195;p8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294" y="914400"/>
                <a:ext cx="6781852" cy="3999725"/>
              </a:xfrm>
              <a:prstGeom prst="rect">
                <a:avLst/>
              </a:prstGeom>
              <a:blipFill>
                <a:blip r:embed="rId4"/>
                <a:stretch>
                  <a:fillRect r="-538"/>
                </a:stretch>
              </a:blipFill>
              <a:ln>
                <a:solidFill>
                  <a:srgbClr val="334436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0277AD34-7C3D-2FCB-D840-6E0BE9534D79}"/>
              </a:ext>
            </a:extLst>
          </p:cNvPr>
          <p:cNvSpPr txBox="1"/>
          <p:nvPr/>
        </p:nvSpPr>
        <p:spPr>
          <a:xfrm>
            <a:off x="8708923" y="4689558"/>
            <a:ext cx="5671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09</a:t>
            </a:r>
          </a:p>
        </p:txBody>
      </p:sp>
    </p:spTree>
  </p:cSld>
  <p:clrMapOvr>
    <a:masterClrMapping/>
  </p:clrMapOvr>
  <p:transition spd="slow"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p85"/>
          <p:cNvSpPr txBox="1">
            <a:spLocks noGrp="1"/>
          </p:cNvSpPr>
          <p:nvPr>
            <p:ph type="title"/>
          </p:nvPr>
        </p:nvSpPr>
        <p:spPr>
          <a:xfrm>
            <a:off x="2979182" y="120462"/>
            <a:ext cx="2469525" cy="386338"/>
          </a:xfrm>
          <a:prstGeom prst="rect">
            <a:avLst/>
          </a:prstGeom>
          <a:ln>
            <a:solidFill>
              <a:srgbClr val="334436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800" b="1" dirty="0"/>
              <a:t>CMOS Logic Styles</a:t>
            </a:r>
            <a:endParaRPr lang="en-US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Google Shape;1195;p86"/>
              <p:cNvSpPr txBox="1"/>
              <p:nvPr/>
            </p:nvSpPr>
            <p:spPr>
              <a:xfrm>
                <a:off x="213679" y="700088"/>
                <a:ext cx="4358321" cy="402059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334436"/>
                </a:solidFill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US" b="1" dirty="0"/>
                  <a:t>Static Logic</a:t>
                </a:r>
                <a:r>
                  <a:rPr lang="en-US" dirty="0"/>
                  <a:t>:</a:t>
                </a:r>
              </a:p>
              <a:p>
                <a:pPr marL="285750" lvl="1" indent="-285750">
                  <a:lnSpc>
                    <a:spcPct val="150000"/>
                  </a:lnSpc>
                  <a:buFont typeface="Arial" panose="020B0604020202090204" pitchFamily="34" charset="0"/>
                  <a:buChar char="•"/>
                </a:pPr>
                <a:r>
                  <a:rPr lang="en-US" dirty="0"/>
                  <a:t>Uses pMOS and nMOS in complementary fashion</a:t>
                </a:r>
              </a:p>
              <a:p>
                <a:pPr marL="285750" lvl="1" indent="-285750">
                  <a:lnSpc>
                    <a:spcPct val="150000"/>
                  </a:lnSpc>
                  <a:buFont typeface="Arial" panose="020B0604020202090204" pitchFamily="34" charset="0"/>
                  <a:buChar char="•"/>
                </a:pPr>
                <a:r>
                  <a:rPr lang="en-US" dirty="0"/>
                  <a:t>Stable output maintained without clock</a:t>
                </a:r>
              </a:p>
              <a:p>
                <a:pPr marL="285750" lvl="1" indent="-285750">
                  <a:lnSpc>
                    <a:spcPct val="150000"/>
                  </a:lnSpc>
                  <a:buFont typeface="Arial" panose="020B0604020202090204" pitchFamily="34" charset="0"/>
                  <a:buChar char="•"/>
                </a:pPr>
                <a:r>
                  <a:rPr lang="en-US" dirty="0"/>
                  <a:t>Low power dissipation when idle</a:t>
                </a: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US" b="1" dirty="0"/>
                  <a:t>PTL Logic</a:t>
                </a:r>
                <a:r>
                  <a:rPr lang="en-US" dirty="0"/>
                  <a:t>:</a:t>
                </a:r>
              </a:p>
              <a:p>
                <a:pPr marL="285750" lvl="1" indent="-285750">
                  <a:lnSpc>
                    <a:spcPct val="150000"/>
                  </a:lnSpc>
                  <a:buFont typeface="Arial" panose="020B0604020202090204" pitchFamily="34" charset="0"/>
                  <a:buChar char="•"/>
                </a:pPr>
                <a:r>
                  <a:rPr lang="en-US" dirty="0"/>
                  <a:t>Passes signals directly through single MOS switches to save area.</a:t>
                </a:r>
              </a:p>
              <a:p>
                <a:pPr marL="285750" lvl="1" indent="-285750">
                  <a:lnSpc>
                    <a:spcPct val="150000"/>
                  </a:lnSpc>
                  <a:buFont typeface="Arial" panose="020B0604020202090204" pitchFamily="34" charset="0"/>
                  <a:buChar char="•"/>
                </a:pPr>
                <a:r>
                  <a:rPr lang="en-US" dirty="0"/>
                  <a:t>Uses fewer transistors, lowering overall dynamic power usage.</a:t>
                </a:r>
              </a:p>
              <a:p>
                <a:pPr marL="285750" lvl="1" indent="-285750">
                  <a:lnSpc>
                    <a:spcPct val="150000"/>
                  </a:lnSpc>
                  <a:buFont typeface="Arial" panose="020B0604020202090204" pitchFamily="34" charset="0"/>
                  <a:buChar char="•"/>
                </a:pPr>
                <a:r>
                  <a:rPr lang="en-US" dirty="0"/>
                  <a:t>Loses voltage level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𝑡ℎ</m:t>
                        </m:r>
                      </m:sub>
                    </m:sSub>
                  </m:oMath>
                </a14:m>
                <a:r>
                  <a:rPr lang="en-US" dirty="0"/>
                  <a:t> drop) when passing a logic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Google Shape;1195;p8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679" y="700088"/>
                <a:ext cx="4358321" cy="402059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rgbClr val="334436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Google Shape;1195;p86">
                <a:extLst>
                  <a:ext uri="{FF2B5EF4-FFF2-40B4-BE49-F238E27FC236}">
                    <a16:creationId xmlns:a16="http://schemas.microsoft.com/office/drawing/2014/main" id="{240FAA67-93AA-096B-7482-297BC0A6148E}"/>
                  </a:ext>
                </a:extLst>
              </p:cNvPr>
              <p:cNvSpPr txBox="1"/>
              <p:nvPr/>
            </p:nvSpPr>
            <p:spPr>
              <a:xfrm>
                <a:off x="4572000" y="700088"/>
                <a:ext cx="4358321" cy="402059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334436"/>
                </a:solidFill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US" b="1" dirty="0"/>
                  <a:t>TG Logic</a:t>
                </a:r>
                <a:r>
                  <a:rPr lang="en-US" dirty="0"/>
                  <a:t>:</a:t>
                </a:r>
              </a:p>
              <a:p>
                <a:pPr marL="285750" lvl="1" indent="-285750">
                  <a:buFont typeface="Arial" panose="020B0604020202090204" pitchFamily="34" charset="0"/>
                  <a:buChar char="•"/>
                </a:pPr>
                <a:r>
                  <a:rPr lang="en-US" dirty="0"/>
                  <a:t>Connects NMOS and PMOS in parallel to pass full logic levels</a:t>
                </a:r>
              </a:p>
              <a:p>
                <a:pPr marL="285750" lvl="1" indent="-285750">
                  <a:buFont typeface="Arial" panose="020B0604020202090204" pitchFamily="34" charset="0"/>
                  <a:buChar char="•"/>
                </a:pPr>
                <a:endParaRPr lang="en-US" dirty="0"/>
              </a:p>
              <a:p>
                <a:pPr marL="285750" lvl="1" indent="-285750">
                  <a:buFont typeface="Arial" panose="020B0604020202090204" pitchFamily="34" charset="0"/>
                  <a:buChar char="•"/>
                </a:pPr>
                <a:r>
                  <a:rPr lang="en-US" dirty="0"/>
                  <a:t>Prevents voltage drop, giving clean strong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and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outputs.</a:t>
                </a:r>
              </a:p>
              <a:p>
                <a:pPr marL="285750" lvl="1" indent="-285750">
                  <a:buFont typeface="Arial" panose="020B0604020202090204" pitchFamily="34" charset="0"/>
                  <a:buChar char="•"/>
                </a:pPr>
                <a:endParaRPr lang="en-US" dirty="0"/>
              </a:p>
              <a:p>
                <a:pPr marL="285750" lvl="1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 Needs inverted control signals, which increases               </a:t>
                </a: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US" b="1" dirty="0"/>
                  <a:t>GDI Logic</a:t>
                </a:r>
                <a:r>
                  <a:rPr lang="en-US" dirty="0"/>
                  <a:t>:</a:t>
                </a:r>
              </a:p>
              <a:p>
                <a:pPr marL="285750" lvl="1" indent="-285750">
                  <a:buFont typeface="Arial" panose="020B0604020202090204" pitchFamily="34" charset="0"/>
                  <a:buChar char="•"/>
                </a:pPr>
                <a:r>
                  <a:rPr lang="en-US" dirty="0"/>
                  <a:t>Uses a 3-input cell to implement complex functions in few transistors.</a:t>
                </a:r>
              </a:p>
              <a:p>
                <a:pPr marL="285750" lvl="1" indent="-285750">
                  <a:buFont typeface="Arial" panose="020B0604020202090204" pitchFamily="34" charset="0"/>
                  <a:buChar char="•"/>
                </a:pPr>
                <a:endParaRPr lang="en-US" dirty="0"/>
              </a:p>
              <a:p>
                <a:pPr marL="285750" lvl="1" indent="-285750">
                  <a:buFont typeface="Arial" panose="020B0604020202090204" pitchFamily="34" charset="0"/>
                  <a:buChar char="•"/>
                </a:pPr>
                <a:r>
                  <a:rPr lang="en-US" dirty="0"/>
                  <a:t>Cuts down power and area for circuits like XOR and MUX.</a:t>
                </a:r>
              </a:p>
              <a:p>
                <a:pPr marL="285750" lvl="1" indent="-285750">
                  <a:buFont typeface="Arial" panose="020B0604020202090204" pitchFamily="34" charset="0"/>
                  <a:buChar char="•"/>
                </a:pPr>
                <a:endParaRPr lang="en-US" dirty="0"/>
              </a:p>
              <a:p>
                <a:pPr marL="285750" lvl="1" indent="-285750">
                  <a:buFont typeface="Arial" panose="020B0604020202090204" pitchFamily="34" charset="0"/>
                  <a:buChar char="•"/>
                </a:pPr>
                <a:r>
                  <a:rPr lang="en-US" dirty="0"/>
                  <a:t>Needs special twin-well CMOS fabrication to avoid body effect issues.</a:t>
                </a:r>
              </a:p>
            </p:txBody>
          </p:sp>
        </mc:Choice>
        <mc:Fallback xmlns="">
          <p:sp>
            <p:nvSpPr>
              <p:cNvPr id="2" name="Google Shape;1195;p86">
                <a:extLst>
                  <a:ext uri="{FF2B5EF4-FFF2-40B4-BE49-F238E27FC236}">
                    <a16:creationId xmlns:a16="http://schemas.microsoft.com/office/drawing/2014/main" id="{240FAA67-93AA-096B-7482-297BC0A614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700088"/>
                <a:ext cx="4358321" cy="4020595"/>
              </a:xfrm>
              <a:prstGeom prst="rect">
                <a:avLst/>
              </a:prstGeom>
              <a:blipFill>
                <a:blip r:embed="rId5"/>
                <a:stretch>
                  <a:fillRect l="-139" r="-14784" b="-454"/>
                </a:stretch>
              </a:blipFill>
              <a:ln>
                <a:solidFill>
                  <a:srgbClr val="334436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03349BC0-8570-9FD3-740D-EAF84695DD13}"/>
              </a:ext>
            </a:extLst>
          </p:cNvPr>
          <p:cNvSpPr txBox="1"/>
          <p:nvPr/>
        </p:nvSpPr>
        <p:spPr>
          <a:xfrm>
            <a:off x="8708923" y="4689558"/>
            <a:ext cx="5671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10</a:t>
            </a:r>
          </a:p>
        </p:txBody>
      </p:sp>
    </p:spTree>
  </p:cSld>
  <p:clrMapOvr>
    <a:masterClrMapping/>
  </p:clrMapOvr>
  <p:transition spd="slow">
    <p:push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p85"/>
          <p:cNvSpPr txBox="1">
            <a:spLocks noGrp="1"/>
          </p:cNvSpPr>
          <p:nvPr>
            <p:ph type="title"/>
          </p:nvPr>
        </p:nvSpPr>
        <p:spPr>
          <a:xfrm>
            <a:off x="906966" y="137505"/>
            <a:ext cx="6764077" cy="386338"/>
          </a:xfrm>
          <a:prstGeom prst="rect">
            <a:avLst/>
          </a:prstGeom>
          <a:ln>
            <a:solidFill>
              <a:srgbClr val="334436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800" b="1" dirty="0"/>
              <a:t>CIRCUIT DESIGN  COMPARE IN VARIOUS  TECHNIQUE</a:t>
            </a:r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DDC80712-823F-137C-169B-FAEFCE945204}"/>
              </a:ext>
            </a:extLst>
          </p:cNvPr>
          <p:cNvGrpSpPr/>
          <p:nvPr/>
        </p:nvGrpSpPr>
        <p:grpSpPr>
          <a:xfrm>
            <a:off x="416313" y="683942"/>
            <a:ext cx="7716644" cy="3653140"/>
            <a:chOff x="548640" y="1097280"/>
            <a:chExt cx="11091672" cy="5120640"/>
          </a:xfrm>
        </p:grpSpPr>
        <p:sp>
          <p:nvSpPr>
            <p:cNvPr id="9" name="Shape 6">
              <a:extLst>
                <a:ext uri="{FF2B5EF4-FFF2-40B4-BE49-F238E27FC236}">
                  <a16:creationId xmlns:a16="http://schemas.microsoft.com/office/drawing/2014/main" id="{08FF62ED-B7C8-281F-0567-D20DA0372FD2}"/>
                </a:ext>
              </a:extLst>
            </p:cNvPr>
            <p:cNvSpPr/>
            <p:nvPr/>
          </p:nvSpPr>
          <p:spPr>
            <a:xfrm>
              <a:off x="548640" y="1097280"/>
              <a:ext cx="3593592" cy="5120640"/>
            </a:xfrm>
            <a:prstGeom prst="roundRect">
              <a:avLst>
                <a:gd name="adj" fmla="val 2036"/>
              </a:avLst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Shape 7">
              <a:extLst>
                <a:ext uri="{FF2B5EF4-FFF2-40B4-BE49-F238E27FC236}">
                  <a16:creationId xmlns:a16="http://schemas.microsoft.com/office/drawing/2014/main" id="{7F05FDDD-7B54-9F97-40B7-097FEC6C0D03}"/>
                </a:ext>
              </a:extLst>
            </p:cNvPr>
            <p:cNvSpPr/>
            <p:nvPr/>
          </p:nvSpPr>
          <p:spPr>
            <a:xfrm>
              <a:off x="548640" y="1097280"/>
              <a:ext cx="3593592" cy="411480"/>
            </a:xfrm>
            <a:prstGeom prst="roundRect">
              <a:avLst>
                <a:gd name="adj" fmla="val 17778"/>
              </a:avLst>
            </a:prstGeom>
            <a:solidFill>
              <a:srgbClr val="0F172A"/>
            </a:solidFill>
            <a:ln w="12700">
              <a:solidFill>
                <a:srgbClr val="0F172A"/>
              </a:solidFill>
              <a:prstDash val="soli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" name="Shape 8">
              <a:extLst>
                <a:ext uri="{FF2B5EF4-FFF2-40B4-BE49-F238E27FC236}">
                  <a16:creationId xmlns:a16="http://schemas.microsoft.com/office/drawing/2014/main" id="{689E5082-B555-093F-E478-A512DC2E6722}"/>
                </a:ext>
              </a:extLst>
            </p:cNvPr>
            <p:cNvSpPr/>
            <p:nvPr/>
          </p:nvSpPr>
          <p:spPr>
            <a:xfrm>
              <a:off x="548640" y="1325880"/>
              <a:ext cx="3593591" cy="182880"/>
            </a:xfrm>
            <a:prstGeom prst="rect">
              <a:avLst/>
            </a:prstGeom>
            <a:solidFill>
              <a:srgbClr val="0F172A"/>
            </a:solidFill>
            <a:ln w="12700">
              <a:solidFill>
                <a:srgbClr val="0F172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 9">
              <a:extLst>
                <a:ext uri="{FF2B5EF4-FFF2-40B4-BE49-F238E27FC236}">
                  <a16:creationId xmlns:a16="http://schemas.microsoft.com/office/drawing/2014/main" id="{BDBCD7D7-D942-2E05-7A9A-84B2BB75CABB}"/>
                </a:ext>
              </a:extLst>
            </p:cNvPr>
            <p:cNvSpPr/>
            <p:nvPr/>
          </p:nvSpPr>
          <p:spPr>
            <a:xfrm>
              <a:off x="731520" y="1170432"/>
              <a:ext cx="3227832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      Static CMOS (26T)</a:t>
              </a:r>
              <a:endParaRPr lang="en-US" sz="1300" dirty="0"/>
            </a:p>
          </p:txBody>
        </p:sp>
        <p:pic>
          <p:nvPicPr>
            <p:cNvPr id="17" name="Image 0" descr="C:\Users\shahrear\Downloads\LTSpice\Thesis\Thesis Book\Static_Comparator.png">
              <a:extLst>
                <a:ext uri="{FF2B5EF4-FFF2-40B4-BE49-F238E27FC236}">
                  <a16:creationId xmlns:a16="http://schemas.microsoft.com/office/drawing/2014/main" id="{079AE1EE-4521-2F24-CC85-675546BD47B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31520" y="1581912"/>
              <a:ext cx="3227832" cy="2103120"/>
            </a:xfrm>
            <a:prstGeom prst="rect">
              <a:avLst/>
            </a:prstGeom>
          </p:spPr>
        </p:pic>
        <p:sp>
          <p:nvSpPr>
            <p:cNvPr id="19" name="Text 10">
              <a:extLst>
                <a:ext uri="{FF2B5EF4-FFF2-40B4-BE49-F238E27FC236}">
                  <a16:creationId xmlns:a16="http://schemas.microsoft.com/office/drawing/2014/main" id="{963A5308-66ED-BC81-C7CE-A0B416387931}"/>
                </a:ext>
              </a:extLst>
            </p:cNvPr>
            <p:cNvSpPr/>
            <p:nvPr/>
          </p:nvSpPr>
          <p:spPr>
            <a:xfrm>
              <a:off x="731519" y="3886201"/>
              <a:ext cx="3227833" cy="228601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0D9488"/>
                  </a:solidFill>
                </a:rPr>
                <a:t>PROS:</a:t>
              </a:r>
              <a:endParaRPr lang="en-US" sz="1100" dirty="0"/>
            </a:p>
          </p:txBody>
        </p:sp>
        <p:sp>
          <p:nvSpPr>
            <p:cNvPr id="21" name="Text 11">
              <a:extLst>
                <a:ext uri="{FF2B5EF4-FFF2-40B4-BE49-F238E27FC236}">
                  <a16:creationId xmlns:a16="http://schemas.microsoft.com/office/drawing/2014/main" id="{8F1869E3-5A0C-2D93-782B-7C891971DE63}"/>
                </a:ext>
              </a:extLst>
            </p:cNvPr>
            <p:cNvSpPr/>
            <p:nvPr/>
          </p:nvSpPr>
          <p:spPr>
            <a:xfrm>
              <a:off x="731519" y="4114800"/>
              <a:ext cx="3227833" cy="502921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ts val="1400"/>
                </a:lnSpc>
                <a:buNone/>
              </a:pPr>
              <a:r>
                <a:rPr lang="en-US" sz="1000" dirty="0">
                  <a:solidFill>
                    <a:srgbClr val="1E293B"/>
                  </a:solidFill>
                </a:rPr>
                <a:t>Full voltage swing (VDD to GND), high noise margin.</a:t>
              </a:r>
              <a:endParaRPr lang="en-US" sz="1000" dirty="0"/>
            </a:p>
          </p:txBody>
        </p:sp>
        <p:sp>
          <p:nvSpPr>
            <p:cNvPr id="23" name="Text 12">
              <a:extLst>
                <a:ext uri="{FF2B5EF4-FFF2-40B4-BE49-F238E27FC236}">
                  <a16:creationId xmlns:a16="http://schemas.microsoft.com/office/drawing/2014/main" id="{86CA58EC-85A5-4A7E-7C86-59BCBBC1AE68}"/>
                </a:ext>
              </a:extLst>
            </p:cNvPr>
            <p:cNvSpPr/>
            <p:nvPr/>
          </p:nvSpPr>
          <p:spPr>
            <a:xfrm>
              <a:off x="731519" y="4709159"/>
              <a:ext cx="3227833" cy="228601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E11D48"/>
                  </a:solidFill>
                </a:rPr>
                <a:t>CONS:</a:t>
              </a:r>
              <a:endParaRPr lang="en-US" sz="1100" dirty="0"/>
            </a:p>
          </p:txBody>
        </p:sp>
        <p:sp>
          <p:nvSpPr>
            <p:cNvPr id="25" name="Text 13">
              <a:extLst>
                <a:ext uri="{FF2B5EF4-FFF2-40B4-BE49-F238E27FC236}">
                  <a16:creationId xmlns:a16="http://schemas.microsoft.com/office/drawing/2014/main" id="{A989717F-DB0A-3241-5862-59062FDF6AA0}"/>
                </a:ext>
              </a:extLst>
            </p:cNvPr>
            <p:cNvSpPr/>
            <p:nvPr/>
          </p:nvSpPr>
          <p:spPr>
            <a:xfrm>
              <a:off x="731519" y="4937760"/>
              <a:ext cx="3227833" cy="640079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ts val="1400"/>
                </a:lnSpc>
                <a:buNone/>
              </a:pPr>
              <a:r>
                <a:rPr lang="en-US" sz="1000" dirty="0">
                  <a:solidFill>
                    <a:srgbClr val="1E293B"/>
                  </a:solidFill>
                </a:rPr>
                <a:t>Excessive transistor count (26T), high parasitic capacitance.</a:t>
              </a:r>
              <a:endParaRPr lang="en-US" sz="1000" dirty="0"/>
            </a:p>
          </p:txBody>
        </p:sp>
        <p:sp>
          <p:nvSpPr>
            <p:cNvPr id="27" name="Shape 14">
              <a:extLst>
                <a:ext uri="{FF2B5EF4-FFF2-40B4-BE49-F238E27FC236}">
                  <a16:creationId xmlns:a16="http://schemas.microsoft.com/office/drawing/2014/main" id="{0BCE2E71-156C-4B17-568B-8D83A163B609}"/>
                </a:ext>
              </a:extLst>
            </p:cNvPr>
            <p:cNvSpPr/>
            <p:nvPr/>
          </p:nvSpPr>
          <p:spPr>
            <a:xfrm>
              <a:off x="4297680" y="1097280"/>
              <a:ext cx="3593592" cy="5120640"/>
            </a:xfrm>
            <a:prstGeom prst="roundRect">
              <a:avLst>
                <a:gd name="adj" fmla="val 2036"/>
              </a:avLst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Shape 15">
              <a:extLst>
                <a:ext uri="{FF2B5EF4-FFF2-40B4-BE49-F238E27FC236}">
                  <a16:creationId xmlns:a16="http://schemas.microsoft.com/office/drawing/2014/main" id="{46BE5BC7-A7AC-5ABC-3F1F-EC7BC4EC14D1}"/>
                </a:ext>
              </a:extLst>
            </p:cNvPr>
            <p:cNvSpPr/>
            <p:nvPr/>
          </p:nvSpPr>
          <p:spPr>
            <a:xfrm>
              <a:off x="4297680" y="1097280"/>
              <a:ext cx="3593592" cy="411480"/>
            </a:xfrm>
            <a:prstGeom prst="roundRect">
              <a:avLst>
                <a:gd name="adj" fmla="val 17778"/>
              </a:avLst>
            </a:prstGeom>
            <a:solidFill>
              <a:srgbClr val="0F172A"/>
            </a:solidFill>
            <a:ln w="12700">
              <a:solidFill>
                <a:srgbClr val="0F172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Shape 16">
              <a:extLst>
                <a:ext uri="{FF2B5EF4-FFF2-40B4-BE49-F238E27FC236}">
                  <a16:creationId xmlns:a16="http://schemas.microsoft.com/office/drawing/2014/main" id="{BF75DE37-D04C-2F00-4471-28C2033799FF}"/>
                </a:ext>
              </a:extLst>
            </p:cNvPr>
            <p:cNvSpPr/>
            <p:nvPr/>
          </p:nvSpPr>
          <p:spPr>
            <a:xfrm>
              <a:off x="4297680" y="1325880"/>
              <a:ext cx="3593592" cy="182880"/>
            </a:xfrm>
            <a:prstGeom prst="rect">
              <a:avLst/>
            </a:prstGeom>
            <a:solidFill>
              <a:srgbClr val="0F172A"/>
            </a:solidFill>
            <a:ln w="12700">
              <a:solidFill>
                <a:srgbClr val="0F172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 17">
              <a:extLst>
                <a:ext uri="{FF2B5EF4-FFF2-40B4-BE49-F238E27FC236}">
                  <a16:creationId xmlns:a16="http://schemas.microsoft.com/office/drawing/2014/main" id="{114C2174-73E3-6518-0DE8-613F995E9411}"/>
                </a:ext>
              </a:extLst>
            </p:cNvPr>
            <p:cNvSpPr/>
            <p:nvPr/>
          </p:nvSpPr>
          <p:spPr>
            <a:xfrm>
              <a:off x="4480560" y="1170432"/>
              <a:ext cx="3227832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 Transmission Gate (16T)</a:t>
              </a:r>
              <a:endParaRPr lang="en-US" sz="1300" dirty="0"/>
            </a:p>
          </p:txBody>
        </p:sp>
        <p:pic>
          <p:nvPicPr>
            <p:cNvPr id="35" name="Image 1" descr="C:\Users\shahrear\Downloads\LTSpice\Thesis\Thesis Book\TG_comparator.png">
              <a:extLst>
                <a:ext uri="{FF2B5EF4-FFF2-40B4-BE49-F238E27FC236}">
                  <a16:creationId xmlns:a16="http://schemas.microsoft.com/office/drawing/2014/main" id="{CE453A67-9600-C9C1-69CB-15372CBE7D1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480560" y="1645920"/>
              <a:ext cx="3227832" cy="2103120"/>
            </a:xfrm>
            <a:prstGeom prst="rect">
              <a:avLst/>
            </a:prstGeom>
          </p:spPr>
        </p:pic>
        <p:sp>
          <p:nvSpPr>
            <p:cNvPr id="37" name="Text 18">
              <a:extLst>
                <a:ext uri="{FF2B5EF4-FFF2-40B4-BE49-F238E27FC236}">
                  <a16:creationId xmlns:a16="http://schemas.microsoft.com/office/drawing/2014/main" id="{6CC28726-3411-E591-3C15-7E7FDE0EE3B6}"/>
                </a:ext>
              </a:extLst>
            </p:cNvPr>
            <p:cNvSpPr/>
            <p:nvPr/>
          </p:nvSpPr>
          <p:spPr>
            <a:xfrm>
              <a:off x="4480560" y="3886201"/>
              <a:ext cx="3227833" cy="228601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0D9488"/>
                  </a:solidFill>
                </a:rPr>
                <a:t>PROS:</a:t>
              </a:r>
              <a:endParaRPr lang="en-US" sz="1100" dirty="0"/>
            </a:p>
          </p:txBody>
        </p:sp>
        <p:sp>
          <p:nvSpPr>
            <p:cNvPr id="39" name="Text 19">
              <a:extLst>
                <a:ext uri="{FF2B5EF4-FFF2-40B4-BE49-F238E27FC236}">
                  <a16:creationId xmlns:a16="http://schemas.microsoft.com/office/drawing/2014/main" id="{BF9018DB-2E63-3F1A-C95F-1D7BC35715C0}"/>
                </a:ext>
              </a:extLst>
            </p:cNvPr>
            <p:cNvSpPr/>
            <p:nvPr/>
          </p:nvSpPr>
          <p:spPr>
            <a:xfrm>
              <a:off x="4480560" y="4114800"/>
              <a:ext cx="3227833" cy="502921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ts val="1400"/>
                </a:lnSpc>
                <a:buNone/>
              </a:pPr>
              <a:r>
                <a:rPr lang="en-US" sz="1000" dirty="0">
                  <a:solidFill>
                    <a:srgbClr val="1E293B"/>
                  </a:solidFill>
                </a:rPr>
                <a:t>Full signal restoration, lower delay than CMOS.</a:t>
              </a:r>
              <a:endParaRPr lang="en-US" sz="1000" dirty="0"/>
            </a:p>
          </p:txBody>
        </p:sp>
        <p:sp>
          <p:nvSpPr>
            <p:cNvPr id="41" name="Text 20">
              <a:extLst>
                <a:ext uri="{FF2B5EF4-FFF2-40B4-BE49-F238E27FC236}">
                  <a16:creationId xmlns:a16="http://schemas.microsoft.com/office/drawing/2014/main" id="{D6D70A56-76E2-9372-4CF6-3B8E9FB4FAAF}"/>
                </a:ext>
              </a:extLst>
            </p:cNvPr>
            <p:cNvSpPr/>
            <p:nvPr/>
          </p:nvSpPr>
          <p:spPr>
            <a:xfrm>
              <a:off x="4480560" y="4709159"/>
              <a:ext cx="3227833" cy="228601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E11D48"/>
                  </a:solidFill>
                </a:rPr>
                <a:t>CONS:</a:t>
              </a:r>
              <a:endParaRPr lang="en-US" sz="1100" dirty="0"/>
            </a:p>
          </p:txBody>
        </p:sp>
        <p:sp>
          <p:nvSpPr>
            <p:cNvPr id="43" name="Text 21">
              <a:extLst>
                <a:ext uri="{FF2B5EF4-FFF2-40B4-BE49-F238E27FC236}">
                  <a16:creationId xmlns:a16="http://schemas.microsoft.com/office/drawing/2014/main" id="{3ECA6A02-C5DC-9DD2-AFD0-5CEE79C7ED5C}"/>
                </a:ext>
              </a:extLst>
            </p:cNvPr>
            <p:cNvSpPr/>
            <p:nvPr/>
          </p:nvSpPr>
          <p:spPr>
            <a:xfrm>
              <a:off x="4480560" y="4937760"/>
              <a:ext cx="3227833" cy="640081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ts val="1400"/>
                </a:lnSpc>
                <a:buNone/>
              </a:pPr>
              <a:r>
                <a:rPr lang="en-US" sz="1000" dirty="0">
                  <a:solidFill>
                    <a:srgbClr val="1E293B"/>
                  </a:solidFill>
                </a:rPr>
                <a:t>Requires complementary control signals (A, A'), high routing.</a:t>
              </a:r>
              <a:endParaRPr lang="en-US" sz="1000" dirty="0"/>
            </a:p>
          </p:txBody>
        </p:sp>
        <p:sp>
          <p:nvSpPr>
            <p:cNvPr id="45" name="Shape 22">
              <a:extLst>
                <a:ext uri="{FF2B5EF4-FFF2-40B4-BE49-F238E27FC236}">
                  <a16:creationId xmlns:a16="http://schemas.microsoft.com/office/drawing/2014/main" id="{2109FCE9-2760-771A-0C58-85383F91EE3D}"/>
                </a:ext>
              </a:extLst>
            </p:cNvPr>
            <p:cNvSpPr/>
            <p:nvPr/>
          </p:nvSpPr>
          <p:spPr>
            <a:xfrm>
              <a:off x="8046720" y="1097280"/>
              <a:ext cx="3593592" cy="5120640"/>
            </a:xfrm>
            <a:prstGeom prst="roundRect">
              <a:avLst>
                <a:gd name="adj" fmla="val 2036"/>
              </a:avLst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Shape 23">
              <a:extLst>
                <a:ext uri="{FF2B5EF4-FFF2-40B4-BE49-F238E27FC236}">
                  <a16:creationId xmlns:a16="http://schemas.microsoft.com/office/drawing/2014/main" id="{32662BBD-C88F-8A0B-5502-4507E72A1375}"/>
                </a:ext>
              </a:extLst>
            </p:cNvPr>
            <p:cNvSpPr/>
            <p:nvPr/>
          </p:nvSpPr>
          <p:spPr>
            <a:xfrm>
              <a:off x="8046720" y="1097280"/>
              <a:ext cx="3593592" cy="411480"/>
            </a:xfrm>
            <a:prstGeom prst="roundRect">
              <a:avLst>
                <a:gd name="adj" fmla="val 17778"/>
              </a:avLst>
            </a:prstGeom>
            <a:solidFill>
              <a:srgbClr val="0F172A"/>
            </a:solidFill>
            <a:ln w="12700">
              <a:solidFill>
                <a:srgbClr val="0F172A"/>
              </a:solidFill>
              <a:prstDash val="solid"/>
            </a:ln>
          </p:spPr>
          <p:txBody>
            <a:bodyPr/>
            <a:lstStyle/>
            <a:p>
              <a:r>
                <a:rPr lang="en-US" dirty="0"/>
                <a:t>    </a:t>
              </a:r>
            </a:p>
          </p:txBody>
        </p:sp>
        <p:sp>
          <p:nvSpPr>
            <p:cNvPr id="49" name="Shape 24">
              <a:extLst>
                <a:ext uri="{FF2B5EF4-FFF2-40B4-BE49-F238E27FC236}">
                  <a16:creationId xmlns:a16="http://schemas.microsoft.com/office/drawing/2014/main" id="{CF48F2A4-0F04-BE82-9BDC-0967C38969DF}"/>
                </a:ext>
              </a:extLst>
            </p:cNvPr>
            <p:cNvSpPr/>
            <p:nvPr/>
          </p:nvSpPr>
          <p:spPr>
            <a:xfrm>
              <a:off x="8046720" y="1325880"/>
              <a:ext cx="3593592" cy="182880"/>
            </a:xfrm>
            <a:prstGeom prst="rect">
              <a:avLst/>
            </a:prstGeom>
            <a:solidFill>
              <a:srgbClr val="0F172A"/>
            </a:solidFill>
            <a:ln w="12700">
              <a:solidFill>
                <a:srgbClr val="0F172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Text 25">
              <a:extLst>
                <a:ext uri="{FF2B5EF4-FFF2-40B4-BE49-F238E27FC236}">
                  <a16:creationId xmlns:a16="http://schemas.microsoft.com/office/drawing/2014/main" id="{2F20AEDC-5411-8A65-004B-7C292ACC8146}"/>
                </a:ext>
              </a:extLst>
            </p:cNvPr>
            <p:cNvSpPr/>
            <p:nvPr/>
          </p:nvSpPr>
          <p:spPr>
            <a:xfrm>
              <a:off x="8229600" y="1170432"/>
              <a:ext cx="3227832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   Pass Transistor (12T)</a:t>
              </a:r>
              <a:endParaRPr lang="en-US" sz="1300" dirty="0"/>
            </a:p>
          </p:txBody>
        </p:sp>
        <p:pic>
          <p:nvPicPr>
            <p:cNvPr id="53" name="Image 2" descr="C:\Users\shahrear\Downloads\LTSpice\Thesis\Thesis Book\pass_comparator.png">
              <a:extLst>
                <a:ext uri="{FF2B5EF4-FFF2-40B4-BE49-F238E27FC236}">
                  <a16:creationId xmlns:a16="http://schemas.microsoft.com/office/drawing/2014/main" id="{CB04297F-3E56-91E6-EC3D-B5B1F93CBEF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229600" y="1645920"/>
              <a:ext cx="3227832" cy="2103120"/>
            </a:xfrm>
            <a:prstGeom prst="rect">
              <a:avLst/>
            </a:prstGeom>
          </p:spPr>
        </p:pic>
        <p:sp>
          <p:nvSpPr>
            <p:cNvPr id="55" name="Text 26">
              <a:extLst>
                <a:ext uri="{FF2B5EF4-FFF2-40B4-BE49-F238E27FC236}">
                  <a16:creationId xmlns:a16="http://schemas.microsoft.com/office/drawing/2014/main" id="{DC72AEFF-1901-0A37-0A22-2B47023A26C9}"/>
                </a:ext>
              </a:extLst>
            </p:cNvPr>
            <p:cNvSpPr/>
            <p:nvPr/>
          </p:nvSpPr>
          <p:spPr>
            <a:xfrm>
              <a:off x="8229600" y="3886200"/>
              <a:ext cx="3227832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0D9488"/>
                  </a:solidFill>
                </a:rPr>
                <a:t>PROS:</a:t>
              </a:r>
              <a:endParaRPr lang="en-US" sz="1100" dirty="0"/>
            </a:p>
          </p:txBody>
        </p:sp>
        <p:sp>
          <p:nvSpPr>
            <p:cNvPr id="57" name="Text 27">
              <a:extLst>
                <a:ext uri="{FF2B5EF4-FFF2-40B4-BE49-F238E27FC236}">
                  <a16:creationId xmlns:a16="http://schemas.microsoft.com/office/drawing/2014/main" id="{A1F9F602-9D1E-C21C-5ED1-325708FF2BE1}"/>
                </a:ext>
              </a:extLst>
            </p:cNvPr>
            <p:cNvSpPr/>
            <p:nvPr/>
          </p:nvSpPr>
          <p:spPr>
            <a:xfrm>
              <a:off x="8229600" y="4114800"/>
              <a:ext cx="3227832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ts val="1400"/>
                </a:lnSpc>
                <a:buNone/>
              </a:pPr>
              <a:r>
                <a:rPr lang="en-US" sz="1000" dirty="0">
                  <a:solidFill>
                    <a:srgbClr val="1E293B"/>
                  </a:solidFill>
                </a:rPr>
                <a:t>Reduced transistor count (12T-14T).</a:t>
              </a:r>
              <a:endParaRPr lang="en-US" sz="1000" dirty="0"/>
            </a:p>
          </p:txBody>
        </p:sp>
        <p:sp>
          <p:nvSpPr>
            <p:cNvPr id="59" name="Text 28">
              <a:extLst>
                <a:ext uri="{FF2B5EF4-FFF2-40B4-BE49-F238E27FC236}">
                  <a16:creationId xmlns:a16="http://schemas.microsoft.com/office/drawing/2014/main" id="{CA9080F8-6E06-0D9D-3CDF-7ADD7C986ABE}"/>
                </a:ext>
              </a:extLst>
            </p:cNvPr>
            <p:cNvSpPr/>
            <p:nvPr/>
          </p:nvSpPr>
          <p:spPr>
            <a:xfrm>
              <a:off x="8229600" y="4709160"/>
              <a:ext cx="3227832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E11D48"/>
                  </a:solidFill>
                </a:rPr>
                <a:t>CONS:</a:t>
              </a:r>
              <a:endParaRPr lang="en-US" sz="1100" dirty="0"/>
            </a:p>
          </p:txBody>
        </p:sp>
        <p:sp>
          <p:nvSpPr>
            <p:cNvPr id="61" name="Text 29">
              <a:extLst>
                <a:ext uri="{FF2B5EF4-FFF2-40B4-BE49-F238E27FC236}">
                  <a16:creationId xmlns:a16="http://schemas.microsoft.com/office/drawing/2014/main" id="{98D8B0A7-3147-639D-D4D1-840782737872}"/>
                </a:ext>
              </a:extLst>
            </p:cNvPr>
            <p:cNvSpPr/>
            <p:nvPr/>
          </p:nvSpPr>
          <p:spPr>
            <a:xfrm>
              <a:off x="8229600" y="4937760"/>
              <a:ext cx="3227832" cy="6400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ts val="1400"/>
                </a:lnSpc>
                <a:buNone/>
              </a:pPr>
              <a:r>
                <a:rPr lang="en-US" sz="1000" dirty="0">
                  <a:solidFill>
                    <a:srgbClr val="1E293B"/>
                  </a:solidFill>
                </a:rPr>
                <a:t>Threshold voltage drop (Vth loss), signal degradation.</a:t>
              </a:r>
              <a:endParaRPr lang="en-US" sz="1000" dirty="0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C83182D1-4600-9BEB-3AC2-5C6DB8DC11CF}"/>
              </a:ext>
            </a:extLst>
          </p:cNvPr>
          <p:cNvSpPr txBox="1"/>
          <p:nvPr/>
        </p:nvSpPr>
        <p:spPr>
          <a:xfrm>
            <a:off x="699932" y="4322214"/>
            <a:ext cx="1932878" cy="307777"/>
          </a:xfrm>
          <a:prstGeom prst="rect">
            <a:avLst/>
          </a:prstGeom>
          <a:noFill/>
          <a:ln>
            <a:solidFill>
              <a:schemeClr val="tx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Fig 01: Static CMOS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2E2815-BB6D-D7CB-78C2-0E30447AE019}"/>
              </a:ext>
            </a:extLst>
          </p:cNvPr>
          <p:cNvSpPr txBox="1"/>
          <p:nvPr/>
        </p:nvSpPr>
        <p:spPr>
          <a:xfrm>
            <a:off x="3227541" y="4337082"/>
            <a:ext cx="1932878" cy="307777"/>
          </a:xfrm>
          <a:prstGeom prst="rect">
            <a:avLst/>
          </a:prstGeom>
          <a:noFill/>
          <a:ln>
            <a:solidFill>
              <a:schemeClr val="tx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Fig 02: TG CMOS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1063B8-392F-C2FE-E4E5-61A9AE131057}"/>
              </a:ext>
            </a:extLst>
          </p:cNvPr>
          <p:cNvSpPr txBox="1"/>
          <p:nvPr/>
        </p:nvSpPr>
        <p:spPr>
          <a:xfrm>
            <a:off x="5916460" y="4337082"/>
            <a:ext cx="1932878" cy="307777"/>
          </a:xfrm>
          <a:prstGeom prst="rect">
            <a:avLst/>
          </a:prstGeom>
          <a:noFill/>
          <a:ln>
            <a:solidFill>
              <a:schemeClr val="tx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Fig 03:  PTL CMOS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5210BB-8BCD-E82B-B4CC-9EA6F9C5A9FC}"/>
              </a:ext>
            </a:extLst>
          </p:cNvPr>
          <p:cNvSpPr txBox="1"/>
          <p:nvPr/>
        </p:nvSpPr>
        <p:spPr>
          <a:xfrm>
            <a:off x="8708923" y="4689558"/>
            <a:ext cx="5671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11</a:t>
            </a:r>
          </a:p>
        </p:txBody>
      </p:sp>
    </p:spTree>
  </p:cSld>
  <p:clrMapOvr>
    <a:masterClrMapping/>
  </p:clrMapOvr>
  <p:transition spd="slow">
    <p:push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p85"/>
          <p:cNvSpPr txBox="1">
            <a:spLocks noGrp="1"/>
          </p:cNvSpPr>
          <p:nvPr>
            <p:ph type="title"/>
          </p:nvPr>
        </p:nvSpPr>
        <p:spPr>
          <a:xfrm>
            <a:off x="1790615" y="72937"/>
            <a:ext cx="5562769" cy="386338"/>
          </a:xfrm>
          <a:prstGeom prst="rect">
            <a:avLst/>
          </a:prstGeom>
          <a:ln>
            <a:solidFill>
              <a:srgbClr val="334436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800" dirty="0"/>
              <a:t>GATE DIFFUSION INPUT (GDI) TECHNIQUE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Google Shape;1195;p86"/>
              <p:cNvSpPr txBox="1"/>
              <p:nvPr/>
            </p:nvSpPr>
            <p:spPr>
              <a:xfrm>
                <a:off x="471793" y="739989"/>
                <a:ext cx="3664436" cy="387582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334436"/>
                </a:solidFill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285750" lvl="0" indent="-285750">
                  <a:buFont typeface="Wingdings" panose="05000000000000000000" pitchFamily="2" charset="2"/>
                  <a:buChar char="Ø"/>
                </a:pPr>
                <a:r>
                  <a:rPr lang="en-US" b="1" dirty="0"/>
                  <a:t>Basic Cell Structure</a:t>
                </a:r>
                <a:r>
                  <a:rPr lang="en-US" dirty="0"/>
                  <a:t>: Uses a 3-terminal cell—a common Gate (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/>
                  <a:t>), input to PMOS source/drain (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), and input to NMOS source/drain (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/>
                  <a:t>)—allowing inputs directly at diffusion terminals.</a:t>
                </a:r>
              </a:p>
              <a:p>
                <a:pPr marL="285750" lvl="0" indent="-285750">
                  <a:buFont typeface="Wingdings" panose="05000000000000000000" pitchFamily="2" charset="2"/>
                  <a:buChar char="Ø"/>
                </a:pPr>
                <a:endParaRPr lang="en-US" dirty="0"/>
              </a:p>
              <a:p>
                <a:pPr marL="285750" lvl="0" indent="-285750">
                  <a:buFont typeface="Wingdings" panose="05000000000000000000" pitchFamily="2" charset="2"/>
                  <a:buChar char="Ø"/>
                </a:pPr>
                <a:r>
                  <a:rPr lang="en-US" b="1" dirty="0"/>
                  <a:t>Key Advantages</a:t>
                </a:r>
                <a:r>
                  <a:rPr lang="en-US" dirty="0"/>
                  <a:t>: Realizes complex functions (XOR, MUX, AND, OR) with as few as two transistors, drastically reducing chip area, switching delay, and dynamic power consumption.</a:t>
                </a:r>
              </a:p>
              <a:p>
                <a:pPr marL="285750" lvl="0" indent="-285750">
                  <a:buFont typeface="Wingdings" panose="05000000000000000000" pitchFamily="2" charset="2"/>
                  <a:buChar char="Ø"/>
                </a:pPr>
                <a:endParaRPr lang="en-US" dirty="0"/>
              </a:p>
              <a:p>
                <a:pPr marL="285750" lvl="0" indent="-285750">
                  <a:buFont typeface="Wingdings" panose="05000000000000000000" pitchFamily="2" charset="2"/>
                  <a:buChar char="Ø"/>
                </a:pPr>
                <a:r>
                  <a:rPr lang="en-US" b="1" dirty="0"/>
                  <a:t>Limitations</a:t>
                </a:r>
                <a:r>
                  <a:rPr lang="en-US" dirty="0"/>
                  <a:t>: Requires custom silicon fabrication processes (like twin-well CMOS) or dedicated substrate connections to prevent threshold voltage degradation and body effect losses.</a:t>
                </a:r>
              </a:p>
              <a:p>
                <a:pPr>
                  <a:lnSpc>
                    <a:spcPct val="150000"/>
                  </a:lnSpc>
                </a:pPr>
                <a:endParaRPr lang="en-US" dirty="0"/>
              </a:p>
            </p:txBody>
          </p:sp>
        </mc:Choice>
        <mc:Fallback xmlns="">
          <p:sp>
            <p:nvSpPr>
              <p:cNvPr id="3" name="Google Shape;1195;p8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793" y="739989"/>
                <a:ext cx="3664436" cy="3875826"/>
              </a:xfrm>
              <a:prstGeom prst="rect">
                <a:avLst/>
              </a:prstGeom>
              <a:blipFill>
                <a:blip r:embed="rId4"/>
                <a:stretch>
                  <a:fillRect r="-1159"/>
                </a:stretch>
              </a:blipFill>
              <a:ln>
                <a:solidFill>
                  <a:srgbClr val="334436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3" name="Image 0" descr="C:\Users\shahrear\Downloads\LTSpice\Thesis\Thesis Book\gdi_cell_structure.jpg">
            <a:extLst>
              <a:ext uri="{FF2B5EF4-FFF2-40B4-BE49-F238E27FC236}">
                <a16:creationId xmlns:a16="http://schemas.microsoft.com/office/drawing/2014/main" id="{0B0811CC-CD97-A5B0-8DEC-DC053D3F19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797560"/>
            <a:ext cx="4429649" cy="3675380"/>
          </a:xfrm>
          <a:prstGeom prst="rect">
            <a:avLst/>
          </a:prstGeom>
          <a:effectLst>
            <a:glow rad="101600">
              <a:schemeClr val="accent4">
                <a:satMod val="175000"/>
                <a:alpha val="40000"/>
              </a:schemeClr>
            </a:glo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03EC707-D798-F41A-5971-F7712C543287}"/>
              </a:ext>
            </a:extLst>
          </p:cNvPr>
          <p:cNvSpPr txBox="1"/>
          <p:nvPr/>
        </p:nvSpPr>
        <p:spPr>
          <a:xfrm>
            <a:off x="5434361" y="4648570"/>
            <a:ext cx="2735766" cy="307777"/>
          </a:xfrm>
          <a:prstGeom prst="rect">
            <a:avLst/>
          </a:prstGeom>
          <a:noFill/>
          <a:ln>
            <a:solidFill>
              <a:schemeClr val="tx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Fig 04: GDI CELL SCHEMATIC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23447A3-30FC-A7A1-81D6-BEDD8673C313}"/>
              </a:ext>
            </a:extLst>
          </p:cNvPr>
          <p:cNvSpPr txBox="1"/>
          <p:nvPr/>
        </p:nvSpPr>
        <p:spPr>
          <a:xfrm>
            <a:off x="8708923" y="4689558"/>
            <a:ext cx="5671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12</a:t>
            </a:r>
          </a:p>
        </p:txBody>
      </p:sp>
    </p:spTree>
  </p:cSld>
  <p:clrMapOvr>
    <a:masterClrMapping/>
  </p:clrMapOvr>
  <p:transition spd="slow">
    <p:push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2">
          <a:extLst>
            <a:ext uri="{FF2B5EF4-FFF2-40B4-BE49-F238E27FC236}">
              <a16:creationId xmlns:a16="http://schemas.microsoft.com/office/drawing/2014/main" id="{FBED456C-7194-6ABF-7491-1D0110D0C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p85">
            <a:extLst>
              <a:ext uri="{FF2B5EF4-FFF2-40B4-BE49-F238E27FC236}">
                <a16:creationId xmlns:a16="http://schemas.microsoft.com/office/drawing/2014/main" id="{405B30C0-946A-D6B3-730D-0E227CA7C2F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40151" y="65533"/>
            <a:ext cx="7575209" cy="386338"/>
          </a:xfrm>
          <a:prstGeom prst="rect">
            <a:avLst/>
          </a:prstGeom>
          <a:ln>
            <a:solidFill>
              <a:srgbClr val="334436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800" dirty="0"/>
              <a:t>PROPOSED 10 TRANSISTOR GDI MAGNITUDE COMPARATOR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547B1F6C-1BE0-71B1-4D2A-5263AB6F1353}"/>
              </a:ext>
            </a:extLst>
          </p:cNvPr>
          <p:cNvGrpSpPr/>
          <p:nvPr/>
        </p:nvGrpSpPr>
        <p:grpSpPr>
          <a:xfrm>
            <a:off x="1821367" y="543994"/>
            <a:ext cx="5612780" cy="4127128"/>
            <a:chOff x="548640" y="1097280"/>
            <a:chExt cx="5669280" cy="5120640"/>
          </a:xfrm>
        </p:grpSpPr>
        <p:sp>
          <p:nvSpPr>
            <p:cNvPr id="16" name="Shape 6">
              <a:extLst>
                <a:ext uri="{FF2B5EF4-FFF2-40B4-BE49-F238E27FC236}">
                  <a16:creationId xmlns:a16="http://schemas.microsoft.com/office/drawing/2014/main" id="{191AE756-FF68-AED4-398B-4AC965301010}"/>
                </a:ext>
              </a:extLst>
            </p:cNvPr>
            <p:cNvSpPr/>
            <p:nvPr/>
          </p:nvSpPr>
          <p:spPr>
            <a:xfrm>
              <a:off x="548640" y="1097280"/>
              <a:ext cx="5669280" cy="5120640"/>
            </a:xfrm>
            <a:prstGeom prst="roundRect">
              <a:avLst>
                <a:gd name="adj" fmla="val 1429"/>
              </a:avLst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Shape 7">
              <a:extLst>
                <a:ext uri="{FF2B5EF4-FFF2-40B4-BE49-F238E27FC236}">
                  <a16:creationId xmlns:a16="http://schemas.microsoft.com/office/drawing/2014/main" id="{5FB72F80-CF1B-563B-DC25-11FD78D10ABA}"/>
                </a:ext>
              </a:extLst>
            </p:cNvPr>
            <p:cNvSpPr/>
            <p:nvPr/>
          </p:nvSpPr>
          <p:spPr>
            <a:xfrm>
              <a:off x="548640" y="1097280"/>
              <a:ext cx="5669280" cy="411480"/>
            </a:xfrm>
            <a:prstGeom prst="roundRect">
              <a:avLst>
                <a:gd name="adj" fmla="val 17778"/>
              </a:avLst>
            </a:prstGeom>
            <a:solidFill>
              <a:srgbClr val="0F172A"/>
            </a:solidFill>
            <a:ln w="12700">
              <a:solidFill>
                <a:srgbClr val="0F172A"/>
              </a:solidFill>
              <a:prstDash val="solid"/>
            </a:ln>
          </p:spPr>
          <p:txBody>
            <a:bodyPr/>
            <a:lstStyle/>
            <a:p>
              <a:r>
                <a:rPr lang="en-US" dirty="0"/>
                <a:t>                                                                                 </a:t>
              </a:r>
            </a:p>
          </p:txBody>
        </p:sp>
        <p:sp>
          <p:nvSpPr>
            <p:cNvPr id="20" name="Shape 8">
              <a:extLst>
                <a:ext uri="{FF2B5EF4-FFF2-40B4-BE49-F238E27FC236}">
                  <a16:creationId xmlns:a16="http://schemas.microsoft.com/office/drawing/2014/main" id="{A6E272BA-B047-3264-DEF0-172865B67CBB}"/>
                </a:ext>
              </a:extLst>
            </p:cNvPr>
            <p:cNvSpPr/>
            <p:nvPr/>
          </p:nvSpPr>
          <p:spPr>
            <a:xfrm>
              <a:off x="548640" y="1325880"/>
              <a:ext cx="5669280" cy="182880"/>
            </a:xfrm>
            <a:prstGeom prst="rect">
              <a:avLst/>
            </a:prstGeom>
            <a:solidFill>
              <a:srgbClr val="0F172A"/>
            </a:solidFill>
            <a:ln w="12700">
              <a:solidFill>
                <a:srgbClr val="0F172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 9">
              <a:extLst>
                <a:ext uri="{FF2B5EF4-FFF2-40B4-BE49-F238E27FC236}">
                  <a16:creationId xmlns:a16="http://schemas.microsoft.com/office/drawing/2014/main" id="{9E447A0D-1FDF-8593-8C7C-9D7E0873C3D1}"/>
                </a:ext>
              </a:extLst>
            </p:cNvPr>
            <p:cNvSpPr/>
            <p:nvPr/>
          </p:nvSpPr>
          <p:spPr>
            <a:xfrm>
              <a:off x="731520" y="1170432"/>
              <a:ext cx="530352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                          Proposed 10 Transistor Schematic</a:t>
              </a:r>
              <a:endParaRPr lang="en-US" sz="1300" dirty="0"/>
            </a:p>
          </p:txBody>
        </p:sp>
        <p:pic>
          <p:nvPicPr>
            <p:cNvPr id="25" name="Image 0" descr="C:\Users\shahrear\Downloads\LTSpice\Thesis\Thesis Book\my_Propose_GDI_Comparator.png">
              <a:extLst>
                <a:ext uri="{FF2B5EF4-FFF2-40B4-BE49-F238E27FC236}">
                  <a16:creationId xmlns:a16="http://schemas.microsoft.com/office/drawing/2014/main" id="{5C9C6FF8-E057-8223-A8B2-75A6A5D86D9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1520" y="1645920"/>
              <a:ext cx="5303520" cy="4297680"/>
            </a:xfrm>
            <a:prstGeom prst="rect">
              <a:avLst/>
            </a:prstGeom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3B15B18F-F2D0-369B-FC1D-1B43D4E339F7}"/>
              </a:ext>
            </a:extLst>
          </p:cNvPr>
          <p:cNvSpPr txBox="1"/>
          <p:nvPr/>
        </p:nvSpPr>
        <p:spPr>
          <a:xfrm>
            <a:off x="2947640" y="4701480"/>
            <a:ext cx="3609277" cy="307777"/>
          </a:xfrm>
          <a:prstGeom prst="rect">
            <a:avLst/>
          </a:prstGeom>
          <a:noFill/>
          <a:ln>
            <a:solidFill>
              <a:schemeClr val="tx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Fig 05: Proposed 10 Transistor Schematic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A085288-8DBF-F2F2-8635-7D3891EEC328}"/>
              </a:ext>
            </a:extLst>
          </p:cNvPr>
          <p:cNvSpPr txBox="1"/>
          <p:nvPr/>
        </p:nvSpPr>
        <p:spPr>
          <a:xfrm>
            <a:off x="8708923" y="4689558"/>
            <a:ext cx="5671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3315193141"/>
      </p:ext>
    </p:extLst>
  </p:cSld>
  <p:clrMapOvr>
    <a:masterClrMapping/>
  </p:clrMapOvr>
  <p:transition spd="slow">
    <p:push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p85"/>
          <p:cNvSpPr txBox="1">
            <a:spLocks noGrp="1"/>
          </p:cNvSpPr>
          <p:nvPr>
            <p:ph type="title"/>
          </p:nvPr>
        </p:nvSpPr>
        <p:spPr>
          <a:xfrm>
            <a:off x="2265504" y="217106"/>
            <a:ext cx="4226887" cy="386338"/>
          </a:xfrm>
          <a:prstGeom prst="rect">
            <a:avLst/>
          </a:prstGeom>
          <a:ln>
            <a:solidFill>
              <a:srgbClr val="334436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800" b="1" dirty="0"/>
              <a:t>SIMULATION RESULTS </a:t>
            </a:r>
            <a:endParaRPr lang="en-US" sz="1800" dirty="0"/>
          </a:p>
        </p:txBody>
      </p:sp>
      <p:sp>
        <p:nvSpPr>
          <p:cNvPr id="3" name="Google Shape;1195;p86"/>
          <p:cNvSpPr txBox="1"/>
          <p:nvPr/>
        </p:nvSpPr>
        <p:spPr>
          <a:xfrm>
            <a:off x="171450" y="984831"/>
            <a:ext cx="3414713" cy="4017786"/>
          </a:xfrm>
          <a:prstGeom prst="rect">
            <a:avLst/>
          </a:prstGeom>
          <a:solidFill>
            <a:schemeClr val="bg1"/>
          </a:solidFill>
          <a:ln>
            <a:solidFill>
              <a:srgbClr val="334436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Static CMOS Paper (2017) </a:t>
            </a:r>
            <a:r>
              <a:rPr lang="en-US" dirty="0"/>
              <a:t>:</a:t>
            </a:r>
          </a:p>
          <a:p>
            <a:pPr marL="285750" lvl="1" indent="-285750">
              <a:buFont typeface="Arial" panose="020B0604020202090204" pitchFamily="34" charset="0"/>
              <a:buChar char="•"/>
            </a:pPr>
            <a:r>
              <a:rPr lang="en-US" dirty="0"/>
              <a:t>Propagation Delay : 49.38 ns</a:t>
            </a:r>
          </a:p>
          <a:p>
            <a:pPr marL="285750" lvl="1" indent="-285750">
              <a:buFont typeface="Arial" panose="020B0604020202090204" pitchFamily="34" charset="0"/>
              <a:buChar char="•"/>
            </a:pPr>
            <a:r>
              <a:rPr lang="en-US" dirty="0"/>
              <a:t>Average Power Dicipiation : 174.352 pW</a:t>
            </a:r>
          </a:p>
          <a:p>
            <a:pPr marL="285750" lvl="1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dirty="0"/>
              <a:t>PDP: 0.0086f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MTCMOS paper(2019)</a:t>
            </a:r>
            <a:r>
              <a:rPr lang="en-US" dirty="0"/>
              <a:t>:</a:t>
            </a:r>
          </a:p>
          <a:p>
            <a:pPr marL="285750" lvl="1" indent="-285750">
              <a:buFont typeface="Arial" panose="020B0604020202090204" pitchFamily="34" charset="0"/>
              <a:buChar char="•"/>
            </a:pPr>
            <a:r>
              <a:rPr lang="en-US" dirty="0"/>
              <a:t>Propagation Delay : 330.61 </a:t>
            </a:r>
            <a:r>
              <a:rPr lang="en-US" dirty="0" err="1"/>
              <a:t>ps</a:t>
            </a:r>
            <a:endParaRPr lang="en-US" dirty="0"/>
          </a:p>
          <a:p>
            <a:pPr marL="285750" lvl="1" indent="-285750">
              <a:buFont typeface="Arial" panose="020B0604020202090204" pitchFamily="34" charset="0"/>
              <a:buChar char="•"/>
            </a:pPr>
            <a:r>
              <a:rPr lang="en-US" dirty="0"/>
              <a:t>Average Power Dicipiation : 48.12 pW</a:t>
            </a:r>
          </a:p>
          <a:p>
            <a:pPr marL="285750" lvl="1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dirty="0"/>
              <a:t>PDP: 0.0000159f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Static,Pass,TG paper (2020)</a:t>
            </a:r>
            <a:r>
              <a:rPr lang="en-US" dirty="0"/>
              <a:t>:</a:t>
            </a:r>
          </a:p>
          <a:p>
            <a:pPr marL="285750" lvl="1" indent="-285750">
              <a:buFont typeface="Arial" panose="020B0604020202090204" pitchFamily="34" charset="0"/>
              <a:buChar char="•"/>
            </a:pPr>
            <a:r>
              <a:rPr lang="en-US" dirty="0"/>
              <a:t>Propagation Delay : 0.192 ns</a:t>
            </a:r>
          </a:p>
          <a:p>
            <a:pPr marL="285750" lvl="1" indent="-285750">
              <a:buFont typeface="Arial" panose="020B0604020202090204" pitchFamily="34" charset="0"/>
              <a:buChar char="•"/>
            </a:pPr>
            <a:r>
              <a:rPr lang="en-US" dirty="0"/>
              <a:t>Average Power Dicipiation : 7.792 uW</a:t>
            </a:r>
          </a:p>
          <a:p>
            <a:pPr marL="285750" lvl="1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dirty="0"/>
              <a:t>PDP: 1.496f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F953142-FB8F-1255-8582-6A1D6F8706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4096" y="984831"/>
            <a:ext cx="4966893" cy="10705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E586379-A3E8-0050-F76E-690D67E5CF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4096" y="2182153"/>
            <a:ext cx="4966893" cy="107051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6EDB298-2F2E-ED27-822E-65E99BB4F1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4096" y="3379475"/>
            <a:ext cx="4966893" cy="107051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E1B0CB2-3C02-46A4-E7A5-DCACEB5477DB}"/>
              </a:ext>
            </a:extLst>
          </p:cNvPr>
          <p:cNvSpPr txBox="1"/>
          <p:nvPr/>
        </p:nvSpPr>
        <p:spPr>
          <a:xfrm>
            <a:off x="4966008" y="4714564"/>
            <a:ext cx="2943923" cy="307777"/>
          </a:xfrm>
          <a:prstGeom prst="rect">
            <a:avLst/>
          </a:prstGeom>
          <a:noFill/>
          <a:ln>
            <a:solidFill>
              <a:schemeClr val="tx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Fig 06 :  Output Waveshape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F59022D-F663-4FDE-BA74-386E706C3BE1}"/>
              </a:ext>
            </a:extLst>
          </p:cNvPr>
          <p:cNvSpPr txBox="1"/>
          <p:nvPr/>
        </p:nvSpPr>
        <p:spPr>
          <a:xfrm>
            <a:off x="8708923" y="4689558"/>
            <a:ext cx="5671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14</a:t>
            </a:r>
          </a:p>
        </p:txBody>
      </p:sp>
    </p:spTree>
  </p:cSld>
  <p:clrMapOvr>
    <a:masterClrMapping/>
  </p:clrMapOvr>
  <p:transition spd="slow">
    <p:push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2">
          <a:extLst>
            <a:ext uri="{FF2B5EF4-FFF2-40B4-BE49-F238E27FC236}">
              <a16:creationId xmlns:a16="http://schemas.microsoft.com/office/drawing/2014/main" id="{6714EB39-A704-282C-7DA5-8B5E436736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p85">
            <a:extLst>
              <a:ext uri="{FF2B5EF4-FFF2-40B4-BE49-F238E27FC236}">
                <a16:creationId xmlns:a16="http://schemas.microsoft.com/office/drawing/2014/main" id="{DF23E43A-6736-0128-BFC3-F1A294D82E5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01952" y="202238"/>
            <a:ext cx="4226887" cy="386338"/>
          </a:xfrm>
          <a:prstGeom prst="rect">
            <a:avLst/>
          </a:prstGeom>
          <a:ln>
            <a:solidFill>
              <a:srgbClr val="334436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800" b="1" dirty="0"/>
              <a:t>SIMULATION RESULTS </a:t>
            </a:r>
            <a:endParaRPr lang="en-US" sz="1800" dirty="0"/>
          </a:p>
        </p:txBody>
      </p:sp>
      <p:sp>
        <p:nvSpPr>
          <p:cNvPr id="3" name="Google Shape;1195;p86">
            <a:extLst>
              <a:ext uri="{FF2B5EF4-FFF2-40B4-BE49-F238E27FC236}">
                <a16:creationId xmlns:a16="http://schemas.microsoft.com/office/drawing/2014/main" id="{3EC6220D-0CEE-97B9-0AEE-36F063497FA7}"/>
              </a:ext>
            </a:extLst>
          </p:cNvPr>
          <p:cNvSpPr txBox="1"/>
          <p:nvPr/>
        </p:nvSpPr>
        <p:spPr>
          <a:xfrm>
            <a:off x="171450" y="984831"/>
            <a:ext cx="3414713" cy="2464148"/>
          </a:xfrm>
          <a:prstGeom prst="rect">
            <a:avLst/>
          </a:prstGeom>
          <a:solidFill>
            <a:schemeClr val="bg1"/>
          </a:solidFill>
          <a:ln>
            <a:solidFill>
              <a:srgbClr val="334436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6T MUX Adder Comparator(2025)</a:t>
            </a:r>
            <a:r>
              <a:rPr lang="en-US" dirty="0"/>
              <a:t>:</a:t>
            </a:r>
          </a:p>
          <a:p>
            <a:pPr marL="285750" lvl="1" indent="-285750">
              <a:buFont typeface="Arial" panose="020B0604020202090204" pitchFamily="34" charset="0"/>
              <a:buChar char="•"/>
            </a:pPr>
            <a:r>
              <a:rPr lang="en-US" dirty="0"/>
              <a:t>Propagation Delay : 5.5 </a:t>
            </a:r>
            <a:r>
              <a:rPr lang="en-US" dirty="0" err="1"/>
              <a:t>ps</a:t>
            </a:r>
            <a:endParaRPr lang="en-US" dirty="0"/>
          </a:p>
          <a:p>
            <a:pPr marL="285750" lvl="1" indent="-285750">
              <a:buFont typeface="Arial" panose="020B0604020202090204" pitchFamily="34" charset="0"/>
              <a:buChar char="•"/>
            </a:pPr>
            <a:r>
              <a:rPr lang="en-US" dirty="0"/>
              <a:t>Average Power Dicipiation : 7.3uW  </a:t>
            </a:r>
          </a:p>
          <a:p>
            <a:pPr marL="285750" lvl="1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dirty="0"/>
              <a:t>PDP: 0.04f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/>
              <a:t>My Propose Design</a:t>
            </a:r>
            <a:r>
              <a:rPr lang="en-US"/>
              <a:t>:</a:t>
            </a:r>
          </a:p>
          <a:p>
            <a:pPr marL="285750" lvl="1" indent="-285750">
              <a:buFont typeface="Arial" panose="020B0604020202090204" pitchFamily="34" charset="0"/>
              <a:buChar char="•"/>
            </a:pPr>
            <a:r>
              <a:rPr lang="en-US"/>
              <a:t>Propagation </a:t>
            </a:r>
            <a:r>
              <a:rPr lang="en-US" dirty="0"/>
              <a:t>Delay : 336 </a:t>
            </a:r>
            <a:r>
              <a:rPr lang="en-US" dirty="0" err="1"/>
              <a:t>ps</a:t>
            </a:r>
            <a:endParaRPr lang="en-US" dirty="0"/>
          </a:p>
          <a:p>
            <a:pPr marL="285750" lvl="1" indent="-285750">
              <a:buFont typeface="Arial" panose="020B0604020202090204" pitchFamily="34" charset="0"/>
              <a:buChar char="•"/>
            </a:pPr>
            <a:r>
              <a:rPr lang="en-US" dirty="0"/>
              <a:t>Average Power Dicipiation : 34.18 pW</a:t>
            </a:r>
          </a:p>
          <a:p>
            <a:pPr marL="285750" lvl="1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dirty="0"/>
              <a:t>PDP: 0.0000114f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B62E4F1-C06F-6889-3918-A413E24D1A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8453" y="984831"/>
            <a:ext cx="4966893" cy="10705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D016268-159F-5246-F981-0B05E43F33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8453" y="2280926"/>
            <a:ext cx="4966893" cy="107051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7F65B2B-05E0-D1EB-CE67-5BC6EAD5DF86}"/>
              </a:ext>
            </a:extLst>
          </p:cNvPr>
          <p:cNvSpPr txBox="1"/>
          <p:nvPr/>
        </p:nvSpPr>
        <p:spPr>
          <a:xfrm>
            <a:off x="4795023" y="3577021"/>
            <a:ext cx="2943923" cy="307777"/>
          </a:xfrm>
          <a:prstGeom prst="rect">
            <a:avLst/>
          </a:prstGeom>
          <a:noFill/>
          <a:ln>
            <a:solidFill>
              <a:schemeClr val="tx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Fig 07 :  Output Waveshape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740D559-DE62-1429-B4EC-092D2F989FD1}"/>
              </a:ext>
            </a:extLst>
          </p:cNvPr>
          <p:cNvSpPr txBox="1"/>
          <p:nvPr/>
        </p:nvSpPr>
        <p:spPr>
          <a:xfrm>
            <a:off x="8708923" y="4689558"/>
            <a:ext cx="5671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481869803"/>
      </p:ext>
    </p:extLst>
  </p:cSld>
  <p:clrMapOvr>
    <a:masterClrMapping/>
  </p:clrMapOvr>
  <p:transition spd="slow">
    <p:push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p85"/>
          <p:cNvSpPr txBox="1">
            <a:spLocks noGrp="1"/>
          </p:cNvSpPr>
          <p:nvPr>
            <p:ph type="title"/>
          </p:nvPr>
        </p:nvSpPr>
        <p:spPr>
          <a:xfrm>
            <a:off x="1992351" y="109131"/>
            <a:ext cx="4534829" cy="386338"/>
          </a:xfrm>
          <a:prstGeom prst="rect">
            <a:avLst/>
          </a:prstGeom>
          <a:ln>
            <a:solidFill>
              <a:srgbClr val="334436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800" b="1" dirty="0"/>
              <a:t>PERFORMANCE COMPARISON</a:t>
            </a:r>
            <a:endParaRPr lang="en-US" sz="180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234444C-C16B-9EBB-7986-D0E3FC1C40C0}"/>
              </a:ext>
            </a:extLst>
          </p:cNvPr>
          <p:cNvGrpSpPr/>
          <p:nvPr/>
        </p:nvGrpSpPr>
        <p:grpSpPr>
          <a:xfrm>
            <a:off x="142974" y="716313"/>
            <a:ext cx="2745005" cy="3443902"/>
            <a:chOff x="548640" y="1097280"/>
            <a:chExt cx="5669280" cy="5120640"/>
          </a:xfrm>
        </p:grpSpPr>
        <p:sp>
          <p:nvSpPr>
            <p:cNvPr id="4" name="Shape 6">
              <a:extLst>
                <a:ext uri="{FF2B5EF4-FFF2-40B4-BE49-F238E27FC236}">
                  <a16:creationId xmlns:a16="http://schemas.microsoft.com/office/drawing/2014/main" id="{9AE2D569-B64F-7F5D-0AC5-47B3EA6D6A8F}"/>
                </a:ext>
              </a:extLst>
            </p:cNvPr>
            <p:cNvSpPr/>
            <p:nvPr/>
          </p:nvSpPr>
          <p:spPr>
            <a:xfrm>
              <a:off x="548640" y="1097280"/>
              <a:ext cx="5669280" cy="5120640"/>
            </a:xfrm>
            <a:prstGeom prst="roundRect">
              <a:avLst>
                <a:gd name="adj" fmla="val 1429"/>
              </a:avLst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Shape 7">
              <a:extLst>
                <a:ext uri="{FF2B5EF4-FFF2-40B4-BE49-F238E27FC236}">
                  <a16:creationId xmlns:a16="http://schemas.microsoft.com/office/drawing/2014/main" id="{C91AC67A-D5BD-3735-0FBB-9D353BCB3E16}"/>
                </a:ext>
              </a:extLst>
            </p:cNvPr>
            <p:cNvSpPr/>
            <p:nvPr/>
          </p:nvSpPr>
          <p:spPr>
            <a:xfrm>
              <a:off x="548640" y="1097280"/>
              <a:ext cx="5669280" cy="411480"/>
            </a:xfrm>
            <a:prstGeom prst="roundRect">
              <a:avLst>
                <a:gd name="adj" fmla="val 17778"/>
              </a:avLst>
            </a:prstGeom>
            <a:solidFill>
              <a:srgbClr val="0F172A"/>
            </a:solidFill>
            <a:ln w="12700">
              <a:solidFill>
                <a:srgbClr val="0F172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Shape 8">
              <a:extLst>
                <a:ext uri="{FF2B5EF4-FFF2-40B4-BE49-F238E27FC236}">
                  <a16:creationId xmlns:a16="http://schemas.microsoft.com/office/drawing/2014/main" id="{4A15870D-5682-2D82-A9C6-92743E39FF2F}"/>
                </a:ext>
              </a:extLst>
            </p:cNvPr>
            <p:cNvSpPr/>
            <p:nvPr/>
          </p:nvSpPr>
          <p:spPr>
            <a:xfrm>
              <a:off x="548640" y="1325880"/>
              <a:ext cx="5669280" cy="182880"/>
            </a:xfrm>
            <a:prstGeom prst="rect">
              <a:avLst/>
            </a:prstGeom>
            <a:solidFill>
              <a:srgbClr val="0F172A"/>
            </a:solidFill>
            <a:ln w="12700">
              <a:solidFill>
                <a:srgbClr val="0F172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 9">
              <a:extLst>
                <a:ext uri="{FF2B5EF4-FFF2-40B4-BE49-F238E27FC236}">
                  <a16:creationId xmlns:a16="http://schemas.microsoft.com/office/drawing/2014/main" id="{728E6CF4-D9B2-8FA7-889E-60782DA17F3C}"/>
                </a:ext>
              </a:extLst>
            </p:cNvPr>
            <p:cNvSpPr/>
            <p:nvPr/>
          </p:nvSpPr>
          <p:spPr>
            <a:xfrm>
              <a:off x="731520" y="1170431"/>
              <a:ext cx="5303521" cy="274321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     Propagation Delay Bar Chart</a:t>
              </a:r>
              <a:endParaRPr lang="en-US" sz="1100" dirty="0"/>
            </a:p>
          </p:txBody>
        </p:sp>
        <p:pic>
          <p:nvPicPr>
            <p:cNvPr id="15" name="Image 0" descr="C:\Users\shahrear\Downloads\LTSpice\Thesis\Thesis Book\Paper_02_Propagation_Delay_Bar_Chart.png">
              <a:extLst>
                <a:ext uri="{FF2B5EF4-FFF2-40B4-BE49-F238E27FC236}">
                  <a16:creationId xmlns:a16="http://schemas.microsoft.com/office/drawing/2014/main" id="{D615B2DB-60A9-FA07-0F4E-936DB6BB12C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31520" y="1645920"/>
              <a:ext cx="5303520" cy="4297680"/>
            </a:xfrm>
            <a:prstGeom prst="rect">
              <a:avLst/>
            </a:prstGeom>
          </p:spPr>
        </p:pic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657F374D-A36B-832C-8E24-D8DDFBB82E08}"/>
              </a:ext>
            </a:extLst>
          </p:cNvPr>
          <p:cNvGrpSpPr/>
          <p:nvPr/>
        </p:nvGrpSpPr>
        <p:grpSpPr>
          <a:xfrm>
            <a:off x="2991998" y="739710"/>
            <a:ext cx="2965087" cy="3420505"/>
            <a:chOff x="548640" y="1097280"/>
            <a:chExt cx="5669280" cy="5120640"/>
          </a:xfrm>
        </p:grpSpPr>
        <p:sp>
          <p:nvSpPr>
            <p:cNvPr id="18" name="Shape 6">
              <a:extLst>
                <a:ext uri="{FF2B5EF4-FFF2-40B4-BE49-F238E27FC236}">
                  <a16:creationId xmlns:a16="http://schemas.microsoft.com/office/drawing/2014/main" id="{F6D9E768-F7AF-42AF-EB49-2C633E70C02D}"/>
                </a:ext>
              </a:extLst>
            </p:cNvPr>
            <p:cNvSpPr/>
            <p:nvPr/>
          </p:nvSpPr>
          <p:spPr>
            <a:xfrm>
              <a:off x="548640" y="1097280"/>
              <a:ext cx="5669280" cy="5120640"/>
            </a:xfrm>
            <a:prstGeom prst="roundRect">
              <a:avLst>
                <a:gd name="adj" fmla="val 1429"/>
              </a:avLst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Shape 7">
              <a:extLst>
                <a:ext uri="{FF2B5EF4-FFF2-40B4-BE49-F238E27FC236}">
                  <a16:creationId xmlns:a16="http://schemas.microsoft.com/office/drawing/2014/main" id="{F6D84454-073D-D32A-B74D-4A87BF6B0CFD}"/>
                </a:ext>
              </a:extLst>
            </p:cNvPr>
            <p:cNvSpPr/>
            <p:nvPr/>
          </p:nvSpPr>
          <p:spPr>
            <a:xfrm>
              <a:off x="548640" y="1097280"/>
              <a:ext cx="5669280" cy="411480"/>
            </a:xfrm>
            <a:prstGeom prst="roundRect">
              <a:avLst>
                <a:gd name="adj" fmla="val 17778"/>
              </a:avLst>
            </a:prstGeom>
            <a:solidFill>
              <a:srgbClr val="0F172A"/>
            </a:solidFill>
            <a:ln w="12700">
              <a:solidFill>
                <a:srgbClr val="0F172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Shape 8">
              <a:extLst>
                <a:ext uri="{FF2B5EF4-FFF2-40B4-BE49-F238E27FC236}">
                  <a16:creationId xmlns:a16="http://schemas.microsoft.com/office/drawing/2014/main" id="{051D7B9C-30DD-CB6B-91DF-858150654BD1}"/>
                </a:ext>
              </a:extLst>
            </p:cNvPr>
            <p:cNvSpPr/>
            <p:nvPr/>
          </p:nvSpPr>
          <p:spPr>
            <a:xfrm>
              <a:off x="548640" y="1325880"/>
              <a:ext cx="5669280" cy="182880"/>
            </a:xfrm>
            <a:prstGeom prst="rect">
              <a:avLst/>
            </a:prstGeom>
            <a:solidFill>
              <a:srgbClr val="0F172A"/>
            </a:solidFill>
            <a:ln w="12700">
              <a:solidFill>
                <a:srgbClr val="0F172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 9">
              <a:extLst>
                <a:ext uri="{FF2B5EF4-FFF2-40B4-BE49-F238E27FC236}">
                  <a16:creationId xmlns:a16="http://schemas.microsoft.com/office/drawing/2014/main" id="{2D2DD766-59E3-B2DB-9198-419778769B77}"/>
                </a:ext>
              </a:extLst>
            </p:cNvPr>
            <p:cNvSpPr/>
            <p:nvPr/>
          </p:nvSpPr>
          <p:spPr>
            <a:xfrm>
              <a:off x="731520" y="1170432"/>
              <a:ext cx="530352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Average Power Dissipation Bar Chart</a:t>
              </a:r>
              <a:endParaRPr lang="en-US" sz="1100" dirty="0"/>
            </a:p>
          </p:txBody>
        </p:sp>
        <p:pic>
          <p:nvPicPr>
            <p:cNvPr id="26" name="Image 0" descr="C:\Users\shahrear\Downloads\LTSpice\Thesis\Thesis Book\Paper_03_Average_Power_Bar_Chart.png">
              <a:extLst>
                <a:ext uri="{FF2B5EF4-FFF2-40B4-BE49-F238E27FC236}">
                  <a16:creationId xmlns:a16="http://schemas.microsoft.com/office/drawing/2014/main" id="{1760B8C5-3E75-4F2A-C802-35FF6E51997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31521" y="1645921"/>
              <a:ext cx="5303520" cy="4297681"/>
            </a:xfrm>
            <a:prstGeom prst="rect">
              <a:avLst/>
            </a:prstGeom>
          </p:spPr>
        </p:pic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9BC678D0-E720-EB13-7A89-CCD1134E3BF8}"/>
              </a:ext>
            </a:extLst>
          </p:cNvPr>
          <p:cNvGrpSpPr/>
          <p:nvPr/>
        </p:nvGrpSpPr>
        <p:grpSpPr>
          <a:xfrm>
            <a:off x="6061104" y="728011"/>
            <a:ext cx="2887977" cy="3420505"/>
            <a:chOff x="548640" y="1097280"/>
            <a:chExt cx="5669280" cy="5120640"/>
          </a:xfrm>
        </p:grpSpPr>
        <p:sp>
          <p:nvSpPr>
            <p:cNvPr id="29" name="Shape 6">
              <a:extLst>
                <a:ext uri="{FF2B5EF4-FFF2-40B4-BE49-F238E27FC236}">
                  <a16:creationId xmlns:a16="http://schemas.microsoft.com/office/drawing/2014/main" id="{2A251629-3856-2D53-661D-4C3B495DA21C}"/>
                </a:ext>
              </a:extLst>
            </p:cNvPr>
            <p:cNvSpPr/>
            <p:nvPr/>
          </p:nvSpPr>
          <p:spPr>
            <a:xfrm>
              <a:off x="548640" y="1097280"/>
              <a:ext cx="5669280" cy="5120640"/>
            </a:xfrm>
            <a:prstGeom prst="roundRect">
              <a:avLst>
                <a:gd name="adj" fmla="val 1429"/>
              </a:avLst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Shape 7">
              <a:extLst>
                <a:ext uri="{FF2B5EF4-FFF2-40B4-BE49-F238E27FC236}">
                  <a16:creationId xmlns:a16="http://schemas.microsoft.com/office/drawing/2014/main" id="{21BB578A-A1D4-58E9-53A0-75A4073042D2}"/>
                </a:ext>
              </a:extLst>
            </p:cNvPr>
            <p:cNvSpPr/>
            <p:nvPr/>
          </p:nvSpPr>
          <p:spPr>
            <a:xfrm>
              <a:off x="548640" y="1097280"/>
              <a:ext cx="5669280" cy="411480"/>
            </a:xfrm>
            <a:prstGeom prst="roundRect">
              <a:avLst>
                <a:gd name="adj" fmla="val 17778"/>
              </a:avLst>
            </a:prstGeom>
            <a:solidFill>
              <a:srgbClr val="0F172A"/>
            </a:solidFill>
            <a:ln w="12700">
              <a:solidFill>
                <a:srgbClr val="0F172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Shape 8">
              <a:extLst>
                <a:ext uri="{FF2B5EF4-FFF2-40B4-BE49-F238E27FC236}">
                  <a16:creationId xmlns:a16="http://schemas.microsoft.com/office/drawing/2014/main" id="{ED3DE1EE-A606-A5D1-960F-BFE52856124C}"/>
                </a:ext>
              </a:extLst>
            </p:cNvPr>
            <p:cNvSpPr/>
            <p:nvPr/>
          </p:nvSpPr>
          <p:spPr>
            <a:xfrm>
              <a:off x="548640" y="1325880"/>
              <a:ext cx="5669280" cy="182880"/>
            </a:xfrm>
            <a:prstGeom prst="rect">
              <a:avLst/>
            </a:prstGeom>
            <a:solidFill>
              <a:srgbClr val="0F172A"/>
            </a:solidFill>
            <a:ln w="12700">
              <a:solidFill>
                <a:srgbClr val="0F172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Text 9">
              <a:extLst>
                <a:ext uri="{FF2B5EF4-FFF2-40B4-BE49-F238E27FC236}">
                  <a16:creationId xmlns:a16="http://schemas.microsoft.com/office/drawing/2014/main" id="{254C1D89-8CD7-894E-8ED3-EA591B0C4EFE}"/>
                </a:ext>
              </a:extLst>
            </p:cNvPr>
            <p:cNvSpPr/>
            <p:nvPr/>
          </p:nvSpPr>
          <p:spPr>
            <a:xfrm>
              <a:off x="731520" y="1170432"/>
              <a:ext cx="530352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PDP (Energy per Operation) Bar Chart</a:t>
              </a:r>
              <a:endParaRPr lang="en-US" sz="1050" dirty="0"/>
            </a:p>
          </p:txBody>
        </p:sp>
        <p:pic>
          <p:nvPicPr>
            <p:cNvPr id="37" name="Image 0" descr="C:\Users\shahrear\Downloads\LTSpice\Thesis\Thesis Book\Paper_04_PDP_Bar_Chart.png">
              <a:extLst>
                <a:ext uri="{FF2B5EF4-FFF2-40B4-BE49-F238E27FC236}">
                  <a16:creationId xmlns:a16="http://schemas.microsoft.com/office/drawing/2014/main" id="{ECDB3754-8ED5-A8DB-489E-75BC63A667A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31521" y="1645920"/>
              <a:ext cx="5303520" cy="4297680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78228D3A-F48F-EFC2-30B4-74AFADBC2C2C}"/>
              </a:ext>
            </a:extLst>
          </p:cNvPr>
          <p:cNvSpPr txBox="1"/>
          <p:nvPr/>
        </p:nvSpPr>
        <p:spPr>
          <a:xfrm>
            <a:off x="143723" y="4312916"/>
            <a:ext cx="2391321" cy="307777"/>
          </a:xfrm>
          <a:prstGeom prst="rect">
            <a:avLst/>
          </a:prstGeom>
          <a:noFill/>
          <a:ln>
            <a:solidFill>
              <a:schemeClr val="tx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Fig 08 :  Propagation Delay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724DF7-4583-8C05-2AFD-1C444F587BB0}"/>
              </a:ext>
            </a:extLst>
          </p:cNvPr>
          <p:cNvSpPr txBox="1"/>
          <p:nvPr/>
        </p:nvSpPr>
        <p:spPr>
          <a:xfrm>
            <a:off x="3087646" y="4264052"/>
            <a:ext cx="2391321" cy="523220"/>
          </a:xfrm>
          <a:prstGeom prst="rect">
            <a:avLst/>
          </a:prstGeom>
          <a:noFill/>
          <a:ln>
            <a:solidFill>
              <a:schemeClr val="tx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Fig 09 :  Average Power Dissipation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65FDB8-8753-00C7-C113-EB60EA399876}"/>
              </a:ext>
            </a:extLst>
          </p:cNvPr>
          <p:cNvSpPr txBox="1"/>
          <p:nvPr/>
        </p:nvSpPr>
        <p:spPr>
          <a:xfrm>
            <a:off x="6239724" y="4230970"/>
            <a:ext cx="2391321" cy="523220"/>
          </a:xfrm>
          <a:prstGeom prst="rect">
            <a:avLst/>
          </a:prstGeom>
          <a:noFill/>
          <a:ln>
            <a:solidFill>
              <a:schemeClr val="tx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Fig 10: Product Delay Propagation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49A9574-39B6-AF88-267C-D6960B896B60}"/>
              </a:ext>
            </a:extLst>
          </p:cNvPr>
          <p:cNvSpPr txBox="1"/>
          <p:nvPr/>
        </p:nvSpPr>
        <p:spPr>
          <a:xfrm>
            <a:off x="8708923" y="4689558"/>
            <a:ext cx="5671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16</a:t>
            </a:r>
          </a:p>
        </p:txBody>
      </p:sp>
    </p:spTree>
  </p:cSld>
  <p:clrMapOvr>
    <a:masterClrMapping/>
  </p:clrMapOvr>
  <p:transition spd="slow">
    <p:push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p85"/>
          <p:cNvSpPr txBox="1">
            <a:spLocks noGrp="1"/>
          </p:cNvSpPr>
          <p:nvPr>
            <p:ph type="title"/>
          </p:nvPr>
        </p:nvSpPr>
        <p:spPr>
          <a:xfrm>
            <a:off x="3165036" y="469868"/>
            <a:ext cx="2142944" cy="386338"/>
          </a:xfrm>
          <a:prstGeom prst="rect">
            <a:avLst/>
          </a:prstGeom>
          <a:ln>
            <a:solidFill>
              <a:srgbClr val="334436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800" b="1" dirty="0"/>
              <a:t>KEY FINDINGS</a:t>
            </a:r>
            <a:endParaRPr lang="en-US" sz="1800" dirty="0"/>
          </a:p>
        </p:txBody>
      </p:sp>
      <p:sp>
        <p:nvSpPr>
          <p:cNvPr id="3" name="Google Shape;1195;p86"/>
          <p:cNvSpPr txBox="1"/>
          <p:nvPr/>
        </p:nvSpPr>
        <p:spPr>
          <a:xfrm>
            <a:off x="652295" y="1404912"/>
            <a:ext cx="6833890" cy="2359367"/>
          </a:xfrm>
          <a:prstGeom prst="rect">
            <a:avLst/>
          </a:prstGeom>
          <a:solidFill>
            <a:schemeClr val="bg1"/>
          </a:solidFill>
          <a:ln>
            <a:solidFill>
              <a:srgbClr val="334436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GDI  Technique demonstrate: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Its </a:t>
            </a:r>
            <a:r>
              <a:rPr lang="en-US" b="1" dirty="0"/>
              <a:t>low power consumption</a:t>
            </a:r>
            <a:r>
              <a:rPr lang="en-US" dirty="0"/>
              <a:t>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Provides </a:t>
            </a:r>
            <a:r>
              <a:rPr lang="en-US" b="1" dirty="0"/>
              <a:t>short propagation delay</a:t>
            </a:r>
            <a:r>
              <a:rPr lang="en-US" dirty="0"/>
              <a:t>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Requires </a:t>
            </a:r>
            <a:r>
              <a:rPr lang="en-US" b="1" dirty="0"/>
              <a:t>fewer transistors</a:t>
            </a:r>
            <a:r>
              <a:rPr lang="en-US" dirty="0"/>
              <a:t>.</a:t>
            </a:r>
          </a:p>
          <a:p>
            <a:pPr lvl="0">
              <a:lnSpc>
                <a:spcPct val="150000"/>
              </a:lnSpc>
            </a:pPr>
            <a:endParaRPr lang="en-US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CMOS still viable for cost-sensitive applications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F02E23-DEFA-F75D-3E5D-638A65C82EBC}"/>
              </a:ext>
            </a:extLst>
          </p:cNvPr>
          <p:cNvSpPr txBox="1"/>
          <p:nvPr/>
        </p:nvSpPr>
        <p:spPr>
          <a:xfrm>
            <a:off x="8708923" y="4689558"/>
            <a:ext cx="5671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17</a:t>
            </a:r>
          </a:p>
        </p:txBody>
      </p:sp>
    </p:spTree>
  </p:cSld>
  <p:clrMapOvr>
    <a:masterClrMapping/>
  </p:clrMapOvr>
  <p:transition spd="slow">
    <p:push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p85"/>
          <p:cNvSpPr txBox="1">
            <a:spLocks noGrp="1"/>
          </p:cNvSpPr>
          <p:nvPr>
            <p:ph type="title"/>
          </p:nvPr>
        </p:nvSpPr>
        <p:spPr>
          <a:xfrm>
            <a:off x="3323347" y="343487"/>
            <a:ext cx="1912485" cy="386338"/>
          </a:xfrm>
          <a:prstGeom prst="rect">
            <a:avLst/>
          </a:prstGeom>
          <a:ln>
            <a:solidFill>
              <a:srgbClr val="334436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800" b="1" dirty="0"/>
              <a:t>CONCLUSION</a:t>
            </a:r>
            <a:endParaRPr lang="en-US" sz="1800" dirty="0"/>
          </a:p>
        </p:txBody>
      </p:sp>
      <p:sp>
        <p:nvSpPr>
          <p:cNvPr id="3" name="Google Shape;1195;p86"/>
          <p:cNvSpPr txBox="1"/>
          <p:nvPr/>
        </p:nvSpPr>
        <p:spPr>
          <a:xfrm>
            <a:off x="652295" y="1404913"/>
            <a:ext cx="6982573" cy="2130768"/>
          </a:xfrm>
          <a:prstGeom prst="rect">
            <a:avLst/>
          </a:prstGeom>
          <a:solidFill>
            <a:schemeClr val="bg1"/>
          </a:solidFill>
          <a:ln>
            <a:solidFill>
              <a:srgbClr val="334436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/>
              <a:t>CMOS faces scalability and performance limitations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/>
              <a:t>GDI technique addresses these with superior design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/>
              <a:t>For future VLSI design, GDI technique offers better performance and efficiency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/>
              <a:t>LTspice simulations confirm performance gains in GDI based designs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62F016-F24B-93BC-CF3C-49A64FE361A3}"/>
              </a:ext>
            </a:extLst>
          </p:cNvPr>
          <p:cNvSpPr txBox="1"/>
          <p:nvPr/>
        </p:nvSpPr>
        <p:spPr>
          <a:xfrm>
            <a:off x="8708923" y="4689558"/>
            <a:ext cx="5671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18</a:t>
            </a:r>
          </a:p>
        </p:txBody>
      </p:sp>
    </p:spTree>
  </p:cSld>
  <p:clrMapOvr>
    <a:masterClrMapping/>
  </p:clrMapOvr>
  <p:transition spd="slow">
    <p:push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p85"/>
          <p:cNvSpPr txBox="1">
            <a:spLocks noGrp="1"/>
          </p:cNvSpPr>
          <p:nvPr>
            <p:ph type="title"/>
          </p:nvPr>
        </p:nvSpPr>
        <p:spPr>
          <a:xfrm>
            <a:off x="3231944" y="462433"/>
            <a:ext cx="1858676" cy="386338"/>
          </a:xfrm>
          <a:prstGeom prst="rect">
            <a:avLst/>
          </a:prstGeom>
          <a:ln>
            <a:solidFill>
              <a:srgbClr val="334436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800" b="1" dirty="0"/>
              <a:t>Future Work</a:t>
            </a:r>
            <a:endParaRPr lang="en-US" sz="1800" dirty="0"/>
          </a:p>
        </p:txBody>
      </p:sp>
      <p:sp>
        <p:nvSpPr>
          <p:cNvPr id="3" name="Google Shape;1195;p86"/>
          <p:cNvSpPr txBox="1"/>
          <p:nvPr/>
        </p:nvSpPr>
        <p:spPr>
          <a:xfrm>
            <a:off x="652295" y="1337782"/>
            <a:ext cx="6749991" cy="2975138"/>
          </a:xfrm>
          <a:prstGeom prst="rect">
            <a:avLst/>
          </a:prstGeom>
          <a:solidFill>
            <a:schemeClr val="bg1"/>
          </a:solidFill>
          <a:ln>
            <a:solidFill>
              <a:srgbClr val="334436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/>
              <a:t>Study GDI Technique under varied temperatures and voltages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/>
              <a:t>Analyze integration into larger digital blocks (e.g., ALUs)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/>
              <a:t>Explore hybrid logic families for ultra-low power designs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/>
              <a:t>Investigate real-time implementations using FPGA or ASIC platforms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/>
              <a:t>Evaluate GDI  performance in logic-intensive circuits like full adders or multiplexers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/>
              <a:t>Explore noise immunity and signal integrity analysis in GDI Technique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/>
              <a:t>Extend simulations to  beyond to analyze scalability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DDA0CE6-CA47-490D-EFA4-D74F86BDADA1}"/>
              </a:ext>
            </a:extLst>
          </p:cNvPr>
          <p:cNvSpPr txBox="1"/>
          <p:nvPr/>
        </p:nvSpPr>
        <p:spPr>
          <a:xfrm>
            <a:off x="8708923" y="4689558"/>
            <a:ext cx="5671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19</a:t>
            </a:r>
          </a:p>
        </p:txBody>
      </p:sp>
    </p:spTree>
  </p:cSld>
  <p:clrMapOvr>
    <a:masterClrMapping/>
  </p:clrMapOvr>
  <p:transition spd="slow">
    <p:push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2">
          <a:extLst>
            <a:ext uri="{FF2B5EF4-FFF2-40B4-BE49-F238E27FC236}">
              <a16:creationId xmlns:a16="http://schemas.microsoft.com/office/drawing/2014/main" id="{F2460F85-664D-F5F9-A622-2502B82363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p85">
            <a:extLst>
              <a:ext uri="{FF2B5EF4-FFF2-40B4-BE49-F238E27FC236}">
                <a16:creationId xmlns:a16="http://schemas.microsoft.com/office/drawing/2014/main" id="{8F1636A1-ACD3-F742-3338-1F4BFAD31CA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31944" y="462433"/>
            <a:ext cx="2128076" cy="386338"/>
          </a:xfrm>
          <a:prstGeom prst="rect">
            <a:avLst/>
          </a:prstGeom>
          <a:ln>
            <a:solidFill>
              <a:srgbClr val="334436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800" b="1" dirty="0"/>
              <a:t>REFERENCES</a:t>
            </a:r>
            <a:endParaRPr lang="en-US" sz="1800" dirty="0"/>
          </a:p>
        </p:txBody>
      </p:sp>
      <p:sp>
        <p:nvSpPr>
          <p:cNvPr id="3" name="Google Shape;1195;p86">
            <a:extLst>
              <a:ext uri="{FF2B5EF4-FFF2-40B4-BE49-F238E27FC236}">
                <a16:creationId xmlns:a16="http://schemas.microsoft.com/office/drawing/2014/main" id="{FA6812D1-98DF-EA7D-A476-D2189988EA42}"/>
              </a:ext>
            </a:extLst>
          </p:cNvPr>
          <p:cNvSpPr txBox="1"/>
          <p:nvPr/>
        </p:nvSpPr>
        <p:spPr>
          <a:xfrm>
            <a:off x="734071" y="995811"/>
            <a:ext cx="6749991" cy="3226784"/>
          </a:xfrm>
          <a:prstGeom prst="rect">
            <a:avLst/>
          </a:prstGeom>
          <a:solidFill>
            <a:schemeClr val="bg1"/>
          </a:solidFill>
          <a:ln>
            <a:solidFill>
              <a:srgbClr val="334436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200" dirty="0"/>
              <a:t>[1] A. Kumar and M. Kumar, “Improved Design of CMOS 1-Bit Comparator with Stacking Technique,” International Journal of Current Engineering and Technology, Vol. 7, no. 3, pp. 1044–1047, 2017.</a:t>
            </a:r>
          </a:p>
          <a:p>
            <a:endParaRPr lang="en-US" sz="1200" dirty="0"/>
          </a:p>
          <a:p>
            <a:r>
              <a:rPr lang="en-US" sz="1200" dirty="0"/>
              <a:t>[2] D. Tailor, T. Sharma, and M. Kumar, “Design of CMOS Based 1-bit Comparator with MTCMOS and Forced Stack Technique in 180µm Technology,” in Proc. 2019 IEEE International Conference on Signal Processing and Communication (ICSC), NOIDA, India, pp. 330–334, 2019.</a:t>
            </a:r>
          </a:p>
          <a:p>
            <a:endParaRPr lang="en-US" sz="1200" dirty="0"/>
          </a:p>
          <a:p>
            <a:r>
              <a:rPr lang="en-US" sz="1200" dirty="0"/>
              <a:t> [3] S. Lubaba, M. S. Islam, K. M. Faisal, and M. Hasan, “Design of a Two-Bit Magnitude Comparator Based on Pass Transistor, Transmission Gate and Conventional Static CMOS Logic,” in Proc. 2020 IEEE Region 10 Symposium (TENSYMP), Dhaka, Bangladesh, pp. 1114–1117, 2020. </a:t>
            </a:r>
          </a:p>
          <a:p>
            <a:endParaRPr lang="en-US" sz="1200" dirty="0"/>
          </a:p>
          <a:p>
            <a:r>
              <a:rPr lang="en-US" sz="1200" dirty="0"/>
              <a:t>[4] Y. Sharma, B. S. Premananda, D. Raj, and K. Pandey, “Design and Analysis of a 1-bit Comparator for Low Power VLSI Systems,” in Proc. 2025 Third International Conference on Networks, Multimedia and Information Technology (NMITCON), Bengaluru, India, pp. 1–6, 2025.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99BA2E4-6DA3-39C7-0FCE-0CD3D0ED53A5}"/>
              </a:ext>
            </a:extLst>
          </p:cNvPr>
          <p:cNvSpPr txBox="1"/>
          <p:nvPr/>
        </p:nvSpPr>
        <p:spPr>
          <a:xfrm>
            <a:off x="8708923" y="4689558"/>
            <a:ext cx="5671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415185698"/>
      </p:ext>
    </p:extLst>
  </p:cSld>
  <p:clrMapOvr>
    <a:masterClrMapping/>
  </p:clrMapOvr>
  <p:transition spd="slow">
    <p:push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p85"/>
          <p:cNvSpPr txBox="1">
            <a:spLocks noGrp="1"/>
          </p:cNvSpPr>
          <p:nvPr>
            <p:ph type="title"/>
          </p:nvPr>
        </p:nvSpPr>
        <p:spPr>
          <a:xfrm>
            <a:off x="2745413" y="1971100"/>
            <a:ext cx="2969587" cy="600650"/>
          </a:xfrm>
          <a:prstGeom prst="rect">
            <a:avLst/>
          </a:prstGeom>
          <a:ln>
            <a:solidFill>
              <a:srgbClr val="334436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4000" b="1" dirty="0"/>
              <a:t>THANK</a:t>
            </a:r>
            <a:endParaRPr lang="en-US" sz="4000" dirty="0"/>
          </a:p>
        </p:txBody>
      </p:sp>
      <p:sp>
        <p:nvSpPr>
          <p:cNvPr id="4" name="Google Shape;1133;p85"/>
          <p:cNvSpPr txBox="1"/>
          <p:nvPr/>
        </p:nvSpPr>
        <p:spPr>
          <a:xfrm>
            <a:off x="2745412" y="2571750"/>
            <a:ext cx="2969587" cy="600650"/>
          </a:xfrm>
          <a:prstGeom prst="rect">
            <a:avLst/>
          </a:prstGeom>
          <a:solidFill>
            <a:schemeClr val="bg2"/>
          </a:solidFill>
          <a:ln>
            <a:solidFill>
              <a:srgbClr val="334436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Montserrat ExtraBold"/>
              <a:buNone/>
              <a:defRPr sz="5600" b="0" i="0" u="none" strike="noStrike" cap="none">
                <a:solidFill>
                  <a:schemeClr val="dk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Bebas Neue" panose="020B0606020202050201"/>
              <a:buNone/>
              <a:defRPr sz="48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Bebas Neue" panose="020B0606020202050201"/>
              <a:buNone/>
              <a:defRPr sz="48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Bebas Neue" panose="020B0606020202050201"/>
              <a:buNone/>
              <a:defRPr sz="48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Bebas Neue" panose="020B0606020202050201"/>
              <a:buNone/>
              <a:defRPr sz="48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Bebas Neue" panose="020B0606020202050201"/>
              <a:buNone/>
              <a:defRPr sz="48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Bebas Neue" panose="020B0606020202050201"/>
              <a:buNone/>
              <a:defRPr sz="48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Bebas Neue" panose="020B0606020202050201"/>
              <a:buNone/>
              <a:defRPr sz="48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Bebas Neue" panose="020B0606020202050201"/>
              <a:buNone/>
              <a:defRPr sz="48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>
            <a:r>
              <a:rPr lang="en-US" sz="4000" b="1" dirty="0">
                <a:solidFill>
                  <a:schemeClr val="tx1"/>
                </a:solidFill>
              </a:rPr>
              <a:t>YOU</a:t>
            </a:r>
            <a:endParaRPr lang="en-US" sz="4000" dirty="0"/>
          </a:p>
        </p:txBody>
      </p:sp>
    </p:spTree>
  </p:cSld>
  <p:clrMapOvr>
    <a:masterClrMapping/>
  </p:clrMapOvr>
  <p:transition spd="slow">
    <p:push/>
  </p:transition>
</p:sld>
</file>

<file path=ppt/theme/theme1.xml><?xml version="1.0" encoding="utf-8"?>
<a:theme xmlns:a="http://schemas.openxmlformats.org/drawingml/2006/main" name="Simple Style Thesis Defense XL by Slidesgo">
  <a:themeElements>
    <a:clrScheme name="Simple Light">
      <a:dk1>
        <a:srgbClr val="D4CAB7"/>
      </a:dk1>
      <a:lt1>
        <a:srgbClr val="E3DAC5"/>
      </a:lt1>
      <a:dk2>
        <a:srgbClr val="334436"/>
      </a:dk2>
      <a:lt2>
        <a:srgbClr val="DFAA28"/>
      </a:lt2>
      <a:accent1>
        <a:srgbClr val="2C4EB8"/>
      </a:accent1>
      <a:accent2>
        <a:srgbClr val="EA5430"/>
      </a:accent2>
      <a:accent3>
        <a:srgbClr val="334436"/>
      </a:accent3>
      <a:accent4>
        <a:srgbClr val="DFAA28"/>
      </a:accent4>
      <a:accent5>
        <a:srgbClr val="2C4EB8"/>
      </a:accent5>
      <a:accent6>
        <a:srgbClr val="EA5430"/>
      </a:accent6>
      <a:hlink>
        <a:srgbClr val="33443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2">
    <wetp:webextensionref xmlns:r="http://schemas.openxmlformats.org/officeDocument/2006/relationships" r:id="rId1"/>
  </wetp:taskpane>
  <wetp:taskpane dockstate="right" visibility="0" width="438" row="3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68BAF362-A0AF-4709-8017-2BFA54B3AE05}">
  <we:reference id="wa200007130" version="1.0.0.1" store="en-US" storeType="OMEX"/>
  <we:alternateReferences>
    <we:reference id="WA200007130" version="1.0.0.1" store="WA200007130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086AD610-CF7B-4388-AAEB-0CDA8B64AA60}">
  <we:reference id="wa200005566" version="3.0.1.2" store="en-US" storeType="OMEX"/>
  <we:alternateReferences>
    <we:reference id="wa200005566" version="3.0.1.2" store="wa200005566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476</TotalTime>
  <Words>1639</Words>
  <Application>Microsoft Office PowerPoint</Application>
  <PresentationFormat>On-screen Show (16:9)</PresentationFormat>
  <Paragraphs>224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2" baseType="lpstr">
      <vt:lpstr>Anaheim</vt:lpstr>
      <vt:lpstr>Arial</vt:lpstr>
      <vt:lpstr>Bebas Neue</vt:lpstr>
      <vt:lpstr>Calibri</vt:lpstr>
      <vt:lpstr>Cambria Math</vt:lpstr>
      <vt:lpstr>Montserrat ExtraBold</vt:lpstr>
      <vt:lpstr>Montserrat Medium</vt:lpstr>
      <vt:lpstr>Poppins SemiBold</vt:lpstr>
      <vt:lpstr>Wingdings</vt:lpstr>
      <vt:lpstr>Simple Style Thesis Defense XL by Slidesgo</vt:lpstr>
      <vt:lpstr>AN ULTRA LOW POWER 10 TRANSISTOR 1 BIT MAGNITUDE COMPARATOR USING GATE DIFFUSION INPUT TECHNIQUE </vt:lpstr>
      <vt:lpstr>INTRODUCTION</vt:lpstr>
      <vt:lpstr>GATE DIFFUSION INPUT (GDI) TECHNIQUE</vt:lpstr>
      <vt:lpstr>INTRODUCTION</vt:lpstr>
      <vt:lpstr>PROBLEM STATEMENT</vt:lpstr>
      <vt:lpstr>OBJECTIVES</vt:lpstr>
      <vt:lpstr>METHODOLOGY</vt:lpstr>
      <vt:lpstr>LITERATURE REVIEW</vt:lpstr>
      <vt:lpstr>LITERATURE REVIEW</vt:lpstr>
      <vt:lpstr>INTRODUCTION TO Comparator</vt:lpstr>
      <vt:lpstr>CMOS Logic Styles</vt:lpstr>
      <vt:lpstr>CIRCUIT DESIGN  COMPARE IN VARIOUS  TECHNIQUE</vt:lpstr>
      <vt:lpstr>GATE DIFFUSION INPUT (GDI) TECHNIQUE</vt:lpstr>
      <vt:lpstr>PROPOSED 10 TRANSISTOR GDI MAGNITUDE COMPARATOR</vt:lpstr>
      <vt:lpstr>SIMULATION RESULTS </vt:lpstr>
      <vt:lpstr>SIMULATION RESULTS </vt:lpstr>
      <vt:lpstr>PERFORMANCE COMPARISON</vt:lpstr>
      <vt:lpstr>KEY FINDINGS</vt:lpstr>
      <vt:lpstr>CONCLUSION</vt:lpstr>
      <vt:lpstr>Future Work</vt:lpstr>
      <vt:lpstr>REFERENCES</vt:lpstr>
      <vt:lpstr>THANK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Shahrear hossain</cp:lastModifiedBy>
  <cp:revision>109</cp:revision>
  <dcterms:created xsi:type="dcterms:W3CDTF">2025-04-14T13:57:50Z</dcterms:created>
  <dcterms:modified xsi:type="dcterms:W3CDTF">2026-10-02T12:14:19Z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34C85A1C91D14FE3BDE3A3205F12D325_12</vt:lpwstr>
  </property>
  <property fmtid="{D5CDD505-2E9C-101B-9397-08002B2CF9AE}" pid="3" name="KSOProductBuildVer">
    <vt:lpwstr>1033-12.2.0.20795</vt:lpwstr>
  </property>
</Properties>
</file>