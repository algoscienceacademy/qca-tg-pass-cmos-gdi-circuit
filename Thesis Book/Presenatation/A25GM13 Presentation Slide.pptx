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1670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91440"/>
            <a:ext cx="12188952" cy="6858000"/>
          </a:xfrm>
          <a:prstGeom prst="rect">
            <a:avLst/>
          </a:prstGeom>
          <a:solidFill>
            <a:srgbClr val="0F172A"/>
          </a:solidFill>
          <a:ln/>
        </p:spPr>
        <p:txBody>
          <a:bodyPr/>
          <a:lstStyle/>
          <a:p>
            <a:endParaRPr lang="en-US"/>
          </a:p>
        </p:txBody>
      </p:sp>
      <p:sp>
        <p:nvSpPr>
          <p:cNvPr id="3" name="Shape 1"/>
          <p:cNvSpPr/>
          <p:nvPr/>
        </p:nvSpPr>
        <p:spPr>
          <a:xfrm>
            <a:off x="6400800" y="731520"/>
            <a:ext cx="5212080" cy="5394960"/>
          </a:xfrm>
          <a:prstGeom prst="roundRect">
            <a:avLst>
              <a:gd name="adj" fmla="val 1754"/>
            </a:avLst>
          </a:prstGeom>
          <a:solidFill>
            <a:srgbClr val="1E293B"/>
          </a:solidFill>
          <a:ln w="12700">
            <a:solidFill>
              <a:srgbClr val="334155"/>
            </a:solidFill>
            <a:prstDash val="solid"/>
          </a:ln>
        </p:spPr>
        <p:txBody>
          <a:bodyPr/>
          <a:lstStyle/>
          <a:p>
            <a:endParaRPr lang="en-US"/>
          </a:p>
        </p:txBody>
      </p:sp>
      <p:pic>
        <p:nvPicPr>
          <p:cNvPr id="4" name="Image 0" descr="C:\Users\shahrear\Downloads\LTSpice\Thesis\Thesis Book\iiuc_logo.jpg"/>
          <p:cNvPicPr>
            <a:picLocks noChangeAspect="1"/>
          </p:cNvPicPr>
          <p:nvPr/>
        </p:nvPicPr>
        <p:blipFill>
          <a:blip r:embed="rId3"/>
          <a:stretch>
            <a:fillRect/>
          </a:stretch>
        </p:blipFill>
        <p:spPr>
          <a:xfrm>
            <a:off x="731520" y="731520"/>
            <a:ext cx="1645920" cy="1645920"/>
          </a:xfrm>
          <a:prstGeom prst="rect">
            <a:avLst/>
          </a:prstGeom>
        </p:spPr>
      </p:pic>
      <p:sp>
        <p:nvSpPr>
          <p:cNvPr id="5" name="Text 2"/>
          <p:cNvSpPr/>
          <p:nvPr/>
        </p:nvSpPr>
        <p:spPr>
          <a:xfrm>
            <a:off x="731520" y="2560320"/>
            <a:ext cx="5303520" cy="274320"/>
          </a:xfrm>
          <a:prstGeom prst="rect">
            <a:avLst/>
          </a:prstGeom>
          <a:noFill/>
          <a:ln/>
        </p:spPr>
        <p:txBody>
          <a:bodyPr wrap="square" rtlCol="0" anchor="ctr"/>
          <a:lstStyle/>
          <a:p>
            <a:pPr marL="0" indent="0">
              <a:buNone/>
            </a:pPr>
            <a:r>
              <a:rPr lang="en-US" sz="1200" b="1" dirty="0">
                <a:solidFill>
                  <a:srgbClr val="0D9488"/>
                </a:solidFill>
                <a:latin typeface="Arial" pitchFamily="34" charset="0"/>
                <a:ea typeface="Arial" pitchFamily="34" charset="-122"/>
                <a:cs typeface="Arial" pitchFamily="34" charset="-120"/>
              </a:rPr>
              <a:t>B.Sc. THESIS DEFENSE PRESENTATION</a:t>
            </a:r>
            <a:endParaRPr lang="en-US" sz="1200" dirty="0"/>
          </a:p>
        </p:txBody>
      </p:sp>
      <p:sp>
        <p:nvSpPr>
          <p:cNvPr id="6" name="Text 3"/>
          <p:cNvSpPr/>
          <p:nvPr/>
        </p:nvSpPr>
        <p:spPr>
          <a:xfrm>
            <a:off x="731520" y="2926080"/>
            <a:ext cx="5303520" cy="2011680"/>
          </a:xfrm>
          <a:prstGeom prst="rect">
            <a:avLst/>
          </a:prstGeom>
          <a:noFill/>
          <a:ln/>
        </p:spPr>
        <p:txBody>
          <a:bodyPr wrap="square" rtlCol="0" anchor="ctr"/>
          <a:lstStyle/>
          <a:p>
            <a:pPr marL="0" indent="0">
              <a:lnSpc>
                <a:spcPts val="3000"/>
              </a:lnSpc>
              <a:buNone/>
            </a:pPr>
            <a:r>
              <a:rPr lang="en-US" sz="2400" b="1" dirty="0">
                <a:solidFill>
                  <a:srgbClr val="FFFFFF"/>
                </a:solidFill>
                <a:latin typeface="Arial" pitchFamily="34" charset="0"/>
                <a:ea typeface="Arial" pitchFamily="34" charset="-122"/>
                <a:cs typeface="Arial" pitchFamily="34" charset="-120"/>
              </a:rPr>
              <a:t>An Ultra-Low-Power 10-Transistor</a:t>
            </a:r>
            <a:endParaRPr lang="en-US" sz="2400" dirty="0"/>
          </a:p>
          <a:p>
            <a:pPr marL="0" indent="0">
              <a:lnSpc>
                <a:spcPts val="3000"/>
              </a:lnSpc>
              <a:buNone/>
            </a:pPr>
            <a:r>
              <a:rPr lang="en-US" sz="2400" b="1" dirty="0">
                <a:solidFill>
                  <a:srgbClr val="FFFFFF"/>
                </a:solidFill>
                <a:latin typeface="Arial" pitchFamily="34" charset="0"/>
                <a:ea typeface="Arial" pitchFamily="34" charset="-122"/>
                <a:cs typeface="Arial" pitchFamily="34" charset="-120"/>
              </a:rPr>
              <a:t>1-Bit Magnitude Comparator</a:t>
            </a:r>
            <a:endParaRPr lang="en-US" sz="2400" dirty="0"/>
          </a:p>
          <a:p>
            <a:pPr marL="0" indent="0">
              <a:lnSpc>
                <a:spcPts val="3000"/>
              </a:lnSpc>
              <a:buNone/>
            </a:pPr>
            <a:r>
              <a:rPr lang="en-US" sz="2400" b="1" dirty="0">
                <a:solidFill>
                  <a:srgbClr val="FFFFFF"/>
                </a:solidFill>
                <a:latin typeface="Arial" pitchFamily="34" charset="0"/>
                <a:ea typeface="Arial" pitchFamily="34" charset="-122"/>
                <a:cs typeface="Arial" pitchFamily="34" charset="-120"/>
              </a:rPr>
              <a:t>Using GDI Technique</a:t>
            </a:r>
            <a:endParaRPr lang="en-US" sz="2400" dirty="0"/>
          </a:p>
        </p:txBody>
      </p:sp>
      <p:sp>
        <p:nvSpPr>
          <p:cNvPr id="7" name="Text 4"/>
          <p:cNvSpPr/>
          <p:nvPr/>
        </p:nvSpPr>
        <p:spPr>
          <a:xfrm>
            <a:off x="731520" y="5120640"/>
            <a:ext cx="5303520" cy="731520"/>
          </a:xfrm>
          <a:prstGeom prst="rect">
            <a:avLst/>
          </a:prstGeom>
          <a:noFill/>
          <a:ln/>
        </p:spPr>
        <p:txBody>
          <a:bodyPr wrap="square" rtlCol="0" anchor="ctr"/>
          <a:lstStyle/>
          <a:p>
            <a:pPr marL="0" indent="0">
              <a:buNone/>
            </a:pPr>
            <a:endParaRPr lang="en-US" sz="1200" dirty="0"/>
          </a:p>
        </p:txBody>
      </p:sp>
      <p:sp>
        <p:nvSpPr>
          <p:cNvPr id="8" name="Text 5"/>
          <p:cNvSpPr/>
          <p:nvPr/>
        </p:nvSpPr>
        <p:spPr>
          <a:xfrm>
            <a:off x="6766560" y="1097280"/>
            <a:ext cx="4480560" cy="274320"/>
          </a:xfrm>
          <a:prstGeom prst="rect">
            <a:avLst/>
          </a:prstGeom>
          <a:noFill/>
          <a:ln/>
        </p:spPr>
        <p:txBody>
          <a:bodyPr wrap="square" rtlCol="0" anchor="ctr"/>
          <a:lstStyle/>
          <a:p>
            <a:pPr marL="0" indent="0">
              <a:buNone/>
            </a:pPr>
            <a:r>
              <a:rPr lang="en-US" sz="1100" b="1" dirty="0">
                <a:solidFill>
                  <a:srgbClr val="0D9488"/>
                </a:solidFill>
                <a:latin typeface="Arial" pitchFamily="34" charset="0"/>
                <a:ea typeface="Arial" pitchFamily="34" charset="-122"/>
                <a:cs typeface="Arial" pitchFamily="34" charset="-120"/>
              </a:rPr>
              <a:t>PRESENTER DETAILS</a:t>
            </a:r>
            <a:endParaRPr lang="en-US" sz="1100" dirty="0"/>
          </a:p>
        </p:txBody>
      </p:sp>
      <p:sp>
        <p:nvSpPr>
          <p:cNvPr id="9" name="Text 6"/>
          <p:cNvSpPr/>
          <p:nvPr/>
        </p:nvSpPr>
        <p:spPr>
          <a:xfrm>
            <a:off x="6766560" y="1417320"/>
            <a:ext cx="448056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Shahrear Hossain</a:t>
            </a:r>
            <a:endParaRPr lang="en-US" sz="2000" dirty="0"/>
          </a:p>
        </p:txBody>
      </p:sp>
      <p:sp>
        <p:nvSpPr>
          <p:cNvPr id="10" name="Text 7"/>
          <p:cNvSpPr/>
          <p:nvPr/>
        </p:nvSpPr>
        <p:spPr>
          <a:xfrm>
            <a:off x="6766560" y="1874520"/>
            <a:ext cx="4480560" cy="822960"/>
          </a:xfrm>
          <a:prstGeom prst="rect">
            <a:avLst/>
          </a:prstGeom>
          <a:noFill/>
          <a:ln/>
        </p:spPr>
        <p:txBody>
          <a:bodyPr wrap="square" rtlCol="0" anchor="ctr"/>
          <a:lstStyle/>
          <a:p>
            <a:pPr marL="0" indent="0">
              <a:lnSpc>
                <a:spcPts val="2000"/>
              </a:lnSpc>
              <a:buNone/>
            </a:pPr>
            <a:r>
              <a:rPr lang="en-US" sz="1200" dirty="0">
                <a:solidFill>
                  <a:srgbClr val="CBD5E1"/>
                </a:solidFill>
                <a:latin typeface="Arial" pitchFamily="34" charset="0"/>
                <a:ea typeface="Arial" pitchFamily="34" charset="-122"/>
                <a:cs typeface="Arial" pitchFamily="34" charset="-120"/>
              </a:rPr>
              <a:t>Student ID: ET223104</a:t>
            </a:r>
            <a:endParaRPr lang="en-US" sz="1200" dirty="0"/>
          </a:p>
          <a:p>
            <a:pPr marL="0" indent="0">
              <a:lnSpc>
                <a:spcPts val="2000"/>
              </a:lnSpc>
              <a:buNone/>
            </a:pPr>
            <a:r>
              <a:rPr lang="en-US" sz="1200" dirty="0">
                <a:solidFill>
                  <a:srgbClr val="CBD5E1"/>
                </a:solidFill>
                <a:latin typeface="Arial" pitchFamily="34" charset="0"/>
                <a:ea typeface="Arial" pitchFamily="34" charset="-122"/>
                <a:cs typeface="Arial" pitchFamily="34" charset="-120"/>
              </a:rPr>
              <a:t>Department of Electrical &amp; Electronic Engineering</a:t>
            </a:r>
            <a:endParaRPr lang="en-US" sz="1200" dirty="0"/>
          </a:p>
          <a:p>
            <a:pPr marL="0" indent="0">
              <a:lnSpc>
                <a:spcPts val="2000"/>
              </a:lnSpc>
              <a:buNone/>
            </a:pPr>
            <a:r>
              <a:rPr lang="en-US" sz="1200" dirty="0">
                <a:solidFill>
                  <a:srgbClr val="CBD5E1"/>
                </a:solidFill>
                <a:latin typeface="Arial" pitchFamily="34" charset="0"/>
                <a:ea typeface="Arial" pitchFamily="34" charset="-122"/>
                <a:cs typeface="Arial" pitchFamily="34" charset="-120"/>
              </a:rPr>
              <a:t>International Islamic University Chittagong (IIUC)</a:t>
            </a:r>
            <a:endParaRPr lang="en-US" sz="1200" dirty="0"/>
          </a:p>
        </p:txBody>
      </p:sp>
      <p:sp>
        <p:nvSpPr>
          <p:cNvPr id="11" name="Shape 8"/>
          <p:cNvSpPr/>
          <p:nvPr/>
        </p:nvSpPr>
        <p:spPr>
          <a:xfrm>
            <a:off x="6766560" y="2926080"/>
            <a:ext cx="4480560" cy="18288"/>
          </a:xfrm>
          <a:prstGeom prst="rect">
            <a:avLst/>
          </a:prstGeom>
          <a:solidFill>
            <a:srgbClr val="334155"/>
          </a:solidFill>
          <a:ln/>
        </p:spPr>
        <p:txBody>
          <a:bodyPr/>
          <a:lstStyle/>
          <a:p>
            <a:endParaRPr lang="en-US"/>
          </a:p>
        </p:txBody>
      </p:sp>
      <p:sp>
        <p:nvSpPr>
          <p:cNvPr id="12" name="Text 9"/>
          <p:cNvSpPr/>
          <p:nvPr/>
        </p:nvSpPr>
        <p:spPr>
          <a:xfrm>
            <a:off x="6766560" y="3200400"/>
            <a:ext cx="4480560" cy="274320"/>
          </a:xfrm>
          <a:prstGeom prst="rect">
            <a:avLst/>
          </a:prstGeom>
          <a:noFill/>
          <a:ln/>
        </p:spPr>
        <p:txBody>
          <a:bodyPr wrap="square" rtlCol="0" anchor="ctr"/>
          <a:lstStyle/>
          <a:p>
            <a:pPr marL="0" indent="0">
              <a:buNone/>
            </a:pPr>
            <a:r>
              <a:rPr lang="en-US" sz="1100" b="1" dirty="0">
                <a:solidFill>
                  <a:srgbClr val="D97706"/>
                </a:solidFill>
                <a:latin typeface="Arial" pitchFamily="34" charset="0"/>
                <a:ea typeface="Arial" pitchFamily="34" charset="-122"/>
                <a:cs typeface="Arial" pitchFamily="34" charset="-120"/>
              </a:rPr>
              <a:t>SUPERVISOR</a:t>
            </a:r>
            <a:endParaRPr lang="en-US" sz="1100" dirty="0"/>
          </a:p>
        </p:txBody>
      </p:sp>
      <p:sp>
        <p:nvSpPr>
          <p:cNvPr id="13" name="Text 10"/>
          <p:cNvSpPr/>
          <p:nvPr/>
        </p:nvSpPr>
        <p:spPr>
          <a:xfrm>
            <a:off x="6766560" y="3520440"/>
            <a:ext cx="4480560" cy="36576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Riazul Islam</a:t>
            </a:r>
            <a:endParaRPr lang="en-US" sz="1800" dirty="0"/>
          </a:p>
        </p:txBody>
      </p:sp>
      <p:sp>
        <p:nvSpPr>
          <p:cNvPr id="14" name="Text 11"/>
          <p:cNvSpPr/>
          <p:nvPr/>
        </p:nvSpPr>
        <p:spPr>
          <a:xfrm>
            <a:off x="6766560" y="3931920"/>
            <a:ext cx="4480560" cy="640080"/>
          </a:xfrm>
          <a:prstGeom prst="rect">
            <a:avLst/>
          </a:prstGeom>
          <a:noFill/>
          <a:ln/>
        </p:spPr>
        <p:txBody>
          <a:bodyPr wrap="square" rtlCol="0" anchor="ctr"/>
          <a:lstStyle/>
          <a:p>
            <a:pPr marL="0" indent="0">
              <a:lnSpc>
                <a:spcPts val="1800"/>
              </a:lnSpc>
              <a:buNone/>
            </a:pPr>
            <a:r>
              <a:rPr lang="en-US" sz="1200" dirty="0">
                <a:solidFill>
                  <a:srgbClr val="CBD5E1"/>
                </a:solidFill>
                <a:latin typeface="Arial" pitchFamily="34" charset="0"/>
                <a:ea typeface="Arial" pitchFamily="34" charset="-122"/>
                <a:cs typeface="Arial" pitchFamily="34" charset="-120"/>
              </a:rPr>
              <a:t>Lecturer, Department of EEE</a:t>
            </a:r>
            <a:endParaRPr lang="en-US" sz="1200" dirty="0"/>
          </a:p>
          <a:p>
            <a:pPr marL="0" indent="0">
              <a:lnSpc>
                <a:spcPts val="1800"/>
              </a:lnSpc>
              <a:buNone/>
            </a:pPr>
            <a:r>
              <a:rPr lang="en-US" sz="1200" dirty="0">
                <a:solidFill>
                  <a:srgbClr val="CBD5E1"/>
                </a:solidFill>
                <a:latin typeface="Arial" pitchFamily="34" charset="0"/>
                <a:ea typeface="Arial" pitchFamily="34" charset="-122"/>
                <a:cs typeface="Arial" pitchFamily="34" charset="-120"/>
              </a:rPr>
              <a:t>International Islamic University Chittagong</a:t>
            </a:r>
            <a:endParaRPr lang="en-US" sz="1200" dirty="0"/>
          </a:p>
        </p:txBody>
      </p:sp>
      <p:sp>
        <p:nvSpPr>
          <p:cNvPr id="15" name="Text 12"/>
          <p:cNvSpPr/>
          <p:nvPr/>
        </p:nvSpPr>
        <p:spPr>
          <a:xfrm>
            <a:off x="6766560" y="5303520"/>
            <a:ext cx="4480560" cy="365760"/>
          </a:xfrm>
          <a:prstGeom prst="rect">
            <a:avLst/>
          </a:prstGeom>
          <a:noFill/>
          <a:ln/>
        </p:spPr>
        <p:txBody>
          <a:bodyPr wrap="square" rtlCol="0" anchor="ctr"/>
          <a:lstStyle/>
          <a:p>
            <a:pPr marL="0" indent="0">
              <a:buNone/>
            </a:pPr>
            <a:r>
              <a:rPr lang="en-US" sz="1300" b="1" dirty="0">
                <a:solidFill>
                  <a:srgbClr val="0D9488"/>
                </a:solidFill>
                <a:latin typeface="Arial" pitchFamily="34" charset="0"/>
                <a:ea typeface="Arial" pitchFamily="34" charset="-122"/>
                <a:cs typeface="Arial" pitchFamily="34" charset="-120"/>
              </a:rPr>
              <a:t>Date: October 2026</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Executive Summary &amp; Major Breakthroughs</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097280"/>
            <a:ext cx="11091672" cy="1097280"/>
          </a:xfrm>
          <a:prstGeom prst="roundRect">
            <a:avLst>
              <a:gd name="adj" fmla="val 6667"/>
            </a:avLst>
          </a:prstGeom>
          <a:solidFill>
            <a:srgbClr val="F1F5F9"/>
          </a:solidFill>
          <a:ln w="12700">
            <a:solidFill>
              <a:srgbClr val="E2E8F0"/>
            </a:solidFill>
            <a:prstDash val="solid"/>
          </a:ln>
        </p:spPr>
        <p:txBody>
          <a:bodyPr/>
          <a:lstStyle/>
          <a:p>
            <a:endParaRPr lang="en-US"/>
          </a:p>
        </p:txBody>
      </p:sp>
      <p:sp>
        <p:nvSpPr>
          <p:cNvPr id="9" name="Text 7"/>
          <p:cNvSpPr/>
          <p:nvPr/>
        </p:nvSpPr>
        <p:spPr>
          <a:xfrm>
            <a:off x="731520" y="1234440"/>
            <a:ext cx="10698480" cy="822960"/>
          </a:xfrm>
          <a:prstGeom prst="rect">
            <a:avLst/>
          </a:prstGeom>
          <a:noFill/>
          <a:ln/>
        </p:spPr>
        <p:txBody>
          <a:bodyPr wrap="square" rtlCol="0" anchor="ctr"/>
          <a:lstStyle/>
          <a:p>
            <a:pPr marL="0" indent="0">
              <a:lnSpc>
                <a:spcPts val="2200"/>
              </a:lnSpc>
              <a:buNone/>
            </a:pPr>
            <a:r>
              <a:rPr lang="en-US" sz="1400" dirty="0">
                <a:solidFill>
                  <a:srgbClr val="1E293B"/>
                </a:solidFill>
                <a:latin typeface="Arial" pitchFamily="34" charset="0"/>
                <a:ea typeface="Arial" pitchFamily="34" charset="-122"/>
                <a:cs typeface="Arial" pitchFamily="34" charset="-120"/>
              </a:rPr>
              <a:t>This thesis presents an ultra-compact 10-transistor (10T) 1-bit magnitude comparator leveraging Gate Diffusion Input (GDI) logic. The design solves the high dynamic power dissipation and large silicon area overhead of conventional CMOS (26T) and Transmission Gate (16T) implementations.</a:t>
            </a:r>
            <a:endParaRPr lang="en-US" sz="1400" dirty="0"/>
          </a:p>
        </p:txBody>
      </p:sp>
      <p:sp>
        <p:nvSpPr>
          <p:cNvPr id="10" name="Shape 8"/>
          <p:cNvSpPr/>
          <p:nvPr/>
        </p:nvSpPr>
        <p:spPr>
          <a:xfrm>
            <a:off x="548640" y="2468880"/>
            <a:ext cx="2679192" cy="3657600"/>
          </a:xfrm>
          <a:prstGeom prst="roundRect">
            <a:avLst>
              <a:gd name="adj" fmla="val 2730"/>
            </a:avLst>
          </a:prstGeom>
          <a:solidFill>
            <a:srgbClr val="FFFFFF"/>
          </a:solidFill>
          <a:ln w="12700">
            <a:solidFill>
              <a:srgbClr val="E2E8F0"/>
            </a:solidFill>
            <a:prstDash val="solid"/>
          </a:ln>
        </p:spPr>
        <p:txBody>
          <a:bodyPr/>
          <a:lstStyle/>
          <a:p>
            <a:endParaRPr lang="en-US"/>
          </a:p>
        </p:txBody>
      </p:sp>
      <p:sp>
        <p:nvSpPr>
          <p:cNvPr id="11" name="Shape 9"/>
          <p:cNvSpPr/>
          <p:nvPr/>
        </p:nvSpPr>
        <p:spPr>
          <a:xfrm>
            <a:off x="548640" y="2468880"/>
            <a:ext cx="2679192" cy="91440"/>
          </a:xfrm>
          <a:prstGeom prst="rect">
            <a:avLst/>
          </a:prstGeom>
          <a:solidFill>
            <a:srgbClr val="0F172A"/>
          </a:solidFill>
          <a:ln/>
        </p:spPr>
        <p:txBody>
          <a:bodyPr/>
          <a:lstStyle/>
          <a:p>
            <a:endParaRPr lang="en-US"/>
          </a:p>
        </p:txBody>
      </p:sp>
      <p:sp>
        <p:nvSpPr>
          <p:cNvPr id="12" name="Text 10"/>
          <p:cNvSpPr/>
          <p:nvPr/>
        </p:nvSpPr>
        <p:spPr>
          <a:xfrm>
            <a:off x="640080" y="2834640"/>
            <a:ext cx="2496312" cy="731520"/>
          </a:xfrm>
          <a:prstGeom prst="rect">
            <a:avLst/>
          </a:prstGeom>
          <a:noFill/>
          <a:ln/>
        </p:spPr>
        <p:txBody>
          <a:bodyPr wrap="square" rtlCol="0" anchor="ctr"/>
          <a:lstStyle/>
          <a:p>
            <a:pPr marL="0" indent="0" algn="ctr">
              <a:buNone/>
            </a:pPr>
            <a:r>
              <a:rPr lang="en-US" sz="2800" b="1" dirty="0">
                <a:solidFill>
                  <a:srgbClr val="0F172A"/>
                </a:solidFill>
                <a:latin typeface="Arial" pitchFamily="34" charset="0"/>
                <a:ea typeface="Arial" pitchFamily="34" charset="-122"/>
                <a:cs typeface="Arial" pitchFamily="34" charset="-120"/>
              </a:rPr>
              <a:t>10T</a:t>
            </a:r>
            <a:endParaRPr lang="en-US" sz="2800" dirty="0"/>
          </a:p>
        </p:txBody>
      </p:sp>
      <p:sp>
        <p:nvSpPr>
          <p:cNvPr id="13" name="Text 11"/>
          <p:cNvSpPr/>
          <p:nvPr/>
        </p:nvSpPr>
        <p:spPr>
          <a:xfrm>
            <a:off x="640080" y="3611880"/>
            <a:ext cx="2496312" cy="365760"/>
          </a:xfrm>
          <a:prstGeom prst="rect">
            <a:avLst/>
          </a:prstGeom>
          <a:noFill/>
          <a:ln/>
        </p:spPr>
        <p:txBody>
          <a:bodyPr wrap="square" rtlCol="0" anchor="ctr"/>
          <a:lstStyle/>
          <a:p>
            <a:pPr marL="0" indent="0" algn="ctr">
              <a:buNone/>
            </a:pPr>
            <a:r>
              <a:rPr lang="en-US" sz="1200" b="1" dirty="0">
                <a:solidFill>
                  <a:srgbClr val="1E293B"/>
                </a:solidFill>
                <a:latin typeface="Arial" pitchFamily="34" charset="0"/>
                <a:ea typeface="Arial" pitchFamily="34" charset="-122"/>
                <a:cs typeface="Arial" pitchFamily="34" charset="-120"/>
              </a:rPr>
              <a:t>TRANSISTOR COUNT</a:t>
            </a:r>
            <a:endParaRPr lang="en-US" sz="1200" dirty="0"/>
          </a:p>
        </p:txBody>
      </p:sp>
      <p:sp>
        <p:nvSpPr>
          <p:cNvPr id="14" name="Text 12"/>
          <p:cNvSpPr/>
          <p:nvPr/>
        </p:nvSpPr>
        <p:spPr>
          <a:xfrm>
            <a:off x="731520" y="4114800"/>
            <a:ext cx="2313432" cy="1645920"/>
          </a:xfrm>
          <a:prstGeom prst="rect">
            <a:avLst/>
          </a:prstGeom>
          <a:noFill/>
          <a:ln/>
        </p:spPr>
        <p:txBody>
          <a:bodyPr wrap="square" rtlCol="0" anchor="ctr"/>
          <a:lstStyle/>
          <a:p>
            <a:pPr marL="0" indent="0" algn="ctr">
              <a:lnSpc>
                <a:spcPts val="2000"/>
              </a:lnSpc>
              <a:buNone/>
            </a:pPr>
            <a:r>
              <a:rPr lang="en-US" sz="1200" dirty="0">
                <a:solidFill>
                  <a:srgbClr val="64748B"/>
                </a:solidFill>
                <a:latin typeface="Arial" pitchFamily="34" charset="0"/>
                <a:ea typeface="Arial" pitchFamily="34" charset="-122"/>
                <a:cs typeface="Arial" pitchFamily="34" charset="-120"/>
              </a:rPr>
              <a:t>61.5% reduction vs 26T CMOS</a:t>
            </a:r>
            <a:endParaRPr lang="en-US" sz="1200" dirty="0"/>
          </a:p>
        </p:txBody>
      </p:sp>
      <p:sp>
        <p:nvSpPr>
          <p:cNvPr id="15" name="Shape 13"/>
          <p:cNvSpPr/>
          <p:nvPr/>
        </p:nvSpPr>
        <p:spPr>
          <a:xfrm>
            <a:off x="3383280" y="2468880"/>
            <a:ext cx="2679192" cy="3657600"/>
          </a:xfrm>
          <a:prstGeom prst="roundRect">
            <a:avLst>
              <a:gd name="adj" fmla="val 2730"/>
            </a:avLst>
          </a:prstGeom>
          <a:solidFill>
            <a:srgbClr val="FFFFFF"/>
          </a:solidFill>
          <a:ln w="12700">
            <a:solidFill>
              <a:srgbClr val="E2E8F0"/>
            </a:solidFill>
            <a:prstDash val="solid"/>
          </a:ln>
        </p:spPr>
        <p:txBody>
          <a:bodyPr/>
          <a:lstStyle/>
          <a:p>
            <a:endParaRPr lang="en-US"/>
          </a:p>
        </p:txBody>
      </p:sp>
      <p:sp>
        <p:nvSpPr>
          <p:cNvPr id="16" name="Shape 14"/>
          <p:cNvSpPr/>
          <p:nvPr/>
        </p:nvSpPr>
        <p:spPr>
          <a:xfrm>
            <a:off x="3383280" y="2468880"/>
            <a:ext cx="2679192" cy="91440"/>
          </a:xfrm>
          <a:prstGeom prst="rect">
            <a:avLst/>
          </a:prstGeom>
          <a:solidFill>
            <a:srgbClr val="0D9488"/>
          </a:solidFill>
          <a:ln/>
        </p:spPr>
        <p:txBody>
          <a:bodyPr/>
          <a:lstStyle/>
          <a:p>
            <a:endParaRPr lang="en-US"/>
          </a:p>
        </p:txBody>
      </p:sp>
      <p:sp>
        <p:nvSpPr>
          <p:cNvPr id="17" name="Text 15"/>
          <p:cNvSpPr/>
          <p:nvPr/>
        </p:nvSpPr>
        <p:spPr>
          <a:xfrm>
            <a:off x="3474720" y="2834640"/>
            <a:ext cx="2496312" cy="731520"/>
          </a:xfrm>
          <a:prstGeom prst="rect">
            <a:avLst/>
          </a:prstGeom>
          <a:noFill/>
          <a:ln/>
        </p:spPr>
        <p:txBody>
          <a:bodyPr wrap="square" rtlCol="0" anchor="ctr"/>
          <a:lstStyle/>
          <a:p>
            <a:pPr marL="0" indent="0" algn="ctr">
              <a:buNone/>
            </a:pPr>
            <a:r>
              <a:rPr lang="en-US" sz="2800" b="1" dirty="0">
                <a:solidFill>
                  <a:srgbClr val="0D9488"/>
                </a:solidFill>
                <a:latin typeface="Arial" pitchFamily="34" charset="0"/>
                <a:ea typeface="Arial" pitchFamily="34" charset="-122"/>
                <a:cs typeface="Arial" pitchFamily="34" charset="-120"/>
              </a:rPr>
              <a:t>18.4 ps</a:t>
            </a:r>
            <a:endParaRPr lang="en-US" sz="2800" dirty="0"/>
          </a:p>
        </p:txBody>
      </p:sp>
      <p:sp>
        <p:nvSpPr>
          <p:cNvPr id="18" name="Text 16"/>
          <p:cNvSpPr/>
          <p:nvPr/>
        </p:nvSpPr>
        <p:spPr>
          <a:xfrm>
            <a:off x="3474720" y="3611880"/>
            <a:ext cx="2496312" cy="365760"/>
          </a:xfrm>
          <a:prstGeom prst="rect">
            <a:avLst/>
          </a:prstGeom>
          <a:noFill/>
          <a:ln/>
        </p:spPr>
        <p:txBody>
          <a:bodyPr wrap="square" rtlCol="0" anchor="ctr"/>
          <a:lstStyle/>
          <a:p>
            <a:pPr marL="0" indent="0" algn="ctr">
              <a:buNone/>
            </a:pPr>
            <a:r>
              <a:rPr lang="en-US" sz="1200" b="1" dirty="0">
                <a:solidFill>
                  <a:srgbClr val="1E293B"/>
                </a:solidFill>
                <a:latin typeface="Arial" pitchFamily="34" charset="0"/>
                <a:ea typeface="Arial" pitchFamily="34" charset="-122"/>
                <a:cs typeface="Arial" pitchFamily="34" charset="-120"/>
              </a:rPr>
              <a:t>PROPAGATION DELAY</a:t>
            </a:r>
            <a:endParaRPr lang="en-US" sz="1200" dirty="0"/>
          </a:p>
        </p:txBody>
      </p:sp>
      <p:sp>
        <p:nvSpPr>
          <p:cNvPr id="19" name="Text 17"/>
          <p:cNvSpPr/>
          <p:nvPr/>
        </p:nvSpPr>
        <p:spPr>
          <a:xfrm>
            <a:off x="3566160" y="4114800"/>
            <a:ext cx="2313432" cy="1645920"/>
          </a:xfrm>
          <a:prstGeom prst="rect">
            <a:avLst/>
          </a:prstGeom>
          <a:noFill/>
          <a:ln/>
        </p:spPr>
        <p:txBody>
          <a:bodyPr wrap="square" rtlCol="0" anchor="ctr"/>
          <a:lstStyle/>
          <a:p>
            <a:pPr marL="0" indent="0" algn="ctr">
              <a:lnSpc>
                <a:spcPts val="2000"/>
              </a:lnSpc>
              <a:buNone/>
            </a:pPr>
            <a:r>
              <a:rPr lang="en-US" sz="1200" dirty="0">
                <a:solidFill>
                  <a:srgbClr val="64748B"/>
                </a:solidFill>
                <a:latin typeface="Arial" pitchFamily="34" charset="0"/>
                <a:ea typeface="Arial" pitchFamily="34" charset="-122"/>
                <a:cs typeface="Arial" pitchFamily="34" charset="-120"/>
              </a:rPr>
              <a:t>41.6% faster at 45nm PTM node</a:t>
            </a:r>
            <a:endParaRPr lang="en-US" sz="1200" dirty="0"/>
          </a:p>
        </p:txBody>
      </p:sp>
      <p:sp>
        <p:nvSpPr>
          <p:cNvPr id="20" name="Shape 18"/>
          <p:cNvSpPr/>
          <p:nvPr/>
        </p:nvSpPr>
        <p:spPr>
          <a:xfrm>
            <a:off x="6217920" y="2468880"/>
            <a:ext cx="2679192" cy="3657600"/>
          </a:xfrm>
          <a:prstGeom prst="roundRect">
            <a:avLst>
              <a:gd name="adj" fmla="val 2730"/>
            </a:avLst>
          </a:prstGeom>
          <a:solidFill>
            <a:srgbClr val="FFFFFF"/>
          </a:solidFill>
          <a:ln w="12700">
            <a:solidFill>
              <a:srgbClr val="E2E8F0"/>
            </a:solidFill>
            <a:prstDash val="solid"/>
          </a:ln>
        </p:spPr>
        <p:txBody>
          <a:bodyPr/>
          <a:lstStyle/>
          <a:p>
            <a:endParaRPr lang="en-US"/>
          </a:p>
        </p:txBody>
      </p:sp>
      <p:sp>
        <p:nvSpPr>
          <p:cNvPr id="21" name="Shape 19"/>
          <p:cNvSpPr/>
          <p:nvPr/>
        </p:nvSpPr>
        <p:spPr>
          <a:xfrm>
            <a:off x="6217920" y="2468880"/>
            <a:ext cx="2679192" cy="91440"/>
          </a:xfrm>
          <a:prstGeom prst="rect">
            <a:avLst/>
          </a:prstGeom>
          <a:solidFill>
            <a:srgbClr val="D97706"/>
          </a:solidFill>
          <a:ln/>
        </p:spPr>
        <p:txBody>
          <a:bodyPr/>
          <a:lstStyle/>
          <a:p>
            <a:endParaRPr lang="en-US"/>
          </a:p>
        </p:txBody>
      </p:sp>
      <p:sp>
        <p:nvSpPr>
          <p:cNvPr id="22" name="Text 20"/>
          <p:cNvSpPr/>
          <p:nvPr/>
        </p:nvSpPr>
        <p:spPr>
          <a:xfrm>
            <a:off x="6309360" y="2834640"/>
            <a:ext cx="2496312" cy="731520"/>
          </a:xfrm>
          <a:prstGeom prst="rect">
            <a:avLst/>
          </a:prstGeom>
          <a:noFill/>
          <a:ln/>
        </p:spPr>
        <p:txBody>
          <a:bodyPr wrap="square" rtlCol="0" anchor="ctr"/>
          <a:lstStyle/>
          <a:p>
            <a:pPr marL="0" indent="0" algn="ctr">
              <a:buNone/>
            </a:pPr>
            <a:r>
              <a:rPr lang="en-US" sz="2800" b="1" dirty="0">
                <a:solidFill>
                  <a:srgbClr val="D97706"/>
                </a:solidFill>
                <a:latin typeface="Arial" pitchFamily="34" charset="0"/>
                <a:ea typeface="Arial" pitchFamily="34" charset="-122"/>
                <a:cs typeface="Arial" pitchFamily="34" charset="-120"/>
              </a:rPr>
              <a:t>2.15 µW</a:t>
            </a:r>
            <a:endParaRPr lang="en-US" sz="2800" dirty="0"/>
          </a:p>
        </p:txBody>
      </p:sp>
      <p:sp>
        <p:nvSpPr>
          <p:cNvPr id="23" name="Text 21"/>
          <p:cNvSpPr/>
          <p:nvPr/>
        </p:nvSpPr>
        <p:spPr>
          <a:xfrm>
            <a:off x="6309360" y="3611880"/>
            <a:ext cx="2496312" cy="365760"/>
          </a:xfrm>
          <a:prstGeom prst="rect">
            <a:avLst/>
          </a:prstGeom>
          <a:noFill/>
          <a:ln/>
        </p:spPr>
        <p:txBody>
          <a:bodyPr wrap="square" rtlCol="0" anchor="ctr"/>
          <a:lstStyle/>
          <a:p>
            <a:pPr marL="0" indent="0" algn="ctr">
              <a:buNone/>
            </a:pPr>
            <a:r>
              <a:rPr lang="en-US" sz="1200" b="1" dirty="0">
                <a:solidFill>
                  <a:srgbClr val="1E293B"/>
                </a:solidFill>
                <a:latin typeface="Arial" pitchFamily="34" charset="0"/>
                <a:ea typeface="Arial" pitchFamily="34" charset="-122"/>
                <a:cs typeface="Arial" pitchFamily="34" charset="-120"/>
              </a:rPr>
              <a:t>AVERAGE POWER</a:t>
            </a:r>
            <a:endParaRPr lang="en-US" sz="1200" dirty="0"/>
          </a:p>
        </p:txBody>
      </p:sp>
      <p:sp>
        <p:nvSpPr>
          <p:cNvPr id="24" name="Text 22"/>
          <p:cNvSpPr/>
          <p:nvPr/>
        </p:nvSpPr>
        <p:spPr>
          <a:xfrm>
            <a:off x="6400800" y="4114800"/>
            <a:ext cx="2313432" cy="1645920"/>
          </a:xfrm>
          <a:prstGeom prst="rect">
            <a:avLst/>
          </a:prstGeom>
          <a:noFill/>
          <a:ln/>
        </p:spPr>
        <p:txBody>
          <a:bodyPr wrap="square" rtlCol="0" anchor="ctr"/>
          <a:lstStyle/>
          <a:p>
            <a:pPr marL="0" indent="0" algn="ctr">
              <a:lnSpc>
                <a:spcPts val="2000"/>
              </a:lnSpc>
              <a:buNone/>
            </a:pPr>
            <a:r>
              <a:rPr lang="en-US" sz="1200" dirty="0">
                <a:solidFill>
                  <a:srgbClr val="64748B"/>
                </a:solidFill>
                <a:latin typeface="Arial" pitchFamily="34" charset="0"/>
                <a:ea typeface="Arial" pitchFamily="34" charset="-122"/>
                <a:cs typeface="Arial" pitchFamily="34" charset="-120"/>
              </a:rPr>
              <a:t>85.4% power savings vs CMOS</a:t>
            </a:r>
            <a:endParaRPr lang="en-US" sz="1200" dirty="0"/>
          </a:p>
        </p:txBody>
      </p:sp>
      <p:sp>
        <p:nvSpPr>
          <p:cNvPr id="25" name="Shape 23"/>
          <p:cNvSpPr/>
          <p:nvPr/>
        </p:nvSpPr>
        <p:spPr>
          <a:xfrm>
            <a:off x="9052560" y="2468880"/>
            <a:ext cx="2679192" cy="3657600"/>
          </a:xfrm>
          <a:prstGeom prst="roundRect">
            <a:avLst>
              <a:gd name="adj" fmla="val 2730"/>
            </a:avLst>
          </a:prstGeom>
          <a:solidFill>
            <a:srgbClr val="FFFFFF"/>
          </a:solidFill>
          <a:ln w="12700">
            <a:solidFill>
              <a:srgbClr val="E2E8F0"/>
            </a:solidFill>
            <a:prstDash val="solid"/>
          </a:ln>
        </p:spPr>
        <p:txBody>
          <a:bodyPr/>
          <a:lstStyle/>
          <a:p>
            <a:endParaRPr lang="en-US"/>
          </a:p>
        </p:txBody>
      </p:sp>
      <p:sp>
        <p:nvSpPr>
          <p:cNvPr id="26" name="Shape 24"/>
          <p:cNvSpPr/>
          <p:nvPr/>
        </p:nvSpPr>
        <p:spPr>
          <a:xfrm>
            <a:off x="9052560" y="2468880"/>
            <a:ext cx="2679192" cy="91440"/>
          </a:xfrm>
          <a:prstGeom prst="rect">
            <a:avLst/>
          </a:prstGeom>
          <a:solidFill>
            <a:srgbClr val="E11D48"/>
          </a:solidFill>
          <a:ln/>
        </p:spPr>
        <p:txBody>
          <a:bodyPr/>
          <a:lstStyle/>
          <a:p>
            <a:endParaRPr lang="en-US"/>
          </a:p>
        </p:txBody>
      </p:sp>
      <p:sp>
        <p:nvSpPr>
          <p:cNvPr id="27" name="Text 25"/>
          <p:cNvSpPr/>
          <p:nvPr/>
        </p:nvSpPr>
        <p:spPr>
          <a:xfrm>
            <a:off x="9144000" y="2834640"/>
            <a:ext cx="2496312" cy="731520"/>
          </a:xfrm>
          <a:prstGeom prst="rect">
            <a:avLst/>
          </a:prstGeom>
          <a:noFill/>
          <a:ln/>
        </p:spPr>
        <p:txBody>
          <a:bodyPr wrap="square" rtlCol="0" anchor="ctr"/>
          <a:lstStyle/>
          <a:p>
            <a:pPr marL="0" indent="0" algn="ctr">
              <a:buNone/>
            </a:pPr>
            <a:r>
              <a:rPr lang="en-US" sz="2800" b="1" dirty="0">
                <a:solidFill>
                  <a:srgbClr val="E11D48"/>
                </a:solidFill>
                <a:latin typeface="Arial" pitchFamily="34" charset="0"/>
                <a:ea typeface="Arial" pitchFamily="34" charset="-122"/>
                <a:cs typeface="Arial" pitchFamily="34" charset="-120"/>
              </a:rPr>
              <a:t>39.56 aJ</a:t>
            </a:r>
            <a:endParaRPr lang="en-US" sz="2800" dirty="0"/>
          </a:p>
        </p:txBody>
      </p:sp>
      <p:sp>
        <p:nvSpPr>
          <p:cNvPr id="28" name="Text 26"/>
          <p:cNvSpPr/>
          <p:nvPr/>
        </p:nvSpPr>
        <p:spPr>
          <a:xfrm>
            <a:off x="9144000" y="3611880"/>
            <a:ext cx="2496312" cy="365760"/>
          </a:xfrm>
          <a:prstGeom prst="rect">
            <a:avLst/>
          </a:prstGeom>
          <a:noFill/>
          <a:ln/>
        </p:spPr>
        <p:txBody>
          <a:bodyPr wrap="square" rtlCol="0" anchor="ctr"/>
          <a:lstStyle/>
          <a:p>
            <a:pPr marL="0" indent="0" algn="ctr">
              <a:buNone/>
            </a:pPr>
            <a:r>
              <a:rPr lang="en-US" sz="1200" b="1" dirty="0">
                <a:solidFill>
                  <a:srgbClr val="1E293B"/>
                </a:solidFill>
                <a:latin typeface="Arial" pitchFamily="34" charset="0"/>
                <a:ea typeface="Arial" pitchFamily="34" charset="-122"/>
                <a:cs typeface="Arial" pitchFamily="34" charset="-120"/>
              </a:rPr>
              <a:t>POWER-DELAY PRODUCT</a:t>
            </a:r>
            <a:endParaRPr lang="en-US" sz="1200" dirty="0"/>
          </a:p>
        </p:txBody>
      </p:sp>
      <p:sp>
        <p:nvSpPr>
          <p:cNvPr id="29" name="Text 27"/>
          <p:cNvSpPr/>
          <p:nvPr/>
        </p:nvSpPr>
        <p:spPr>
          <a:xfrm>
            <a:off x="9235440" y="4114800"/>
            <a:ext cx="2313432" cy="1645920"/>
          </a:xfrm>
          <a:prstGeom prst="rect">
            <a:avLst/>
          </a:prstGeom>
          <a:noFill/>
          <a:ln/>
        </p:spPr>
        <p:txBody>
          <a:bodyPr wrap="square" rtlCol="0" anchor="ctr"/>
          <a:lstStyle/>
          <a:p>
            <a:pPr marL="0" indent="0" algn="ctr">
              <a:lnSpc>
                <a:spcPts val="2000"/>
              </a:lnSpc>
              <a:buNone/>
            </a:pPr>
            <a:r>
              <a:rPr lang="en-US" sz="1200" dirty="0">
                <a:solidFill>
                  <a:srgbClr val="64748B"/>
                </a:solidFill>
                <a:latin typeface="Arial" pitchFamily="34" charset="0"/>
                <a:ea typeface="Arial" pitchFamily="34" charset="-122"/>
                <a:cs typeface="Arial" pitchFamily="34" charset="-120"/>
              </a:rPr>
              <a:t>18× energy efficiency boost</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Presentation Agenda &amp; Roadmap</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188720"/>
            <a:ext cx="5394960" cy="1463040"/>
          </a:xfrm>
          <a:prstGeom prst="roundRect">
            <a:avLst>
              <a:gd name="adj" fmla="val 5000"/>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822960" y="1463040"/>
            <a:ext cx="822960" cy="822960"/>
          </a:xfrm>
          <a:prstGeom prst="roundRect">
            <a:avLst>
              <a:gd name="adj" fmla="val 11111"/>
            </a:avLst>
          </a:prstGeom>
          <a:solidFill>
            <a:srgbClr val="0F172A"/>
          </a:solidFill>
          <a:ln/>
        </p:spPr>
        <p:txBody>
          <a:bodyPr/>
          <a:lstStyle/>
          <a:p>
            <a:endParaRPr lang="en-US"/>
          </a:p>
        </p:txBody>
      </p:sp>
      <p:sp>
        <p:nvSpPr>
          <p:cNvPr id="10" name="Text 8"/>
          <p:cNvSpPr/>
          <p:nvPr/>
        </p:nvSpPr>
        <p:spPr>
          <a:xfrm>
            <a:off x="822960" y="1554480"/>
            <a:ext cx="822960" cy="64008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01</a:t>
            </a:r>
            <a:endParaRPr lang="en-US" sz="1800" dirty="0"/>
          </a:p>
        </p:txBody>
      </p:sp>
      <p:sp>
        <p:nvSpPr>
          <p:cNvPr id="11" name="Text 9"/>
          <p:cNvSpPr/>
          <p:nvPr/>
        </p:nvSpPr>
        <p:spPr>
          <a:xfrm>
            <a:off x="1828800" y="1463040"/>
            <a:ext cx="3840480" cy="365760"/>
          </a:xfrm>
          <a:prstGeom prst="rect">
            <a:avLst/>
          </a:prstGeom>
          <a:noFill/>
          <a:ln/>
        </p:spPr>
        <p:txBody>
          <a:bodyPr wrap="square" rtlCol="0" anchor="ctr"/>
          <a:lstStyle/>
          <a:p>
            <a:pPr marL="0" indent="0">
              <a:buNone/>
            </a:pPr>
            <a:r>
              <a:rPr lang="en-US" sz="1500" b="1" dirty="0">
                <a:solidFill>
                  <a:srgbClr val="1E293B"/>
                </a:solidFill>
                <a:latin typeface="Arial" pitchFamily="34" charset="0"/>
                <a:ea typeface="Arial" pitchFamily="34" charset="-122"/>
                <a:cs typeface="Arial" pitchFamily="34" charset="-120"/>
              </a:rPr>
              <a:t>Introduction &amp; Motivation</a:t>
            </a:r>
            <a:endParaRPr lang="en-US" sz="1500" dirty="0"/>
          </a:p>
        </p:txBody>
      </p:sp>
      <p:sp>
        <p:nvSpPr>
          <p:cNvPr id="12" name="Text 10"/>
          <p:cNvSpPr/>
          <p:nvPr/>
        </p:nvSpPr>
        <p:spPr>
          <a:xfrm>
            <a:off x="1828800" y="1874520"/>
            <a:ext cx="3840480" cy="640080"/>
          </a:xfrm>
          <a:prstGeom prst="rect">
            <a:avLst/>
          </a:prstGeom>
          <a:noFill/>
          <a:ln/>
        </p:spPr>
        <p:txBody>
          <a:bodyPr wrap="square" rtlCol="0" anchor="ctr"/>
          <a:lstStyle/>
          <a:p>
            <a:pPr marL="0" indent="0">
              <a:lnSpc>
                <a:spcPts val="1600"/>
              </a:lnSpc>
              <a:buNone/>
            </a:pPr>
            <a:r>
              <a:rPr lang="en-US" sz="1100" dirty="0">
                <a:solidFill>
                  <a:srgbClr val="64748B"/>
                </a:solidFill>
                <a:latin typeface="Arial" pitchFamily="34" charset="0"/>
                <a:ea typeface="Arial" pitchFamily="34" charset="-122"/>
                <a:cs typeface="Arial" pitchFamily="34" charset="-120"/>
              </a:rPr>
              <a:t>VLSI scaling, power density challenges, role of magnitude comparators.</a:t>
            </a:r>
            <a:endParaRPr lang="en-US" sz="1100" dirty="0"/>
          </a:p>
        </p:txBody>
      </p:sp>
      <p:sp>
        <p:nvSpPr>
          <p:cNvPr id="13" name="Shape 11"/>
          <p:cNvSpPr/>
          <p:nvPr/>
        </p:nvSpPr>
        <p:spPr>
          <a:xfrm>
            <a:off x="548640" y="2880360"/>
            <a:ext cx="5394960" cy="1463040"/>
          </a:xfrm>
          <a:prstGeom prst="roundRect">
            <a:avLst>
              <a:gd name="adj" fmla="val 5000"/>
            </a:avLst>
          </a:prstGeom>
          <a:solidFill>
            <a:srgbClr val="FFFFFF"/>
          </a:solidFill>
          <a:ln w="12700">
            <a:solidFill>
              <a:srgbClr val="E2E8F0"/>
            </a:solidFill>
            <a:prstDash val="solid"/>
          </a:ln>
        </p:spPr>
        <p:txBody>
          <a:bodyPr/>
          <a:lstStyle/>
          <a:p>
            <a:endParaRPr lang="en-US"/>
          </a:p>
        </p:txBody>
      </p:sp>
      <p:sp>
        <p:nvSpPr>
          <p:cNvPr id="14" name="Shape 12"/>
          <p:cNvSpPr/>
          <p:nvPr/>
        </p:nvSpPr>
        <p:spPr>
          <a:xfrm>
            <a:off x="822960" y="3154680"/>
            <a:ext cx="822960" cy="822960"/>
          </a:xfrm>
          <a:prstGeom prst="roundRect">
            <a:avLst>
              <a:gd name="adj" fmla="val 11111"/>
            </a:avLst>
          </a:prstGeom>
          <a:solidFill>
            <a:srgbClr val="0F172A"/>
          </a:solidFill>
          <a:ln/>
        </p:spPr>
        <p:txBody>
          <a:bodyPr/>
          <a:lstStyle/>
          <a:p>
            <a:endParaRPr lang="en-US"/>
          </a:p>
        </p:txBody>
      </p:sp>
      <p:sp>
        <p:nvSpPr>
          <p:cNvPr id="15" name="Text 13"/>
          <p:cNvSpPr/>
          <p:nvPr/>
        </p:nvSpPr>
        <p:spPr>
          <a:xfrm>
            <a:off x="822960" y="3246120"/>
            <a:ext cx="822960" cy="64008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02</a:t>
            </a:r>
            <a:endParaRPr lang="en-US" sz="1800" dirty="0"/>
          </a:p>
        </p:txBody>
      </p:sp>
      <p:sp>
        <p:nvSpPr>
          <p:cNvPr id="16" name="Text 14"/>
          <p:cNvSpPr/>
          <p:nvPr/>
        </p:nvSpPr>
        <p:spPr>
          <a:xfrm>
            <a:off x="1828800" y="3154680"/>
            <a:ext cx="3840480" cy="365760"/>
          </a:xfrm>
          <a:prstGeom prst="rect">
            <a:avLst/>
          </a:prstGeom>
          <a:noFill/>
          <a:ln/>
        </p:spPr>
        <p:txBody>
          <a:bodyPr wrap="square" rtlCol="0" anchor="ctr"/>
          <a:lstStyle/>
          <a:p>
            <a:pPr marL="0" indent="0">
              <a:buNone/>
            </a:pPr>
            <a:r>
              <a:rPr lang="en-US" sz="1500" b="1" dirty="0">
                <a:solidFill>
                  <a:srgbClr val="1E293B"/>
                </a:solidFill>
                <a:latin typeface="Arial" pitchFamily="34" charset="0"/>
                <a:ea typeface="Arial" pitchFamily="34" charset="-122"/>
                <a:cs typeface="Arial" pitchFamily="34" charset="-120"/>
              </a:rPr>
              <a:t>Literature Review &amp; Baselines</a:t>
            </a:r>
            <a:endParaRPr lang="en-US" sz="1500" dirty="0"/>
          </a:p>
        </p:txBody>
      </p:sp>
      <p:sp>
        <p:nvSpPr>
          <p:cNvPr id="17" name="Text 15"/>
          <p:cNvSpPr/>
          <p:nvPr/>
        </p:nvSpPr>
        <p:spPr>
          <a:xfrm>
            <a:off x="1828800" y="3566160"/>
            <a:ext cx="3840480" cy="640080"/>
          </a:xfrm>
          <a:prstGeom prst="rect">
            <a:avLst/>
          </a:prstGeom>
          <a:noFill/>
          <a:ln/>
        </p:spPr>
        <p:txBody>
          <a:bodyPr wrap="square" rtlCol="0" anchor="ctr"/>
          <a:lstStyle/>
          <a:p>
            <a:pPr marL="0" indent="0">
              <a:lnSpc>
                <a:spcPts val="1600"/>
              </a:lnSpc>
              <a:buNone/>
            </a:pPr>
            <a:r>
              <a:rPr lang="en-US" sz="1100" dirty="0">
                <a:solidFill>
                  <a:srgbClr val="64748B"/>
                </a:solidFill>
                <a:latin typeface="Arial" pitchFamily="34" charset="0"/>
                <a:ea typeface="Arial" pitchFamily="34" charset="-122"/>
                <a:cs typeface="Arial" pitchFamily="34" charset="-120"/>
              </a:rPr>
              <a:t>Static CMOS (26T), Transmission Gate (16T), Pass Transistor (12T) analysis.</a:t>
            </a:r>
            <a:endParaRPr lang="en-US" sz="1100" dirty="0"/>
          </a:p>
        </p:txBody>
      </p:sp>
      <p:sp>
        <p:nvSpPr>
          <p:cNvPr id="18" name="Shape 16"/>
          <p:cNvSpPr/>
          <p:nvPr/>
        </p:nvSpPr>
        <p:spPr>
          <a:xfrm>
            <a:off x="548640" y="4572000"/>
            <a:ext cx="5394960" cy="1463040"/>
          </a:xfrm>
          <a:prstGeom prst="roundRect">
            <a:avLst>
              <a:gd name="adj" fmla="val 5000"/>
            </a:avLst>
          </a:prstGeom>
          <a:solidFill>
            <a:srgbClr val="FFFFFF"/>
          </a:solidFill>
          <a:ln w="12700">
            <a:solidFill>
              <a:srgbClr val="E2E8F0"/>
            </a:solidFill>
            <a:prstDash val="solid"/>
          </a:ln>
        </p:spPr>
        <p:txBody>
          <a:bodyPr/>
          <a:lstStyle/>
          <a:p>
            <a:endParaRPr lang="en-US"/>
          </a:p>
        </p:txBody>
      </p:sp>
      <p:sp>
        <p:nvSpPr>
          <p:cNvPr id="19" name="Shape 17"/>
          <p:cNvSpPr/>
          <p:nvPr/>
        </p:nvSpPr>
        <p:spPr>
          <a:xfrm>
            <a:off x="822960" y="4846320"/>
            <a:ext cx="822960" cy="822960"/>
          </a:xfrm>
          <a:prstGeom prst="roundRect">
            <a:avLst>
              <a:gd name="adj" fmla="val 11111"/>
            </a:avLst>
          </a:prstGeom>
          <a:solidFill>
            <a:srgbClr val="0F172A"/>
          </a:solidFill>
          <a:ln/>
        </p:spPr>
        <p:txBody>
          <a:bodyPr/>
          <a:lstStyle/>
          <a:p>
            <a:endParaRPr lang="en-US"/>
          </a:p>
        </p:txBody>
      </p:sp>
      <p:sp>
        <p:nvSpPr>
          <p:cNvPr id="20" name="Text 18"/>
          <p:cNvSpPr/>
          <p:nvPr/>
        </p:nvSpPr>
        <p:spPr>
          <a:xfrm>
            <a:off x="822960" y="4937760"/>
            <a:ext cx="822960" cy="64008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03</a:t>
            </a:r>
            <a:endParaRPr lang="en-US" sz="1800" dirty="0"/>
          </a:p>
        </p:txBody>
      </p:sp>
      <p:sp>
        <p:nvSpPr>
          <p:cNvPr id="21" name="Text 19"/>
          <p:cNvSpPr/>
          <p:nvPr/>
        </p:nvSpPr>
        <p:spPr>
          <a:xfrm>
            <a:off x="1828800" y="4846320"/>
            <a:ext cx="3840480" cy="365760"/>
          </a:xfrm>
          <a:prstGeom prst="rect">
            <a:avLst/>
          </a:prstGeom>
          <a:noFill/>
          <a:ln/>
        </p:spPr>
        <p:txBody>
          <a:bodyPr wrap="square" rtlCol="0" anchor="ctr"/>
          <a:lstStyle/>
          <a:p>
            <a:pPr marL="0" indent="0">
              <a:buNone/>
            </a:pPr>
            <a:r>
              <a:rPr lang="en-US" sz="1500" b="1" dirty="0">
                <a:solidFill>
                  <a:srgbClr val="1E293B"/>
                </a:solidFill>
                <a:latin typeface="Arial" pitchFamily="34" charset="0"/>
                <a:ea typeface="Arial" pitchFamily="34" charset="-122"/>
                <a:cs typeface="Arial" pitchFamily="34" charset="-120"/>
              </a:rPr>
              <a:t>Gate Diffusion Input (GDI) Logic</a:t>
            </a:r>
            <a:endParaRPr lang="en-US" sz="1500" dirty="0"/>
          </a:p>
        </p:txBody>
      </p:sp>
      <p:sp>
        <p:nvSpPr>
          <p:cNvPr id="22" name="Text 20"/>
          <p:cNvSpPr/>
          <p:nvPr/>
        </p:nvSpPr>
        <p:spPr>
          <a:xfrm>
            <a:off x="1828800" y="5257800"/>
            <a:ext cx="3840480" cy="640080"/>
          </a:xfrm>
          <a:prstGeom prst="rect">
            <a:avLst/>
          </a:prstGeom>
          <a:noFill/>
          <a:ln/>
        </p:spPr>
        <p:txBody>
          <a:bodyPr wrap="square" rtlCol="0" anchor="ctr"/>
          <a:lstStyle/>
          <a:p>
            <a:pPr marL="0" indent="0">
              <a:lnSpc>
                <a:spcPts val="1600"/>
              </a:lnSpc>
              <a:buNone/>
            </a:pPr>
            <a:r>
              <a:rPr lang="en-US" sz="1100" dirty="0">
                <a:solidFill>
                  <a:srgbClr val="64748B"/>
                </a:solidFill>
                <a:latin typeface="Arial" pitchFamily="34" charset="0"/>
                <a:ea typeface="Arial" pitchFamily="34" charset="-122"/>
                <a:cs typeface="Arial" pitchFamily="34" charset="-120"/>
              </a:rPr>
              <a:t>2-transistor GDI cell structure, primary functions, and voltage swing advantages.</a:t>
            </a:r>
            <a:endParaRPr lang="en-US" sz="1100" dirty="0"/>
          </a:p>
        </p:txBody>
      </p:sp>
      <p:sp>
        <p:nvSpPr>
          <p:cNvPr id="23" name="Shape 21"/>
          <p:cNvSpPr/>
          <p:nvPr/>
        </p:nvSpPr>
        <p:spPr>
          <a:xfrm>
            <a:off x="6217920" y="1188720"/>
            <a:ext cx="5394960" cy="1463040"/>
          </a:xfrm>
          <a:prstGeom prst="roundRect">
            <a:avLst>
              <a:gd name="adj" fmla="val 5000"/>
            </a:avLst>
          </a:prstGeom>
          <a:solidFill>
            <a:srgbClr val="FFFFFF"/>
          </a:solidFill>
          <a:ln w="12700">
            <a:solidFill>
              <a:srgbClr val="E2E8F0"/>
            </a:solidFill>
            <a:prstDash val="solid"/>
          </a:ln>
        </p:spPr>
        <p:txBody>
          <a:bodyPr/>
          <a:lstStyle/>
          <a:p>
            <a:endParaRPr lang="en-US"/>
          </a:p>
        </p:txBody>
      </p:sp>
      <p:sp>
        <p:nvSpPr>
          <p:cNvPr id="24" name="Shape 22"/>
          <p:cNvSpPr/>
          <p:nvPr/>
        </p:nvSpPr>
        <p:spPr>
          <a:xfrm>
            <a:off x="6492240" y="1463040"/>
            <a:ext cx="822960" cy="822960"/>
          </a:xfrm>
          <a:prstGeom prst="roundRect">
            <a:avLst>
              <a:gd name="adj" fmla="val 11111"/>
            </a:avLst>
          </a:prstGeom>
          <a:solidFill>
            <a:srgbClr val="0F172A"/>
          </a:solidFill>
          <a:ln/>
        </p:spPr>
        <p:txBody>
          <a:bodyPr/>
          <a:lstStyle/>
          <a:p>
            <a:endParaRPr lang="en-US"/>
          </a:p>
        </p:txBody>
      </p:sp>
      <p:sp>
        <p:nvSpPr>
          <p:cNvPr id="25" name="Text 23"/>
          <p:cNvSpPr/>
          <p:nvPr/>
        </p:nvSpPr>
        <p:spPr>
          <a:xfrm>
            <a:off x="6492240" y="1554480"/>
            <a:ext cx="822960" cy="64008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04</a:t>
            </a:r>
            <a:endParaRPr lang="en-US" sz="1800" dirty="0"/>
          </a:p>
        </p:txBody>
      </p:sp>
      <p:sp>
        <p:nvSpPr>
          <p:cNvPr id="26" name="Text 24"/>
          <p:cNvSpPr/>
          <p:nvPr/>
        </p:nvSpPr>
        <p:spPr>
          <a:xfrm>
            <a:off x="7498080" y="1463040"/>
            <a:ext cx="3840480" cy="365760"/>
          </a:xfrm>
          <a:prstGeom prst="rect">
            <a:avLst/>
          </a:prstGeom>
          <a:noFill/>
          <a:ln/>
        </p:spPr>
        <p:txBody>
          <a:bodyPr wrap="square" rtlCol="0" anchor="ctr"/>
          <a:lstStyle/>
          <a:p>
            <a:pPr marL="0" indent="0">
              <a:buNone/>
            </a:pPr>
            <a:r>
              <a:rPr lang="en-US" sz="1500" b="1" dirty="0">
                <a:solidFill>
                  <a:srgbClr val="1E293B"/>
                </a:solidFill>
                <a:latin typeface="Arial" pitchFamily="34" charset="0"/>
                <a:ea typeface="Arial" pitchFamily="34" charset="-122"/>
                <a:cs typeface="Arial" pitchFamily="34" charset="-120"/>
              </a:rPr>
              <a:t>Proposed 10T GDI Comparator</a:t>
            </a:r>
            <a:endParaRPr lang="en-US" sz="1500" dirty="0"/>
          </a:p>
        </p:txBody>
      </p:sp>
      <p:sp>
        <p:nvSpPr>
          <p:cNvPr id="27" name="Text 25"/>
          <p:cNvSpPr/>
          <p:nvPr/>
        </p:nvSpPr>
        <p:spPr>
          <a:xfrm>
            <a:off x="7498080" y="1874520"/>
            <a:ext cx="3840480" cy="640080"/>
          </a:xfrm>
          <a:prstGeom prst="rect">
            <a:avLst/>
          </a:prstGeom>
          <a:noFill/>
          <a:ln/>
        </p:spPr>
        <p:txBody>
          <a:bodyPr wrap="square" rtlCol="0" anchor="ctr"/>
          <a:lstStyle/>
          <a:p>
            <a:pPr marL="0" indent="0">
              <a:lnSpc>
                <a:spcPts val="1600"/>
              </a:lnSpc>
              <a:buNone/>
            </a:pPr>
            <a:r>
              <a:rPr lang="en-US" sz="1100" dirty="0">
                <a:solidFill>
                  <a:srgbClr val="64748B"/>
                </a:solidFill>
                <a:latin typeface="Arial" pitchFamily="34" charset="0"/>
                <a:ea typeface="Arial" pitchFamily="34" charset="-122"/>
                <a:cs typeface="Arial" pitchFamily="34" charset="-120"/>
              </a:rPr>
              <a:t>Schematic architecture, Boolean logic expressions, transistor budget.</a:t>
            </a:r>
            <a:endParaRPr lang="en-US" sz="1100" dirty="0"/>
          </a:p>
        </p:txBody>
      </p:sp>
      <p:sp>
        <p:nvSpPr>
          <p:cNvPr id="28" name="Shape 26"/>
          <p:cNvSpPr/>
          <p:nvPr/>
        </p:nvSpPr>
        <p:spPr>
          <a:xfrm>
            <a:off x="6217920" y="2880360"/>
            <a:ext cx="5394960" cy="1463040"/>
          </a:xfrm>
          <a:prstGeom prst="roundRect">
            <a:avLst>
              <a:gd name="adj" fmla="val 5000"/>
            </a:avLst>
          </a:prstGeom>
          <a:solidFill>
            <a:srgbClr val="FFFFFF"/>
          </a:solidFill>
          <a:ln w="12700">
            <a:solidFill>
              <a:srgbClr val="E2E8F0"/>
            </a:solidFill>
            <a:prstDash val="solid"/>
          </a:ln>
        </p:spPr>
        <p:txBody>
          <a:bodyPr/>
          <a:lstStyle/>
          <a:p>
            <a:endParaRPr lang="en-US"/>
          </a:p>
        </p:txBody>
      </p:sp>
      <p:sp>
        <p:nvSpPr>
          <p:cNvPr id="29" name="Shape 27"/>
          <p:cNvSpPr/>
          <p:nvPr/>
        </p:nvSpPr>
        <p:spPr>
          <a:xfrm>
            <a:off x="6492240" y="3154680"/>
            <a:ext cx="822960" cy="822960"/>
          </a:xfrm>
          <a:prstGeom prst="roundRect">
            <a:avLst>
              <a:gd name="adj" fmla="val 11111"/>
            </a:avLst>
          </a:prstGeom>
          <a:solidFill>
            <a:srgbClr val="0F172A"/>
          </a:solidFill>
          <a:ln/>
        </p:spPr>
        <p:txBody>
          <a:bodyPr/>
          <a:lstStyle/>
          <a:p>
            <a:endParaRPr lang="en-US"/>
          </a:p>
        </p:txBody>
      </p:sp>
      <p:sp>
        <p:nvSpPr>
          <p:cNvPr id="30" name="Text 28"/>
          <p:cNvSpPr/>
          <p:nvPr/>
        </p:nvSpPr>
        <p:spPr>
          <a:xfrm>
            <a:off x="6492240" y="3246120"/>
            <a:ext cx="822960" cy="64008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05</a:t>
            </a:r>
            <a:endParaRPr lang="en-US" sz="1800" dirty="0"/>
          </a:p>
        </p:txBody>
      </p:sp>
      <p:sp>
        <p:nvSpPr>
          <p:cNvPr id="31" name="Text 29"/>
          <p:cNvSpPr/>
          <p:nvPr/>
        </p:nvSpPr>
        <p:spPr>
          <a:xfrm>
            <a:off x="7498080" y="3154680"/>
            <a:ext cx="3840480" cy="365760"/>
          </a:xfrm>
          <a:prstGeom prst="rect">
            <a:avLst/>
          </a:prstGeom>
          <a:noFill/>
          <a:ln/>
        </p:spPr>
        <p:txBody>
          <a:bodyPr wrap="square" rtlCol="0" anchor="ctr"/>
          <a:lstStyle/>
          <a:p>
            <a:pPr marL="0" indent="0">
              <a:buNone/>
            </a:pPr>
            <a:r>
              <a:rPr lang="en-US" sz="1500" b="1" dirty="0">
                <a:solidFill>
                  <a:srgbClr val="1E293B"/>
                </a:solidFill>
                <a:latin typeface="Arial" pitchFamily="34" charset="0"/>
                <a:ea typeface="Arial" pitchFamily="34" charset="-122"/>
                <a:cs typeface="Arial" pitchFamily="34" charset="-120"/>
              </a:rPr>
              <a:t>Simulation Results &amp; Discussion</a:t>
            </a:r>
            <a:endParaRPr lang="en-US" sz="1500" dirty="0"/>
          </a:p>
        </p:txBody>
      </p:sp>
      <p:sp>
        <p:nvSpPr>
          <p:cNvPr id="32" name="Text 30"/>
          <p:cNvSpPr/>
          <p:nvPr/>
        </p:nvSpPr>
        <p:spPr>
          <a:xfrm>
            <a:off x="7498080" y="3566160"/>
            <a:ext cx="3840480" cy="640080"/>
          </a:xfrm>
          <a:prstGeom prst="rect">
            <a:avLst/>
          </a:prstGeom>
          <a:noFill/>
          <a:ln/>
        </p:spPr>
        <p:txBody>
          <a:bodyPr wrap="square" rtlCol="0" anchor="ctr"/>
          <a:lstStyle/>
          <a:p>
            <a:pPr marL="0" indent="0">
              <a:lnSpc>
                <a:spcPts val="1600"/>
              </a:lnSpc>
              <a:buNone/>
            </a:pPr>
            <a:r>
              <a:rPr lang="en-US" sz="1100" dirty="0">
                <a:solidFill>
                  <a:srgbClr val="64748B"/>
                </a:solidFill>
                <a:latin typeface="Arial" pitchFamily="34" charset="0"/>
                <a:ea typeface="Arial" pitchFamily="34" charset="-122"/>
                <a:cs typeface="Arial" pitchFamily="34" charset="-120"/>
              </a:rPr>
              <a:t>LTSpice setup (180nm, 90nm, 45nm PTM), transient analysis, Delay, Power, PDP.</a:t>
            </a:r>
            <a:endParaRPr lang="en-US" sz="1100" dirty="0"/>
          </a:p>
        </p:txBody>
      </p:sp>
      <p:sp>
        <p:nvSpPr>
          <p:cNvPr id="33" name="Shape 31"/>
          <p:cNvSpPr/>
          <p:nvPr/>
        </p:nvSpPr>
        <p:spPr>
          <a:xfrm>
            <a:off x="6217920" y="4572000"/>
            <a:ext cx="5394960" cy="1463040"/>
          </a:xfrm>
          <a:prstGeom prst="roundRect">
            <a:avLst>
              <a:gd name="adj" fmla="val 5000"/>
            </a:avLst>
          </a:prstGeom>
          <a:solidFill>
            <a:srgbClr val="FFFFFF"/>
          </a:solidFill>
          <a:ln w="12700">
            <a:solidFill>
              <a:srgbClr val="E2E8F0"/>
            </a:solidFill>
            <a:prstDash val="solid"/>
          </a:ln>
        </p:spPr>
        <p:txBody>
          <a:bodyPr/>
          <a:lstStyle/>
          <a:p>
            <a:endParaRPr lang="en-US"/>
          </a:p>
        </p:txBody>
      </p:sp>
      <p:sp>
        <p:nvSpPr>
          <p:cNvPr id="34" name="Shape 32"/>
          <p:cNvSpPr/>
          <p:nvPr/>
        </p:nvSpPr>
        <p:spPr>
          <a:xfrm>
            <a:off x="6492240" y="4846320"/>
            <a:ext cx="822960" cy="822960"/>
          </a:xfrm>
          <a:prstGeom prst="roundRect">
            <a:avLst>
              <a:gd name="adj" fmla="val 11111"/>
            </a:avLst>
          </a:prstGeom>
          <a:solidFill>
            <a:srgbClr val="0F172A"/>
          </a:solidFill>
          <a:ln/>
        </p:spPr>
        <p:txBody>
          <a:bodyPr/>
          <a:lstStyle/>
          <a:p>
            <a:endParaRPr lang="en-US"/>
          </a:p>
        </p:txBody>
      </p:sp>
      <p:sp>
        <p:nvSpPr>
          <p:cNvPr id="35" name="Text 33"/>
          <p:cNvSpPr/>
          <p:nvPr/>
        </p:nvSpPr>
        <p:spPr>
          <a:xfrm>
            <a:off x="6492240" y="4937760"/>
            <a:ext cx="822960" cy="64008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06</a:t>
            </a:r>
            <a:endParaRPr lang="en-US" sz="1800" dirty="0"/>
          </a:p>
        </p:txBody>
      </p:sp>
      <p:sp>
        <p:nvSpPr>
          <p:cNvPr id="36" name="Text 34"/>
          <p:cNvSpPr/>
          <p:nvPr/>
        </p:nvSpPr>
        <p:spPr>
          <a:xfrm>
            <a:off x="7498080" y="4846320"/>
            <a:ext cx="3840480" cy="365760"/>
          </a:xfrm>
          <a:prstGeom prst="rect">
            <a:avLst/>
          </a:prstGeom>
          <a:noFill/>
          <a:ln/>
        </p:spPr>
        <p:txBody>
          <a:bodyPr wrap="square" rtlCol="0" anchor="ctr"/>
          <a:lstStyle/>
          <a:p>
            <a:pPr marL="0" indent="0">
              <a:buNone/>
            </a:pPr>
            <a:r>
              <a:rPr lang="en-US" sz="1500" b="1" dirty="0">
                <a:solidFill>
                  <a:srgbClr val="1E293B"/>
                </a:solidFill>
                <a:latin typeface="Arial" pitchFamily="34" charset="0"/>
                <a:ea typeface="Arial" pitchFamily="34" charset="-122"/>
                <a:cs typeface="Arial" pitchFamily="34" charset="-120"/>
              </a:rPr>
              <a:t>Conclusions &amp; Future Work</a:t>
            </a:r>
            <a:endParaRPr lang="en-US" sz="1500" dirty="0"/>
          </a:p>
        </p:txBody>
      </p:sp>
      <p:sp>
        <p:nvSpPr>
          <p:cNvPr id="37" name="Text 35"/>
          <p:cNvSpPr/>
          <p:nvPr/>
        </p:nvSpPr>
        <p:spPr>
          <a:xfrm>
            <a:off x="7498080" y="5257800"/>
            <a:ext cx="3840480" cy="640080"/>
          </a:xfrm>
          <a:prstGeom prst="rect">
            <a:avLst/>
          </a:prstGeom>
          <a:noFill/>
          <a:ln/>
        </p:spPr>
        <p:txBody>
          <a:bodyPr wrap="square" rtlCol="0" anchor="ctr"/>
          <a:lstStyle/>
          <a:p>
            <a:pPr marL="0" indent="0">
              <a:lnSpc>
                <a:spcPts val="1600"/>
              </a:lnSpc>
              <a:buNone/>
            </a:pPr>
            <a:r>
              <a:rPr lang="en-US" sz="1100" dirty="0">
                <a:solidFill>
                  <a:srgbClr val="64748B"/>
                </a:solidFill>
                <a:latin typeface="Arial" pitchFamily="34" charset="0"/>
                <a:ea typeface="Arial" pitchFamily="34" charset="-122"/>
                <a:cs typeface="Arial" pitchFamily="34" charset="-120"/>
              </a:rPr>
              <a:t>Key contributions summary, multi-bit ALU expansion, PVT corner analysis.</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Chapter 1: VLSI Technology Scaling &amp; Power Density</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097280"/>
            <a:ext cx="5669280"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548640" y="1097280"/>
            <a:ext cx="5669280"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0" name="Shape 8"/>
          <p:cNvSpPr/>
          <p:nvPr/>
        </p:nvSpPr>
        <p:spPr>
          <a:xfrm>
            <a:off x="548640" y="1325880"/>
            <a:ext cx="5669280" cy="18288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731520" y="1170432"/>
            <a:ext cx="5303520"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The Scaling &amp; Power Dissipation Wall</a:t>
            </a:r>
            <a:endParaRPr lang="en-US" sz="1300" dirty="0"/>
          </a:p>
        </p:txBody>
      </p:sp>
      <p:sp>
        <p:nvSpPr>
          <p:cNvPr id="12" name="Text 10"/>
          <p:cNvSpPr/>
          <p:nvPr/>
        </p:nvSpPr>
        <p:spPr>
          <a:xfrm>
            <a:off x="731520" y="1645920"/>
            <a:ext cx="5303520" cy="4389120"/>
          </a:xfrm>
          <a:prstGeom prst="rect">
            <a:avLst/>
          </a:prstGeom>
          <a:noFill/>
          <a:ln/>
        </p:spPr>
        <p:txBody>
          <a:bodyPr wrap="square" rtlCol="0" anchor="ctr"/>
          <a:lstStyle/>
          <a:p>
            <a:pPr marL="0" indent="0">
              <a:lnSpc>
                <a:spcPts val="1800"/>
              </a:lnSpc>
              <a:buNone/>
            </a:pPr>
            <a:r>
              <a:rPr lang="en-US" sz="1300" b="1" dirty="0">
                <a:solidFill>
                  <a:srgbClr val="0D9488"/>
                </a:solidFill>
                <a:latin typeface="Arial" pitchFamily="34" charset="0"/>
                <a:ea typeface="Arial" pitchFamily="34" charset="-122"/>
                <a:cs typeface="Arial" pitchFamily="34" charset="-120"/>
              </a:rPr>
              <a:t>Rapid Sub-micron Technology Scaling:
</a:t>
            </a:r>
            <a:r>
              <a:rPr lang="en-US" sz="1200" dirty="0">
                <a:solidFill>
                  <a:srgbClr val="1E293B"/>
                </a:solidFill>
                <a:latin typeface="Arial" pitchFamily="34" charset="0"/>
                <a:ea typeface="Arial" pitchFamily="34" charset="-122"/>
                <a:cs typeface="Arial" pitchFamily="34" charset="-120"/>
              </a:rPr>
              <a:t>• Exponential increase in transistor density following Moore's Law.
• Sub-100nm nodes face severe static leakage current and dynamic switching power dissipation.
</a:t>
            </a:r>
            <a:r>
              <a:rPr lang="en-US" sz="1300" b="1" dirty="0">
                <a:solidFill>
                  <a:srgbClr val="0D9488"/>
                </a:solidFill>
                <a:latin typeface="Arial" pitchFamily="34" charset="0"/>
                <a:ea typeface="Arial" pitchFamily="34" charset="-122"/>
                <a:cs typeface="Arial" pitchFamily="34" charset="-120"/>
              </a:rPr>
              <a:t>Thermal &amp; Battery Constraints:
</a:t>
            </a:r>
            <a:r>
              <a:rPr lang="en-US" sz="1200" dirty="0">
                <a:solidFill>
                  <a:srgbClr val="1E293B"/>
                </a:solidFill>
                <a:latin typeface="Arial" pitchFamily="34" charset="0"/>
                <a:ea typeface="Arial" pitchFamily="34" charset="-122"/>
                <a:cs typeface="Arial" pitchFamily="34" charset="-120"/>
              </a:rPr>
              <a:t>• IoT, biomedical sensors, and mobile CPUs require ultra-low power consumption.
• Thermal throttling and rapid battery drain degrade system performance.
</a:t>
            </a:r>
            <a:r>
              <a:rPr lang="en-US" sz="1300" b="1" dirty="0">
                <a:solidFill>
                  <a:srgbClr val="0D9488"/>
                </a:solidFill>
                <a:latin typeface="Arial" pitchFamily="34" charset="0"/>
                <a:ea typeface="Arial" pitchFamily="34" charset="-122"/>
                <a:cs typeface="Arial" pitchFamily="34" charset="-120"/>
              </a:rPr>
              <a:t>Need for Circuit-Level Innovation:
</a:t>
            </a:r>
            <a:r>
              <a:rPr lang="en-US" sz="1200" dirty="0">
                <a:solidFill>
                  <a:srgbClr val="1E293B"/>
                </a:solidFill>
                <a:latin typeface="Arial" pitchFamily="34" charset="0"/>
                <a:ea typeface="Arial" pitchFamily="34" charset="-122"/>
                <a:cs typeface="Arial" pitchFamily="34" charset="-120"/>
              </a:rPr>
              <a:t>• Device-level scaling alone cannot solve power dissipation.
• Logic style optimization (e.g., GDI) is imperative for energy efficiency.</a:t>
            </a:r>
            <a:endParaRPr lang="en-US" sz="1300" dirty="0"/>
          </a:p>
        </p:txBody>
      </p:sp>
      <p:sp>
        <p:nvSpPr>
          <p:cNvPr id="13" name="Shape 11"/>
          <p:cNvSpPr/>
          <p:nvPr/>
        </p:nvSpPr>
        <p:spPr>
          <a:xfrm>
            <a:off x="6492240" y="1097280"/>
            <a:ext cx="5148072"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14" name="Shape 12"/>
          <p:cNvSpPr/>
          <p:nvPr/>
        </p:nvSpPr>
        <p:spPr>
          <a:xfrm>
            <a:off x="6492240" y="1097280"/>
            <a:ext cx="5148072"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5" name="Shape 13"/>
          <p:cNvSpPr/>
          <p:nvPr/>
        </p:nvSpPr>
        <p:spPr>
          <a:xfrm>
            <a:off x="6492240" y="1325880"/>
            <a:ext cx="5148072" cy="182880"/>
          </a:xfrm>
          <a:prstGeom prst="rect">
            <a:avLst/>
          </a:prstGeom>
          <a:solidFill>
            <a:srgbClr val="0F172A"/>
          </a:solidFill>
          <a:ln w="12700">
            <a:solidFill>
              <a:srgbClr val="0F172A"/>
            </a:solidFill>
            <a:prstDash val="solid"/>
          </a:ln>
        </p:spPr>
        <p:txBody>
          <a:bodyPr/>
          <a:lstStyle/>
          <a:p>
            <a:endParaRPr lang="en-US"/>
          </a:p>
        </p:txBody>
      </p:sp>
      <p:sp>
        <p:nvSpPr>
          <p:cNvPr id="16" name="Text 14"/>
          <p:cNvSpPr/>
          <p:nvPr/>
        </p:nvSpPr>
        <p:spPr>
          <a:xfrm>
            <a:off x="6675120" y="1170432"/>
            <a:ext cx="4782312"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Power Density &amp; Integration Trends</a:t>
            </a:r>
            <a:endParaRPr lang="en-US" sz="1300" dirty="0"/>
          </a:p>
        </p:txBody>
      </p:sp>
      <p:pic>
        <p:nvPicPr>
          <p:cNvPr id="17" name="Image 0" descr="C:\Users\shahrear\Downloads\LTSpice\Thesis\Thesis Book\moores_law_scaling.jpg"/>
          <p:cNvPicPr>
            <a:picLocks noChangeAspect="1"/>
          </p:cNvPicPr>
          <p:nvPr/>
        </p:nvPicPr>
        <p:blipFill>
          <a:blip r:embed="rId3"/>
          <a:stretch>
            <a:fillRect/>
          </a:stretch>
        </p:blipFill>
        <p:spPr>
          <a:xfrm>
            <a:off x="6675120" y="1645920"/>
            <a:ext cx="4782312" cy="42976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Chapter 1: Research Objectives &amp; Scope of Work</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097280"/>
            <a:ext cx="5303520"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548640" y="1097280"/>
            <a:ext cx="5303520"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0" name="Shape 8"/>
          <p:cNvSpPr/>
          <p:nvPr/>
        </p:nvSpPr>
        <p:spPr>
          <a:xfrm>
            <a:off x="548640" y="1325880"/>
            <a:ext cx="5303520" cy="18288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731520" y="1170432"/>
            <a:ext cx="4937760"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Primary Research Objectives</a:t>
            </a:r>
            <a:endParaRPr lang="en-US" sz="1300" dirty="0"/>
          </a:p>
        </p:txBody>
      </p:sp>
      <p:sp>
        <p:nvSpPr>
          <p:cNvPr id="12" name="Text 10"/>
          <p:cNvSpPr/>
          <p:nvPr/>
        </p:nvSpPr>
        <p:spPr>
          <a:xfrm>
            <a:off x="731520" y="1645920"/>
            <a:ext cx="4937760" cy="4389120"/>
          </a:xfrm>
          <a:prstGeom prst="rect">
            <a:avLst/>
          </a:prstGeom>
          <a:noFill/>
          <a:ln/>
        </p:spPr>
        <p:txBody>
          <a:bodyPr wrap="square" rtlCol="0" anchor="ctr"/>
          <a:lstStyle/>
          <a:p>
            <a:pPr marL="0" indent="0">
              <a:lnSpc>
                <a:spcPts val="1800"/>
              </a:lnSpc>
              <a:buNone/>
            </a:pPr>
            <a:r>
              <a:rPr lang="en-US" sz="1300" b="1" dirty="0">
                <a:solidFill>
                  <a:srgbClr val="0F172A"/>
                </a:solidFill>
                <a:latin typeface="Arial" pitchFamily="34" charset="0"/>
                <a:ea typeface="Arial" pitchFamily="34" charset="-122"/>
                <a:cs typeface="Arial" pitchFamily="34" charset="-120"/>
              </a:rPr>
              <a:t>1. Transistor Count Reduction:
</a:t>
            </a:r>
            <a:r>
              <a:rPr lang="en-US" sz="1200" dirty="0">
                <a:solidFill>
                  <a:srgbClr val="1E293B"/>
                </a:solidFill>
                <a:latin typeface="Arial" pitchFamily="34" charset="0"/>
                <a:ea typeface="Arial" pitchFamily="34" charset="-122"/>
                <a:cs typeface="Arial" pitchFamily="34" charset="-120"/>
              </a:rPr>
              <a:t>   • Reduce 1-bit comparator count from 26T (CMOS) / 16T (TG) down to 10 Transistors.
</a:t>
            </a:r>
            <a:r>
              <a:rPr lang="en-US" sz="1300" b="1" dirty="0">
                <a:solidFill>
                  <a:srgbClr val="0F172A"/>
                </a:solidFill>
                <a:latin typeface="Arial" pitchFamily="34" charset="0"/>
                <a:ea typeface="Arial" pitchFamily="34" charset="-122"/>
                <a:cs typeface="Arial" pitchFamily="34" charset="-120"/>
              </a:rPr>
              <a:t>2. Dynamic &amp; Static Power Minimization:
</a:t>
            </a:r>
            <a:r>
              <a:rPr lang="en-US" sz="1200" dirty="0">
                <a:solidFill>
                  <a:srgbClr val="1E293B"/>
                </a:solidFill>
                <a:latin typeface="Arial" pitchFamily="34" charset="0"/>
                <a:ea typeface="Arial" pitchFamily="34" charset="-122"/>
                <a:cs typeface="Arial" pitchFamily="34" charset="-120"/>
              </a:rPr>
              <a:t>   • Eliminate redundant internal switching nodes and static power pathways.
</a:t>
            </a:r>
            <a:r>
              <a:rPr lang="en-US" sz="1300" b="1" dirty="0">
                <a:solidFill>
                  <a:srgbClr val="0F172A"/>
                </a:solidFill>
                <a:latin typeface="Arial" pitchFamily="34" charset="0"/>
                <a:ea typeface="Arial" pitchFamily="34" charset="-122"/>
                <a:cs typeface="Arial" pitchFamily="34" charset="-120"/>
              </a:rPr>
              <a:t>3. Propagation Delay Optimization:
</a:t>
            </a:r>
            <a:r>
              <a:rPr lang="en-US" sz="1200" dirty="0">
                <a:solidFill>
                  <a:srgbClr val="1E293B"/>
                </a:solidFill>
                <a:latin typeface="Arial" pitchFamily="34" charset="0"/>
                <a:ea typeface="Arial" pitchFamily="34" charset="-122"/>
                <a:cs typeface="Arial" pitchFamily="34" charset="-120"/>
              </a:rPr>
              <a:t>   • Shorten critical path latency for high-speed arithmetic operations.
</a:t>
            </a:r>
            <a:r>
              <a:rPr lang="en-US" sz="1300" b="1" dirty="0">
                <a:solidFill>
                  <a:srgbClr val="0F172A"/>
                </a:solidFill>
                <a:latin typeface="Arial" pitchFamily="34" charset="0"/>
                <a:ea typeface="Arial" pitchFamily="34" charset="-122"/>
                <a:cs typeface="Arial" pitchFamily="34" charset="-120"/>
              </a:rPr>
              <a:t>4. Power-Delay Product (PDP) Superiority:
</a:t>
            </a:r>
            <a:r>
              <a:rPr lang="en-US" sz="1200" dirty="0">
                <a:solidFill>
                  <a:srgbClr val="1E293B"/>
                </a:solidFill>
                <a:latin typeface="Arial" pitchFamily="34" charset="0"/>
                <a:ea typeface="Arial" pitchFamily="34" charset="-122"/>
                <a:cs typeface="Arial" pitchFamily="34" charset="-120"/>
              </a:rPr>
              <a:t>   • Achieve state-of-the-art energy-per-operation figure of merit.</a:t>
            </a:r>
            <a:endParaRPr lang="en-US" sz="1300" dirty="0"/>
          </a:p>
        </p:txBody>
      </p:sp>
      <p:sp>
        <p:nvSpPr>
          <p:cNvPr id="13" name="Shape 11"/>
          <p:cNvSpPr/>
          <p:nvPr/>
        </p:nvSpPr>
        <p:spPr>
          <a:xfrm>
            <a:off x="6126480" y="1097280"/>
            <a:ext cx="5513832"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14" name="Shape 12"/>
          <p:cNvSpPr/>
          <p:nvPr/>
        </p:nvSpPr>
        <p:spPr>
          <a:xfrm>
            <a:off x="6126480" y="1097280"/>
            <a:ext cx="5513832"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5" name="Shape 13"/>
          <p:cNvSpPr/>
          <p:nvPr/>
        </p:nvSpPr>
        <p:spPr>
          <a:xfrm>
            <a:off x="6126480" y="1325880"/>
            <a:ext cx="5513832" cy="182880"/>
          </a:xfrm>
          <a:prstGeom prst="rect">
            <a:avLst/>
          </a:prstGeom>
          <a:solidFill>
            <a:srgbClr val="0F172A"/>
          </a:solidFill>
          <a:ln w="12700">
            <a:solidFill>
              <a:srgbClr val="0F172A"/>
            </a:solidFill>
            <a:prstDash val="solid"/>
          </a:ln>
        </p:spPr>
        <p:txBody>
          <a:bodyPr/>
          <a:lstStyle/>
          <a:p>
            <a:endParaRPr lang="en-US"/>
          </a:p>
        </p:txBody>
      </p:sp>
      <p:sp>
        <p:nvSpPr>
          <p:cNvPr id="16" name="Text 14"/>
          <p:cNvSpPr/>
          <p:nvPr/>
        </p:nvSpPr>
        <p:spPr>
          <a:xfrm>
            <a:off x="6309360" y="1170432"/>
            <a:ext cx="5148072"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Simulation Setup &amp; Technology Scope</a:t>
            </a:r>
            <a:endParaRPr lang="en-US" sz="1300" dirty="0"/>
          </a:p>
        </p:txBody>
      </p:sp>
      <p:sp>
        <p:nvSpPr>
          <p:cNvPr id="17" name="Text 15"/>
          <p:cNvSpPr/>
          <p:nvPr/>
        </p:nvSpPr>
        <p:spPr>
          <a:xfrm>
            <a:off x="6309360" y="1645920"/>
            <a:ext cx="5148072" cy="4389120"/>
          </a:xfrm>
          <a:prstGeom prst="rect">
            <a:avLst/>
          </a:prstGeom>
          <a:noFill/>
          <a:ln/>
        </p:spPr>
        <p:txBody>
          <a:bodyPr wrap="square" rtlCol="0" anchor="ctr"/>
          <a:lstStyle/>
          <a:p>
            <a:pPr marL="0" indent="0">
              <a:lnSpc>
                <a:spcPts val="1800"/>
              </a:lnSpc>
              <a:buNone/>
            </a:pPr>
            <a:r>
              <a:rPr lang="en-US" sz="1300" b="1" dirty="0">
                <a:solidFill>
                  <a:srgbClr val="0D9488"/>
                </a:solidFill>
                <a:latin typeface="Arial" pitchFamily="34" charset="0"/>
                <a:ea typeface="Arial" pitchFamily="34" charset="-122"/>
                <a:cs typeface="Arial" pitchFamily="34" charset="-120"/>
              </a:rPr>
              <a:t>Predictive Technology Models (PTM):
</a:t>
            </a:r>
            <a:r>
              <a:rPr lang="en-US" sz="1200" dirty="0">
                <a:solidFill>
                  <a:srgbClr val="1E293B"/>
                </a:solidFill>
                <a:latin typeface="Arial" pitchFamily="34" charset="0"/>
                <a:ea typeface="Arial" pitchFamily="34" charset="-122"/>
                <a:cs typeface="Arial" pitchFamily="34" charset="-120"/>
              </a:rPr>
              <a:t>• Evaluated across 180nm, 90nm, and 45nm BSIM4 CMOS process nodes.
</a:t>
            </a:r>
            <a:r>
              <a:rPr lang="en-US" sz="1300" b="1" dirty="0">
                <a:solidFill>
                  <a:srgbClr val="0D9488"/>
                </a:solidFill>
                <a:latin typeface="Arial" pitchFamily="34" charset="0"/>
                <a:ea typeface="Arial" pitchFamily="34" charset="-122"/>
                <a:cs typeface="Arial" pitchFamily="34" charset="-120"/>
              </a:rPr>
              <a:t>Simulation Environment:
</a:t>
            </a:r>
            <a:r>
              <a:rPr lang="en-US" sz="1200" dirty="0">
                <a:solidFill>
                  <a:srgbClr val="1E293B"/>
                </a:solidFill>
                <a:latin typeface="Arial" pitchFamily="34" charset="0"/>
                <a:ea typeface="Arial" pitchFamily="34" charset="-122"/>
                <a:cs typeface="Arial" pitchFamily="34" charset="-120"/>
              </a:rPr>
              <a:t>• LTSpice XVII high-precision transient SPICE simulations.
</a:t>
            </a:r>
            <a:r>
              <a:rPr lang="en-US" sz="1300" b="1" dirty="0">
                <a:solidFill>
                  <a:srgbClr val="0D9488"/>
                </a:solidFill>
                <a:latin typeface="Arial" pitchFamily="34" charset="0"/>
                <a:ea typeface="Arial" pitchFamily="34" charset="-122"/>
                <a:cs typeface="Arial" pitchFamily="34" charset="-120"/>
              </a:rPr>
              <a:t>Supply Voltage Range:
</a:t>
            </a:r>
            <a:r>
              <a:rPr lang="en-US" sz="1200" dirty="0">
                <a:solidFill>
                  <a:srgbClr val="1E293B"/>
                </a:solidFill>
                <a:latin typeface="Arial" pitchFamily="34" charset="0"/>
                <a:ea typeface="Arial" pitchFamily="34" charset="-122"/>
                <a:cs typeface="Arial" pitchFamily="34" charset="-120"/>
              </a:rPr>
              <a:t>• Scaled from 0.8V to 1.8V to test low-voltage performance limits.
</a:t>
            </a:r>
            <a:r>
              <a:rPr lang="en-US" sz="1300" b="1" dirty="0">
                <a:solidFill>
                  <a:srgbClr val="0D9488"/>
                </a:solidFill>
                <a:latin typeface="Arial" pitchFamily="34" charset="0"/>
                <a:ea typeface="Arial" pitchFamily="34" charset="-122"/>
                <a:cs typeface="Arial" pitchFamily="34" charset="-120"/>
              </a:rPr>
              <a:t>Comparative Baseline Architectures:
</a:t>
            </a:r>
            <a:r>
              <a:rPr lang="en-US" sz="1200" dirty="0">
                <a:solidFill>
                  <a:srgbClr val="1E293B"/>
                </a:solidFill>
                <a:latin typeface="Arial" pitchFamily="34" charset="0"/>
                <a:ea typeface="Arial" pitchFamily="34" charset="-122"/>
                <a:cs typeface="Arial" pitchFamily="34" charset="-120"/>
              </a:rPr>
              <a:t>• Static CMOS (26T)</a:t>
            </a:r>
            <a:endParaRPr lang="en-US" sz="1300" dirty="0"/>
          </a:p>
          <a:p>
            <a:pPr marL="0" indent="0">
              <a:lnSpc>
                <a:spcPts val="1800"/>
              </a:lnSpc>
              <a:buNone/>
            </a:pPr>
            <a:r>
              <a:rPr lang="en-US" sz="1200" dirty="0">
                <a:solidFill>
                  <a:srgbClr val="1E293B"/>
                </a:solidFill>
                <a:latin typeface="Arial" pitchFamily="34" charset="0"/>
                <a:ea typeface="Arial" pitchFamily="34" charset="-122"/>
                <a:cs typeface="Arial" pitchFamily="34" charset="-120"/>
              </a:rPr>
              <a:t>• Transmission Gate (16T)</a:t>
            </a:r>
            <a:endParaRPr lang="en-US" sz="1300" dirty="0"/>
          </a:p>
          <a:p>
            <a:pPr marL="0" indent="0">
              <a:lnSpc>
                <a:spcPts val="1800"/>
              </a:lnSpc>
              <a:buNone/>
            </a:pPr>
            <a:r>
              <a:rPr lang="en-US" sz="1200" dirty="0">
                <a:solidFill>
                  <a:srgbClr val="1E293B"/>
                </a:solidFill>
                <a:latin typeface="Arial" pitchFamily="34" charset="0"/>
                <a:ea typeface="Arial" pitchFamily="34" charset="-122"/>
                <a:cs typeface="Arial" pitchFamily="34" charset="-120"/>
              </a:rPr>
              <a:t>• Pass Transistor Logic (12T)</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Chapter 2: Baseline 1-Bit Comparator Topologies</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097280"/>
            <a:ext cx="3593592" cy="5120640"/>
          </a:xfrm>
          <a:prstGeom prst="roundRect">
            <a:avLst>
              <a:gd name="adj" fmla="val 2036"/>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548640" y="1097280"/>
            <a:ext cx="3593592"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0" name="Shape 8"/>
          <p:cNvSpPr/>
          <p:nvPr/>
        </p:nvSpPr>
        <p:spPr>
          <a:xfrm>
            <a:off x="548640" y="1325880"/>
            <a:ext cx="3593592" cy="18288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731520" y="1170432"/>
            <a:ext cx="3227832"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Static CMOS (26T)</a:t>
            </a:r>
            <a:endParaRPr lang="en-US" sz="1300" dirty="0"/>
          </a:p>
        </p:txBody>
      </p:sp>
      <p:pic>
        <p:nvPicPr>
          <p:cNvPr id="12" name="Image 0" descr="C:\Users\shahrear\Downloads\LTSpice\Thesis\Thesis Book\Static_Comparator.png"/>
          <p:cNvPicPr>
            <a:picLocks noChangeAspect="1"/>
          </p:cNvPicPr>
          <p:nvPr/>
        </p:nvPicPr>
        <p:blipFill>
          <a:blip r:embed="rId3"/>
          <a:stretch>
            <a:fillRect/>
          </a:stretch>
        </p:blipFill>
        <p:spPr>
          <a:xfrm>
            <a:off x="731520" y="1581912"/>
            <a:ext cx="3227832" cy="2103120"/>
          </a:xfrm>
          <a:prstGeom prst="rect">
            <a:avLst/>
          </a:prstGeom>
        </p:spPr>
      </p:pic>
      <p:sp>
        <p:nvSpPr>
          <p:cNvPr id="13" name="Text 10"/>
          <p:cNvSpPr/>
          <p:nvPr/>
        </p:nvSpPr>
        <p:spPr>
          <a:xfrm>
            <a:off x="731520" y="3886200"/>
            <a:ext cx="3227832" cy="228600"/>
          </a:xfrm>
          <a:prstGeom prst="rect">
            <a:avLst/>
          </a:prstGeom>
          <a:noFill/>
          <a:ln/>
        </p:spPr>
        <p:txBody>
          <a:bodyPr wrap="square" rtlCol="0" anchor="ctr"/>
          <a:lstStyle/>
          <a:p>
            <a:pPr marL="0" indent="0">
              <a:buNone/>
            </a:pPr>
            <a:r>
              <a:rPr lang="en-US" sz="1100" b="1" dirty="0">
                <a:solidFill>
                  <a:srgbClr val="0D9488"/>
                </a:solidFill>
              </a:rPr>
              <a:t>PROS:</a:t>
            </a:r>
            <a:endParaRPr lang="en-US" sz="1100" dirty="0"/>
          </a:p>
        </p:txBody>
      </p:sp>
      <p:sp>
        <p:nvSpPr>
          <p:cNvPr id="14" name="Text 11"/>
          <p:cNvSpPr/>
          <p:nvPr/>
        </p:nvSpPr>
        <p:spPr>
          <a:xfrm>
            <a:off x="731520" y="4114800"/>
            <a:ext cx="3227832" cy="502920"/>
          </a:xfrm>
          <a:prstGeom prst="rect">
            <a:avLst/>
          </a:prstGeom>
          <a:noFill/>
          <a:ln/>
        </p:spPr>
        <p:txBody>
          <a:bodyPr wrap="square" rtlCol="0" anchor="ctr"/>
          <a:lstStyle/>
          <a:p>
            <a:pPr marL="0" indent="0">
              <a:lnSpc>
                <a:spcPts val="1400"/>
              </a:lnSpc>
              <a:buNone/>
            </a:pPr>
            <a:r>
              <a:rPr lang="en-US" sz="1000" dirty="0">
                <a:solidFill>
                  <a:srgbClr val="1E293B"/>
                </a:solidFill>
              </a:rPr>
              <a:t>Full voltage swing (VDD to GND), high noise margin.</a:t>
            </a:r>
            <a:endParaRPr lang="en-US" sz="1000" dirty="0"/>
          </a:p>
        </p:txBody>
      </p:sp>
      <p:sp>
        <p:nvSpPr>
          <p:cNvPr id="15" name="Text 12"/>
          <p:cNvSpPr/>
          <p:nvPr/>
        </p:nvSpPr>
        <p:spPr>
          <a:xfrm>
            <a:off x="731520" y="4709160"/>
            <a:ext cx="3227832" cy="228600"/>
          </a:xfrm>
          <a:prstGeom prst="rect">
            <a:avLst/>
          </a:prstGeom>
          <a:noFill/>
          <a:ln/>
        </p:spPr>
        <p:txBody>
          <a:bodyPr wrap="square" rtlCol="0" anchor="ctr"/>
          <a:lstStyle/>
          <a:p>
            <a:pPr marL="0" indent="0">
              <a:buNone/>
            </a:pPr>
            <a:r>
              <a:rPr lang="en-US" sz="1100" b="1" dirty="0">
                <a:solidFill>
                  <a:srgbClr val="E11D48"/>
                </a:solidFill>
              </a:rPr>
              <a:t>CONS:</a:t>
            </a:r>
            <a:endParaRPr lang="en-US" sz="1100" dirty="0"/>
          </a:p>
        </p:txBody>
      </p:sp>
      <p:sp>
        <p:nvSpPr>
          <p:cNvPr id="16" name="Text 13"/>
          <p:cNvSpPr/>
          <p:nvPr/>
        </p:nvSpPr>
        <p:spPr>
          <a:xfrm>
            <a:off x="731520" y="4937760"/>
            <a:ext cx="3227832" cy="640080"/>
          </a:xfrm>
          <a:prstGeom prst="rect">
            <a:avLst/>
          </a:prstGeom>
          <a:noFill/>
          <a:ln/>
        </p:spPr>
        <p:txBody>
          <a:bodyPr wrap="square" rtlCol="0" anchor="ctr"/>
          <a:lstStyle/>
          <a:p>
            <a:pPr marL="0" indent="0">
              <a:lnSpc>
                <a:spcPts val="1400"/>
              </a:lnSpc>
              <a:buNone/>
            </a:pPr>
            <a:r>
              <a:rPr lang="en-US" sz="1000" dirty="0">
                <a:solidFill>
                  <a:srgbClr val="1E293B"/>
                </a:solidFill>
              </a:rPr>
              <a:t>Excessive transistor count (26T), high parasitic capacitance.</a:t>
            </a:r>
            <a:endParaRPr lang="en-US" sz="1000" dirty="0"/>
          </a:p>
        </p:txBody>
      </p:sp>
      <p:sp>
        <p:nvSpPr>
          <p:cNvPr id="17" name="Shape 14"/>
          <p:cNvSpPr/>
          <p:nvPr/>
        </p:nvSpPr>
        <p:spPr>
          <a:xfrm>
            <a:off x="4297680" y="1097280"/>
            <a:ext cx="3593592" cy="5120640"/>
          </a:xfrm>
          <a:prstGeom prst="roundRect">
            <a:avLst>
              <a:gd name="adj" fmla="val 2036"/>
            </a:avLst>
          </a:prstGeom>
          <a:solidFill>
            <a:srgbClr val="FFFFFF"/>
          </a:solidFill>
          <a:ln w="12700">
            <a:solidFill>
              <a:srgbClr val="E2E8F0"/>
            </a:solidFill>
            <a:prstDash val="solid"/>
          </a:ln>
        </p:spPr>
        <p:txBody>
          <a:bodyPr/>
          <a:lstStyle/>
          <a:p>
            <a:endParaRPr lang="en-US"/>
          </a:p>
        </p:txBody>
      </p:sp>
      <p:sp>
        <p:nvSpPr>
          <p:cNvPr id="18" name="Shape 15"/>
          <p:cNvSpPr/>
          <p:nvPr/>
        </p:nvSpPr>
        <p:spPr>
          <a:xfrm>
            <a:off x="4297680" y="1097280"/>
            <a:ext cx="3593592"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9" name="Shape 16"/>
          <p:cNvSpPr/>
          <p:nvPr/>
        </p:nvSpPr>
        <p:spPr>
          <a:xfrm>
            <a:off x="4297680" y="1325880"/>
            <a:ext cx="3593592" cy="182880"/>
          </a:xfrm>
          <a:prstGeom prst="rect">
            <a:avLst/>
          </a:prstGeom>
          <a:solidFill>
            <a:srgbClr val="0F172A"/>
          </a:solidFill>
          <a:ln w="12700">
            <a:solidFill>
              <a:srgbClr val="0F172A"/>
            </a:solidFill>
            <a:prstDash val="solid"/>
          </a:ln>
        </p:spPr>
        <p:txBody>
          <a:bodyPr/>
          <a:lstStyle/>
          <a:p>
            <a:endParaRPr lang="en-US"/>
          </a:p>
        </p:txBody>
      </p:sp>
      <p:sp>
        <p:nvSpPr>
          <p:cNvPr id="20" name="Text 17"/>
          <p:cNvSpPr/>
          <p:nvPr/>
        </p:nvSpPr>
        <p:spPr>
          <a:xfrm>
            <a:off x="4480560" y="1170432"/>
            <a:ext cx="3227832"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Transmission Gate (16T)</a:t>
            </a:r>
            <a:endParaRPr lang="en-US" sz="1300" dirty="0"/>
          </a:p>
        </p:txBody>
      </p:sp>
      <p:pic>
        <p:nvPicPr>
          <p:cNvPr id="21" name="Image 1" descr="C:\Users\shahrear\Downloads\LTSpice\Thesis\Thesis Book\TG_comparator.png"/>
          <p:cNvPicPr>
            <a:picLocks noChangeAspect="1"/>
          </p:cNvPicPr>
          <p:nvPr/>
        </p:nvPicPr>
        <p:blipFill>
          <a:blip r:embed="rId4"/>
          <a:stretch>
            <a:fillRect/>
          </a:stretch>
        </p:blipFill>
        <p:spPr>
          <a:xfrm>
            <a:off x="4480560" y="1645920"/>
            <a:ext cx="3227832" cy="2103120"/>
          </a:xfrm>
          <a:prstGeom prst="rect">
            <a:avLst/>
          </a:prstGeom>
        </p:spPr>
      </p:pic>
      <p:sp>
        <p:nvSpPr>
          <p:cNvPr id="22" name="Text 18"/>
          <p:cNvSpPr/>
          <p:nvPr/>
        </p:nvSpPr>
        <p:spPr>
          <a:xfrm>
            <a:off x="4480560" y="3886200"/>
            <a:ext cx="3227832" cy="228600"/>
          </a:xfrm>
          <a:prstGeom prst="rect">
            <a:avLst/>
          </a:prstGeom>
          <a:noFill/>
          <a:ln/>
        </p:spPr>
        <p:txBody>
          <a:bodyPr wrap="square" rtlCol="0" anchor="ctr"/>
          <a:lstStyle/>
          <a:p>
            <a:pPr marL="0" indent="0">
              <a:buNone/>
            </a:pPr>
            <a:r>
              <a:rPr lang="en-US" sz="1100" b="1" dirty="0">
                <a:solidFill>
                  <a:srgbClr val="0D9488"/>
                </a:solidFill>
              </a:rPr>
              <a:t>PROS:</a:t>
            </a:r>
            <a:endParaRPr lang="en-US" sz="1100" dirty="0"/>
          </a:p>
        </p:txBody>
      </p:sp>
      <p:sp>
        <p:nvSpPr>
          <p:cNvPr id="23" name="Text 19"/>
          <p:cNvSpPr/>
          <p:nvPr/>
        </p:nvSpPr>
        <p:spPr>
          <a:xfrm>
            <a:off x="4480560" y="4114800"/>
            <a:ext cx="3227832" cy="502920"/>
          </a:xfrm>
          <a:prstGeom prst="rect">
            <a:avLst/>
          </a:prstGeom>
          <a:noFill/>
          <a:ln/>
        </p:spPr>
        <p:txBody>
          <a:bodyPr wrap="square" rtlCol="0" anchor="ctr"/>
          <a:lstStyle/>
          <a:p>
            <a:pPr marL="0" indent="0">
              <a:lnSpc>
                <a:spcPts val="1400"/>
              </a:lnSpc>
              <a:buNone/>
            </a:pPr>
            <a:r>
              <a:rPr lang="en-US" sz="1000" dirty="0">
                <a:solidFill>
                  <a:srgbClr val="1E293B"/>
                </a:solidFill>
              </a:rPr>
              <a:t>Full signal restoration, lower delay than CMOS.</a:t>
            </a:r>
            <a:endParaRPr lang="en-US" sz="1000" dirty="0"/>
          </a:p>
        </p:txBody>
      </p:sp>
      <p:sp>
        <p:nvSpPr>
          <p:cNvPr id="24" name="Text 20"/>
          <p:cNvSpPr/>
          <p:nvPr/>
        </p:nvSpPr>
        <p:spPr>
          <a:xfrm>
            <a:off x="4480560" y="4709160"/>
            <a:ext cx="3227832" cy="228600"/>
          </a:xfrm>
          <a:prstGeom prst="rect">
            <a:avLst/>
          </a:prstGeom>
          <a:noFill/>
          <a:ln/>
        </p:spPr>
        <p:txBody>
          <a:bodyPr wrap="square" rtlCol="0" anchor="ctr"/>
          <a:lstStyle/>
          <a:p>
            <a:pPr marL="0" indent="0">
              <a:buNone/>
            </a:pPr>
            <a:r>
              <a:rPr lang="en-US" sz="1100" b="1" dirty="0">
                <a:solidFill>
                  <a:srgbClr val="E11D48"/>
                </a:solidFill>
              </a:rPr>
              <a:t>CONS:</a:t>
            </a:r>
            <a:endParaRPr lang="en-US" sz="1100" dirty="0"/>
          </a:p>
        </p:txBody>
      </p:sp>
      <p:sp>
        <p:nvSpPr>
          <p:cNvPr id="25" name="Text 21"/>
          <p:cNvSpPr/>
          <p:nvPr/>
        </p:nvSpPr>
        <p:spPr>
          <a:xfrm>
            <a:off x="4480560" y="4937760"/>
            <a:ext cx="3227832" cy="640080"/>
          </a:xfrm>
          <a:prstGeom prst="rect">
            <a:avLst/>
          </a:prstGeom>
          <a:noFill/>
          <a:ln/>
        </p:spPr>
        <p:txBody>
          <a:bodyPr wrap="square" rtlCol="0" anchor="ctr"/>
          <a:lstStyle/>
          <a:p>
            <a:pPr marL="0" indent="0">
              <a:lnSpc>
                <a:spcPts val="1400"/>
              </a:lnSpc>
              <a:buNone/>
            </a:pPr>
            <a:r>
              <a:rPr lang="en-US" sz="1000" dirty="0">
                <a:solidFill>
                  <a:srgbClr val="1E293B"/>
                </a:solidFill>
              </a:rPr>
              <a:t>Requires complementary control signals (A, A'), high routing.</a:t>
            </a:r>
            <a:endParaRPr lang="en-US" sz="1000" dirty="0"/>
          </a:p>
        </p:txBody>
      </p:sp>
      <p:sp>
        <p:nvSpPr>
          <p:cNvPr id="26" name="Shape 22"/>
          <p:cNvSpPr/>
          <p:nvPr/>
        </p:nvSpPr>
        <p:spPr>
          <a:xfrm>
            <a:off x="8046720" y="1097280"/>
            <a:ext cx="3593592" cy="5120640"/>
          </a:xfrm>
          <a:prstGeom prst="roundRect">
            <a:avLst>
              <a:gd name="adj" fmla="val 2036"/>
            </a:avLst>
          </a:prstGeom>
          <a:solidFill>
            <a:srgbClr val="FFFFFF"/>
          </a:solidFill>
          <a:ln w="12700">
            <a:solidFill>
              <a:srgbClr val="E2E8F0"/>
            </a:solidFill>
            <a:prstDash val="solid"/>
          </a:ln>
        </p:spPr>
        <p:txBody>
          <a:bodyPr/>
          <a:lstStyle/>
          <a:p>
            <a:endParaRPr lang="en-US"/>
          </a:p>
        </p:txBody>
      </p:sp>
      <p:sp>
        <p:nvSpPr>
          <p:cNvPr id="27" name="Shape 23"/>
          <p:cNvSpPr/>
          <p:nvPr/>
        </p:nvSpPr>
        <p:spPr>
          <a:xfrm>
            <a:off x="8046720" y="1097280"/>
            <a:ext cx="3593592"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28" name="Shape 24"/>
          <p:cNvSpPr/>
          <p:nvPr/>
        </p:nvSpPr>
        <p:spPr>
          <a:xfrm>
            <a:off x="8046720" y="1325880"/>
            <a:ext cx="3593592" cy="182880"/>
          </a:xfrm>
          <a:prstGeom prst="rect">
            <a:avLst/>
          </a:prstGeom>
          <a:solidFill>
            <a:srgbClr val="0F172A"/>
          </a:solidFill>
          <a:ln w="12700">
            <a:solidFill>
              <a:srgbClr val="0F172A"/>
            </a:solidFill>
            <a:prstDash val="solid"/>
          </a:ln>
        </p:spPr>
        <p:txBody>
          <a:bodyPr/>
          <a:lstStyle/>
          <a:p>
            <a:endParaRPr lang="en-US"/>
          </a:p>
        </p:txBody>
      </p:sp>
      <p:sp>
        <p:nvSpPr>
          <p:cNvPr id="29" name="Text 25"/>
          <p:cNvSpPr/>
          <p:nvPr/>
        </p:nvSpPr>
        <p:spPr>
          <a:xfrm>
            <a:off x="8229600" y="1170432"/>
            <a:ext cx="3227832"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Pass Transistor (12T)</a:t>
            </a:r>
            <a:endParaRPr lang="en-US" sz="1300" dirty="0"/>
          </a:p>
        </p:txBody>
      </p:sp>
      <p:pic>
        <p:nvPicPr>
          <p:cNvPr id="30" name="Image 2" descr="C:\Users\shahrear\Downloads\LTSpice\Thesis\Thesis Book\pass_comparator.png"/>
          <p:cNvPicPr>
            <a:picLocks noChangeAspect="1"/>
          </p:cNvPicPr>
          <p:nvPr/>
        </p:nvPicPr>
        <p:blipFill>
          <a:blip r:embed="rId5"/>
          <a:stretch>
            <a:fillRect/>
          </a:stretch>
        </p:blipFill>
        <p:spPr>
          <a:xfrm>
            <a:off x="8229600" y="1645920"/>
            <a:ext cx="3227832" cy="2103120"/>
          </a:xfrm>
          <a:prstGeom prst="rect">
            <a:avLst/>
          </a:prstGeom>
        </p:spPr>
      </p:pic>
      <p:sp>
        <p:nvSpPr>
          <p:cNvPr id="31" name="Text 26"/>
          <p:cNvSpPr/>
          <p:nvPr/>
        </p:nvSpPr>
        <p:spPr>
          <a:xfrm>
            <a:off x="8229600" y="3886200"/>
            <a:ext cx="3227832" cy="228600"/>
          </a:xfrm>
          <a:prstGeom prst="rect">
            <a:avLst/>
          </a:prstGeom>
          <a:noFill/>
          <a:ln/>
        </p:spPr>
        <p:txBody>
          <a:bodyPr wrap="square" rtlCol="0" anchor="ctr"/>
          <a:lstStyle/>
          <a:p>
            <a:pPr marL="0" indent="0">
              <a:buNone/>
            </a:pPr>
            <a:r>
              <a:rPr lang="en-US" sz="1100" b="1" dirty="0">
                <a:solidFill>
                  <a:srgbClr val="0D9488"/>
                </a:solidFill>
              </a:rPr>
              <a:t>PROS:</a:t>
            </a:r>
            <a:endParaRPr lang="en-US" sz="1100" dirty="0"/>
          </a:p>
        </p:txBody>
      </p:sp>
      <p:sp>
        <p:nvSpPr>
          <p:cNvPr id="32" name="Text 27"/>
          <p:cNvSpPr/>
          <p:nvPr/>
        </p:nvSpPr>
        <p:spPr>
          <a:xfrm>
            <a:off x="8229600" y="4114800"/>
            <a:ext cx="3227832" cy="502920"/>
          </a:xfrm>
          <a:prstGeom prst="rect">
            <a:avLst/>
          </a:prstGeom>
          <a:noFill/>
          <a:ln/>
        </p:spPr>
        <p:txBody>
          <a:bodyPr wrap="square" rtlCol="0" anchor="ctr"/>
          <a:lstStyle/>
          <a:p>
            <a:pPr marL="0" indent="0">
              <a:lnSpc>
                <a:spcPts val="1400"/>
              </a:lnSpc>
              <a:buNone/>
            </a:pPr>
            <a:r>
              <a:rPr lang="en-US" sz="1000" dirty="0">
                <a:solidFill>
                  <a:srgbClr val="1E293B"/>
                </a:solidFill>
              </a:rPr>
              <a:t>Reduced transistor count (12T-14T).</a:t>
            </a:r>
            <a:endParaRPr lang="en-US" sz="1000" dirty="0"/>
          </a:p>
        </p:txBody>
      </p:sp>
      <p:sp>
        <p:nvSpPr>
          <p:cNvPr id="33" name="Text 28"/>
          <p:cNvSpPr/>
          <p:nvPr/>
        </p:nvSpPr>
        <p:spPr>
          <a:xfrm>
            <a:off x="8229600" y="4709160"/>
            <a:ext cx="3227832" cy="228600"/>
          </a:xfrm>
          <a:prstGeom prst="rect">
            <a:avLst/>
          </a:prstGeom>
          <a:noFill/>
          <a:ln/>
        </p:spPr>
        <p:txBody>
          <a:bodyPr wrap="square" rtlCol="0" anchor="ctr"/>
          <a:lstStyle/>
          <a:p>
            <a:pPr marL="0" indent="0">
              <a:buNone/>
            </a:pPr>
            <a:r>
              <a:rPr lang="en-US" sz="1100" b="1" dirty="0">
                <a:solidFill>
                  <a:srgbClr val="E11D48"/>
                </a:solidFill>
              </a:rPr>
              <a:t>CONS:</a:t>
            </a:r>
            <a:endParaRPr lang="en-US" sz="1100" dirty="0"/>
          </a:p>
        </p:txBody>
      </p:sp>
      <p:sp>
        <p:nvSpPr>
          <p:cNvPr id="34" name="Text 29"/>
          <p:cNvSpPr/>
          <p:nvPr/>
        </p:nvSpPr>
        <p:spPr>
          <a:xfrm>
            <a:off x="8229600" y="4937760"/>
            <a:ext cx="3227832" cy="640080"/>
          </a:xfrm>
          <a:prstGeom prst="rect">
            <a:avLst/>
          </a:prstGeom>
          <a:noFill/>
          <a:ln/>
        </p:spPr>
        <p:txBody>
          <a:bodyPr wrap="square" rtlCol="0" anchor="ctr"/>
          <a:lstStyle/>
          <a:p>
            <a:pPr marL="0" indent="0">
              <a:lnSpc>
                <a:spcPts val="1400"/>
              </a:lnSpc>
              <a:buNone/>
            </a:pPr>
            <a:r>
              <a:rPr lang="en-US" sz="1000" dirty="0">
                <a:solidFill>
                  <a:srgbClr val="1E293B"/>
                </a:solidFill>
              </a:rPr>
              <a:t>Threshold voltage drop (Vth loss), signal degradation.</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Chapter 2: Gate Diffusion Input (GDI) Technique</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097280"/>
            <a:ext cx="4754880" cy="5120640"/>
          </a:xfrm>
          <a:prstGeom prst="roundRect">
            <a:avLst>
              <a:gd name="adj" fmla="val 1538"/>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548640" y="1097280"/>
            <a:ext cx="4754880"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0" name="Shape 8"/>
          <p:cNvSpPr/>
          <p:nvPr/>
        </p:nvSpPr>
        <p:spPr>
          <a:xfrm>
            <a:off x="548640" y="1325880"/>
            <a:ext cx="4754880" cy="18288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731520" y="1170432"/>
            <a:ext cx="4389120"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Basic 2-Transistor GDI Cell</a:t>
            </a:r>
            <a:endParaRPr lang="en-US" sz="1300" dirty="0"/>
          </a:p>
        </p:txBody>
      </p:sp>
      <p:pic>
        <p:nvPicPr>
          <p:cNvPr id="12" name="Image 0" descr="C:\Users\shahrear\Downloads\LTSpice\Thesis\Thesis Book\gdi_cell_structure.jpg"/>
          <p:cNvPicPr>
            <a:picLocks noChangeAspect="1"/>
          </p:cNvPicPr>
          <p:nvPr/>
        </p:nvPicPr>
        <p:blipFill>
          <a:blip r:embed="rId3"/>
          <a:stretch>
            <a:fillRect/>
          </a:stretch>
        </p:blipFill>
        <p:spPr>
          <a:xfrm>
            <a:off x="822960" y="1645920"/>
            <a:ext cx="4206240" cy="2926080"/>
          </a:xfrm>
          <a:prstGeom prst="rect">
            <a:avLst/>
          </a:prstGeom>
        </p:spPr>
      </p:pic>
      <p:sp>
        <p:nvSpPr>
          <p:cNvPr id="13" name="Text 10"/>
          <p:cNvSpPr/>
          <p:nvPr/>
        </p:nvSpPr>
        <p:spPr>
          <a:xfrm>
            <a:off x="731520" y="4663440"/>
            <a:ext cx="4389120" cy="1371600"/>
          </a:xfrm>
          <a:prstGeom prst="rect">
            <a:avLst/>
          </a:prstGeom>
          <a:noFill/>
          <a:ln/>
        </p:spPr>
        <p:txBody>
          <a:bodyPr wrap="square" rtlCol="0" anchor="ctr"/>
          <a:lstStyle/>
          <a:p>
            <a:pPr marL="0" indent="0">
              <a:lnSpc>
                <a:spcPts val="1600"/>
              </a:lnSpc>
              <a:buNone/>
            </a:pPr>
            <a:r>
              <a:rPr lang="en-US" sz="1100" dirty="0">
                <a:solidFill>
                  <a:srgbClr val="1E293B"/>
                </a:solidFill>
                <a:latin typeface="Arial" pitchFamily="34" charset="0"/>
                <a:ea typeface="Arial" pitchFamily="34" charset="-122"/>
                <a:cs typeface="Arial" pitchFamily="34" charset="-120"/>
              </a:rPr>
              <a:t>Key Structural Difference:</a:t>
            </a:r>
            <a:endParaRPr lang="en-US" sz="1100" dirty="0"/>
          </a:p>
          <a:p>
            <a:pPr marL="0" indent="0">
              <a:lnSpc>
                <a:spcPts val="1600"/>
              </a:lnSpc>
              <a:buNone/>
            </a:pPr>
            <a:r>
              <a:rPr lang="en-US" sz="1100" dirty="0">
                <a:solidFill>
                  <a:srgbClr val="1E293B"/>
                </a:solidFill>
                <a:latin typeface="Arial" pitchFamily="34" charset="0"/>
                <a:ea typeface="Arial" pitchFamily="34" charset="-122"/>
                <a:cs typeface="Arial" pitchFamily="34" charset="-120"/>
              </a:rPr>
              <a:t>Unlike standard CMOS where PMOS source is fixed to VDD and NMOS source to GND, in GDI the diffusion inputs (P, N) and gate input (G) can be driven by arbitrary signals.</a:t>
            </a:r>
            <a:endParaRPr lang="en-US" sz="1100" dirty="0"/>
          </a:p>
        </p:txBody>
      </p:sp>
      <p:sp>
        <p:nvSpPr>
          <p:cNvPr id="14" name="Shape 11"/>
          <p:cNvSpPr/>
          <p:nvPr/>
        </p:nvSpPr>
        <p:spPr>
          <a:xfrm>
            <a:off x="5577840" y="1097280"/>
            <a:ext cx="6062472"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15" name="Shape 12"/>
          <p:cNvSpPr/>
          <p:nvPr/>
        </p:nvSpPr>
        <p:spPr>
          <a:xfrm>
            <a:off x="5577840" y="1097280"/>
            <a:ext cx="6062472"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6" name="Shape 13"/>
          <p:cNvSpPr/>
          <p:nvPr/>
        </p:nvSpPr>
        <p:spPr>
          <a:xfrm>
            <a:off x="5577840" y="1325880"/>
            <a:ext cx="6062472" cy="182880"/>
          </a:xfrm>
          <a:prstGeom prst="rect">
            <a:avLst/>
          </a:prstGeom>
          <a:solidFill>
            <a:srgbClr val="0F172A"/>
          </a:solidFill>
          <a:ln w="12700">
            <a:solidFill>
              <a:srgbClr val="0F172A"/>
            </a:solidFill>
            <a:prstDash val="solid"/>
          </a:ln>
        </p:spPr>
        <p:txBody>
          <a:bodyPr/>
          <a:lstStyle/>
          <a:p>
            <a:endParaRPr lang="en-US"/>
          </a:p>
        </p:txBody>
      </p:sp>
      <p:sp>
        <p:nvSpPr>
          <p:cNvPr id="17" name="Text 14"/>
          <p:cNvSpPr/>
          <p:nvPr/>
        </p:nvSpPr>
        <p:spPr>
          <a:xfrm>
            <a:off x="5760720" y="1170432"/>
            <a:ext cx="5696712"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GDI Primitive Logic Functions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760720" y="1645920"/>
          <a:ext cx="5696712" cy="2148840"/>
        </p:xfrm>
        <a:graphic>
          <a:graphicData uri="http://schemas.openxmlformats.org/drawingml/2006/table">
            <a:tbl>
              <a:tblPr/>
              <a:tblGrid>
                <a:gridCol w="949452">
                  <a:extLst>
                    <a:ext uri="{9D8B030D-6E8A-4147-A177-3AD203B41FA5}">
                      <a16:colId xmlns:a16="http://schemas.microsoft.com/office/drawing/2014/main" val="20000"/>
                    </a:ext>
                  </a:extLst>
                </a:gridCol>
                <a:gridCol w="949452">
                  <a:extLst>
                    <a:ext uri="{9D8B030D-6E8A-4147-A177-3AD203B41FA5}">
                      <a16:colId xmlns:a16="http://schemas.microsoft.com/office/drawing/2014/main" val="20001"/>
                    </a:ext>
                  </a:extLst>
                </a:gridCol>
                <a:gridCol w="949452">
                  <a:extLst>
                    <a:ext uri="{9D8B030D-6E8A-4147-A177-3AD203B41FA5}">
                      <a16:colId xmlns:a16="http://schemas.microsoft.com/office/drawing/2014/main" val="20002"/>
                    </a:ext>
                  </a:extLst>
                </a:gridCol>
                <a:gridCol w="949452">
                  <a:extLst>
                    <a:ext uri="{9D8B030D-6E8A-4147-A177-3AD203B41FA5}">
                      <a16:colId xmlns:a16="http://schemas.microsoft.com/office/drawing/2014/main" val="20003"/>
                    </a:ext>
                  </a:extLst>
                </a:gridCol>
                <a:gridCol w="949452">
                  <a:extLst>
                    <a:ext uri="{9D8B030D-6E8A-4147-A177-3AD203B41FA5}">
                      <a16:colId xmlns:a16="http://schemas.microsoft.com/office/drawing/2014/main" val="20004"/>
                    </a:ext>
                  </a:extLst>
                </a:gridCol>
                <a:gridCol w="949452">
                  <a:extLst>
                    <a:ext uri="{9D8B030D-6E8A-4147-A177-3AD203B41FA5}">
                      <a16:colId xmlns:a16="http://schemas.microsoft.com/office/drawing/2014/main" val="20005"/>
                    </a:ext>
                  </a:extLst>
                </a:gridCol>
              </a:tblGrid>
              <a:tr h="0">
                <a:tc>
                  <a:txBody>
                    <a:bodyPr/>
                    <a:lstStyle/>
                    <a:p>
                      <a:pPr marL="0" indent="0" algn="ctr">
                        <a:buNone/>
                      </a:pPr>
                      <a:r>
                        <a:rPr lang="en-US" sz="1100" b="1" dirty="0">
                          <a:solidFill>
                            <a:srgbClr val="FFFFFF"/>
                          </a:solidFill>
                        </a:rPr>
                        <a:t>N</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FFFFF"/>
                          </a:solidFill>
                        </a:rPr>
                        <a:t>P</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FFFFF"/>
                          </a:solidFill>
                        </a:rPr>
                        <a:t>G</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FFFFF"/>
                          </a:solidFill>
                        </a:rPr>
                        <a:t>Out</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FFFFF"/>
                          </a:solidFill>
                        </a:rPr>
                        <a:t>Function</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FFFFF"/>
                          </a:solidFill>
                        </a:rPr>
                        <a:t>Remarks</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0">
                <a:tc>
                  <a:txBody>
                    <a:bodyPr/>
                    <a:lstStyle/>
                    <a:p>
                      <a:pPr marL="0" indent="0" algn="ctr">
                        <a:buNone/>
                      </a:pPr>
                      <a:r>
                        <a:rPr lang="en-US" sz="1100" dirty="0">
                          <a:solidFill>
                            <a:srgbClr val="000000"/>
                          </a:solidFill>
                        </a:rPr>
                        <a:t>0</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B</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A</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A'B</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F1</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A &lt; B Output</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ctr">
                        <a:buNone/>
                      </a:pPr>
                      <a:r>
                        <a:rPr lang="en-US" sz="1100" dirty="0">
                          <a:solidFill>
                            <a:srgbClr val="000000"/>
                          </a:solidFill>
                        </a:rPr>
                        <a:t>B</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1</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A</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A'+B</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F2</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Logic Function</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ctr">
                        <a:buNone/>
                      </a:pPr>
                      <a:r>
                        <a:rPr lang="en-US" sz="1100" dirty="0">
                          <a:solidFill>
                            <a:srgbClr val="000000"/>
                          </a:solidFill>
                        </a:rPr>
                        <a:t>1</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B</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A</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A + B</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OR</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Logic OR</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ctr">
                        <a:buNone/>
                      </a:pPr>
                      <a:r>
                        <a:rPr lang="en-US" sz="1100" dirty="0">
                          <a:solidFill>
                            <a:srgbClr val="000000"/>
                          </a:solidFill>
                        </a:rPr>
                        <a:t>B</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0</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A</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A B</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AND</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Logic AND</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ctr">
                        <a:buNone/>
                      </a:pPr>
                      <a:r>
                        <a:rPr lang="en-US" sz="1100" dirty="0">
                          <a:solidFill>
                            <a:srgbClr val="000000"/>
                          </a:solidFill>
                        </a:rPr>
                        <a:t>C</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B</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A</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A'B + AC</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MUX</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2:1 Multiplexer</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ctr">
                        <a:buNone/>
                      </a:pPr>
                      <a:r>
                        <a:rPr lang="en-US" sz="1100" dirty="0">
                          <a:solidFill>
                            <a:srgbClr val="000000"/>
                          </a:solidFill>
                        </a:rPr>
                        <a:t>0</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1</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A</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A'</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NOT</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rPr>
                        <a:t>Inverter</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9" name="Text 15"/>
          <p:cNvSpPr/>
          <p:nvPr/>
        </p:nvSpPr>
        <p:spPr>
          <a:xfrm>
            <a:off x="5760720" y="4846320"/>
            <a:ext cx="5696712" cy="1097280"/>
          </a:xfrm>
          <a:prstGeom prst="rect">
            <a:avLst/>
          </a:prstGeom>
          <a:noFill/>
          <a:ln/>
        </p:spPr>
        <p:txBody>
          <a:bodyPr wrap="square" rtlCol="0" anchor="ctr"/>
          <a:lstStyle/>
          <a:p>
            <a:pPr marL="0" indent="0">
              <a:lnSpc>
                <a:spcPts val="1600"/>
              </a:lnSpc>
              <a:buNone/>
            </a:pPr>
            <a:r>
              <a:rPr lang="en-US" sz="1100" b="1" dirty="0">
                <a:solidFill>
                  <a:srgbClr val="0D9488"/>
                </a:solidFill>
                <a:latin typeface="Arial" pitchFamily="34" charset="0"/>
                <a:ea typeface="Arial" pitchFamily="34" charset="-122"/>
                <a:cs typeface="Arial" pitchFamily="34" charset="-120"/>
              </a:rPr>
              <a:t>Takeaway: A single 2-transistor GDI cell directly implements complex logic functions (AND, OR, MUX, F1) that require 4 to 6 transistors in static CMOS.</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Chapter 3: Proposed 10T GDI Magnitude Comparator</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097280"/>
            <a:ext cx="5669280"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548640" y="1097280"/>
            <a:ext cx="5669280"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0" name="Shape 8"/>
          <p:cNvSpPr/>
          <p:nvPr/>
        </p:nvSpPr>
        <p:spPr>
          <a:xfrm>
            <a:off x="548640" y="1325880"/>
            <a:ext cx="5669280" cy="18288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731520" y="1170432"/>
            <a:ext cx="5303520"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Proposed 10-Transistor Schematic</a:t>
            </a:r>
            <a:endParaRPr lang="en-US" sz="1300" dirty="0"/>
          </a:p>
        </p:txBody>
      </p:sp>
      <p:pic>
        <p:nvPicPr>
          <p:cNvPr id="12" name="Image 0" descr="C:\Users\shahrear\Downloads\LTSpice\Thesis\Thesis Book\my_Propose_GDI_Comparator.png"/>
          <p:cNvPicPr>
            <a:picLocks noChangeAspect="1"/>
          </p:cNvPicPr>
          <p:nvPr/>
        </p:nvPicPr>
        <p:blipFill>
          <a:blip r:embed="rId3"/>
          <a:stretch>
            <a:fillRect/>
          </a:stretch>
        </p:blipFill>
        <p:spPr>
          <a:xfrm>
            <a:off x="731520" y="1645920"/>
            <a:ext cx="5303520" cy="4297680"/>
          </a:xfrm>
          <a:prstGeom prst="rect">
            <a:avLst/>
          </a:prstGeom>
        </p:spPr>
      </p:pic>
      <p:sp>
        <p:nvSpPr>
          <p:cNvPr id="13" name="Shape 10"/>
          <p:cNvSpPr/>
          <p:nvPr/>
        </p:nvSpPr>
        <p:spPr>
          <a:xfrm>
            <a:off x="6492240" y="1097280"/>
            <a:ext cx="5148072"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14" name="Shape 11"/>
          <p:cNvSpPr/>
          <p:nvPr/>
        </p:nvSpPr>
        <p:spPr>
          <a:xfrm>
            <a:off x="6492240" y="1097280"/>
            <a:ext cx="5148072"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5" name="Shape 12"/>
          <p:cNvSpPr/>
          <p:nvPr/>
        </p:nvSpPr>
        <p:spPr>
          <a:xfrm>
            <a:off x="6492240" y="1325880"/>
            <a:ext cx="5148072" cy="182880"/>
          </a:xfrm>
          <a:prstGeom prst="rect">
            <a:avLst/>
          </a:prstGeom>
          <a:solidFill>
            <a:srgbClr val="0F172A"/>
          </a:solidFill>
          <a:ln w="12700">
            <a:solidFill>
              <a:srgbClr val="0F172A"/>
            </a:solidFill>
            <a:prstDash val="solid"/>
          </a:ln>
        </p:spPr>
        <p:txBody>
          <a:bodyPr/>
          <a:lstStyle/>
          <a:p>
            <a:endParaRPr lang="en-US"/>
          </a:p>
        </p:txBody>
      </p:sp>
      <p:sp>
        <p:nvSpPr>
          <p:cNvPr id="16" name="Text 13"/>
          <p:cNvSpPr/>
          <p:nvPr/>
        </p:nvSpPr>
        <p:spPr>
          <a:xfrm>
            <a:off x="6675120" y="1170432"/>
            <a:ext cx="4782312"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Boolean Architecture &amp; Transistor Allocation</a:t>
            </a:r>
            <a:endParaRPr lang="en-US" sz="1300" dirty="0"/>
          </a:p>
        </p:txBody>
      </p:sp>
      <p:sp>
        <p:nvSpPr>
          <p:cNvPr id="17" name="Text 14"/>
          <p:cNvSpPr/>
          <p:nvPr/>
        </p:nvSpPr>
        <p:spPr>
          <a:xfrm>
            <a:off x="6675120" y="1554480"/>
            <a:ext cx="4782312" cy="4480560"/>
          </a:xfrm>
          <a:prstGeom prst="rect">
            <a:avLst/>
          </a:prstGeom>
          <a:noFill/>
          <a:ln/>
        </p:spPr>
        <p:txBody>
          <a:bodyPr wrap="square" rtlCol="0" anchor="ctr"/>
          <a:lstStyle/>
          <a:p>
            <a:pPr marL="0" indent="0">
              <a:lnSpc>
                <a:spcPts val="1600"/>
              </a:lnSpc>
              <a:buNone/>
            </a:pPr>
            <a:r>
              <a:rPr lang="en-US" sz="1400" b="1" dirty="0">
                <a:solidFill>
                  <a:srgbClr val="0D9488"/>
                </a:solidFill>
                <a:latin typeface="Arial" pitchFamily="34" charset="0"/>
                <a:ea typeface="Arial" pitchFamily="34" charset="-122"/>
                <a:cs typeface="Arial" pitchFamily="34" charset="-120"/>
              </a:rPr>
              <a:t>Boolean Logic Expressions:
</a:t>
            </a:r>
            <a:r>
              <a:rPr lang="en-US" sz="1200" b="1" dirty="0">
                <a:solidFill>
                  <a:srgbClr val="0F172A"/>
                </a:solidFill>
                <a:latin typeface="Arial" pitchFamily="34" charset="0"/>
                <a:ea typeface="Arial" pitchFamily="34" charset="-122"/>
                <a:cs typeface="Arial" pitchFamily="34" charset="-120"/>
              </a:rPr>
              <a:t>1. A &lt; B Output (GDI Cell 1 - 2 Transistors):
</a:t>
            </a:r>
            <a:r>
              <a:rPr lang="en-US" sz="1200" dirty="0">
                <a:solidFill>
                  <a:srgbClr val="1E293B"/>
                </a:solidFill>
                <a:latin typeface="Arial" pitchFamily="34" charset="0"/>
                <a:ea typeface="Arial" pitchFamily="34" charset="-122"/>
                <a:cs typeface="Arial" pitchFamily="34" charset="-120"/>
              </a:rPr>
              <a:t>   • A &lt; B = A' · B  (N=0, P=B, G=A)
</a:t>
            </a:r>
            <a:r>
              <a:rPr lang="en-US" sz="1200" b="1" dirty="0">
                <a:solidFill>
                  <a:srgbClr val="0F172A"/>
                </a:solidFill>
                <a:latin typeface="Arial" pitchFamily="34" charset="0"/>
                <a:ea typeface="Arial" pitchFamily="34" charset="-122"/>
                <a:cs typeface="Arial" pitchFamily="34" charset="-120"/>
              </a:rPr>
              <a:t>2. A &gt; B Output (GDI Cell 2 - 2 Transistors):
</a:t>
            </a:r>
            <a:r>
              <a:rPr lang="en-US" sz="1200" dirty="0">
                <a:solidFill>
                  <a:srgbClr val="1E293B"/>
                </a:solidFill>
                <a:latin typeface="Arial" pitchFamily="34" charset="0"/>
                <a:ea typeface="Arial" pitchFamily="34" charset="-122"/>
                <a:cs typeface="Arial" pitchFamily="34" charset="-120"/>
              </a:rPr>
              <a:t>   • A &gt; B = A · B'  (N=B, P=0, G=A)
</a:t>
            </a:r>
            <a:r>
              <a:rPr lang="en-US" sz="1200" b="1" dirty="0">
                <a:solidFill>
                  <a:srgbClr val="0F172A"/>
                </a:solidFill>
                <a:latin typeface="Arial" pitchFamily="34" charset="0"/>
                <a:ea typeface="Arial" pitchFamily="34" charset="-122"/>
                <a:cs typeface="Arial" pitchFamily="34" charset="-120"/>
              </a:rPr>
              <a:t>3. A = B Output (NOR / XNOR Stage - 6 Transistors):
</a:t>
            </a:r>
            <a:r>
              <a:rPr lang="en-US" sz="1200" dirty="0">
                <a:solidFill>
                  <a:srgbClr val="1E293B"/>
                </a:solidFill>
                <a:latin typeface="Arial" pitchFamily="34" charset="0"/>
                <a:ea typeface="Arial" pitchFamily="34" charset="-122"/>
                <a:cs typeface="Arial" pitchFamily="34" charset="-120"/>
              </a:rPr>
              <a:t>   • A = B = ((A &lt; B) + (A &gt; B))'
           = (A'B + AB')' = A ⊙ B
</a:t>
            </a:r>
            <a:r>
              <a:rPr lang="en-US" sz="1400" b="1" dirty="0">
                <a:solidFill>
                  <a:srgbClr val="D97706"/>
                </a:solidFill>
                <a:latin typeface="Arial" pitchFamily="34" charset="0"/>
                <a:ea typeface="Arial" pitchFamily="34" charset="-122"/>
                <a:cs typeface="Arial" pitchFamily="34" charset="-120"/>
              </a:rPr>
              <a:t>Transistor Count Summary:
</a:t>
            </a:r>
            <a:r>
              <a:rPr lang="en-US" sz="1200" dirty="0">
                <a:solidFill>
                  <a:srgbClr val="1E293B"/>
                </a:solidFill>
                <a:latin typeface="Arial" pitchFamily="34" charset="0"/>
                <a:ea typeface="Arial" pitchFamily="34" charset="-122"/>
                <a:cs typeface="Arial" pitchFamily="34" charset="-120"/>
              </a:rPr>
              <a:t>• GDI Cell 1 (A &lt; B): 2T
• GDI Cell 2 (A &gt; B): 2T
• XNOR/NOR Stage (A = B): 6T
</a:t>
            </a:r>
            <a:r>
              <a:rPr lang="en-US" sz="1300" b="1" dirty="0">
                <a:solidFill>
                  <a:srgbClr val="E11D48"/>
                </a:solidFill>
                <a:latin typeface="Arial" pitchFamily="34" charset="0"/>
                <a:ea typeface="Arial" pitchFamily="34" charset="-122"/>
                <a:cs typeface="Arial" pitchFamily="34" charset="-120"/>
              </a:rPr>
              <a:t>• TOTAL TRANSISTOR COUNT: 10 TRANSISTORS</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Chapter 3: LTSpice Simulation Setup &amp; PTM Parameters</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097280"/>
            <a:ext cx="11091672"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548640" y="1097280"/>
            <a:ext cx="11091672"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0" name="Shape 8"/>
          <p:cNvSpPr/>
          <p:nvPr/>
        </p:nvSpPr>
        <p:spPr>
          <a:xfrm>
            <a:off x="548640" y="1325880"/>
            <a:ext cx="11091672" cy="18288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731520" y="1170432"/>
            <a:ext cx="10725912"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Simulation Environment &amp; Transistor Sizing Parameters</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960" y="1645920"/>
          <a:ext cx="10543032" cy="2194560"/>
        </p:xfrm>
        <a:graphic>
          <a:graphicData uri="http://schemas.openxmlformats.org/drawingml/2006/table">
            <a:tbl>
              <a:tblPr/>
              <a:tblGrid>
                <a:gridCol w="2635758">
                  <a:extLst>
                    <a:ext uri="{9D8B030D-6E8A-4147-A177-3AD203B41FA5}">
                      <a16:colId xmlns:a16="http://schemas.microsoft.com/office/drawing/2014/main" val="20000"/>
                    </a:ext>
                  </a:extLst>
                </a:gridCol>
                <a:gridCol w="2635758">
                  <a:extLst>
                    <a:ext uri="{9D8B030D-6E8A-4147-A177-3AD203B41FA5}">
                      <a16:colId xmlns:a16="http://schemas.microsoft.com/office/drawing/2014/main" val="20001"/>
                    </a:ext>
                  </a:extLst>
                </a:gridCol>
                <a:gridCol w="2635758">
                  <a:extLst>
                    <a:ext uri="{9D8B030D-6E8A-4147-A177-3AD203B41FA5}">
                      <a16:colId xmlns:a16="http://schemas.microsoft.com/office/drawing/2014/main" val="20002"/>
                    </a:ext>
                  </a:extLst>
                </a:gridCol>
                <a:gridCol w="2635758">
                  <a:extLst>
                    <a:ext uri="{9D8B030D-6E8A-4147-A177-3AD203B41FA5}">
                      <a16:colId xmlns:a16="http://schemas.microsoft.com/office/drawing/2014/main" val="20003"/>
                    </a:ext>
                  </a:extLst>
                </a:gridCol>
              </a:tblGrid>
              <a:tr h="0">
                <a:tc>
                  <a:txBody>
                    <a:bodyPr/>
                    <a:lstStyle/>
                    <a:p>
                      <a:pPr marL="0" indent="0" algn="ctr">
                        <a:buNone/>
                      </a:pPr>
                      <a:r>
                        <a:rPr lang="en-US" sz="1200" b="1" dirty="0">
                          <a:solidFill>
                            <a:srgbClr val="FFFFFF"/>
                          </a:solidFill>
                        </a:rPr>
                        <a:t>Parameter</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rPr>
                        <a:t>180nm PTM Node</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rPr>
                        <a:t>90nm PTM Node</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rPr>
                        <a:t>45nm PTM Node</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0">
                <a:tc>
                  <a:txBody>
                    <a:bodyPr/>
                    <a:lstStyle/>
                    <a:p>
                      <a:pPr marL="0" indent="0" algn="ctr">
                        <a:buNone/>
                      </a:pPr>
                      <a:r>
                        <a:rPr lang="en-US" sz="1200" dirty="0">
                          <a:solidFill>
                            <a:srgbClr val="000000"/>
                          </a:solidFill>
                        </a:rPr>
                        <a:t>Supply Voltage (VDD)</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1.8 V</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1.2 V</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0.8 V - 1.0 V</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ctr">
                        <a:buNone/>
                      </a:pPr>
                      <a:r>
                        <a:rPr lang="en-US" sz="1200" dirty="0">
                          <a:solidFill>
                            <a:srgbClr val="000000"/>
                          </a:solidFill>
                        </a:rPr>
                        <a:t>PMOS Width (W_p)</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540 nm</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270 nm</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135 nm</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ctr">
                        <a:buNone/>
                      </a:pPr>
                      <a:r>
                        <a:rPr lang="en-US" sz="1200" dirty="0">
                          <a:solidFill>
                            <a:srgbClr val="000000"/>
                          </a:solidFill>
                        </a:rPr>
                        <a:t>NMOS Width (W_n)</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180 nm</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90 nm</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45 nm</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ctr">
                        <a:buNone/>
                      </a:pPr>
                      <a:r>
                        <a:rPr lang="en-US" sz="1200" dirty="0">
                          <a:solidFill>
                            <a:srgbClr val="000000"/>
                          </a:solidFill>
                        </a:rPr>
                        <a:t>Channel Length (L)</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180 nm</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90 nm</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45 nm</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ctr">
                        <a:buNone/>
                      </a:pPr>
                      <a:r>
                        <a:rPr lang="en-US" sz="1200" dirty="0">
                          <a:solidFill>
                            <a:srgbClr val="000000"/>
                          </a:solidFill>
                        </a:rPr>
                        <a:t>Clock Frequency (f)</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100 MHz</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500 MHz</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 GHz</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ctr">
                        <a:buNone/>
                      </a:pPr>
                      <a:r>
                        <a:rPr lang="en-US" sz="1200" dirty="0">
                          <a:solidFill>
                            <a:srgbClr val="000000"/>
                          </a:solidFill>
                        </a:rPr>
                        <a:t>Load Capacitance (C_L)</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5 fF</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2 fF</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 fF</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lgn="ctr">
                        <a:buNone/>
                      </a:pPr>
                      <a:r>
                        <a:rPr lang="en-US" sz="1200" dirty="0">
                          <a:solidFill>
                            <a:srgbClr val="000000"/>
                          </a:solidFill>
                        </a:rPr>
                        <a:t>Simulation Tool</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LTSpice XVII (BSIM4)</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LTSpice XVII (BSIM4)</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LTSpice XVII (BSIM4)</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3" name="Text 10"/>
          <p:cNvSpPr/>
          <p:nvPr/>
        </p:nvSpPr>
        <p:spPr>
          <a:xfrm>
            <a:off x="822960" y="4663440"/>
            <a:ext cx="10543032" cy="1280160"/>
          </a:xfrm>
          <a:prstGeom prst="rect">
            <a:avLst/>
          </a:prstGeom>
          <a:noFill/>
          <a:ln/>
        </p:spPr>
        <p:txBody>
          <a:bodyPr wrap="square" rtlCol="0" anchor="ctr"/>
          <a:lstStyle/>
          <a:p>
            <a:pPr marL="0" indent="0">
              <a:lnSpc>
                <a:spcPts val="2000"/>
              </a:lnSpc>
              <a:buNone/>
            </a:pPr>
            <a:r>
              <a:rPr lang="en-US" sz="1200" b="1" dirty="0">
                <a:solidFill>
                  <a:srgbClr val="1E293B"/>
                </a:solidFill>
                <a:latin typeface="Arial" pitchFamily="34" charset="0"/>
                <a:ea typeface="Arial" pitchFamily="34" charset="-122"/>
                <a:cs typeface="Arial" pitchFamily="34" charset="-120"/>
              </a:rPr>
              <a:t>Evaluation Metrics Formulas:</a:t>
            </a:r>
            <a:endParaRPr lang="en-US" sz="1200" dirty="0"/>
          </a:p>
          <a:p>
            <a:pPr marL="0" indent="0">
              <a:lnSpc>
                <a:spcPts val="2000"/>
              </a:lnSpc>
              <a:buNone/>
            </a:pPr>
            <a:r>
              <a:rPr lang="en-US" sz="1200" b="1" dirty="0">
                <a:solidFill>
                  <a:srgbClr val="1E293B"/>
                </a:solidFill>
                <a:latin typeface="Arial" pitchFamily="34" charset="0"/>
                <a:ea typeface="Arial" pitchFamily="34" charset="-122"/>
                <a:cs typeface="Arial" pitchFamily="34" charset="-120"/>
              </a:rPr>
              <a:t>• Average Power (P_avg) = (1/T) ∫ v(t) · i(t) dt over full clock cycles.</a:t>
            </a:r>
            <a:endParaRPr lang="en-US" sz="1200" dirty="0"/>
          </a:p>
          <a:p>
            <a:pPr marL="0" indent="0">
              <a:lnSpc>
                <a:spcPts val="2000"/>
              </a:lnSpc>
              <a:buNone/>
            </a:pPr>
            <a:r>
              <a:rPr lang="en-US" sz="1200" b="1" dirty="0">
                <a:solidFill>
                  <a:srgbClr val="1E293B"/>
                </a:solidFill>
                <a:latin typeface="Arial" pitchFamily="34" charset="0"/>
                <a:ea typeface="Arial" pitchFamily="34" charset="-122"/>
                <a:cs typeface="Arial" pitchFamily="34" charset="-120"/>
              </a:rPr>
              <a:t>• Propagation Delay (t_pd) = max(t_pdLH, t_pdHL) measured at 50% VDD transition points.</a:t>
            </a:r>
            <a:endParaRPr lang="en-US" sz="1200" dirty="0"/>
          </a:p>
          <a:p>
            <a:pPr marL="0" indent="0">
              <a:lnSpc>
                <a:spcPts val="2000"/>
              </a:lnSpc>
              <a:buNone/>
            </a:pPr>
            <a:r>
              <a:rPr lang="en-US" sz="1200" b="1" dirty="0">
                <a:solidFill>
                  <a:srgbClr val="1E293B"/>
                </a:solidFill>
                <a:latin typeface="Arial" pitchFamily="34" charset="0"/>
                <a:ea typeface="Arial" pitchFamily="34" charset="-122"/>
                <a:cs typeface="Arial" pitchFamily="34" charset="-120"/>
              </a:rPr>
              <a:t>• Power-Delay Product (PDP) = P_avg × t_pd  (Joules or attojoules, aJ = 10^-18 J).</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Chapter 4: Transient Simulation Waveforms &amp; Verification</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097280"/>
            <a:ext cx="5486400"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548640" y="1097280"/>
            <a:ext cx="5486400"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0" name="Shape 8"/>
          <p:cNvSpPr/>
          <p:nvPr/>
        </p:nvSpPr>
        <p:spPr>
          <a:xfrm>
            <a:off x="548640" y="1325880"/>
            <a:ext cx="5486400" cy="18288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731520" y="1170432"/>
            <a:ext cx="5120640"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LTSpice Transient Response Waveforms</a:t>
            </a:r>
            <a:endParaRPr lang="en-US" sz="1300" dirty="0"/>
          </a:p>
        </p:txBody>
      </p:sp>
      <p:pic>
        <p:nvPicPr>
          <p:cNvPr id="12" name="Image 0" descr="C:\Users\shahrear\Downloads\LTSpice\Thesis\Thesis Book\comparator_block_diagram.jpg"/>
          <p:cNvPicPr>
            <a:picLocks noChangeAspect="1"/>
          </p:cNvPicPr>
          <p:nvPr/>
        </p:nvPicPr>
        <p:blipFill>
          <a:blip r:embed="rId3"/>
          <a:stretch>
            <a:fillRect/>
          </a:stretch>
        </p:blipFill>
        <p:spPr>
          <a:xfrm>
            <a:off x="731520" y="1645920"/>
            <a:ext cx="5120640" cy="4297680"/>
          </a:xfrm>
          <a:prstGeom prst="rect">
            <a:avLst/>
          </a:prstGeom>
        </p:spPr>
      </p:pic>
      <p:sp>
        <p:nvSpPr>
          <p:cNvPr id="13" name="Shape 10"/>
          <p:cNvSpPr/>
          <p:nvPr/>
        </p:nvSpPr>
        <p:spPr>
          <a:xfrm>
            <a:off x="6309360" y="1097280"/>
            <a:ext cx="5330952"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14" name="Shape 11"/>
          <p:cNvSpPr/>
          <p:nvPr/>
        </p:nvSpPr>
        <p:spPr>
          <a:xfrm>
            <a:off x="6309360" y="1097280"/>
            <a:ext cx="5330952"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5" name="Shape 12"/>
          <p:cNvSpPr/>
          <p:nvPr/>
        </p:nvSpPr>
        <p:spPr>
          <a:xfrm>
            <a:off x="6309360" y="1325880"/>
            <a:ext cx="5330952" cy="182880"/>
          </a:xfrm>
          <a:prstGeom prst="rect">
            <a:avLst/>
          </a:prstGeom>
          <a:solidFill>
            <a:srgbClr val="0F172A"/>
          </a:solidFill>
          <a:ln w="12700">
            <a:solidFill>
              <a:srgbClr val="0F172A"/>
            </a:solidFill>
            <a:prstDash val="solid"/>
          </a:ln>
        </p:spPr>
        <p:txBody>
          <a:bodyPr/>
          <a:lstStyle/>
          <a:p>
            <a:endParaRPr lang="en-US"/>
          </a:p>
        </p:txBody>
      </p:sp>
      <p:sp>
        <p:nvSpPr>
          <p:cNvPr id="16" name="Text 13"/>
          <p:cNvSpPr/>
          <p:nvPr/>
        </p:nvSpPr>
        <p:spPr>
          <a:xfrm>
            <a:off x="6492240" y="1170432"/>
            <a:ext cx="4965192"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Truth Table Functional Verification</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92240" y="1645920"/>
          <a:ext cx="4965190" cy="1371600"/>
        </p:xfrm>
        <a:graphic>
          <a:graphicData uri="http://schemas.openxmlformats.org/drawingml/2006/table">
            <a:tbl>
              <a:tblPr/>
              <a:tblGrid>
                <a:gridCol w="993038">
                  <a:extLst>
                    <a:ext uri="{9D8B030D-6E8A-4147-A177-3AD203B41FA5}">
                      <a16:colId xmlns:a16="http://schemas.microsoft.com/office/drawing/2014/main" val="20000"/>
                    </a:ext>
                  </a:extLst>
                </a:gridCol>
                <a:gridCol w="993038">
                  <a:extLst>
                    <a:ext uri="{9D8B030D-6E8A-4147-A177-3AD203B41FA5}">
                      <a16:colId xmlns:a16="http://schemas.microsoft.com/office/drawing/2014/main" val="20001"/>
                    </a:ext>
                  </a:extLst>
                </a:gridCol>
                <a:gridCol w="993038">
                  <a:extLst>
                    <a:ext uri="{9D8B030D-6E8A-4147-A177-3AD203B41FA5}">
                      <a16:colId xmlns:a16="http://schemas.microsoft.com/office/drawing/2014/main" val="20002"/>
                    </a:ext>
                  </a:extLst>
                </a:gridCol>
                <a:gridCol w="993038">
                  <a:extLst>
                    <a:ext uri="{9D8B030D-6E8A-4147-A177-3AD203B41FA5}">
                      <a16:colId xmlns:a16="http://schemas.microsoft.com/office/drawing/2014/main" val="20003"/>
                    </a:ext>
                  </a:extLst>
                </a:gridCol>
                <a:gridCol w="993038">
                  <a:extLst>
                    <a:ext uri="{9D8B030D-6E8A-4147-A177-3AD203B41FA5}">
                      <a16:colId xmlns:a16="http://schemas.microsoft.com/office/drawing/2014/main" val="20004"/>
                    </a:ext>
                  </a:extLst>
                </a:gridCol>
              </a:tblGrid>
              <a:tr h="0">
                <a:tc>
                  <a:txBody>
                    <a:bodyPr/>
                    <a:lstStyle/>
                    <a:p>
                      <a:pPr marL="0" indent="0" algn="ctr">
                        <a:buNone/>
                      </a:pPr>
                      <a:r>
                        <a:rPr lang="en-US" sz="1200" b="1" dirty="0">
                          <a:solidFill>
                            <a:srgbClr val="FFFFFF"/>
                          </a:solidFill>
                        </a:rPr>
                        <a:t>Input A</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rPr>
                        <a:t>Input B</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rPr>
                        <a:t>A &lt; B</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9488"/>
                    </a:solidFill>
                  </a:tcPr>
                </a:tc>
                <a:tc>
                  <a:txBody>
                    <a:bodyPr/>
                    <a:lstStyle/>
                    <a:p>
                      <a:pPr marL="0" indent="0" algn="ctr">
                        <a:buNone/>
                      </a:pPr>
                      <a:r>
                        <a:rPr lang="en-US" sz="1200" b="1" dirty="0">
                          <a:solidFill>
                            <a:srgbClr val="FFFFFF"/>
                          </a:solidFill>
                        </a:rPr>
                        <a:t>A &gt; B</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9488"/>
                    </a:solidFill>
                  </a:tcPr>
                </a:tc>
                <a:tc>
                  <a:txBody>
                    <a:bodyPr/>
                    <a:lstStyle/>
                    <a:p>
                      <a:pPr marL="0" indent="0" algn="ctr">
                        <a:buNone/>
                      </a:pPr>
                      <a:r>
                        <a:rPr lang="en-US" sz="1200" b="1" dirty="0">
                          <a:solidFill>
                            <a:srgbClr val="FFFFFF"/>
                          </a:solidFill>
                        </a:rPr>
                        <a:t>A = B</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97706"/>
                    </a:solidFill>
                  </a:tcPr>
                </a:tc>
                <a:extLst>
                  <a:ext uri="{0D108BD9-81ED-4DB2-BD59-A6C34878D82A}">
                    <a16:rowId xmlns:a16="http://schemas.microsoft.com/office/drawing/2014/main" val="10000"/>
                  </a:ext>
                </a:extLst>
              </a:tr>
              <a:tr h="0">
                <a:tc>
                  <a:txBody>
                    <a:bodyPr/>
                    <a:lstStyle/>
                    <a:p>
                      <a:pPr marL="0" indent="0" algn="ctr">
                        <a:buNone/>
                      </a:pPr>
                      <a:r>
                        <a:rPr lang="en-US" sz="1200" dirty="0">
                          <a:solidFill>
                            <a:srgbClr val="000000"/>
                          </a:solidFill>
                        </a:rPr>
                        <a:t>0</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0</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0</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0</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ctr">
                        <a:buNone/>
                      </a:pPr>
                      <a:r>
                        <a:rPr lang="en-US" sz="1200" dirty="0">
                          <a:solidFill>
                            <a:srgbClr val="000000"/>
                          </a:solidFill>
                        </a:rPr>
                        <a:t>0</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0</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0</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ctr">
                        <a:buNone/>
                      </a:pPr>
                      <a:r>
                        <a:rPr lang="en-US" sz="1200" dirty="0">
                          <a:solidFill>
                            <a:srgbClr val="000000"/>
                          </a:solidFill>
                        </a:rPr>
                        <a:t>1</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0</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0</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0</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ctr">
                        <a:buNone/>
                      </a:pPr>
                      <a:r>
                        <a:rPr lang="en-US" sz="1200" dirty="0">
                          <a:solidFill>
                            <a:srgbClr val="000000"/>
                          </a:solidFill>
                        </a:rPr>
                        <a:t>1</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0</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0</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8" name="Text 14"/>
          <p:cNvSpPr/>
          <p:nvPr/>
        </p:nvSpPr>
        <p:spPr>
          <a:xfrm>
            <a:off x="6492240" y="3749040"/>
            <a:ext cx="4965192" cy="2194560"/>
          </a:xfrm>
          <a:prstGeom prst="rect">
            <a:avLst/>
          </a:prstGeom>
          <a:noFill/>
          <a:ln/>
        </p:spPr>
        <p:txBody>
          <a:bodyPr wrap="square" rtlCol="0" anchor="ctr"/>
          <a:lstStyle/>
          <a:p>
            <a:pPr marL="0" indent="0">
              <a:lnSpc>
                <a:spcPts val="2000"/>
              </a:lnSpc>
              <a:buNone/>
            </a:pPr>
            <a:r>
              <a:rPr lang="en-US" sz="1200" dirty="0">
                <a:solidFill>
                  <a:srgbClr val="1E293B"/>
                </a:solidFill>
                <a:latin typeface="Arial" pitchFamily="34" charset="0"/>
                <a:ea typeface="Arial" pitchFamily="34" charset="-122"/>
                <a:cs typeface="Arial" pitchFamily="34" charset="-120"/>
              </a:rPr>
              <a:t>Waveform Analysis Highlights:</a:t>
            </a:r>
            <a:endParaRPr lang="en-US" sz="1200" dirty="0"/>
          </a:p>
          <a:p>
            <a:pPr marL="0" indent="0">
              <a:lnSpc>
                <a:spcPts val="2000"/>
              </a:lnSpc>
              <a:buNone/>
            </a:pPr>
            <a:r>
              <a:rPr lang="en-US" sz="1200" dirty="0">
                <a:solidFill>
                  <a:srgbClr val="1E293B"/>
                </a:solidFill>
                <a:latin typeface="Arial" pitchFamily="34" charset="0"/>
                <a:ea typeface="Arial" pitchFamily="34" charset="-122"/>
                <a:cs typeface="Arial" pitchFamily="34" charset="-120"/>
              </a:rPr>
              <a:t>✔ Full functional correctness verified for all 4 input combinations (00, 01, 10, 11).</a:t>
            </a:r>
            <a:endParaRPr lang="en-US" sz="1200" dirty="0"/>
          </a:p>
          <a:p>
            <a:pPr marL="0" indent="0">
              <a:lnSpc>
                <a:spcPts val="2000"/>
              </a:lnSpc>
              <a:buNone/>
            </a:pPr>
            <a:r>
              <a:rPr lang="en-US" sz="1200" dirty="0">
                <a:solidFill>
                  <a:srgbClr val="1E293B"/>
                </a:solidFill>
                <a:latin typeface="Arial" pitchFamily="34" charset="0"/>
                <a:ea typeface="Arial" pitchFamily="34" charset="-122"/>
                <a:cs typeface="Arial" pitchFamily="34" charset="-120"/>
              </a:rPr>
              <a:t>✔ Clean logic transitions with zero non-restoring signal latch failures.</a:t>
            </a:r>
            <a:endParaRPr lang="en-US" sz="1200" dirty="0"/>
          </a:p>
          <a:p>
            <a:pPr marL="0" indent="0">
              <a:lnSpc>
                <a:spcPts val="2000"/>
              </a:lnSpc>
              <a:buNone/>
            </a:pPr>
            <a:r>
              <a:rPr lang="en-US" sz="1200" dirty="0">
                <a:solidFill>
                  <a:srgbClr val="1E293B"/>
                </a:solidFill>
                <a:latin typeface="Arial" pitchFamily="34" charset="0"/>
                <a:ea typeface="Arial" pitchFamily="34" charset="-122"/>
                <a:cs typeface="Arial" pitchFamily="34" charset="-120"/>
              </a:rPr>
              <a:t>✔ VDD scaling down to 0.8V confirmed operational stability.</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Chapter 4: Performance Comparison at 45nm PTM Node</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097280"/>
            <a:ext cx="11091672"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548640" y="1097280"/>
            <a:ext cx="11091672"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0" name="Shape 8"/>
          <p:cNvSpPr/>
          <p:nvPr/>
        </p:nvSpPr>
        <p:spPr>
          <a:xfrm>
            <a:off x="548640" y="1325880"/>
            <a:ext cx="11091672" cy="18288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731520" y="1170432"/>
            <a:ext cx="10725912"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Quantitative Comparison (VDD = 1.0V, f = 1 GHz, CL = 1 fF)</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960" y="1645920"/>
          <a:ext cx="10543032" cy="1371600"/>
        </p:xfrm>
        <a:graphic>
          <a:graphicData uri="http://schemas.openxmlformats.org/drawingml/2006/table">
            <a:tbl>
              <a:tblPr/>
              <a:tblGrid>
                <a:gridCol w="1757172">
                  <a:extLst>
                    <a:ext uri="{9D8B030D-6E8A-4147-A177-3AD203B41FA5}">
                      <a16:colId xmlns:a16="http://schemas.microsoft.com/office/drawing/2014/main" val="20000"/>
                    </a:ext>
                  </a:extLst>
                </a:gridCol>
                <a:gridCol w="1757172">
                  <a:extLst>
                    <a:ext uri="{9D8B030D-6E8A-4147-A177-3AD203B41FA5}">
                      <a16:colId xmlns:a16="http://schemas.microsoft.com/office/drawing/2014/main" val="20001"/>
                    </a:ext>
                  </a:extLst>
                </a:gridCol>
                <a:gridCol w="1757172">
                  <a:extLst>
                    <a:ext uri="{9D8B030D-6E8A-4147-A177-3AD203B41FA5}">
                      <a16:colId xmlns:a16="http://schemas.microsoft.com/office/drawing/2014/main" val="20002"/>
                    </a:ext>
                  </a:extLst>
                </a:gridCol>
                <a:gridCol w="1757172">
                  <a:extLst>
                    <a:ext uri="{9D8B030D-6E8A-4147-A177-3AD203B41FA5}">
                      <a16:colId xmlns:a16="http://schemas.microsoft.com/office/drawing/2014/main" val="20003"/>
                    </a:ext>
                  </a:extLst>
                </a:gridCol>
                <a:gridCol w="1757172">
                  <a:extLst>
                    <a:ext uri="{9D8B030D-6E8A-4147-A177-3AD203B41FA5}">
                      <a16:colId xmlns:a16="http://schemas.microsoft.com/office/drawing/2014/main" val="20004"/>
                    </a:ext>
                  </a:extLst>
                </a:gridCol>
                <a:gridCol w="1757172">
                  <a:extLst>
                    <a:ext uri="{9D8B030D-6E8A-4147-A177-3AD203B41FA5}">
                      <a16:colId xmlns:a16="http://schemas.microsoft.com/office/drawing/2014/main" val="20005"/>
                    </a:ext>
                  </a:extLst>
                </a:gridCol>
              </a:tblGrid>
              <a:tr h="0">
                <a:tc>
                  <a:txBody>
                    <a:bodyPr/>
                    <a:lstStyle/>
                    <a:p>
                      <a:pPr marL="0" indent="0" algn="ctr">
                        <a:buNone/>
                      </a:pPr>
                      <a:r>
                        <a:rPr lang="en-US" sz="1200" b="1" dirty="0">
                          <a:solidFill>
                            <a:srgbClr val="FFFFFF"/>
                          </a:solidFill>
                        </a:rPr>
                        <a:t>Architecture Topologies</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rPr>
                        <a:t>Transistor Count</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rPr>
                        <a:t>Delay (t_pd) [ps]</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rPr>
                        <a:t>Power (P_avg) [µW]</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rPr>
                        <a:t>PDP [aJ]</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200" b="1" dirty="0">
                          <a:solidFill>
                            <a:srgbClr val="FFFFFF"/>
                          </a:solidFill>
                        </a:rPr>
                        <a:t>PDP Reduction vs CMOS</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0">
                <a:tc>
                  <a:txBody>
                    <a:bodyPr/>
                    <a:lstStyle/>
                    <a:p>
                      <a:pPr marL="0" indent="0" algn="ctr">
                        <a:buNone/>
                      </a:pPr>
                      <a:r>
                        <a:rPr lang="en-US" sz="1200" dirty="0">
                          <a:solidFill>
                            <a:srgbClr val="000000"/>
                          </a:solidFill>
                        </a:rPr>
                        <a:t>Static CMOS</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26</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48.2</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14.82</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714.3</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Baseline (1×)</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ctr">
                        <a:buNone/>
                      </a:pPr>
                      <a:r>
                        <a:rPr lang="en-US" sz="1200" dirty="0">
                          <a:solidFill>
                            <a:srgbClr val="000000"/>
                          </a:solidFill>
                        </a:rPr>
                        <a:t>Transmission Gate (TG)</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16</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31.5</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8.94</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281.6</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2.53× Lower</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ctr">
                        <a:buNone/>
                      </a:pPr>
                      <a:r>
                        <a:rPr lang="en-US" sz="1200" dirty="0">
                          <a:solidFill>
                            <a:srgbClr val="000000"/>
                          </a:solidFill>
                        </a:rPr>
                        <a:t>Pass Transistor (PTL)</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12</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27.8</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6.45</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179.3</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000000"/>
                          </a:solidFill>
                        </a:rPr>
                        <a:t>3.98× Lower</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ctr">
                        <a:buNone/>
                      </a:pPr>
                      <a:r>
                        <a:rPr lang="en-US" sz="1200" b="1" dirty="0">
                          <a:solidFill>
                            <a:srgbClr val="0D9488"/>
                          </a:solidFill>
                        </a:rPr>
                        <a:t>Proposed GDI Design</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200" b="1" dirty="0">
                          <a:solidFill>
                            <a:srgbClr val="0D9488"/>
                          </a:solidFill>
                        </a:rPr>
                        <a:t>10</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200" b="1" dirty="0">
                          <a:solidFill>
                            <a:srgbClr val="0D9488"/>
                          </a:solidFill>
                        </a:rPr>
                        <a:t>18.4</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200" b="1" dirty="0">
                          <a:solidFill>
                            <a:srgbClr val="0D9488"/>
                          </a:solidFill>
                        </a:rPr>
                        <a:t>2.15</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200" b="1" dirty="0">
                          <a:solidFill>
                            <a:srgbClr val="0D9488"/>
                          </a:solidFill>
                        </a:rPr>
                        <a:t>39.56</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200" b="1" dirty="0">
                          <a:solidFill>
                            <a:srgbClr val="0D9488"/>
                          </a:solidFill>
                        </a:rPr>
                        <a:t>18.05× Lower</a:t>
                      </a:r>
                      <a:endParaRPr lang="en-US" sz="12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DFA"/>
                    </a:solidFill>
                  </a:tcPr>
                </a:tc>
                <a:extLst>
                  <a:ext uri="{0D108BD9-81ED-4DB2-BD59-A6C34878D82A}">
                    <a16:rowId xmlns:a16="http://schemas.microsoft.com/office/drawing/2014/main" val="10004"/>
                  </a:ext>
                </a:extLst>
              </a:tr>
            </a:tbl>
          </a:graphicData>
        </a:graphic>
      </p:graphicFrame>
      <p:sp>
        <p:nvSpPr>
          <p:cNvPr id="13" name="Shape 10"/>
          <p:cNvSpPr/>
          <p:nvPr/>
        </p:nvSpPr>
        <p:spPr>
          <a:xfrm>
            <a:off x="822960" y="4297680"/>
            <a:ext cx="10543032" cy="1645920"/>
          </a:xfrm>
          <a:prstGeom prst="roundRect">
            <a:avLst>
              <a:gd name="adj" fmla="val 4444"/>
            </a:avLst>
          </a:prstGeom>
          <a:solidFill>
            <a:srgbClr val="0F172A"/>
          </a:solidFill>
          <a:ln w="12700">
            <a:solidFill>
              <a:srgbClr val="E2E8F0"/>
            </a:solidFill>
            <a:prstDash val="solid"/>
          </a:ln>
        </p:spPr>
        <p:txBody>
          <a:bodyPr/>
          <a:lstStyle/>
          <a:p>
            <a:endParaRPr lang="en-US"/>
          </a:p>
        </p:txBody>
      </p:sp>
      <p:sp>
        <p:nvSpPr>
          <p:cNvPr id="14" name="Text 11"/>
          <p:cNvSpPr/>
          <p:nvPr/>
        </p:nvSpPr>
        <p:spPr>
          <a:xfrm>
            <a:off x="1005840" y="4434840"/>
            <a:ext cx="10149840" cy="1371600"/>
          </a:xfrm>
          <a:prstGeom prst="rect">
            <a:avLst/>
          </a:prstGeom>
          <a:noFill/>
          <a:ln/>
        </p:spPr>
        <p:txBody>
          <a:bodyPr wrap="square" rtlCol="0" anchor="ctr"/>
          <a:lstStyle/>
          <a:p>
            <a:pPr marL="0" indent="0">
              <a:lnSpc>
                <a:spcPts val="1800"/>
              </a:lnSpc>
              <a:buNone/>
            </a:pPr>
            <a:r>
              <a:rPr lang="en-US" sz="1300" b="1" dirty="0">
                <a:solidFill>
                  <a:srgbClr val="D97706"/>
                </a:solidFill>
                <a:latin typeface="Arial" pitchFamily="34" charset="0"/>
                <a:ea typeface="Arial" pitchFamily="34" charset="-122"/>
                <a:cs typeface="Arial" pitchFamily="34" charset="-120"/>
              </a:rPr>
              <a:t>KEY NUMERICAL IMPROVEMENTS AT 45nm NODE:
</a:t>
            </a:r>
            <a:r>
              <a:rPr lang="en-US" sz="1200" b="1" dirty="0">
                <a:solidFill>
                  <a:srgbClr val="FFFFFF"/>
                </a:solidFill>
                <a:latin typeface="Arial" pitchFamily="34" charset="0"/>
                <a:ea typeface="Arial" pitchFamily="34" charset="-122"/>
                <a:cs typeface="Arial" pitchFamily="34" charset="-120"/>
              </a:rPr>
              <a:t>• Transistor Count: </a:t>
            </a:r>
            <a:r>
              <a:rPr lang="en-US" sz="1200" dirty="0">
                <a:solidFill>
                  <a:srgbClr val="CBD5E1"/>
                </a:solidFill>
                <a:latin typeface="Arial" pitchFamily="34" charset="0"/>
                <a:ea typeface="Arial" pitchFamily="34" charset="-122"/>
                <a:cs typeface="Arial" pitchFamily="34" charset="-120"/>
              </a:rPr>
              <a:t>Reduced by 61.5% compared to Static CMOS (10T vs 26T).
</a:t>
            </a:r>
            <a:r>
              <a:rPr lang="en-US" sz="1200" b="1" dirty="0">
                <a:solidFill>
                  <a:srgbClr val="FFFFFF"/>
                </a:solidFill>
                <a:latin typeface="Arial" pitchFamily="34" charset="0"/>
                <a:ea typeface="Arial" pitchFamily="34" charset="-122"/>
                <a:cs typeface="Arial" pitchFamily="34" charset="-120"/>
              </a:rPr>
              <a:t>• Power Consumption: </a:t>
            </a:r>
            <a:r>
              <a:rPr lang="en-US" sz="1200" dirty="0">
                <a:solidFill>
                  <a:srgbClr val="CBD5E1"/>
                </a:solidFill>
                <a:latin typeface="Arial" pitchFamily="34" charset="0"/>
                <a:ea typeface="Arial" pitchFamily="34" charset="-122"/>
                <a:cs typeface="Arial" pitchFamily="34" charset="-120"/>
              </a:rPr>
              <a:t>Saves 85.4% power compared to CMOS and 66.7% power compared to PTL.
</a:t>
            </a:r>
            <a:r>
              <a:rPr lang="en-US" sz="1200" b="1" dirty="0">
                <a:solidFill>
                  <a:srgbClr val="FFFFFF"/>
                </a:solidFill>
                <a:latin typeface="Arial" pitchFamily="34" charset="0"/>
                <a:ea typeface="Arial" pitchFamily="34" charset="-122"/>
                <a:cs typeface="Arial" pitchFamily="34" charset="-120"/>
              </a:rPr>
              <a:t>• Power-Delay Product (PDP): </a:t>
            </a:r>
            <a:r>
              <a:rPr lang="en-US" sz="1200" dirty="0">
                <a:solidFill>
                  <a:srgbClr val="CBD5E1"/>
                </a:solidFill>
                <a:latin typeface="Arial" pitchFamily="34" charset="0"/>
                <a:ea typeface="Arial" pitchFamily="34" charset="-122"/>
                <a:cs typeface="Arial" pitchFamily="34" charset="-120"/>
              </a:rPr>
              <a:t>Achieves an incredible 39.56 aJ—over 18× lower energy consumption per switching event!</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Chapter 4: Propagation Delay Comparison</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097280"/>
            <a:ext cx="5669280"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548640" y="1097280"/>
            <a:ext cx="5669280"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0" name="Shape 8"/>
          <p:cNvSpPr/>
          <p:nvPr/>
        </p:nvSpPr>
        <p:spPr>
          <a:xfrm>
            <a:off x="548640" y="1325880"/>
            <a:ext cx="5669280" cy="18288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731520" y="1170432"/>
            <a:ext cx="5303520"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Propagation Delay Bar Chart</a:t>
            </a:r>
            <a:endParaRPr lang="en-US" sz="1300" dirty="0"/>
          </a:p>
        </p:txBody>
      </p:sp>
      <p:pic>
        <p:nvPicPr>
          <p:cNvPr id="12" name="Image 0" descr="C:\Users\shahrear\Downloads\LTSpice\Thesis\Thesis Book\Paper_02_Propagation_Delay_Bar_Chart.png"/>
          <p:cNvPicPr>
            <a:picLocks noChangeAspect="1"/>
          </p:cNvPicPr>
          <p:nvPr/>
        </p:nvPicPr>
        <p:blipFill>
          <a:blip r:embed="rId3"/>
          <a:stretch>
            <a:fillRect/>
          </a:stretch>
        </p:blipFill>
        <p:spPr>
          <a:xfrm>
            <a:off x="731520" y="1645920"/>
            <a:ext cx="5303520" cy="4297680"/>
          </a:xfrm>
          <a:prstGeom prst="rect">
            <a:avLst/>
          </a:prstGeom>
        </p:spPr>
      </p:pic>
      <p:sp>
        <p:nvSpPr>
          <p:cNvPr id="13" name="Shape 10"/>
          <p:cNvSpPr/>
          <p:nvPr/>
        </p:nvSpPr>
        <p:spPr>
          <a:xfrm>
            <a:off x="6492240" y="1097280"/>
            <a:ext cx="5148072"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14" name="Shape 11"/>
          <p:cNvSpPr/>
          <p:nvPr/>
        </p:nvSpPr>
        <p:spPr>
          <a:xfrm>
            <a:off x="6492240" y="1097280"/>
            <a:ext cx="5148072"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5" name="Shape 12"/>
          <p:cNvSpPr/>
          <p:nvPr/>
        </p:nvSpPr>
        <p:spPr>
          <a:xfrm>
            <a:off x="6492240" y="1325880"/>
            <a:ext cx="5148072" cy="182880"/>
          </a:xfrm>
          <a:prstGeom prst="rect">
            <a:avLst/>
          </a:prstGeom>
          <a:solidFill>
            <a:srgbClr val="0F172A"/>
          </a:solidFill>
          <a:ln w="12700">
            <a:solidFill>
              <a:srgbClr val="0F172A"/>
            </a:solidFill>
            <a:prstDash val="solid"/>
          </a:ln>
        </p:spPr>
        <p:txBody>
          <a:bodyPr/>
          <a:lstStyle/>
          <a:p>
            <a:endParaRPr lang="en-US"/>
          </a:p>
        </p:txBody>
      </p:sp>
      <p:sp>
        <p:nvSpPr>
          <p:cNvPr id="16" name="Text 13"/>
          <p:cNvSpPr/>
          <p:nvPr/>
        </p:nvSpPr>
        <p:spPr>
          <a:xfrm>
            <a:off x="6675120" y="1170432"/>
            <a:ext cx="4782312"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Delay Performance Insights</a:t>
            </a:r>
            <a:endParaRPr lang="en-US" sz="1300" dirty="0"/>
          </a:p>
        </p:txBody>
      </p:sp>
      <p:sp>
        <p:nvSpPr>
          <p:cNvPr id="17" name="Text 14"/>
          <p:cNvSpPr/>
          <p:nvPr/>
        </p:nvSpPr>
        <p:spPr>
          <a:xfrm>
            <a:off x="6675120" y="1645920"/>
            <a:ext cx="4782312" cy="4389120"/>
          </a:xfrm>
          <a:prstGeom prst="rect">
            <a:avLst/>
          </a:prstGeom>
          <a:noFill/>
          <a:ln/>
        </p:spPr>
        <p:txBody>
          <a:bodyPr wrap="square" rtlCol="0" anchor="ctr"/>
          <a:lstStyle/>
          <a:p>
            <a:pPr marL="0" indent="0">
              <a:lnSpc>
                <a:spcPts val="1800"/>
              </a:lnSpc>
              <a:buNone/>
            </a:pPr>
            <a:r>
              <a:rPr lang="en-US" sz="1400" b="1" dirty="0">
                <a:solidFill>
                  <a:srgbClr val="0D9488"/>
                </a:solidFill>
                <a:latin typeface="Arial" pitchFamily="34" charset="0"/>
                <a:ea typeface="Arial" pitchFamily="34" charset="-122"/>
                <a:cs typeface="Arial" pitchFamily="34" charset="-120"/>
              </a:rPr>
              <a:t>Why 10T GDI Achieves Lowest Delay:
</a:t>
            </a:r>
            <a:r>
              <a:rPr lang="en-US" sz="1200" b="1" dirty="0">
                <a:solidFill>
                  <a:srgbClr val="0F172A"/>
                </a:solidFill>
                <a:latin typeface="Arial" pitchFamily="34" charset="0"/>
                <a:ea typeface="Arial" pitchFamily="34" charset="-122"/>
                <a:cs typeface="Arial" pitchFamily="34" charset="-120"/>
              </a:rPr>
              <a:t>1. Reduced Critical Path Nodes:
</a:t>
            </a:r>
            <a:r>
              <a:rPr lang="en-US" sz="1200" dirty="0">
                <a:solidFill>
                  <a:srgbClr val="1E293B"/>
                </a:solidFill>
                <a:latin typeface="Arial" pitchFamily="34" charset="0"/>
                <a:ea typeface="Arial" pitchFamily="34" charset="-122"/>
                <a:cs typeface="Arial" pitchFamily="34" charset="-120"/>
              </a:rPr>
              <a:t>   • GDI cells execute logic with direct diffusion paths, skipping multi-stage CMOS inversions.
</a:t>
            </a:r>
            <a:r>
              <a:rPr lang="en-US" sz="1200" b="1" dirty="0">
                <a:solidFill>
                  <a:srgbClr val="0F172A"/>
                </a:solidFill>
                <a:latin typeface="Arial" pitchFamily="34" charset="0"/>
                <a:ea typeface="Arial" pitchFamily="34" charset="-122"/>
                <a:cs typeface="Arial" pitchFamily="34" charset="-120"/>
              </a:rPr>
              <a:t>2. Lower Parasitic Capacitance:
</a:t>
            </a:r>
            <a:r>
              <a:rPr lang="en-US" sz="1200" dirty="0">
                <a:solidFill>
                  <a:srgbClr val="1E293B"/>
                </a:solidFill>
                <a:latin typeface="Arial" pitchFamily="34" charset="0"/>
                <a:ea typeface="Arial" pitchFamily="34" charset="-122"/>
                <a:cs typeface="Arial" pitchFamily="34" charset="-120"/>
              </a:rPr>
              <a:t>   • Minimal transistor gates connected to input lines reduces internal node charging time.
</a:t>
            </a:r>
            <a:r>
              <a:rPr lang="en-US" sz="1200" b="1" dirty="0">
                <a:solidFill>
                  <a:srgbClr val="0F172A"/>
                </a:solidFill>
                <a:latin typeface="Arial" pitchFamily="34" charset="0"/>
                <a:ea typeface="Arial" pitchFamily="34" charset="-122"/>
                <a:cs typeface="Arial" pitchFamily="34" charset="-120"/>
              </a:rPr>
              <a:t>3. Delay Comparison Summary:
</a:t>
            </a:r>
            <a:r>
              <a:rPr lang="en-US" sz="1200" dirty="0">
                <a:solidFill>
                  <a:srgbClr val="1E293B"/>
                </a:solidFill>
                <a:latin typeface="Arial" pitchFamily="34" charset="0"/>
                <a:ea typeface="Arial" pitchFamily="34" charset="-122"/>
                <a:cs typeface="Arial" pitchFamily="34" charset="-120"/>
              </a:rPr>
              <a:t>   • Static CMOS: 48.2 ps (100% baseline)
   • Transmission Gate: 31.5 ps (34.6% faster)
   • Pass Transistor: 27.8 ps (42.3% faster)
</a:t>
            </a:r>
            <a:r>
              <a:rPr lang="en-US" sz="1300" b="1" dirty="0">
                <a:solidFill>
                  <a:srgbClr val="0D9488"/>
                </a:solidFill>
                <a:latin typeface="Arial" pitchFamily="34" charset="0"/>
                <a:ea typeface="Arial" pitchFamily="34" charset="-122"/>
                <a:cs typeface="Arial" pitchFamily="34" charset="-120"/>
              </a:rPr>
              <a:t>   • Proposed 10T GDI: 18.4 ps (61.8% faster!)</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Chapter 4: Average Power Dissipation Analysis</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097280"/>
            <a:ext cx="5669280"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548640" y="1097280"/>
            <a:ext cx="5669280"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0" name="Shape 8"/>
          <p:cNvSpPr/>
          <p:nvPr/>
        </p:nvSpPr>
        <p:spPr>
          <a:xfrm>
            <a:off x="548640" y="1325880"/>
            <a:ext cx="5669280" cy="18288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731520" y="1170432"/>
            <a:ext cx="5303520"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Average Power Dissipation Bar Chart</a:t>
            </a:r>
            <a:endParaRPr lang="en-US" sz="1300" dirty="0"/>
          </a:p>
        </p:txBody>
      </p:sp>
      <p:pic>
        <p:nvPicPr>
          <p:cNvPr id="12" name="Image 0" descr="C:\Users\shahrear\Downloads\LTSpice\Thesis\Thesis Book\Paper_03_Average_Power_Bar_Chart.png"/>
          <p:cNvPicPr>
            <a:picLocks noChangeAspect="1"/>
          </p:cNvPicPr>
          <p:nvPr/>
        </p:nvPicPr>
        <p:blipFill>
          <a:blip r:embed="rId3"/>
          <a:stretch>
            <a:fillRect/>
          </a:stretch>
        </p:blipFill>
        <p:spPr>
          <a:xfrm>
            <a:off x="731520" y="1645920"/>
            <a:ext cx="5303520" cy="4297680"/>
          </a:xfrm>
          <a:prstGeom prst="rect">
            <a:avLst/>
          </a:prstGeom>
        </p:spPr>
      </p:pic>
      <p:sp>
        <p:nvSpPr>
          <p:cNvPr id="13" name="Shape 10"/>
          <p:cNvSpPr/>
          <p:nvPr/>
        </p:nvSpPr>
        <p:spPr>
          <a:xfrm>
            <a:off x="6492240" y="1097280"/>
            <a:ext cx="5148072"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14" name="Shape 11"/>
          <p:cNvSpPr/>
          <p:nvPr/>
        </p:nvSpPr>
        <p:spPr>
          <a:xfrm>
            <a:off x="6492240" y="1097280"/>
            <a:ext cx="5148072"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5" name="Shape 12"/>
          <p:cNvSpPr/>
          <p:nvPr/>
        </p:nvSpPr>
        <p:spPr>
          <a:xfrm>
            <a:off x="6492240" y="1325880"/>
            <a:ext cx="5148072" cy="182880"/>
          </a:xfrm>
          <a:prstGeom prst="rect">
            <a:avLst/>
          </a:prstGeom>
          <a:solidFill>
            <a:srgbClr val="0F172A"/>
          </a:solidFill>
          <a:ln w="12700">
            <a:solidFill>
              <a:srgbClr val="0F172A"/>
            </a:solidFill>
            <a:prstDash val="solid"/>
          </a:ln>
        </p:spPr>
        <p:txBody>
          <a:bodyPr/>
          <a:lstStyle/>
          <a:p>
            <a:endParaRPr lang="en-US"/>
          </a:p>
        </p:txBody>
      </p:sp>
      <p:sp>
        <p:nvSpPr>
          <p:cNvPr id="16" name="Text 13"/>
          <p:cNvSpPr/>
          <p:nvPr/>
        </p:nvSpPr>
        <p:spPr>
          <a:xfrm>
            <a:off x="6675120" y="1170432"/>
            <a:ext cx="4782312"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Power Reduction Mechanisms</a:t>
            </a:r>
            <a:endParaRPr lang="en-US" sz="1300" dirty="0"/>
          </a:p>
        </p:txBody>
      </p:sp>
      <p:sp>
        <p:nvSpPr>
          <p:cNvPr id="17" name="Text 14"/>
          <p:cNvSpPr/>
          <p:nvPr/>
        </p:nvSpPr>
        <p:spPr>
          <a:xfrm>
            <a:off x="6675120" y="1645920"/>
            <a:ext cx="4782312" cy="4389120"/>
          </a:xfrm>
          <a:prstGeom prst="rect">
            <a:avLst/>
          </a:prstGeom>
          <a:noFill/>
          <a:ln/>
        </p:spPr>
        <p:txBody>
          <a:bodyPr wrap="square" rtlCol="0" anchor="ctr"/>
          <a:lstStyle/>
          <a:p>
            <a:pPr marL="0" indent="0">
              <a:lnSpc>
                <a:spcPts val="1800"/>
              </a:lnSpc>
              <a:buNone/>
            </a:pPr>
            <a:r>
              <a:rPr lang="en-US" sz="1400" b="1" dirty="0">
                <a:solidFill>
                  <a:srgbClr val="D97706"/>
                </a:solidFill>
                <a:latin typeface="Arial" pitchFamily="34" charset="0"/>
                <a:ea typeface="Arial" pitchFamily="34" charset="-122"/>
                <a:cs typeface="Arial" pitchFamily="34" charset="-120"/>
              </a:rPr>
              <a:t>Mechanisms of Power Savings:
</a:t>
            </a:r>
            <a:r>
              <a:rPr lang="en-US" sz="1200" b="1" dirty="0">
                <a:solidFill>
                  <a:srgbClr val="0F172A"/>
                </a:solidFill>
                <a:latin typeface="Arial" pitchFamily="34" charset="0"/>
                <a:ea typeface="Arial" pitchFamily="34" charset="-122"/>
                <a:cs typeface="Arial" pitchFamily="34" charset="-120"/>
              </a:rPr>
              <a:t>1. Elimination of Direct VDD-to-GND Paths:
</a:t>
            </a:r>
            <a:r>
              <a:rPr lang="en-US" sz="1200" dirty="0">
                <a:solidFill>
                  <a:srgbClr val="1E293B"/>
                </a:solidFill>
                <a:latin typeface="Arial" pitchFamily="34" charset="0"/>
                <a:ea typeface="Arial" pitchFamily="34" charset="-122"/>
                <a:cs typeface="Arial" pitchFamily="34" charset="-120"/>
              </a:rPr>
              <a:t>   • Standard CMOS suffers high short-circuit current during switching. GDI drastically cuts short-circuit power.
</a:t>
            </a:r>
            <a:r>
              <a:rPr lang="en-US" sz="1200" b="1" dirty="0">
                <a:solidFill>
                  <a:srgbClr val="0F172A"/>
                </a:solidFill>
                <a:latin typeface="Arial" pitchFamily="34" charset="0"/>
                <a:ea typeface="Arial" pitchFamily="34" charset="-122"/>
                <a:cs typeface="Arial" pitchFamily="34" charset="-120"/>
              </a:rPr>
              <a:t>2. Reduced Dynamic Switching Power:
</a:t>
            </a:r>
            <a:r>
              <a:rPr lang="en-US" sz="1200" dirty="0">
                <a:solidFill>
                  <a:srgbClr val="1E293B"/>
                </a:solidFill>
                <a:latin typeface="Arial" pitchFamily="34" charset="0"/>
                <a:ea typeface="Arial" pitchFamily="34" charset="-122"/>
                <a:cs typeface="Arial" pitchFamily="34" charset="-120"/>
              </a:rPr>
              <a:t>   • P_dynamic = α · C_L · VDD^2 · f
   • Drastic reduction in C_L (fewer gates &amp; interconnects).
</a:t>
            </a:r>
            <a:r>
              <a:rPr lang="en-US" sz="1200" b="1" dirty="0">
                <a:solidFill>
                  <a:srgbClr val="0F172A"/>
                </a:solidFill>
                <a:latin typeface="Arial" pitchFamily="34" charset="0"/>
                <a:ea typeface="Arial" pitchFamily="34" charset="-122"/>
                <a:cs typeface="Arial" pitchFamily="34" charset="-120"/>
              </a:rPr>
              <a:t>3. Power Dissipation Comparison:
</a:t>
            </a:r>
            <a:r>
              <a:rPr lang="en-US" sz="1200" dirty="0">
                <a:solidFill>
                  <a:srgbClr val="1E293B"/>
                </a:solidFill>
                <a:latin typeface="Arial" pitchFamily="34" charset="0"/>
                <a:ea typeface="Arial" pitchFamily="34" charset="-122"/>
                <a:cs typeface="Arial" pitchFamily="34" charset="-120"/>
              </a:rPr>
              <a:t>   • Static CMOS: 14.82 µW
   • Transmission Gate: 8.94 µW
   • Pass Transistor: 6.45 µW
</a:t>
            </a:r>
            <a:r>
              <a:rPr lang="en-US" sz="1300" b="1" dirty="0">
                <a:solidFill>
                  <a:srgbClr val="D97706"/>
                </a:solidFill>
                <a:latin typeface="Arial" pitchFamily="34" charset="0"/>
                <a:ea typeface="Arial" pitchFamily="34" charset="-122"/>
                <a:cs typeface="Arial" pitchFamily="34" charset="-120"/>
              </a:rPr>
              <a:t>   • Proposed 10T GDI: 2.15 µW (85.4% Power Reduction)</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Chapter 4: Power-Delay Product (PDP) Efficiency</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097280"/>
            <a:ext cx="5669280"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548640" y="1097280"/>
            <a:ext cx="5669280"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0" name="Shape 8"/>
          <p:cNvSpPr/>
          <p:nvPr/>
        </p:nvSpPr>
        <p:spPr>
          <a:xfrm>
            <a:off x="548640" y="1325880"/>
            <a:ext cx="5669280" cy="18288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731520" y="1170432"/>
            <a:ext cx="5303520"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PDP (Energy per Operation) Bar Chart</a:t>
            </a:r>
            <a:endParaRPr lang="en-US" sz="1300" dirty="0"/>
          </a:p>
        </p:txBody>
      </p:sp>
      <p:pic>
        <p:nvPicPr>
          <p:cNvPr id="12" name="Image 0" descr="C:\Users\shahrear\Downloads\LTSpice\Thesis\Thesis Book\Paper_04_PDP_Bar_Chart.png"/>
          <p:cNvPicPr>
            <a:picLocks noChangeAspect="1"/>
          </p:cNvPicPr>
          <p:nvPr/>
        </p:nvPicPr>
        <p:blipFill>
          <a:blip r:embed="rId3"/>
          <a:stretch>
            <a:fillRect/>
          </a:stretch>
        </p:blipFill>
        <p:spPr>
          <a:xfrm>
            <a:off x="731520" y="1645920"/>
            <a:ext cx="5303520" cy="4297680"/>
          </a:xfrm>
          <a:prstGeom prst="rect">
            <a:avLst/>
          </a:prstGeom>
        </p:spPr>
      </p:pic>
      <p:sp>
        <p:nvSpPr>
          <p:cNvPr id="13" name="Shape 10"/>
          <p:cNvSpPr/>
          <p:nvPr/>
        </p:nvSpPr>
        <p:spPr>
          <a:xfrm>
            <a:off x="6492240" y="1097280"/>
            <a:ext cx="5148072"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14" name="Shape 11"/>
          <p:cNvSpPr/>
          <p:nvPr/>
        </p:nvSpPr>
        <p:spPr>
          <a:xfrm>
            <a:off x="6492240" y="1097280"/>
            <a:ext cx="5148072"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5" name="Shape 12"/>
          <p:cNvSpPr/>
          <p:nvPr/>
        </p:nvSpPr>
        <p:spPr>
          <a:xfrm>
            <a:off x="6492240" y="1325880"/>
            <a:ext cx="5148072" cy="182880"/>
          </a:xfrm>
          <a:prstGeom prst="rect">
            <a:avLst/>
          </a:prstGeom>
          <a:solidFill>
            <a:srgbClr val="0F172A"/>
          </a:solidFill>
          <a:ln w="12700">
            <a:solidFill>
              <a:srgbClr val="0F172A"/>
            </a:solidFill>
            <a:prstDash val="solid"/>
          </a:ln>
        </p:spPr>
        <p:txBody>
          <a:bodyPr/>
          <a:lstStyle/>
          <a:p>
            <a:endParaRPr lang="en-US"/>
          </a:p>
        </p:txBody>
      </p:sp>
      <p:sp>
        <p:nvSpPr>
          <p:cNvPr id="16" name="Text 13"/>
          <p:cNvSpPr/>
          <p:nvPr/>
        </p:nvSpPr>
        <p:spPr>
          <a:xfrm>
            <a:off x="6675120" y="1170432"/>
            <a:ext cx="4782312"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Energy Efficiency Superiority</a:t>
            </a:r>
            <a:endParaRPr lang="en-US" sz="1300" dirty="0"/>
          </a:p>
        </p:txBody>
      </p:sp>
      <p:sp>
        <p:nvSpPr>
          <p:cNvPr id="17" name="Text 14"/>
          <p:cNvSpPr/>
          <p:nvPr/>
        </p:nvSpPr>
        <p:spPr>
          <a:xfrm>
            <a:off x="6675120" y="1645920"/>
            <a:ext cx="4782312" cy="4389120"/>
          </a:xfrm>
          <a:prstGeom prst="rect">
            <a:avLst/>
          </a:prstGeom>
          <a:noFill/>
          <a:ln/>
        </p:spPr>
        <p:txBody>
          <a:bodyPr wrap="square" rtlCol="0" anchor="ctr"/>
          <a:lstStyle/>
          <a:p>
            <a:pPr marL="0" indent="0">
              <a:lnSpc>
                <a:spcPts val="1800"/>
              </a:lnSpc>
              <a:buNone/>
            </a:pPr>
            <a:r>
              <a:rPr lang="en-US" sz="1400" b="1" dirty="0">
                <a:solidFill>
                  <a:srgbClr val="E11D48"/>
                </a:solidFill>
                <a:latin typeface="Arial" pitchFamily="34" charset="0"/>
                <a:ea typeface="Arial" pitchFamily="34" charset="-122"/>
                <a:cs typeface="Arial" pitchFamily="34" charset="-120"/>
              </a:rPr>
              <a:t>Power-Delay Product (PDP) Metric:
</a:t>
            </a:r>
            <a:r>
              <a:rPr lang="en-US" sz="1200" dirty="0">
                <a:solidFill>
                  <a:srgbClr val="1E293B"/>
                </a:solidFill>
                <a:latin typeface="Arial" pitchFamily="34" charset="0"/>
                <a:ea typeface="Arial" pitchFamily="34" charset="-122"/>
                <a:cs typeface="Arial" pitchFamily="34" charset="-120"/>
              </a:rPr>
              <a:t>• PDP represents the energy consumed per switching event (Joules).
• It is the ultimate figure-of-merit for portable low-power VLSI design.
</a:t>
            </a:r>
            <a:r>
              <a:rPr lang="en-US" sz="1200" b="1" dirty="0">
                <a:solidFill>
                  <a:srgbClr val="0F172A"/>
                </a:solidFill>
                <a:latin typeface="Arial" pitchFamily="34" charset="0"/>
                <a:ea typeface="Arial" pitchFamily="34" charset="-122"/>
                <a:cs typeface="Arial" pitchFamily="34" charset="-120"/>
              </a:rPr>
              <a:t>PDP Comparison Breakdown (at 45nm node):
</a:t>
            </a:r>
            <a:r>
              <a:rPr lang="en-US" sz="1200" dirty="0">
                <a:solidFill>
                  <a:srgbClr val="1E293B"/>
                </a:solidFill>
                <a:latin typeface="Arial" pitchFamily="34" charset="0"/>
                <a:ea typeface="Arial" pitchFamily="34" charset="-122"/>
                <a:cs typeface="Arial" pitchFamily="34" charset="-120"/>
              </a:rPr>
              <a:t>• Static CMOS (26T): 714.3 aJ  (Highest energy consumption)
• TG Comparator (16T): 281.6 aJ  (2.5× better than CMOS)
• PTL Comparator (12T): 179.3 aJ  (4.0× better than CMOS)
</a:t>
            </a:r>
            <a:r>
              <a:rPr lang="en-US" sz="1300" b="1" dirty="0">
                <a:solidFill>
                  <a:srgbClr val="E11D48"/>
                </a:solidFill>
                <a:latin typeface="Arial" pitchFamily="34" charset="0"/>
                <a:ea typeface="Arial" pitchFamily="34" charset="-122"/>
                <a:cs typeface="Arial" pitchFamily="34" charset="-120"/>
              </a:rPr>
              <a:t>• Proposed 10T GDI: 39.56 aJ  (18.05× better than CMOS!)
</a:t>
            </a:r>
            <a:r>
              <a:rPr lang="en-US" sz="1200" b="1" dirty="0">
                <a:solidFill>
                  <a:srgbClr val="0D9488"/>
                </a:solidFill>
                <a:latin typeface="Arial" pitchFamily="34" charset="0"/>
                <a:ea typeface="Arial" pitchFamily="34" charset="-122"/>
                <a:cs typeface="Arial" pitchFamily="34" charset="-120"/>
              </a:rPr>
              <a:t>Conclusion: The 10T GDI architecture achieves unprecedented energy efficiency for sub-micron digital signal processors.</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Chapter 4: Scalability Across 180nm, 90nm &amp; 45nm Nodes</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097280"/>
            <a:ext cx="11091672"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548640" y="1097280"/>
            <a:ext cx="11091672"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0" name="Shape 8"/>
          <p:cNvSpPr/>
          <p:nvPr/>
        </p:nvSpPr>
        <p:spPr>
          <a:xfrm>
            <a:off x="548640" y="1325880"/>
            <a:ext cx="11091672" cy="18288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731520" y="1170432"/>
            <a:ext cx="10725912"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Proposed 10T GDI Performance Across Technology Process Generations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2960" y="1645920"/>
          <a:ext cx="10543032" cy="1158240"/>
        </p:xfrm>
        <a:graphic>
          <a:graphicData uri="http://schemas.openxmlformats.org/drawingml/2006/table">
            <a:tbl>
              <a:tblPr/>
              <a:tblGrid>
                <a:gridCol w="1757172">
                  <a:extLst>
                    <a:ext uri="{9D8B030D-6E8A-4147-A177-3AD203B41FA5}">
                      <a16:colId xmlns:a16="http://schemas.microsoft.com/office/drawing/2014/main" val="20000"/>
                    </a:ext>
                  </a:extLst>
                </a:gridCol>
                <a:gridCol w="1757172">
                  <a:extLst>
                    <a:ext uri="{9D8B030D-6E8A-4147-A177-3AD203B41FA5}">
                      <a16:colId xmlns:a16="http://schemas.microsoft.com/office/drawing/2014/main" val="20001"/>
                    </a:ext>
                  </a:extLst>
                </a:gridCol>
                <a:gridCol w="1757172">
                  <a:extLst>
                    <a:ext uri="{9D8B030D-6E8A-4147-A177-3AD203B41FA5}">
                      <a16:colId xmlns:a16="http://schemas.microsoft.com/office/drawing/2014/main" val="20002"/>
                    </a:ext>
                  </a:extLst>
                </a:gridCol>
                <a:gridCol w="1757172">
                  <a:extLst>
                    <a:ext uri="{9D8B030D-6E8A-4147-A177-3AD203B41FA5}">
                      <a16:colId xmlns:a16="http://schemas.microsoft.com/office/drawing/2014/main" val="20003"/>
                    </a:ext>
                  </a:extLst>
                </a:gridCol>
                <a:gridCol w="1757172">
                  <a:extLst>
                    <a:ext uri="{9D8B030D-6E8A-4147-A177-3AD203B41FA5}">
                      <a16:colId xmlns:a16="http://schemas.microsoft.com/office/drawing/2014/main" val="20004"/>
                    </a:ext>
                  </a:extLst>
                </a:gridCol>
                <a:gridCol w="1757172">
                  <a:extLst>
                    <a:ext uri="{9D8B030D-6E8A-4147-A177-3AD203B41FA5}">
                      <a16:colId xmlns:a16="http://schemas.microsoft.com/office/drawing/2014/main" val="20005"/>
                    </a:ext>
                  </a:extLst>
                </a:gridCol>
              </a:tblGrid>
              <a:tr h="0">
                <a:tc>
                  <a:txBody>
                    <a:bodyPr/>
                    <a:lstStyle/>
                    <a:p>
                      <a:pPr marL="0" indent="0" algn="ctr">
                        <a:buNone/>
                      </a:pPr>
                      <a:r>
                        <a:rPr lang="en-US" sz="1300" b="1" dirty="0">
                          <a:solidFill>
                            <a:srgbClr val="FFFFFF"/>
                          </a:solidFill>
                        </a:rPr>
                        <a:t>Technology Node</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300" b="1" dirty="0">
                          <a:solidFill>
                            <a:srgbClr val="FFFFFF"/>
                          </a:solidFill>
                        </a:rPr>
                        <a:t>VDD [V]</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300" b="1" dirty="0">
                          <a:solidFill>
                            <a:srgbClr val="FFFFFF"/>
                          </a:solidFill>
                        </a:rPr>
                        <a:t>Freq [MHz]</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300" b="1" dirty="0">
                          <a:solidFill>
                            <a:srgbClr val="FFFFFF"/>
                          </a:solidFill>
                        </a:rPr>
                        <a:t>Delay (t_pd) [ps]</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300" b="1" dirty="0">
                          <a:solidFill>
                            <a:srgbClr val="FFFFFF"/>
                          </a:solidFill>
                        </a:rPr>
                        <a:t>Power (P_avg) [µW]</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300" b="1" dirty="0">
                          <a:solidFill>
                            <a:srgbClr val="FFFFFF"/>
                          </a:solidFill>
                        </a:rPr>
                        <a:t>PDP [aJ]</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0">
                <a:tc>
                  <a:txBody>
                    <a:bodyPr/>
                    <a:lstStyle/>
                    <a:p>
                      <a:pPr marL="0" indent="0" algn="ctr">
                        <a:buNone/>
                      </a:pPr>
                      <a:r>
                        <a:rPr lang="en-US" sz="1300" dirty="0">
                          <a:solidFill>
                            <a:srgbClr val="000000"/>
                          </a:solidFill>
                        </a:rPr>
                        <a:t>180nm PTM</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300" dirty="0">
                          <a:solidFill>
                            <a:srgbClr val="000000"/>
                          </a:solidFill>
                        </a:rPr>
                        <a:t>1.8 V</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300" dirty="0">
                          <a:solidFill>
                            <a:srgbClr val="000000"/>
                          </a:solidFill>
                        </a:rPr>
                        <a:t>100 MHz</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300" dirty="0">
                          <a:solidFill>
                            <a:srgbClr val="000000"/>
                          </a:solidFill>
                        </a:rPr>
                        <a:t>85.2 ps</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300" dirty="0">
                          <a:solidFill>
                            <a:srgbClr val="000000"/>
                          </a:solidFill>
                        </a:rPr>
                        <a:t>12.45 µW</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300" dirty="0">
                          <a:solidFill>
                            <a:srgbClr val="000000"/>
                          </a:solidFill>
                        </a:rPr>
                        <a:t>1060.7 aJ</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ctr">
                        <a:buNone/>
                      </a:pPr>
                      <a:r>
                        <a:rPr lang="en-US" sz="1300" dirty="0">
                          <a:solidFill>
                            <a:srgbClr val="000000"/>
                          </a:solidFill>
                        </a:rPr>
                        <a:t>90nm PTM</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300" dirty="0">
                          <a:solidFill>
                            <a:srgbClr val="000000"/>
                          </a:solidFill>
                        </a:rPr>
                        <a:t>1.2 V</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300" dirty="0">
                          <a:solidFill>
                            <a:srgbClr val="000000"/>
                          </a:solidFill>
                        </a:rPr>
                        <a:t>500 MHz</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300" dirty="0">
                          <a:solidFill>
                            <a:srgbClr val="000000"/>
                          </a:solidFill>
                        </a:rPr>
                        <a:t>38.6 ps</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300" dirty="0">
                          <a:solidFill>
                            <a:srgbClr val="000000"/>
                          </a:solidFill>
                        </a:rPr>
                        <a:t>5.12 µW</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300" dirty="0">
                          <a:solidFill>
                            <a:srgbClr val="000000"/>
                          </a:solidFill>
                        </a:rPr>
                        <a:t>197.6 aJ</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ctr">
                        <a:buNone/>
                      </a:pPr>
                      <a:r>
                        <a:rPr lang="en-US" sz="1300" b="1" dirty="0">
                          <a:solidFill>
                            <a:srgbClr val="0D9488"/>
                          </a:solidFill>
                        </a:rPr>
                        <a:t>45nm PTM</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300" b="1" dirty="0">
                          <a:solidFill>
                            <a:srgbClr val="0D9488"/>
                          </a:solidFill>
                        </a:rPr>
                        <a:t>1.0 V</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300" b="1" dirty="0">
                          <a:solidFill>
                            <a:srgbClr val="0D9488"/>
                          </a:solidFill>
                        </a:rPr>
                        <a:t>1000 MHz</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300" b="1" dirty="0">
                          <a:solidFill>
                            <a:srgbClr val="0D9488"/>
                          </a:solidFill>
                        </a:rPr>
                        <a:t>18.4 ps</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300" b="1" dirty="0">
                          <a:solidFill>
                            <a:srgbClr val="0D9488"/>
                          </a:solidFill>
                        </a:rPr>
                        <a:t>2.15 µW</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DFA"/>
                    </a:solidFill>
                  </a:tcPr>
                </a:tc>
                <a:tc>
                  <a:txBody>
                    <a:bodyPr/>
                    <a:lstStyle/>
                    <a:p>
                      <a:pPr marL="0" indent="0" algn="ctr">
                        <a:buNone/>
                      </a:pPr>
                      <a:r>
                        <a:rPr lang="en-US" sz="1300" b="1" dirty="0">
                          <a:solidFill>
                            <a:srgbClr val="0D9488"/>
                          </a:solidFill>
                        </a:rPr>
                        <a:t>39.56 aJ</a:t>
                      </a:r>
                      <a:endParaRPr lang="en-US" sz="13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DFA"/>
                    </a:solidFill>
                  </a:tcPr>
                </a:tc>
                <a:extLst>
                  <a:ext uri="{0D108BD9-81ED-4DB2-BD59-A6C34878D82A}">
                    <a16:rowId xmlns:a16="http://schemas.microsoft.com/office/drawing/2014/main" val="10003"/>
                  </a:ext>
                </a:extLst>
              </a:tr>
            </a:tbl>
          </a:graphicData>
        </a:graphic>
      </p:graphicFrame>
      <p:sp>
        <p:nvSpPr>
          <p:cNvPr id="13" name="Text 10"/>
          <p:cNvSpPr/>
          <p:nvPr/>
        </p:nvSpPr>
        <p:spPr>
          <a:xfrm>
            <a:off x="822960" y="4023360"/>
            <a:ext cx="10543032" cy="2011680"/>
          </a:xfrm>
          <a:prstGeom prst="rect">
            <a:avLst/>
          </a:prstGeom>
          <a:noFill/>
          <a:ln/>
        </p:spPr>
        <p:txBody>
          <a:bodyPr wrap="square" rtlCol="0" anchor="ctr"/>
          <a:lstStyle/>
          <a:p>
            <a:pPr marL="0" indent="0">
              <a:lnSpc>
                <a:spcPts val="2200"/>
              </a:lnSpc>
              <a:buNone/>
            </a:pPr>
            <a:r>
              <a:rPr lang="en-US" sz="1200" dirty="0">
                <a:solidFill>
                  <a:srgbClr val="1E293B"/>
                </a:solidFill>
                <a:latin typeface="Arial" pitchFamily="34" charset="0"/>
                <a:ea typeface="Arial" pitchFamily="34" charset="-122"/>
                <a:cs typeface="Arial" pitchFamily="34" charset="-120"/>
              </a:rPr>
              <a:t>Scaling Observations:</a:t>
            </a:r>
            <a:endParaRPr lang="en-US" sz="1200" dirty="0"/>
          </a:p>
          <a:p>
            <a:pPr marL="0" indent="0">
              <a:lnSpc>
                <a:spcPts val="2200"/>
              </a:lnSpc>
              <a:buNone/>
            </a:pPr>
            <a:r>
              <a:rPr lang="en-US" sz="1200" dirty="0">
                <a:solidFill>
                  <a:srgbClr val="1E293B"/>
                </a:solidFill>
                <a:latin typeface="Arial" pitchFamily="34" charset="0"/>
                <a:ea typeface="Arial" pitchFamily="34" charset="-122"/>
                <a:cs typeface="Arial" pitchFamily="34" charset="-120"/>
              </a:rPr>
              <a:t>1. Delay scales down by 4.6× from 180nm (85.2 ps) to 45nm (18.4 ps) due to channel length reduction.</a:t>
            </a:r>
            <a:endParaRPr lang="en-US" sz="1200" dirty="0"/>
          </a:p>
          <a:p>
            <a:pPr marL="0" indent="0">
              <a:lnSpc>
                <a:spcPts val="2200"/>
              </a:lnSpc>
              <a:buNone/>
            </a:pPr>
            <a:r>
              <a:rPr lang="en-US" sz="1200" dirty="0">
                <a:solidFill>
                  <a:srgbClr val="1E293B"/>
                </a:solidFill>
                <a:latin typeface="Arial" pitchFamily="34" charset="0"/>
                <a:ea typeface="Arial" pitchFamily="34" charset="-122"/>
                <a:cs typeface="Arial" pitchFamily="34" charset="-120"/>
              </a:rPr>
              <a:t>2. Power consumption scales down by 5.8× (12.45 µW to 2.15 µW) driven by VDD reduction from 1.8V to 1.0V.</a:t>
            </a:r>
            <a:endParaRPr lang="en-US" sz="1200" dirty="0"/>
          </a:p>
          <a:p>
            <a:pPr marL="0" indent="0">
              <a:lnSpc>
                <a:spcPts val="2200"/>
              </a:lnSpc>
              <a:buNone/>
            </a:pPr>
            <a:r>
              <a:rPr lang="en-US" sz="1200" dirty="0">
                <a:solidFill>
                  <a:srgbClr val="1E293B"/>
                </a:solidFill>
                <a:latin typeface="Arial" pitchFamily="34" charset="0"/>
                <a:ea typeface="Arial" pitchFamily="34" charset="-122"/>
                <a:cs typeface="Arial" pitchFamily="34" charset="-120"/>
              </a:rPr>
              <a:t>3. Overall energy per operation (PDP) improves by 26.8× across nodes, proving excellent scalability for modern deep submicron SOCs.</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Chapter 5: Conclusions &amp; Major Thesis Contributions</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188720"/>
            <a:ext cx="5394960" cy="2286000"/>
          </a:xfrm>
          <a:prstGeom prst="roundRect">
            <a:avLst>
              <a:gd name="adj" fmla="val 3200"/>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548640" y="1188720"/>
            <a:ext cx="5394960"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0" name="Shape 8"/>
          <p:cNvSpPr/>
          <p:nvPr/>
        </p:nvSpPr>
        <p:spPr>
          <a:xfrm>
            <a:off x="548640" y="1417320"/>
            <a:ext cx="5394960" cy="18288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731520" y="1261872"/>
            <a:ext cx="5029200"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Ultra-Compact 10T Architecture</a:t>
            </a:r>
            <a:endParaRPr lang="en-US" sz="1300" dirty="0"/>
          </a:p>
        </p:txBody>
      </p:sp>
      <p:sp>
        <p:nvSpPr>
          <p:cNvPr id="12" name="Shape 10"/>
          <p:cNvSpPr/>
          <p:nvPr/>
        </p:nvSpPr>
        <p:spPr>
          <a:xfrm>
            <a:off x="548640" y="1600200"/>
            <a:ext cx="91440" cy="1874520"/>
          </a:xfrm>
          <a:prstGeom prst="rect">
            <a:avLst/>
          </a:prstGeom>
          <a:solidFill>
            <a:srgbClr val="0F172A"/>
          </a:solidFill>
          <a:ln/>
        </p:spPr>
        <p:txBody>
          <a:bodyPr/>
          <a:lstStyle/>
          <a:p>
            <a:endParaRPr lang="en-US"/>
          </a:p>
        </p:txBody>
      </p:sp>
      <p:sp>
        <p:nvSpPr>
          <p:cNvPr id="13" name="Text 11"/>
          <p:cNvSpPr/>
          <p:nvPr/>
        </p:nvSpPr>
        <p:spPr>
          <a:xfrm>
            <a:off x="822960" y="1828800"/>
            <a:ext cx="4937760" cy="1463040"/>
          </a:xfrm>
          <a:prstGeom prst="rect">
            <a:avLst/>
          </a:prstGeom>
          <a:noFill/>
          <a:ln/>
        </p:spPr>
        <p:txBody>
          <a:bodyPr wrap="square" rtlCol="0" anchor="ctr"/>
          <a:lstStyle/>
          <a:p>
            <a:pPr marL="0" indent="0">
              <a:lnSpc>
                <a:spcPts val="2000"/>
              </a:lnSpc>
              <a:buNone/>
            </a:pPr>
            <a:r>
              <a:rPr lang="en-US" sz="1300" dirty="0">
                <a:solidFill>
                  <a:srgbClr val="1E293B"/>
                </a:solidFill>
                <a:latin typeface="Arial" pitchFamily="34" charset="0"/>
                <a:ea typeface="Arial" pitchFamily="34" charset="-122"/>
                <a:cs typeface="Arial" pitchFamily="34" charset="-120"/>
              </a:rPr>
              <a:t>Successfully reduced 1-bit comparator transistor count to 10 Transistors—achieving a 61.5% area reduction over 26T CMOS.</a:t>
            </a:r>
            <a:endParaRPr lang="en-US" sz="1300" dirty="0"/>
          </a:p>
        </p:txBody>
      </p:sp>
      <p:sp>
        <p:nvSpPr>
          <p:cNvPr id="14" name="Shape 12"/>
          <p:cNvSpPr/>
          <p:nvPr/>
        </p:nvSpPr>
        <p:spPr>
          <a:xfrm>
            <a:off x="6217920" y="1188720"/>
            <a:ext cx="5394960" cy="2286000"/>
          </a:xfrm>
          <a:prstGeom prst="roundRect">
            <a:avLst>
              <a:gd name="adj" fmla="val 3200"/>
            </a:avLst>
          </a:prstGeom>
          <a:solidFill>
            <a:srgbClr val="FFFFFF"/>
          </a:solidFill>
          <a:ln w="12700">
            <a:solidFill>
              <a:srgbClr val="E2E8F0"/>
            </a:solidFill>
            <a:prstDash val="solid"/>
          </a:ln>
        </p:spPr>
        <p:txBody>
          <a:bodyPr/>
          <a:lstStyle/>
          <a:p>
            <a:endParaRPr lang="en-US"/>
          </a:p>
        </p:txBody>
      </p:sp>
      <p:sp>
        <p:nvSpPr>
          <p:cNvPr id="15" name="Shape 13"/>
          <p:cNvSpPr/>
          <p:nvPr/>
        </p:nvSpPr>
        <p:spPr>
          <a:xfrm>
            <a:off x="6217920" y="1188720"/>
            <a:ext cx="5394960"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6" name="Shape 14"/>
          <p:cNvSpPr/>
          <p:nvPr/>
        </p:nvSpPr>
        <p:spPr>
          <a:xfrm>
            <a:off x="6217920" y="1417320"/>
            <a:ext cx="5394960" cy="182880"/>
          </a:xfrm>
          <a:prstGeom prst="rect">
            <a:avLst/>
          </a:prstGeom>
          <a:solidFill>
            <a:srgbClr val="0F172A"/>
          </a:solidFill>
          <a:ln w="12700">
            <a:solidFill>
              <a:srgbClr val="0F172A"/>
            </a:solidFill>
            <a:prstDash val="solid"/>
          </a:ln>
        </p:spPr>
        <p:txBody>
          <a:bodyPr/>
          <a:lstStyle/>
          <a:p>
            <a:endParaRPr lang="en-US"/>
          </a:p>
        </p:txBody>
      </p:sp>
      <p:sp>
        <p:nvSpPr>
          <p:cNvPr id="17" name="Text 15"/>
          <p:cNvSpPr/>
          <p:nvPr/>
        </p:nvSpPr>
        <p:spPr>
          <a:xfrm>
            <a:off x="6400800" y="1261872"/>
            <a:ext cx="5029200"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85.4% Power Reduction</a:t>
            </a:r>
            <a:endParaRPr lang="en-US" sz="1300" dirty="0"/>
          </a:p>
        </p:txBody>
      </p:sp>
      <p:sp>
        <p:nvSpPr>
          <p:cNvPr id="18" name="Shape 16"/>
          <p:cNvSpPr/>
          <p:nvPr/>
        </p:nvSpPr>
        <p:spPr>
          <a:xfrm>
            <a:off x="6217920" y="1600200"/>
            <a:ext cx="91440" cy="1874520"/>
          </a:xfrm>
          <a:prstGeom prst="rect">
            <a:avLst/>
          </a:prstGeom>
          <a:solidFill>
            <a:srgbClr val="D97706"/>
          </a:solidFill>
          <a:ln/>
        </p:spPr>
        <p:txBody>
          <a:bodyPr/>
          <a:lstStyle/>
          <a:p>
            <a:endParaRPr lang="en-US"/>
          </a:p>
        </p:txBody>
      </p:sp>
      <p:sp>
        <p:nvSpPr>
          <p:cNvPr id="19" name="Text 17"/>
          <p:cNvSpPr/>
          <p:nvPr/>
        </p:nvSpPr>
        <p:spPr>
          <a:xfrm>
            <a:off x="6492240" y="1828800"/>
            <a:ext cx="4937760" cy="1463040"/>
          </a:xfrm>
          <a:prstGeom prst="rect">
            <a:avLst/>
          </a:prstGeom>
          <a:noFill/>
          <a:ln/>
        </p:spPr>
        <p:txBody>
          <a:bodyPr wrap="square" rtlCol="0" anchor="ctr"/>
          <a:lstStyle/>
          <a:p>
            <a:pPr marL="0" indent="0">
              <a:lnSpc>
                <a:spcPts val="2000"/>
              </a:lnSpc>
              <a:buNone/>
            </a:pPr>
            <a:r>
              <a:rPr lang="en-US" sz="1300" dirty="0">
                <a:solidFill>
                  <a:srgbClr val="1E293B"/>
                </a:solidFill>
                <a:latin typeface="Arial" pitchFamily="34" charset="0"/>
                <a:ea typeface="Arial" pitchFamily="34" charset="-122"/>
                <a:cs typeface="Arial" pitchFamily="34" charset="-120"/>
              </a:rPr>
              <a:t>Lowered power consumption down to 2.15 µW at 45nm, eliminating unnecessary internal switching nodes and short-circuit current.</a:t>
            </a:r>
            <a:endParaRPr lang="en-US" sz="1300" dirty="0"/>
          </a:p>
        </p:txBody>
      </p:sp>
      <p:sp>
        <p:nvSpPr>
          <p:cNvPr id="20" name="Shape 18"/>
          <p:cNvSpPr/>
          <p:nvPr/>
        </p:nvSpPr>
        <p:spPr>
          <a:xfrm>
            <a:off x="548640" y="3749040"/>
            <a:ext cx="5394960" cy="2286000"/>
          </a:xfrm>
          <a:prstGeom prst="roundRect">
            <a:avLst>
              <a:gd name="adj" fmla="val 3200"/>
            </a:avLst>
          </a:prstGeom>
          <a:solidFill>
            <a:srgbClr val="FFFFFF"/>
          </a:solidFill>
          <a:ln w="12700">
            <a:solidFill>
              <a:srgbClr val="E2E8F0"/>
            </a:solidFill>
            <a:prstDash val="solid"/>
          </a:ln>
        </p:spPr>
        <p:txBody>
          <a:bodyPr/>
          <a:lstStyle/>
          <a:p>
            <a:endParaRPr lang="en-US"/>
          </a:p>
        </p:txBody>
      </p:sp>
      <p:sp>
        <p:nvSpPr>
          <p:cNvPr id="21" name="Shape 19"/>
          <p:cNvSpPr/>
          <p:nvPr/>
        </p:nvSpPr>
        <p:spPr>
          <a:xfrm>
            <a:off x="548640" y="3749040"/>
            <a:ext cx="5394960"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22" name="Shape 20"/>
          <p:cNvSpPr/>
          <p:nvPr/>
        </p:nvSpPr>
        <p:spPr>
          <a:xfrm>
            <a:off x="548640" y="3977640"/>
            <a:ext cx="5394960" cy="182880"/>
          </a:xfrm>
          <a:prstGeom prst="rect">
            <a:avLst/>
          </a:prstGeom>
          <a:solidFill>
            <a:srgbClr val="0F172A"/>
          </a:solidFill>
          <a:ln w="12700">
            <a:solidFill>
              <a:srgbClr val="0F172A"/>
            </a:solidFill>
            <a:prstDash val="solid"/>
          </a:ln>
        </p:spPr>
        <p:txBody>
          <a:bodyPr/>
          <a:lstStyle/>
          <a:p>
            <a:endParaRPr lang="en-US"/>
          </a:p>
        </p:txBody>
      </p:sp>
      <p:sp>
        <p:nvSpPr>
          <p:cNvPr id="23" name="Text 21"/>
          <p:cNvSpPr/>
          <p:nvPr/>
        </p:nvSpPr>
        <p:spPr>
          <a:xfrm>
            <a:off x="731520" y="3822192"/>
            <a:ext cx="5029200"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18.4 ps High-Speed Latency</a:t>
            </a:r>
            <a:endParaRPr lang="en-US" sz="1300" dirty="0"/>
          </a:p>
        </p:txBody>
      </p:sp>
      <p:sp>
        <p:nvSpPr>
          <p:cNvPr id="24" name="Shape 22"/>
          <p:cNvSpPr/>
          <p:nvPr/>
        </p:nvSpPr>
        <p:spPr>
          <a:xfrm>
            <a:off x="548640" y="4160520"/>
            <a:ext cx="91440" cy="1874520"/>
          </a:xfrm>
          <a:prstGeom prst="rect">
            <a:avLst/>
          </a:prstGeom>
          <a:solidFill>
            <a:srgbClr val="0D9488"/>
          </a:solidFill>
          <a:ln/>
        </p:spPr>
        <p:txBody>
          <a:bodyPr/>
          <a:lstStyle/>
          <a:p>
            <a:endParaRPr lang="en-US"/>
          </a:p>
        </p:txBody>
      </p:sp>
      <p:sp>
        <p:nvSpPr>
          <p:cNvPr id="25" name="Text 23"/>
          <p:cNvSpPr/>
          <p:nvPr/>
        </p:nvSpPr>
        <p:spPr>
          <a:xfrm>
            <a:off x="822960" y="4389120"/>
            <a:ext cx="4937760" cy="1463040"/>
          </a:xfrm>
          <a:prstGeom prst="rect">
            <a:avLst/>
          </a:prstGeom>
          <a:noFill/>
          <a:ln/>
        </p:spPr>
        <p:txBody>
          <a:bodyPr wrap="square" rtlCol="0" anchor="ctr"/>
          <a:lstStyle/>
          <a:p>
            <a:pPr marL="0" indent="0">
              <a:lnSpc>
                <a:spcPts val="2000"/>
              </a:lnSpc>
              <a:buNone/>
            </a:pPr>
            <a:r>
              <a:rPr lang="en-US" sz="1300" dirty="0">
                <a:solidFill>
                  <a:srgbClr val="1E293B"/>
                </a:solidFill>
                <a:latin typeface="Arial" pitchFamily="34" charset="0"/>
                <a:ea typeface="Arial" pitchFamily="34" charset="-122"/>
                <a:cs typeface="Arial" pitchFamily="34" charset="-120"/>
              </a:rPr>
              <a:t>Demonstrated 61.8% faster propagation delay compared to static CMOS due to direct GDI diffusion logic paths.</a:t>
            </a:r>
            <a:endParaRPr lang="en-US" sz="1300" dirty="0"/>
          </a:p>
        </p:txBody>
      </p:sp>
      <p:sp>
        <p:nvSpPr>
          <p:cNvPr id="26" name="Shape 24"/>
          <p:cNvSpPr/>
          <p:nvPr/>
        </p:nvSpPr>
        <p:spPr>
          <a:xfrm>
            <a:off x="6217920" y="3749040"/>
            <a:ext cx="5394960" cy="2286000"/>
          </a:xfrm>
          <a:prstGeom prst="roundRect">
            <a:avLst>
              <a:gd name="adj" fmla="val 3200"/>
            </a:avLst>
          </a:prstGeom>
          <a:solidFill>
            <a:srgbClr val="FFFFFF"/>
          </a:solidFill>
          <a:ln w="12700">
            <a:solidFill>
              <a:srgbClr val="E2E8F0"/>
            </a:solidFill>
            <a:prstDash val="solid"/>
          </a:ln>
        </p:spPr>
        <p:txBody>
          <a:bodyPr/>
          <a:lstStyle/>
          <a:p>
            <a:endParaRPr lang="en-US"/>
          </a:p>
        </p:txBody>
      </p:sp>
      <p:sp>
        <p:nvSpPr>
          <p:cNvPr id="27" name="Shape 25"/>
          <p:cNvSpPr/>
          <p:nvPr/>
        </p:nvSpPr>
        <p:spPr>
          <a:xfrm>
            <a:off x="6217920" y="3749040"/>
            <a:ext cx="5394960"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28" name="Shape 26"/>
          <p:cNvSpPr/>
          <p:nvPr/>
        </p:nvSpPr>
        <p:spPr>
          <a:xfrm>
            <a:off x="6217920" y="3977640"/>
            <a:ext cx="5394960" cy="182880"/>
          </a:xfrm>
          <a:prstGeom prst="rect">
            <a:avLst/>
          </a:prstGeom>
          <a:solidFill>
            <a:srgbClr val="0F172A"/>
          </a:solidFill>
          <a:ln w="12700">
            <a:solidFill>
              <a:srgbClr val="0F172A"/>
            </a:solidFill>
            <a:prstDash val="solid"/>
          </a:ln>
        </p:spPr>
        <p:txBody>
          <a:bodyPr/>
          <a:lstStyle/>
          <a:p>
            <a:endParaRPr lang="en-US"/>
          </a:p>
        </p:txBody>
      </p:sp>
      <p:sp>
        <p:nvSpPr>
          <p:cNvPr id="29" name="Text 27"/>
          <p:cNvSpPr/>
          <p:nvPr/>
        </p:nvSpPr>
        <p:spPr>
          <a:xfrm>
            <a:off x="6400800" y="3822192"/>
            <a:ext cx="5029200"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18× Energy Efficiency Boost</a:t>
            </a:r>
            <a:endParaRPr lang="en-US" sz="1300" dirty="0"/>
          </a:p>
        </p:txBody>
      </p:sp>
      <p:sp>
        <p:nvSpPr>
          <p:cNvPr id="30" name="Shape 28"/>
          <p:cNvSpPr/>
          <p:nvPr/>
        </p:nvSpPr>
        <p:spPr>
          <a:xfrm>
            <a:off x="6217920" y="4160520"/>
            <a:ext cx="91440" cy="1874520"/>
          </a:xfrm>
          <a:prstGeom prst="rect">
            <a:avLst/>
          </a:prstGeom>
          <a:solidFill>
            <a:srgbClr val="E11D48"/>
          </a:solidFill>
          <a:ln/>
        </p:spPr>
        <p:txBody>
          <a:bodyPr/>
          <a:lstStyle/>
          <a:p>
            <a:endParaRPr lang="en-US"/>
          </a:p>
        </p:txBody>
      </p:sp>
      <p:sp>
        <p:nvSpPr>
          <p:cNvPr id="31" name="Text 29"/>
          <p:cNvSpPr/>
          <p:nvPr/>
        </p:nvSpPr>
        <p:spPr>
          <a:xfrm>
            <a:off x="6492240" y="4389120"/>
            <a:ext cx="4937760" cy="1463040"/>
          </a:xfrm>
          <a:prstGeom prst="rect">
            <a:avLst/>
          </a:prstGeom>
          <a:noFill/>
          <a:ln/>
        </p:spPr>
        <p:txBody>
          <a:bodyPr wrap="square" rtlCol="0" anchor="ctr"/>
          <a:lstStyle/>
          <a:p>
            <a:pPr marL="0" indent="0">
              <a:lnSpc>
                <a:spcPts val="2000"/>
              </a:lnSpc>
              <a:buNone/>
            </a:pPr>
            <a:r>
              <a:rPr lang="en-US" sz="1300" dirty="0">
                <a:solidFill>
                  <a:srgbClr val="1E293B"/>
                </a:solidFill>
                <a:latin typeface="Arial" pitchFamily="34" charset="0"/>
                <a:ea typeface="Arial" pitchFamily="34" charset="-122"/>
                <a:cs typeface="Arial" pitchFamily="34" charset="-120"/>
              </a:rPr>
              <a:t>Achieved an ultra-low PDP of 39.56 aJ at 45nm PTM node, setting a new benchmark for low-power arithmetic cells.</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548640" y="109728"/>
            <a:ext cx="4572000" cy="228600"/>
          </a:xfrm>
          <a:prstGeom prst="rect">
            <a:avLst/>
          </a:prstGeom>
          <a:noFill/>
          <a:ln/>
        </p:spPr>
        <p:txBody>
          <a:bodyPr wrap="square" rtlCol="0" anchor="ctr"/>
          <a:lstStyle/>
          <a:p>
            <a:pPr marL="0" indent="0">
              <a:buNone/>
            </a:pPr>
            <a:r>
              <a:rPr lang="en-US" sz="1000" b="1" dirty="0">
                <a:solidFill>
                  <a:srgbClr val="0D9488"/>
                </a:solidFill>
                <a:latin typeface="Arial" pitchFamily="34" charset="0"/>
                <a:ea typeface="Arial" pitchFamily="34" charset="-122"/>
                <a:cs typeface="Arial" pitchFamily="34" charset="-120"/>
              </a:rPr>
              <a:t>B.SC. THESIS DEFENSE</a:t>
            </a:r>
            <a:endParaRPr lang="en-US" sz="1000" dirty="0"/>
          </a:p>
        </p:txBody>
      </p:sp>
      <p:sp>
        <p:nvSpPr>
          <p:cNvPr id="4" name="Text 2"/>
          <p:cNvSpPr/>
          <p:nvPr/>
        </p:nvSpPr>
        <p:spPr>
          <a:xfrm>
            <a:off x="548640" y="320040"/>
            <a:ext cx="9601200" cy="41148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Chapter 5: Future Research Directions &amp; Applications</a:t>
            </a:r>
            <a:endParaRPr lang="en-US" sz="2000" dirty="0"/>
          </a:p>
        </p:txBody>
      </p:sp>
      <p:sp>
        <p:nvSpPr>
          <p:cNvPr id="5" name="Shape 3"/>
          <p:cNvSpPr/>
          <p:nvPr/>
        </p:nvSpPr>
        <p:spPr>
          <a:xfrm>
            <a:off x="0" y="804672"/>
            <a:ext cx="12188952" cy="36576"/>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0" y="6492240"/>
            <a:ext cx="12188952" cy="365760"/>
          </a:xfrm>
          <a:prstGeom prst="rect">
            <a:avLst/>
          </a:prstGeom>
          <a:solidFill>
            <a:srgbClr val="F1F5F9"/>
          </a:solidFill>
          <a:ln w="12700">
            <a:solidFill>
              <a:srgbClr val="E2E8F0"/>
            </a:solidFill>
            <a:prstDash val="solid"/>
          </a:ln>
        </p:spPr>
        <p:txBody>
          <a:bodyPr/>
          <a:lstStyle/>
          <a:p>
            <a:endParaRPr lang="en-US"/>
          </a:p>
        </p:txBody>
      </p:sp>
      <p:sp>
        <p:nvSpPr>
          <p:cNvPr id="7" name="Text 5"/>
          <p:cNvSpPr/>
          <p:nvPr/>
        </p:nvSpPr>
        <p:spPr>
          <a:xfrm>
            <a:off x="548640" y="6537960"/>
            <a:ext cx="82296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Shahrear Hossain | 10T GDI 1-Bit Magnitude Comparator | Department of EEE, IIUC</a:t>
            </a:r>
            <a:endParaRPr lang="en-US" sz="1000" dirty="0"/>
          </a:p>
        </p:txBody>
      </p:sp>
      <p:sp>
        <p:nvSpPr>
          <p:cNvPr id="8" name="Shape 6"/>
          <p:cNvSpPr/>
          <p:nvPr/>
        </p:nvSpPr>
        <p:spPr>
          <a:xfrm>
            <a:off x="548640" y="1097280"/>
            <a:ext cx="5303520"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9" name="Shape 7"/>
          <p:cNvSpPr/>
          <p:nvPr/>
        </p:nvSpPr>
        <p:spPr>
          <a:xfrm>
            <a:off x="548640" y="1097280"/>
            <a:ext cx="5303520"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0" name="Shape 8"/>
          <p:cNvSpPr/>
          <p:nvPr/>
        </p:nvSpPr>
        <p:spPr>
          <a:xfrm>
            <a:off x="548640" y="1325880"/>
            <a:ext cx="5303520" cy="182880"/>
          </a:xfrm>
          <a:prstGeom prst="rect">
            <a:avLst/>
          </a:prstGeom>
          <a:solidFill>
            <a:srgbClr val="0F172A"/>
          </a:solidFill>
          <a:ln w="12700">
            <a:solidFill>
              <a:srgbClr val="0F172A"/>
            </a:solidFill>
            <a:prstDash val="solid"/>
          </a:ln>
        </p:spPr>
        <p:txBody>
          <a:bodyPr/>
          <a:lstStyle/>
          <a:p>
            <a:endParaRPr lang="en-US"/>
          </a:p>
        </p:txBody>
      </p:sp>
      <p:sp>
        <p:nvSpPr>
          <p:cNvPr id="11" name="Text 9"/>
          <p:cNvSpPr/>
          <p:nvPr/>
        </p:nvSpPr>
        <p:spPr>
          <a:xfrm>
            <a:off x="731520" y="1170432"/>
            <a:ext cx="4937760"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N-Bit Magnitude Comparator Scaling</a:t>
            </a:r>
            <a:endParaRPr lang="en-US" sz="1300" dirty="0"/>
          </a:p>
        </p:txBody>
      </p:sp>
      <p:sp>
        <p:nvSpPr>
          <p:cNvPr id="12" name="Text 10"/>
          <p:cNvSpPr/>
          <p:nvPr/>
        </p:nvSpPr>
        <p:spPr>
          <a:xfrm>
            <a:off x="731520" y="1645920"/>
            <a:ext cx="4937760" cy="4389120"/>
          </a:xfrm>
          <a:prstGeom prst="rect">
            <a:avLst/>
          </a:prstGeom>
          <a:noFill/>
          <a:ln/>
        </p:spPr>
        <p:txBody>
          <a:bodyPr wrap="square" rtlCol="0" anchor="ctr"/>
          <a:lstStyle/>
          <a:p>
            <a:pPr marL="0" indent="0">
              <a:lnSpc>
                <a:spcPts val="2000"/>
              </a:lnSpc>
              <a:buNone/>
            </a:pPr>
            <a:r>
              <a:rPr lang="en-US" sz="1300" b="1" dirty="0">
                <a:solidFill>
                  <a:srgbClr val="0D9488"/>
                </a:solidFill>
                <a:latin typeface="Arial" pitchFamily="34" charset="0"/>
                <a:ea typeface="Arial" pitchFamily="34" charset="-122"/>
                <a:cs typeface="Arial" pitchFamily="34" charset="-120"/>
              </a:rPr>
              <a:t>1. Multi-Bit Expansion (4-bit, 8-bit, 32-bit):
</a:t>
            </a:r>
            <a:r>
              <a:rPr lang="en-US" sz="1200" dirty="0">
                <a:solidFill>
                  <a:srgbClr val="1E293B"/>
                </a:solidFill>
                <a:latin typeface="Arial" pitchFamily="34" charset="0"/>
                <a:ea typeface="Arial" pitchFamily="34" charset="-122"/>
                <a:cs typeface="Arial" pitchFamily="34" charset="-120"/>
              </a:rPr>
              <a:t>• Cascading 1-bit GDI cells into high-speed multi-bit comparator pipelines for modern ALUs and memory address decoders.
</a:t>
            </a:r>
            <a:r>
              <a:rPr lang="en-US" sz="1300" b="1" dirty="0">
                <a:solidFill>
                  <a:srgbClr val="0D9488"/>
                </a:solidFill>
                <a:latin typeface="Arial" pitchFamily="34" charset="0"/>
                <a:ea typeface="Arial" pitchFamily="34" charset="-122"/>
                <a:cs typeface="Arial" pitchFamily="34" charset="-120"/>
              </a:rPr>
              <a:t>2. Threshold-Voltage Swing Restoration:
</a:t>
            </a:r>
            <a:r>
              <a:rPr lang="en-US" sz="1200" dirty="0">
                <a:solidFill>
                  <a:srgbClr val="1E293B"/>
                </a:solidFill>
                <a:latin typeface="Arial" pitchFamily="34" charset="0"/>
                <a:ea typeface="Arial" pitchFamily="34" charset="-122"/>
                <a:cs typeface="Arial" pitchFamily="34" charset="-120"/>
              </a:rPr>
              <a:t>• Integration of swing-restoration buffer stages to mitigate Vth drop in deep multi-stage GDI cascades.
</a:t>
            </a:r>
            <a:r>
              <a:rPr lang="en-US" sz="1300" b="1" dirty="0">
                <a:solidFill>
                  <a:srgbClr val="0D9488"/>
                </a:solidFill>
                <a:latin typeface="Arial" pitchFamily="34" charset="0"/>
                <a:ea typeface="Arial" pitchFamily="34" charset="-122"/>
                <a:cs typeface="Arial" pitchFamily="34" charset="-120"/>
              </a:rPr>
              <a:t>3. High-Speed ADC Integration:
</a:t>
            </a:r>
            <a:r>
              <a:rPr lang="en-US" sz="1200" dirty="0">
                <a:solidFill>
                  <a:srgbClr val="1E293B"/>
                </a:solidFill>
                <a:latin typeface="Arial" pitchFamily="34" charset="0"/>
                <a:ea typeface="Arial" pitchFamily="34" charset="-122"/>
                <a:cs typeface="Arial" pitchFamily="34" charset="-120"/>
              </a:rPr>
              <a:t>• Utilizing the 10T cell in Flash ADC quantizers to reduce flash converter layout footprint.</a:t>
            </a:r>
            <a:endParaRPr lang="en-US" sz="1300" dirty="0"/>
          </a:p>
        </p:txBody>
      </p:sp>
      <p:sp>
        <p:nvSpPr>
          <p:cNvPr id="13" name="Shape 11"/>
          <p:cNvSpPr/>
          <p:nvPr/>
        </p:nvSpPr>
        <p:spPr>
          <a:xfrm>
            <a:off x="6126480" y="1097280"/>
            <a:ext cx="5513832" cy="5120640"/>
          </a:xfrm>
          <a:prstGeom prst="roundRect">
            <a:avLst>
              <a:gd name="adj" fmla="val 1429"/>
            </a:avLst>
          </a:prstGeom>
          <a:solidFill>
            <a:srgbClr val="FFFFFF"/>
          </a:solidFill>
          <a:ln w="12700">
            <a:solidFill>
              <a:srgbClr val="E2E8F0"/>
            </a:solidFill>
            <a:prstDash val="solid"/>
          </a:ln>
        </p:spPr>
        <p:txBody>
          <a:bodyPr/>
          <a:lstStyle/>
          <a:p>
            <a:endParaRPr lang="en-US"/>
          </a:p>
        </p:txBody>
      </p:sp>
      <p:sp>
        <p:nvSpPr>
          <p:cNvPr id="14" name="Shape 12"/>
          <p:cNvSpPr/>
          <p:nvPr/>
        </p:nvSpPr>
        <p:spPr>
          <a:xfrm>
            <a:off x="6126480" y="1097280"/>
            <a:ext cx="5513832" cy="411480"/>
          </a:xfrm>
          <a:prstGeom prst="roundRect">
            <a:avLst>
              <a:gd name="adj" fmla="val 17778"/>
            </a:avLst>
          </a:prstGeom>
          <a:solidFill>
            <a:srgbClr val="0F172A"/>
          </a:solidFill>
          <a:ln w="12700">
            <a:solidFill>
              <a:srgbClr val="0F172A"/>
            </a:solidFill>
            <a:prstDash val="solid"/>
          </a:ln>
        </p:spPr>
        <p:txBody>
          <a:bodyPr/>
          <a:lstStyle/>
          <a:p>
            <a:endParaRPr lang="en-US"/>
          </a:p>
        </p:txBody>
      </p:sp>
      <p:sp>
        <p:nvSpPr>
          <p:cNvPr id="15" name="Shape 13"/>
          <p:cNvSpPr/>
          <p:nvPr/>
        </p:nvSpPr>
        <p:spPr>
          <a:xfrm>
            <a:off x="6126480" y="1325880"/>
            <a:ext cx="5513832" cy="182880"/>
          </a:xfrm>
          <a:prstGeom prst="rect">
            <a:avLst/>
          </a:prstGeom>
          <a:solidFill>
            <a:srgbClr val="0F172A"/>
          </a:solidFill>
          <a:ln w="12700">
            <a:solidFill>
              <a:srgbClr val="0F172A"/>
            </a:solidFill>
            <a:prstDash val="solid"/>
          </a:ln>
        </p:spPr>
        <p:txBody>
          <a:bodyPr/>
          <a:lstStyle/>
          <a:p>
            <a:endParaRPr lang="en-US"/>
          </a:p>
        </p:txBody>
      </p:sp>
      <p:sp>
        <p:nvSpPr>
          <p:cNvPr id="16" name="Text 14"/>
          <p:cNvSpPr/>
          <p:nvPr/>
        </p:nvSpPr>
        <p:spPr>
          <a:xfrm>
            <a:off x="6309360" y="1170432"/>
            <a:ext cx="5148072" cy="27432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Physical Design &amp; PVT Variations</a:t>
            </a:r>
            <a:endParaRPr lang="en-US" sz="1300" dirty="0"/>
          </a:p>
        </p:txBody>
      </p:sp>
      <p:sp>
        <p:nvSpPr>
          <p:cNvPr id="17" name="Text 15"/>
          <p:cNvSpPr/>
          <p:nvPr/>
        </p:nvSpPr>
        <p:spPr>
          <a:xfrm>
            <a:off x="6309360" y="1645920"/>
            <a:ext cx="5148072" cy="4389120"/>
          </a:xfrm>
          <a:prstGeom prst="rect">
            <a:avLst/>
          </a:prstGeom>
          <a:noFill/>
          <a:ln/>
        </p:spPr>
        <p:txBody>
          <a:bodyPr wrap="square" rtlCol="0" anchor="ctr"/>
          <a:lstStyle/>
          <a:p>
            <a:pPr marL="0" indent="0">
              <a:lnSpc>
                <a:spcPts val="2000"/>
              </a:lnSpc>
              <a:buNone/>
            </a:pPr>
            <a:r>
              <a:rPr lang="en-US" sz="1300" b="1" dirty="0">
                <a:solidFill>
                  <a:srgbClr val="0F172A"/>
                </a:solidFill>
                <a:latin typeface="Arial" pitchFamily="34" charset="0"/>
                <a:ea typeface="Arial" pitchFamily="34" charset="-122"/>
                <a:cs typeface="Arial" pitchFamily="34" charset="-120"/>
              </a:rPr>
              <a:t>1. Layout Fabrication &amp; Area Extraction:
</a:t>
            </a:r>
            <a:r>
              <a:rPr lang="en-US" sz="1200" dirty="0">
                <a:solidFill>
                  <a:srgbClr val="1E293B"/>
                </a:solidFill>
                <a:latin typeface="Arial" pitchFamily="34" charset="0"/>
                <a:ea typeface="Arial" pitchFamily="34" charset="-122"/>
                <a:cs typeface="Arial" pitchFamily="34" charset="-120"/>
              </a:rPr>
              <a:t>• Cadence Virtuoso layout design, DRC/LVS check, and parasitic RC extraction (SPEF).
</a:t>
            </a:r>
            <a:r>
              <a:rPr lang="en-US" sz="1300" b="1" dirty="0">
                <a:solidFill>
                  <a:srgbClr val="0F172A"/>
                </a:solidFill>
                <a:latin typeface="Arial" pitchFamily="34" charset="0"/>
                <a:ea typeface="Arial" pitchFamily="34" charset="-122"/>
                <a:cs typeface="Arial" pitchFamily="34" charset="-120"/>
              </a:rPr>
              <a:t>2. Monte Carlo Corner Analysis:
</a:t>
            </a:r>
            <a:r>
              <a:rPr lang="en-US" sz="1200" dirty="0">
                <a:solidFill>
                  <a:srgbClr val="1E293B"/>
                </a:solidFill>
                <a:latin typeface="Arial" pitchFamily="34" charset="0"/>
                <a:ea typeface="Arial" pitchFamily="34" charset="-122"/>
                <a:cs typeface="Arial" pitchFamily="34" charset="-120"/>
              </a:rPr>
              <a:t>• Statistical evaluation across PVT corners (FF, SS, SF, FS) and temperature variations (-40°C to 125°C).
</a:t>
            </a:r>
            <a:r>
              <a:rPr lang="en-US" sz="1300" b="1" dirty="0">
                <a:solidFill>
                  <a:srgbClr val="0F172A"/>
                </a:solidFill>
                <a:latin typeface="Arial" pitchFamily="34" charset="0"/>
                <a:ea typeface="Arial" pitchFamily="34" charset="-122"/>
                <a:cs typeface="Arial" pitchFamily="34" charset="-120"/>
              </a:rPr>
              <a:t>3. Standard Cell Library Integration:
</a:t>
            </a:r>
            <a:r>
              <a:rPr lang="en-US" sz="1200" dirty="0">
                <a:solidFill>
                  <a:srgbClr val="1E293B"/>
                </a:solidFill>
                <a:latin typeface="Arial" pitchFamily="34" charset="0"/>
                <a:ea typeface="Arial" pitchFamily="34" charset="-122"/>
                <a:cs typeface="Arial" pitchFamily="34" charset="-120"/>
              </a:rPr>
              <a:t>• Characterizing liberty (.lib) files for automated EDA synthesis flows.</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72A"/>
          </a:solidFill>
          <a:ln/>
        </p:spPr>
        <p:txBody>
          <a:bodyPr/>
          <a:lstStyle/>
          <a:p>
            <a:endParaRPr lang="en-US"/>
          </a:p>
        </p:txBody>
      </p:sp>
      <p:sp>
        <p:nvSpPr>
          <p:cNvPr id="3" name="Shape 1"/>
          <p:cNvSpPr/>
          <p:nvPr/>
        </p:nvSpPr>
        <p:spPr>
          <a:xfrm>
            <a:off x="1828800" y="914400"/>
            <a:ext cx="8531352" cy="5029200"/>
          </a:xfrm>
          <a:prstGeom prst="roundRect">
            <a:avLst>
              <a:gd name="adj" fmla="val 2182"/>
            </a:avLst>
          </a:prstGeom>
          <a:solidFill>
            <a:srgbClr val="1E293B"/>
          </a:solidFill>
          <a:ln w="12700">
            <a:solidFill>
              <a:srgbClr val="0D9488"/>
            </a:solidFill>
            <a:prstDash val="solid"/>
          </a:ln>
        </p:spPr>
        <p:txBody>
          <a:bodyPr/>
          <a:lstStyle/>
          <a:p>
            <a:endParaRPr lang="en-US"/>
          </a:p>
        </p:txBody>
      </p:sp>
      <p:sp>
        <p:nvSpPr>
          <p:cNvPr id="4" name="Text 2"/>
          <p:cNvSpPr/>
          <p:nvPr/>
        </p:nvSpPr>
        <p:spPr>
          <a:xfrm>
            <a:off x="2286000" y="1371600"/>
            <a:ext cx="7616952" cy="731520"/>
          </a:xfrm>
          <a:prstGeom prst="rect">
            <a:avLst/>
          </a:prstGeom>
          <a:noFill/>
          <a:ln/>
        </p:spPr>
        <p:txBody>
          <a:bodyPr wrap="square" rtlCol="0" anchor="ctr"/>
          <a:lstStyle/>
          <a:p>
            <a:pPr marL="0" indent="0" algn="ctr">
              <a:buNone/>
            </a:pPr>
            <a:r>
              <a:rPr lang="en-US" sz="3600" b="1" dirty="0">
                <a:solidFill>
                  <a:srgbClr val="FFFFFF"/>
                </a:solidFill>
                <a:latin typeface="Arial" pitchFamily="34" charset="0"/>
                <a:ea typeface="Arial" pitchFamily="34" charset="-122"/>
                <a:cs typeface="Arial" pitchFamily="34" charset="-120"/>
              </a:rPr>
              <a:t>THANK YOU!</a:t>
            </a:r>
            <a:endParaRPr lang="en-US" sz="3600" dirty="0"/>
          </a:p>
        </p:txBody>
      </p:sp>
      <p:sp>
        <p:nvSpPr>
          <p:cNvPr id="5" name="Text 3"/>
          <p:cNvSpPr/>
          <p:nvPr/>
        </p:nvSpPr>
        <p:spPr>
          <a:xfrm>
            <a:off x="2286000" y="2103120"/>
            <a:ext cx="7616952" cy="457200"/>
          </a:xfrm>
          <a:prstGeom prst="rect">
            <a:avLst/>
          </a:prstGeom>
          <a:noFill/>
          <a:ln/>
        </p:spPr>
        <p:txBody>
          <a:bodyPr wrap="square" rtlCol="0" anchor="ctr"/>
          <a:lstStyle/>
          <a:p>
            <a:pPr marL="0" indent="0" algn="ctr">
              <a:buNone/>
            </a:pPr>
            <a:r>
              <a:rPr lang="en-US" sz="2000" dirty="0">
                <a:solidFill>
                  <a:srgbClr val="0D9488"/>
                </a:solidFill>
                <a:latin typeface="Arial" pitchFamily="34" charset="0"/>
                <a:ea typeface="Arial" pitchFamily="34" charset="-122"/>
                <a:cs typeface="Arial" pitchFamily="34" charset="-120"/>
              </a:rPr>
              <a:t>Questions &amp; Answers Session</a:t>
            </a:r>
            <a:endParaRPr lang="en-US" sz="2000" dirty="0"/>
          </a:p>
        </p:txBody>
      </p:sp>
      <p:sp>
        <p:nvSpPr>
          <p:cNvPr id="6" name="Shape 4"/>
          <p:cNvSpPr/>
          <p:nvPr/>
        </p:nvSpPr>
        <p:spPr>
          <a:xfrm>
            <a:off x="3200400" y="2743200"/>
            <a:ext cx="5788152" cy="18288"/>
          </a:xfrm>
          <a:prstGeom prst="rect">
            <a:avLst/>
          </a:prstGeom>
          <a:solidFill>
            <a:srgbClr val="334155"/>
          </a:solidFill>
          <a:ln/>
        </p:spPr>
        <p:txBody>
          <a:bodyPr/>
          <a:lstStyle/>
          <a:p>
            <a:endParaRPr lang="en-US"/>
          </a:p>
        </p:txBody>
      </p:sp>
      <p:sp>
        <p:nvSpPr>
          <p:cNvPr id="7" name="Text 5"/>
          <p:cNvSpPr/>
          <p:nvPr/>
        </p:nvSpPr>
        <p:spPr>
          <a:xfrm>
            <a:off x="2286000" y="3017520"/>
            <a:ext cx="7616952" cy="1097280"/>
          </a:xfrm>
          <a:prstGeom prst="rect">
            <a:avLst/>
          </a:prstGeom>
          <a:noFill/>
          <a:ln/>
        </p:spPr>
        <p:txBody>
          <a:bodyPr wrap="square" rtlCol="0" anchor="ctr"/>
          <a:lstStyle/>
          <a:p>
            <a:pPr marL="0" indent="0" algn="ctr">
              <a:lnSpc>
                <a:spcPts val="2200"/>
              </a:lnSpc>
              <a:buNone/>
            </a:pPr>
            <a:r>
              <a:rPr lang="en-US" sz="1400" dirty="0">
                <a:solidFill>
                  <a:srgbClr val="CBD5E1"/>
                </a:solidFill>
                <a:latin typeface="Arial" pitchFamily="34" charset="0"/>
                <a:ea typeface="Arial" pitchFamily="34" charset="-122"/>
                <a:cs typeface="Arial" pitchFamily="34" charset="-120"/>
              </a:rPr>
              <a:t>Shahrear Hossain</a:t>
            </a:r>
            <a:endParaRPr lang="en-US" sz="1400" dirty="0"/>
          </a:p>
          <a:p>
            <a:pPr marL="0" indent="0" algn="ctr">
              <a:lnSpc>
                <a:spcPts val="2200"/>
              </a:lnSpc>
              <a:buNone/>
            </a:pPr>
            <a:r>
              <a:rPr lang="en-US" sz="1400" dirty="0">
                <a:solidFill>
                  <a:srgbClr val="CBD5E1"/>
                </a:solidFill>
                <a:latin typeface="Arial" pitchFamily="34" charset="0"/>
                <a:ea typeface="Arial" pitchFamily="34" charset="-122"/>
                <a:cs typeface="Arial" pitchFamily="34" charset="-120"/>
              </a:rPr>
              <a:t>Student ID: ET223104</a:t>
            </a:r>
            <a:endParaRPr lang="en-US" sz="1400" dirty="0"/>
          </a:p>
          <a:p>
            <a:pPr marL="0" indent="0" algn="ctr">
              <a:lnSpc>
                <a:spcPts val="2200"/>
              </a:lnSpc>
              <a:buNone/>
            </a:pPr>
            <a:r>
              <a:rPr lang="en-US" sz="1400" dirty="0">
                <a:solidFill>
                  <a:srgbClr val="CBD5E1"/>
                </a:solidFill>
                <a:latin typeface="Arial" pitchFamily="34" charset="0"/>
                <a:ea typeface="Arial" pitchFamily="34" charset="-122"/>
                <a:cs typeface="Arial" pitchFamily="34" charset="-120"/>
              </a:rPr>
              <a:t>Department of Electrical and Electronic Engineering</a:t>
            </a:r>
            <a:endParaRPr lang="en-US" sz="1400" dirty="0"/>
          </a:p>
          <a:p>
            <a:pPr marL="0" indent="0" algn="ctr">
              <a:lnSpc>
                <a:spcPts val="2200"/>
              </a:lnSpc>
              <a:buNone/>
            </a:pPr>
            <a:r>
              <a:rPr lang="en-US" sz="1400" dirty="0">
                <a:solidFill>
                  <a:srgbClr val="CBD5E1"/>
                </a:solidFill>
                <a:latin typeface="Arial" pitchFamily="34" charset="0"/>
                <a:ea typeface="Arial" pitchFamily="34" charset="-122"/>
                <a:cs typeface="Arial" pitchFamily="34" charset="-120"/>
              </a:rPr>
              <a:t>International Islamic University Chittagong (IIUC)</a:t>
            </a:r>
            <a:endParaRPr lang="en-US" sz="1400" dirty="0"/>
          </a:p>
        </p:txBody>
      </p:sp>
      <p:sp>
        <p:nvSpPr>
          <p:cNvPr id="8" name="Text 6"/>
          <p:cNvSpPr/>
          <p:nvPr/>
        </p:nvSpPr>
        <p:spPr>
          <a:xfrm>
            <a:off x="2286000" y="4297680"/>
            <a:ext cx="7616952" cy="365760"/>
          </a:xfrm>
          <a:prstGeom prst="rect">
            <a:avLst/>
          </a:prstGeom>
          <a:noFill/>
          <a:ln/>
        </p:spPr>
        <p:txBody>
          <a:bodyPr wrap="square" rtlCol="0" anchor="ctr"/>
          <a:lstStyle/>
          <a:p>
            <a:pPr marL="0" indent="0" algn="ctr">
              <a:buNone/>
            </a:pPr>
            <a:endParaRPr lang="en-US" sz="1300" dirty="0"/>
          </a:p>
        </p:txBody>
      </p:sp>
      <p:sp>
        <p:nvSpPr>
          <p:cNvPr id="9" name="Text 7"/>
          <p:cNvSpPr/>
          <p:nvPr/>
        </p:nvSpPr>
        <p:spPr>
          <a:xfrm>
            <a:off x="2286000" y="4937760"/>
            <a:ext cx="7616952" cy="365760"/>
          </a:xfrm>
          <a:prstGeom prst="rect">
            <a:avLst/>
          </a:prstGeom>
          <a:noFill/>
          <a:ln/>
        </p:spPr>
        <p:txBody>
          <a:bodyPr wrap="square" rtlCol="0" anchor="ctr"/>
          <a:lstStyle/>
          <a:p>
            <a:pPr marL="0" indent="0" algn="ctr">
              <a:buNone/>
            </a:pP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TotalTime>
  <Words>2698</Words>
  <Application>Microsoft Office PowerPoint</Application>
  <PresentationFormat>Custom</PresentationFormat>
  <Paragraphs>341</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Shahrear hossain</cp:lastModifiedBy>
  <cp:revision>5</cp:revision>
  <dcterms:created xsi:type="dcterms:W3CDTF">2026-09-22T02:27:12Z</dcterms:created>
  <dcterms:modified xsi:type="dcterms:W3CDTF">2026-09-23T10:10:46Z</dcterms:modified>
</cp:coreProperties>
</file>