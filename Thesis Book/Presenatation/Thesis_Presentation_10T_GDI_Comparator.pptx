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0" y="731520"/>
            <a:ext cx="4937760" cy="5394960"/>
          </a:xfrm>
          <a:prstGeom prst="roundRect">
            <a:avLst>
              <a:gd name="adj" fmla="val 2222"/>
            </a:avLst>
          </a:prstGeom>
          <a:solidFill>
            <a:srgbClr val="1E293B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5" name="Image 0" descr="C:\Users\shahrear\Downloads\LTSpice\Thesis\Thesis Book\iiuc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005840"/>
            <a:ext cx="1371600" cy="1371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731520"/>
            <a:ext cx="3840480" cy="4572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8229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B.Sc. THESIS DEFENSE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141732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Ultra-Low-Power 10-Transistor</a:t>
            </a:r>
            <a:endParaRPr lang="en-US" sz="26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1-Bit Magnitude Comparator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731520" y="31546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Gate Diffusion Input (GDI) Technique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731520" y="3840480"/>
            <a:ext cx="5303520" cy="3657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4023360"/>
            <a:ext cx="5303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Transistor-Level VLSI Circuit Optimization Across 180nm, 90nm &amp; 45nm PTM Nodes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949440" y="256032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949440" y="28346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Shahrear Hossain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6949440" y="333756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Matric No: ET223104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Dept. of Electrical &amp; Electronic Engineering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Islamic University Chittagong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949440" y="4389120"/>
            <a:ext cx="4206240" cy="9144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6" name="Text 13"/>
          <p:cNvSpPr/>
          <p:nvPr/>
        </p:nvSpPr>
        <p:spPr>
          <a:xfrm>
            <a:off x="6949440" y="452628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949440" y="475488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Riazul Islam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6949440" y="51663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Lecturer, Dept. of EEE, IIUC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949440" y="56235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EEE, IIUC | B.Sc. THESIS DEFENSE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Roadmap &amp; Agenda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1052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Shahrear Hossain (ID: ET223104) | 10T GDI 1-Bit Magnitude Comparator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53949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463040"/>
            <a:ext cx="914400" cy="9601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60020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920240" y="14630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920240" y="192024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VLSI scaling, low-power constraints &amp; motivation.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2880360"/>
            <a:ext cx="53949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154680"/>
            <a:ext cx="914400" cy="9601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29184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920240" y="31546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920240" y="36118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of 26T CMOS &amp; 16T Transmission Gate designs.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4572000"/>
            <a:ext cx="53949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4846320"/>
            <a:ext cx="914400" cy="9601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98348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920240" y="48463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920240" y="530352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10-Transistor GDI magnitude comparator architecture.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17920" y="1188720"/>
            <a:ext cx="53949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92240" y="1463040"/>
            <a:ext cx="914400" cy="9601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/>
        </p:spPr>
      </p:sp>
      <p:sp>
        <p:nvSpPr>
          <p:cNvPr id="25" name="Text 23"/>
          <p:cNvSpPr/>
          <p:nvPr/>
        </p:nvSpPr>
        <p:spPr>
          <a:xfrm>
            <a:off x="6492240" y="160020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589520" y="14630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589520" y="192024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LTSpice simulation setup across 180nm, 90nm &amp; 45nm PTM.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17920" y="2880360"/>
            <a:ext cx="53949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92240" y="3154680"/>
            <a:ext cx="914400" cy="9601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/>
        </p:spPr>
      </p:sp>
      <p:sp>
        <p:nvSpPr>
          <p:cNvPr id="30" name="Text 28"/>
          <p:cNvSpPr/>
          <p:nvPr/>
        </p:nvSpPr>
        <p:spPr>
          <a:xfrm>
            <a:off x="6492240" y="329184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589520" y="31546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&amp; Discussion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589520" y="36118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Transient output waveforms, power, delay &amp; PDP analysis.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217920" y="4572000"/>
            <a:ext cx="53949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92240" y="4846320"/>
            <a:ext cx="914400" cy="9601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/>
        </p:spPr>
      </p:sp>
      <p:sp>
        <p:nvSpPr>
          <p:cNvPr id="35" name="Text 33"/>
          <p:cNvSpPr/>
          <p:nvPr/>
        </p:nvSpPr>
        <p:spPr>
          <a:xfrm>
            <a:off x="6492240" y="498348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7589520" y="48463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7589520" y="530352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of contributions &amp; future multi-bit ALU scope.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EEE, IIUC | B.Sc. THESIS DEFENSE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Introduction &amp; Research Background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1052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Shahrear Hossain (ID: ET223104) | 10T GDI 1-Bit Magnitude Comparator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143000"/>
            <a:ext cx="5669280" cy="50292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143000"/>
            <a:ext cx="5669280" cy="502920"/>
          </a:xfrm>
          <a:prstGeom prst="roundRect">
            <a:avLst>
              <a:gd name="adj" fmla="val 1454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417320"/>
            <a:ext cx="5669280" cy="228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23444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VLSI Technology Scaling Challenges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7240" y="1737360"/>
            <a:ext cx="521208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Exponential Device Scaling:
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Deep sub-micron nodes face high static leakage &amp; dynamic power.
</a:t>
            </a:r>
            <a:pPr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Battery &amp; Thermal Constraints:
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Portable IoT &amp; biomedical CPUs require sub-microwatt operation.
</a:t>
            </a:r>
            <a:pPr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Essential Arithmetic Block:
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Magnitude comparators govern speed in ALUs, DSPs &amp; ADCs.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492240" y="1143000"/>
            <a:ext cx="5148072" cy="50292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92240" y="1143000"/>
            <a:ext cx="5148072" cy="502920"/>
          </a:xfrm>
          <a:prstGeom prst="roundRect">
            <a:avLst>
              <a:gd name="adj" fmla="val 1454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0" y="1417320"/>
            <a:ext cx="5148072" cy="228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1234440"/>
            <a:ext cx="4782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Density &amp; Integration Trend</a:t>
            </a:r>
            <a:endParaRPr lang="en-US" sz="1800" dirty="0"/>
          </a:p>
        </p:txBody>
      </p:sp>
      <p:pic>
        <p:nvPicPr>
          <p:cNvPr id="17" name="Image 0" descr="C:\Users\shahrear\Downloads\LTSpice\Thesis\Thesis Book\moores_law_scali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737360"/>
            <a:ext cx="4782312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EEE, IIUC | B.Sc. THESIS DEFENSE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Problem Statement: Conventional Comparator Limitations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1052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Shahrear Hossain (ID: ET223104) | 10T GDI 1-Bit Magnitude Comparator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143000"/>
            <a:ext cx="3593592" cy="5029200"/>
          </a:xfrm>
          <a:prstGeom prst="roundRect">
            <a:avLst>
              <a:gd name="adj" fmla="val 203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143000"/>
            <a:ext cx="3593592" cy="502920"/>
          </a:xfrm>
          <a:prstGeom prst="roundRect">
            <a:avLst>
              <a:gd name="adj" fmla="val 1454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417320"/>
            <a:ext cx="3593592" cy="228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234440"/>
            <a:ext cx="3227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CMOS (26T)</a:t>
            </a:r>
            <a:endParaRPr lang="en-US" sz="1800" dirty="0"/>
          </a:p>
        </p:txBody>
      </p:sp>
      <p:pic>
        <p:nvPicPr>
          <p:cNvPr id="12" name="Image 0" descr="C:\Users\shahrear\Downloads\LTSpice\Thesis\Thesis Book\Static_Compara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37360"/>
            <a:ext cx="3227832" cy="192024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31520" y="3794760"/>
            <a:ext cx="322783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Heavy 26-transistor count.</a:t>
            </a:r>
            <a:endParaRPr lang="en-US" sz="17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Large silicon layout footprint.</a:t>
            </a:r>
            <a:endParaRPr lang="en-US" sz="17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High internal parasitic capacitance.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4297680" y="1143000"/>
            <a:ext cx="3593592" cy="5029200"/>
          </a:xfrm>
          <a:prstGeom prst="roundRect">
            <a:avLst>
              <a:gd name="adj" fmla="val 203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97680" y="1143000"/>
            <a:ext cx="3593592" cy="502920"/>
          </a:xfrm>
          <a:prstGeom prst="roundRect">
            <a:avLst>
              <a:gd name="adj" fmla="val 1454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297680" y="1417320"/>
            <a:ext cx="3593592" cy="228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480560" y="1234440"/>
            <a:ext cx="3227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Transmission Gate (16T)</a:t>
            </a:r>
            <a:endParaRPr lang="en-US" sz="1800" dirty="0"/>
          </a:p>
        </p:txBody>
      </p:sp>
      <p:pic>
        <p:nvPicPr>
          <p:cNvPr id="18" name="Image 1" descr="C:\Users\shahrear\Downloads\LTSpice\Thesis\Thesis Book\TG_comparat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737360"/>
            <a:ext cx="3227832" cy="19202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480560" y="3794760"/>
            <a:ext cx="322783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Requires 16 transistors.</a:t>
            </a:r>
            <a:endParaRPr lang="en-US" sz="17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Dual inverted control lines (A, A').</a:t>
            </a:r>
            <a:endParaRPr lang="en-US" sz="17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High interconnect routing overhead.</a:t>
            </a:r>
            <a:endParaRPr lang="en-US" sz="1700" dirty="0"/>
          </a:p>
        </p:txBody>
      </p:sp>
      <p:sp>
        <p:nvSpPr>
          <p:cNvPr id="20" name="Shape 16"/>
          <p:cNvSpPr/>
          <p:nvPr/>
        </p:nvSpPr>
        <p:spPr>
          <a:xfrm>
            <a:off x="8046720" y="1143000"/>
            <a:ext cx="3593592" cy="5029200"/>
          </a:xfrm>
          <a:prstGeom prst="roundRect">
            <a:avLst>
              <a:gd name="adj" fmla="val 203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046720" y="1143000"/>
            <a:ext cx="3593592" cy="502920"/>
          </a:xfrm>
          <a:prstGeom prst="roundRect">
            <a:avLst>
              <a:gd name="adj" fmla="val 1454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8046720" y="1417320"/>
            <a:ext cx="3593592" cy="228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229600" y="1234440"/>
            <a:ext cx="3227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Transistor (12T)</a:t>
            </a:r>
            <a:endParaRPr lang="en-US" sz="1800" dirty="0"/>
          </a:p>
        </p:txBody>
      </p:sp>
      <p:pic>
        <p:nvPicPr>
          <p:cNvPr id="24" name="Image 2" descr="C:\Users\shahrear\Downloads\LTSpice\Thesis\Thesis Book\pass_comparato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737360"/>
            <a:ext cx="3227832" cy="192024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229600" y="3794760"/>
            <a:ext cx="322783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12 to 14 transistor budget.</a:t>
            </a:r>
            <a:endParaRPr lang="en-US" sz="17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Severe Vth threshold voltage drop.</a:t>
            </a:r>
            <a:endParaRPr lang="en-US" sz="17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Signal degradation at low VDD.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EEE, IIUC | B.Sc. THESIS DEFENSE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Proposed Solution: 10T GDI Magnitude Comparator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1052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Shahrear Hossain (ID: ET223104) | 10T GDI 1-Bit Magnitude Comparator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143000"/>
            <a:ext cx="5486400" cy="50292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143000"/>
            <a:ext cx="5486400" cy="502920"/>
          </a:xfrm>
          <a:prstGeom prst="roundRect">
            <a:avLst>
              <a:gd name="adj" fmla="val 1454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417320"/>
            <a:ext cx="5486400" cy="228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23444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Circuit Innovations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7240" y="1737360"/>
            <a:ext cx="502920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61.5% Transistor Reduction:
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Cut total count from 26T down to only 10 Transistors.
</a:t>
            </a:r>
            <a:pPr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Gate Diffusion Input (GDI):
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Uses 2-transistor primitive cells to execute complex logic.
</a:t>
            </a:r>
            <a:pPr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 Hardware Redundancy:
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Directly computes A&lt;B, A&gt;B, and A=B without extra buffers.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309360" y="1143000"/>
            <a:ext cx="5330952" cy="50292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1143000"/>
            <a:ext cx="5330952" cy="502920"/>
          </a:xfrm>
          <a:prstGeom prst="roundRect">
            <a:avLst>
              <a:gd name="adj" fmla="val 1454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1417320"/>
            <a:ext cx="5330952" cy="228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1234440"/>
            <a:ext cx="4965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10T GDI Circuit Schematic Diagram</a:t>
            </a:r>
            <a:endParaRPr lang="en-US" sz="1800" dirty="0"/>
          </a:p>
        </p:txBody>
      </p:sp>
      <p:pic>
        <p:nvPicPr>
          <p:cNvPr id="17" name="Image 0" descr="C:\Users\shahrear\Downloads\LTSpice\Thesis\Thesis Book\my_Propose_GDI_Compara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737360"/>
            <a:ext cx="4965192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EEE, IIUC | B.Sc. THESIS DEFENSE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Methodology &amp; Simulation Framework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1052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Shahrear Hossain (ID: ET223104) | 10T GDI 1-Bit Magnitude Comparator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143000"/>
            <a:ext cx="5486400" cy="50292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143000"/>
            <a:ext cx="5486400" cy="502920"/>
          </a:xfrm>
          <a:prstGeom prst="roundRect">
            <a:avLst>
              <a:gd name="adj" fmla="val 1454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417320"/>
            <a:ext cx="5486400" cy="228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23444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LTSpice XVII Simulation Setup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7240" y="1737360"/>
            <a:ext cx="502920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Technology Models:
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Predictive Technology Model (PTM) 180nm, 90nm &amp; 45nm.
</a:t>
            </a:r>
            <a:pPr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Supply Voltage Scaling:
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1.8V (180nm), 1.2V (90nm), and 0.8V - 1.0V (45nm).
</a:t>
            </a:r>
            <a:pPr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Input Test Vectors:
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Transient pulses at 100 MHz to 1 GHz frequencies.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309360" y="1143000"/>
            <a:ext cx="5330952" cy="50292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1143000"/>
            <a:ext cx="5330952" cy="502920"/>
          </a:xfrm>
          <a:prstGeom prst="roundRect">
            <a:avLst>
              <a:gd name="adj" fmla="val 1454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1417320"/>
            <a:ext cx="5330952" cy="228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1234440"/>
            <a:ext cx="4965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Scope &amp; Verification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537960" y="1737360"/>
            <a:ext cx="4873752" cy="1371600"/>
          </a:xfrm>
          <a:prstGeom prst="roundRect">
            <a:avLst>
              <a:gd name="adj" fmla="val 533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20840" y="1828800"/>
            <a:ext cx="4507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SIMULATION STUDY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720840" y="2194560"/>
            <a:ext cx="45079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Validation is strictly simulation-based (SPICE level).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physical IC fabrication / hardware tape-out.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37960" y="3291840"/>
            <a:ext cx="4873752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Measured Metrics:
</a:t>
            </a:r>
            <a:pPr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1. Average Power Dissipation (Pavg)
</a:t>
            </a:r>
            <a:pPr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2. Propagation Delay (tpd at 50% transition)
</a:t>
            </a:r>
            <a:pPr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3. Power-Delay Product (PDP = Pavg × tpd)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EEE, IIUC | B.Sc. THESIS DEFENSE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Gate Diffusion Input (GDI) Cell Mechanics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1052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Shahrear Hossain (ID: ET223104) | 10T GDI 1-Bit Magnitude Comparator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143000"/>
            <a:ext cx="4754880" cy="502920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143000"/>
            <a:ext cx="4754880" cy="502920"/>
          </a:xfrm>
          <a:prstGeom prst="roundRect">
            <a:avLst>
              <a:gd name="adj" fmla="val 1454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417320"/>
            <a:ext cx="4754880" cy="228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234440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2-Transistor GDI Cell</a:t>
            </a:r>
            <a:endParaRPr lang="en-US" sz="1800" dirty="0"/>
          </a:p>
        </p:txBody>
      </p:sp>
      <p:pic>
        <p:nvPicPr>
          <p:cNvPr id="12" name="Image 0" descr="C:\Users\shahrear\Downloads\LTSpice\Thesis\Thesis Book\gdi_cell_structur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37360"/>
            <a:ext cx="4206240" cy="283464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77240" y="4709160"/>
            <a:ext cx="4297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GDI Cell inputs (P, N, G) accept arbitrary logic variables, enabling complex functions in just 2 transistors.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577840" y="1143000"/>
            <a:ext cx="6062472" cy="50292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577840" y="1143000"/>
            <a:ext cx="6062472" cy="502920"/>
          </a:xfrm>
          <a:prstGeom prst="roundRect">
            <a:avLst>
              <a:gd name="adj" fmla="val 1454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577840" y="1417320"/>
            <a:ext cx="6062472" cy="228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760720" y="1234440"/>
            <a:ext cx="5696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Comparator Output Equations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806440" y="1737360"/>
            <a:ext cx="5605272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 &lt; B Output (GDI Cell 1 - 2T):
</a:t>
            </a:r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Equation:  A &lt; B = A' · B
</a:t>
            </a:r>
            <a:pPr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 &gt; B Output (GDI Cell 2 - 2T):
</a:t>
            </a:r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Equation:  A &gt; B = A · B'
</a:t>
            </a:r>
            <a:pPr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 = B Output (NOR / XNOR Stage - 6T):
</a:t>
            </a:r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Equation:  A = B = ((A &lt; B) + (A &gt; B))' = A ⊙ B
</a:t>
            </a:r>
            <a:pPr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Budget: 2T + 2T + 6T = 10 Transistors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EEE, IIUC | B.Sc. THESIS DEFENSE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Results: Quantitative Performance Comparison (45nm)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1052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Shahrear Hossain (ID: ET223104) | 10T GDI 1-Bit Magnitude Comparator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143000"/>
            <a:ext cx="11091672" cy="50292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143000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417320"/>
            <a:ext cx="11091672" cy="228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234440"/>
            <a:ext cx="10725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Comparison Table at 45nm PTM Node (VDD = 1.0V)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83080"/>
          <a:ext cx="10634472" cy="2926080"/>
        </p:xfrm>
        <a:graphic>
          <a:graphicData uri="http://schemas.openxmlformats.org/drawingml/2006/table">
            <a:tbl>
              <a:tblPr/>
              <a:tblGrid>
                <a:gridCol w="2926080"/>
                <a:gridCol w="1920240"/>
                <a:gridCol w="1920240"/>
                <a:gridCol w="1920240"/>
                <a:gridCol w="1947672"/>
              </a:tblGrid>
              <a:tr h="5852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Architecture Style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Transistor Count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Delay (tpd) [ps]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Power (Pavg) [µW]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PDP [aJ]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F172A"/>
                          </a:solidFill>
                        </a:rPr>
                        <a:t>Static CMOS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F172A"/>
                          </a:solidFill>
                        </a:rPr>
                        <a:t>26T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F172A"/>
                          </a:solidFill>
                        </a:rPr>
                        <a:t>48.2 ps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F172A"/>
                          </a:solidFill>
                        </a:rPr>
                        <a:t>14.82 µW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F172A"/>
                          </a:solidFill>
                        </a:rPr>
                        <a:t>714.3 aJ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F172A"/>
                          </a:solidFill>
                        </a:rPr>
                        <a:t>Transmission Gate (TG)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F172A"/>
                          </a:solidFill>
                        </a:rPr>
                        <a:t>16T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F172A"/>
                          </a:solidFill>
                        </a:rPr>
                        <a:t>31.5 ps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F172A"/>
                          </a:solidFill>
                        </a:rPr>
                        <a:t>8.94 µW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F172A"/>
                          </a:solidFill>
                        </a:rPr>
                        <a:t>281.6 aJ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F172A"/>
                          </a:solidFill>
                        </a:rPr>
                        <a:t>Pass Transistor (PTL)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F172A"/>
                          </a:solidFill>
                        </a:rPr>
                        <a:t>12T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F172A"/>
                          </a:solidFill>
                        </a:rPr>
                        <a:t>27.8 ps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F172A"/>
                          </a:solidFill>
                        </a:rPr>
                        <a:t>6.45 µW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F172A"/>
                          </a:solidFill>
                        </a:rPr>
                        <a:t>179.3 aJ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0D9488"/>
                          </a:solidFill>
                        </a:rPr>
                        <a:t>Proposed GDI Design</a:t>
                      </a:r>
                      <a:endParaRPr lang="en-US" sz="1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0D9488"/>
                          </a:solidFill>
                        </a:rPr>
                        <a:t>10T (-61.5%)</a:t>
                      </a:r>
                      <a:endParaRPr lang="en-US" sz="1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0D9488"/>
                          </a:solidFill>
                        </a:rPr>
                        <a:t>18.4 ps (-61.8%)</a:t>
                      </a:r>
                      <a:endParaRPr lang="en-US" sz="1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0D9488"/>
                          </a:solidFill>
                        </a:rPr>
                        <a:t>2.15 µW (-85.4%)</a:t>
                      </a:r>
                      <a:endParaRPr lang="en-US" sz="1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D97706"/>
                          </a:solidFill>
                        </a:rPr>
                        <a:t>39.56 aJ (18× Better)</a:t>
                      </a:r>
                      <a:endParaRPr lang="en-US" sz="1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777240" y="4937760"/>
            <a:ext cx="106344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Takeaway: The proposed 10T GDI comparator achieves 85.4% lower power and 18× lower PDP compared to standard 26T CMOS.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EEE, IIUC | B.Sc. THESIS DEFENSE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Results: Graphical Comparison Across Topologies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1052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Shahrear Hossain (ID: ET223104) | 10T GDI 1-Bit Magnitude Comparator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143000"/>
            <a:ext cx="3593592" cy="5029200"/>
          </a:xfrm>
          <a:prstGeom prst="roundRect">
            <a:avLst>
              <a:gd name="adj" fmla="val 203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143000"/>
            <a:ext cx="3593592" cy="502920"/>
          </a:xfrm>
          <a:prstGeom prst="roundRect">
            <a:avLst>
              <a:gd name="adj" fmla="val 1454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417320"/>
            <a:ext cx="3593592" cy="228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234440"/>
            <a:ext cx="3227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Propagation Delay (ps)</a:t>
            </a:r>
            <a:endParaRPr lang="en-US" sz="1800" dirty="0"/>
          </a:p>
        </p:txBody>
      </p:sp>
      <p:pic>
        <p:nvPicPr>
          <p:cNvPr id="12" name="Image 0" descr="C:\Users\shahrear\Downloads\LTSpice\Thesis\Thesis Book\Paper_02_Propagation_Delay_Bar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37360"/>
            <a:ext cx="3319272" cy="420624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4297680" y="1143000"/>
            <a:ext cx="3593592" cy="5029200"/>
          </a:xfrm>
          <a:prstGeom prst="roundRect">
            <a:avLst>
              <a:gd name="adj" fmla="val 203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297680" y="1143000"/>
            <a:ext cx="3593592" cy="502920"/>
          </a:xfrm>
          <a:prstGeom prst="roundRect">
            <a:avLst>
              <a:gd name="adj" fmla="val 1454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97680" y="1417320"/>
            <a:ext cx="3593592" cy="228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480560" y="1234440"/>
            <a:ext cx="3227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Power (µW)</a:t>
            </a:r>
            <a:endParaRPr lang="en-US" sz="1800" dirty="0"/>
          </a:p>
        </p:txBody>
      </p:sp>
      <p:pic>
        <p:nvPicPr>
          <p:cNvPr id="17" name="Image 1" descr="C:\Users\shahrear\Downloads\LTSpice\Thesis\Thesis Book\Paper_03_Average_Power_Bar_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737360"/>
            <a:ext cx="3319272" cy="420624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8046720" y="1143000"/>
            <a:ext cx="3593592" cy="5029200"/>
          </a:xfrm>
          <a:prstGeom prst="roundRect">
            <a:avLst>
              <a:gd name="adj" fmla="val 203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046720" y="1143000"/>
            <a:ext cx="3593592" cy="502920"/>
          </a:xfrm>
          <a:prstGeom prst="roundRect">
            <a:avLst>
              <a:gd name="adj" fmla="val 1454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046720" y="1417320"/>
            <a:ext cx="3593592" cy="228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229600" y="1234440"/>
            <a:ext cx="3227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Power-Delay Product (aJ)</a:t>
            </a:r>
            <a:endParaRPr lang="en-US" sz="1800" dirty="0"/>
          </a:p>
        </p:txBody>
      </p:sp>
      <p:pic>
        <p:nvPicPr>
          <p:cNvPr id="22" name="Image 2" descr="C:\Users\shahrear\Downloads\LTSpice\Thesis\Thesis Book\Paper_04_PDP_Bar_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1737360"/>
            <a:ext cx="3319272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EEE, IIUC | B.Sc. THESIS DEFENSE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Performance Analysis &amp; Design Trade-offs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1052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Shahrear Hossain (ID: ET223104) | 10T GDI 1-Bit Magnitude Comparator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143000"/>
            <a:ext cx="3593592" cy="5029200"/>
          </a:xfrm>
          <a:prstGeom prst="roundRect">
            <a:avLst>
              <a:gd name="adj" fmla="val 203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143000"/>
            <a:ext cx="3593592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463040"/>
            <a:ext cx="32278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85.4%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731520" y="2377440"/>
            <a:ext cx="32278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REDUCTION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2926080"/>
            <a:ext cx="3044952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Eliminates redundant switching paths and reduces internal node capacitance drastically.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297680" y="1143000"/>
            <a:ext cx="3593592" cy="5029200"/>
          </a:xfrm>
          <a:prstGeom prst="roundRect">
            <a:avLst>
              <a:gd name="adj" fmla="val 203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0" y="1143000"/>
            <a:ext cx="3593592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4480560" y="1463040"/>
            <a:ext cx="32278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61.5%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480560" y="2377440"/>
            <a:ext cx="32278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SAVINGS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572000" y="2926080"/>
            <a:ext cx="3044952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Transistor count cut from 26T to 10T, freeing up valuable silicon real estate.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046720" y="1143000"/>
            <a:ext cx="3593592" cy="5029200"/>
          </a:xfrm>
          <a:prstGeom prst="roundRect">
            <a:avLst>
              <a:gd name="adj" fmla="val 203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0" y="1143000"/>
            <a:ext cx="3593592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0" y="1463040"/>
            <a:ext cx="32278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18×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8229600" y="2377440"/>
            <a:ext cx="32278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 IMPROVEMENT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321040" y="2926080"/>
            <a:ext cx="3044952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Power-Delay Product drops to 39.56 aJ, representing state-of-the-art energy efficiency.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EEE, IIUC | B.Sc. THESIS DEFENSE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Conclusion &amp; Future Scope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1052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Shahrear Hossain (ID: ET223104) | 10T GDI 1-Bit Magnitude Comparator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143000"/>
            <a:ext cx="5486400" cy="50292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143000"/>
            <a:ext cx="5486400" cy="502920"/>
          </a:xfrm>
          <a:prstGeom prst="roundRect">
            <a:avLst>
              <a:gd name="adj" fmla="val 1454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417320"/>
            <a:ext cx="5486400" cy="228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23444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of Key Contributions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7240" y="1737360"/>
            <a:ext cx="502920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Successful 10T GDI Implementation:
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Demonstrated ultra-low-power 1-bit comparator using only 10 transistors.
</a:t>
            </a:r>
            <a:pPr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Excellent Submicron Scalability:
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Maintained superior performance across 180nm, 90nm &amp; 45nm PTM nodes.
</a:t>
            </a:r>
            <a:pPr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Benchmark Energy Efficiency:
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Achieved 2.15 µW power and 18.4 ps delay at 45nm node.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309360" y="1143000"/>
            <a:ext cx="5330952" cy="50292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1143000"/>
            <a:ext cx="5330952" cy="502920"/>
          </a:xfrm>
          <a:prstGeom prst="roundRect">
            <a:avLst>
              <a:gd name="adj" fmla="val 1454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1417320"/>
            <a:ext cx="5330952" cy="228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1234440"/>
            <a:ext cx="4965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Research Scope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37960" y="1737360"/>
            <a:ext cx="4873752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Multi-Bit ALU Integration:
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Extend 1-bit cell to 4-bit, 8-bit &amp; 64-bit high-speed comparators.
</a:t>
            </a:r>
            <a:pPr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Buffer Restoration Stages:
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Integrate swing restoration buffers for deep cascade architectures.
</a:t>
            </a:r>
            <a:pPr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Layout &amp; PVT Corner Analysis:
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Perform Monte-Carlo Process, Voltage &amp; Temperature variations.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D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64592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Answers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0" y="3657600"/>
            <a:ext cx="5788152" cy="2011680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3280" y="3886200"/>
            <a:ext cx="5422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CONTACT INFORMATION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383280" y="4297680"/>
            <a:ext cx="542239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Shahrear Hossain</a:t>
            </a:r>
            <a:endParaRPr lang="en-US" sz="16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Matric No: ET223104</a:t>
            </a:r>
            <a:endParaRPr lang="en-US" sz="16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Electrical and Electronic Engineering</a:t>
            </a:r>
            <a:endParaRPr lang="en-US" sz="16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Islamic University Chittagong (IIUC)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2026-09-22T12:58:43Z</dcterms:created>
  <dcterms:modified xsi:type="dcterms:W3CDTF">2026-09-22T12:58:43Z</dcterms:modified>
</cp:coreProperties>
</file>