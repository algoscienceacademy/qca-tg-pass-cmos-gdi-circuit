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F1D"/>
          </a:solidFill>
          <a:ln/>
        </p:spPr>
      </p:sp>
      <p:sp>
        <p:nvSpPr>
          <p:cNvPr id="3" name="Shape 1"/>
          <p:cNvSpPr/>
          <p:nvPr/>
        </p:nvSpPr>
        <p:spPr>
          <a:xfrm>
            <a:off x="0" y="0"/>
            <a:ext cx="12188952" cy="109728"/>
          </a:xfrm>
          <a:prstGeom prst="rect">
            <a:avLst/>
          </a:prstGeom>
          <a:solidFill>
            <a:srgbClr val="D97706"/>
          </a:solidFill>
          <a:ln/>
        </p:spPr>
      </p:sp>
      <p:pic>
        <p:nvPicPr>
          <p:cNvPr id="4" name="Image 0" descr="C:\Users\shahrear\Downloads\LTSpice\Thesis\Thesis Book\Presenatation\extracted_adder\ppt\media\image1.png">    </p:cNvPr>
          <p:cNvPicPr>
            <a:picLocks noChangeAspect="1"/>
          </p:cNvPicPr>
          <p:nvPr/>
        </p:nvPicPr>
        <p:blipFill>
          <a:blip r:embed="rId1"/>
          <a:stretch>
            <a:fillRect/>
          </a:stretch>
        </p:blipFill>
        <p:spPr>
          <a:xfrm>
            <a:off x="2057400" y="457200"/>
            <a:ext cx="8074152" cy="1005840"/>
          </a:xfrm>
          <a:prstGeom prst="rect">
            <a:avLst/>
          </a:prstGeom>
        </p:spPr>
      </p:pic>
      <p:sp>
        <p:nvSpPr>
          <p:cNvPr id="5" name="Shape 2"/>
          <p:cNvSpPr/>
          <p:nvPr/>
        </p:nvSpPr>
        <p:spPr>
          <a:xfrm>
            <a:off x="731520" y="1737360"/>
            <a:ext cx="10725912" cy="1371600"/>
          </a:xfrm>
          <a:prstGeom prst="roundRect">
            <a:avLst>
              <a:gd name="adj" fmla="val 8000"/>
            </a:avLst>
          </a:prstGeom>
          <a:solidFill>
            <a:srgbClr val="1E293B"/>
          </a:solidFill>
          <a:ln w="12700">
            <a:solidFill>
              <a:srgbClr val="297FD5"/>
            </a:solidFill>
            <a:prstDash val="solid"/>
          </a:ln>
        </p:spPr>
      </p:sp>
      <p:sp>
        <p:nvSpPr>
          <p:cNvPr id="6" name="Text 3"/>
          <p:cNvSpPr/>
          <p:nvPr/>
        </p:nvSpPr>
        <p:spPr>
          <a:xfrm>
            <a:off x="914400" y="2011680"/>
            <a:ext cx="10360152" cy="822960"/>
          </a:xfrm>
          <a:prstGeom prst="rect">
            <a:avLst/>
          </a:prstGeom>
          <a:noFill/>
          <a:ln/>
        </p:spPr>
        <p:txBody>
          <a:bodyPr wrap="square" rtlCol="0" anchor="ctr"/>
          <a:lstStyle/>
          <a:p>
            <a:pPr algn="ctr" indent="0" marL="0">
              <a:buNone/>
            </a:pPr>
            <a:r>
              <a:rPr lang="en-US" sz="3200" b="1" dirty="0">
                <a:solidFill>
                  <a:srgbClr val="FFFFFF"/>
                </a:solidFill>
                <a:latin typeface="Arial" pitchFamily="34" charset="0"/>
                <a:ea typeface="Arial" pitchFamily="34" charset="-122"/>
                <a:cs typeface="Arial" pitchFamily="34" charset="-120"/>
              </a:rPr>
              <a:t>16-bit Adder with Manchester Carry Ahead</a:t>
            </a:r>
            <a:endParaRPr lang="en-US" sz="3200" dirty="0"/>
          </a:p>
        </p:txBody>
      </p:sp>
      <p:sp>
        <p:nvSpPr>
          <p:cNvPr id="7" name="Shape 4"/>
          <p:cNvSpPr/>
          <p:nvPr/>
        </p:nvSpPr>
        <p:spPr>
          <a:xfrm>
            <a:off x="731520" y="3383280"/>
            <a:ext cx="6217920" cy="2926080"/>
          </a:xfrm>
          <a:prstGeom prst="roundRect">
            <a:avLst>
              <a:gd name="adj" fmla="val 3125"/>
            </a:avLst>
          </a:prstGeom>
          <a:solidFill>
            <a:srgbClr val="1E293B"/>
          </a:solidFill>
          <a:ln w="12700">
            <a:solidFill>
              <a:srgbClr val="D97706"/>
            </a:solidFill>
            <a:prstDash val="solid"/>
          </a:ln>
        </p:spPr>
      </p:sp>
      <p:sp>
        <p:nvSpPr>
          <p:cNvPr id="8" name="Text 5"/>
          <p:cNvSpPr/>
          <p:nvPr/>
        </p:nvSpPr>
        <p:spPr>
          <a:xfrm>
            <a:off x="1005840" y="3566160"/>
            <a:ext cx="566928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PRESENTED BY</a:t>
            </a:r>
            <a:endParaRPr lang="en-US" sz="1400" dirty="0"/>
          </a:p>
        </p:txBody>
      </p:sp>
      <p:sp>
        <p:nvSpPr>
          <p:cNvPr id="9" name="Text 6"/>
          <p:cNvSpPr/>
          <p:nvPr/>
        </p:nvSpPr>
        <p:spPr>
          <a:xfrm>
            <a:off x="1005840" y="3977640"/>
            <a:ext cx="5669280" cy="2103120"/>
          </a:xfrm>
          <a:prstGeom prst="rect">
            <a:avLst/>
          </a:prstGeom>
          <a:noFill/>
          <a:ln/>
        </p:spPr>
        <p:txBody>
          <a:bodyPr wrap="square" rtlCol="0" anchor="ctr"/>
          <a:lstStyle/>
          <a:p>
            <a:pPr indent="0" marL="0">
              <a:lnSpc>
                <a:spcPts val="2200"/>
              </a:lnSpc>
              <a:buNone/>
            </a:pPr>
            <a:r>
              <a:rPr lang="en-US" sz="1600" b="1" dirty="0">
                <a:solidFill>
                  <a:srgbClr val="FFFFFF"/>
                </a:solidFill>
                <a:latin typeface="Arial" pitchFamily="34" charset="0"/>
                <a:ea typeface="Arial" pitchFamily="34" charset="-122"/>
                <a:cs typeface="Arial" pitchFamily="34" charset="-120"/>
              </a:rPr>
              <a:t>• Ashikur Rahman Bhi  </a:t>
            </a:r>
            <a:pPr indent="0" marL="0">
              <a:lnSpc>
                <a:spcPts val="2200"/>
              </a:lnSpc>
              <a:buNone/>
            </a:pPr>
            <a:r>
              <a:rPr lang="en-US" sz="1400" dirty="0">
                <a:solidFill>
                  <a:srgbClr val="0D9488"/>
                </a:solidFill>
                <a:latin typeface="Arial" pitchFamily="34" charset="0"/>
                <a:ea typeface="Arial" pitchFamily="34" charset="-122"/>
                <a:cs typeface="Arial" pitchFamily="34" charset="-120"/>
              </a:rPr>
              <a:t>(ID: ET193069)
</a:t>
            </a:r>
            <a:pPr indent="0" marL="0">
              <a:lnSpc>
                <a:spcPts val="2200"/>
              </a:lnSpc>
              <a:buNone/>
            </a:pPr>
            <a:r>
              <a:rPr lang="en-US" sz="1600" b="1" dirty="0">
                <a:solidFill>
                  <a:srgbClr val="FFFFFF"/>
                </a:solidFill>
                <a:latin typeface="Arial" pitchFamily="34" charset="0"/>
                <a:ea typeface="Arial" pitchFamily="34" charset="-122"/>
                <a:cs typeface="Arial" pitchFamily="34" charset="-120"/>
              </a:rPr>
              <a:t>• Chowdhury Arap Mahamud Recap  </a:t>
            </a:r>
            <a:pPr indent="0" marL="0">
              <a:lnSpc>
                <a:spcPts val="2200"/>
              </a:lnSpc>
              <a:buNone/>
            </a:pPr>
            <a:r>
              <a:rPr lang="en-US" sz="1400" dirty="0">
                <a:solidFill>
                  <a:srgbClr val="0D9488"/>
                </a:solidFill>
                <a:latin typeface="Arial" pitchFamily="34" charset="0"/>
                <a:ea typeface="Arial" pitchFamily="34" charset="-122"/>
                <a:cs typeface="Arial" pitchFamily="34" charset="-120"/>
              </a:rPr>
              <a:t>(ID: ET193068)
</a:t>
            </a:r>
            <a:pPr indent="0" marL="0">
              <a:lnSpc>
                <a:spcPts val="2200"/>
              </a:lnSpc>
              <a:buNone/>
            </a:pPr>
            <a:r>
              <a:rPr lang="en-US" sz="1600" b="1" dirty="0">
                <a:solidFill>
                  <a:srgbClr val="FFFFFF"/>
                </a:solidFill>
                <a:latin typeface="Arial" pitchFamily="34" charset="0"/>
                <a:ea typeface="Arial" pitchFamily="34" charset="-122"/>
                <a:cs typeface="Arial" pitchFamily="34" charset="-120"/>
              </a:rPr>
              <a:t>• Pranta Paul  </a:t>
            </a:r>
            <a:pPr indent="0" marL="0">
              <a:lnSpc>
                <a:spcPts val="2200"/>
              </a:lnSpc>
              <a:buNone/>
            </a:pPr>
            <a:r>
              <a:rPr lang="en-US" sz="1400" dirty="0">
                <a:solidFill>
                  <a:srgbClr val="0D9488"/>
                </a:solidFill>
                <a:latin typeface="Arial" pitchFamily="34" charset="0"/>
                <a:ea typeface="Arial" pitchFamily="34" charset="-122"/>
                <a:cs typeface="Arial" pitchFamily="34" charset="-120"/>
              </a:rPr>
              <a:t>(ID: ET193089)</a:t>
            </a:r>
            <a:endParaRPr lang="en-US" sz="1600" dirty="0"/>
          </a:p>
        </p:txBody>
      </p:sp>
      <p:sp>
        <p:nvSpPr>
          <p:cNvPr id="10" name="Shape 7"/>
          <p:cNvSpPr/>
          <p:nvPr/>
        </p:nvSpPr>
        <p:spPr>
          <a:xfrm>
            <a:off x="7223760" y="3383280"/>
            <a:ext cx="4233672" cy="2926080"/>
          </a:xfrm>
          <a:prstGeom prst="roundRect">
            <a:avLst>
              <a:gd name="adj" fmla="val 3125"/>
            </a:avLst>
          </a:prstGeom>
          <a:solidFill>
            <a:srgbClr val="1E293B"/>
          </a:solidFill>
          <a:ln w="12700">
            <a:solidFill>
              <a:srgbClr val="297FD5"/>
            </a:solidFill>
            <a:prstDash val="solid"/>
          </a:ln>
        </p:spPr>
      </p:sp>
      <p:sp>
        <p:nvSpPr>
          <p:cNvPr id="11" name="Text 8"/>
          <p:cNvSpPr/>
          <p:nvPr/>
        </p:nvSpPr>
        <p:spPr>
          <a:xfrm>
            <a:off x="7498080" y="3566160"/>
            <a:ext cx="3657600" cy="320040"/>
          </a:xfrm>
          <a:prstGeom prst="rect">
            <a:avLst/>
          </a:prstGeom>
          <a:noFill/>
          <a:ln/>
        </p:spPr>
        <p:txBody>
          <a:bodyPr wrap="square" rtlCol="0" anchor="ctr"/>
          <a:lstStyle/>
          <a:p>
            <a:pPr indent="0" marL="0">
              <a:buNone/>
            </a:pPr>
            <a:r>
              <a:rPr lang="en-US" sz="1400" b="1" dirty="0">
                <a:solidFill>
                  <a:srgbClr val="297FD5"/>
                </a:solidFill>
                <a:latin typeface="Arial" pitchFamily="34" charset="0"/>
                <a:ea typeface="Arial" pitchFamily="34" charset="-122"/>
                <a:cs typeface="Arial" pitchFamily="34" charset="-120"/>
              </a:rPr>
              <a:t>SUPERVISED BY</a:t>
            </a:r>
            <a:endParaRPr lang="en-US" sz="1400" dirty="0"/>
          </a:p>
        </p:txBody>
      </p:sp>
      <p:sp>
        <p:nvSpPr>
          <p:cNvPr id="12" name="Text 9"/>
          <p:cNvSpPr/>
          <p:nvPr/>
        </p:nvSpPr>
        <p:spPr>
          <a:xfrm>
            <a:off x="7498080" y="3977640"/>
            <a:ext cx="3657600" cy="411480"/>
          </a:xfrm>
          <a:prstGeom prst="rect">
            <a:avLst/>
          </a:prstGeom>
          <a:noFill/>
          <a:ln/>
        </p:spPr>
        <p:txBody>
          <a:bodyPr wrap="square" rtlCol="0" anchor="ctr"/>
          <a:lstStyle/>
          <a:p>
            <a:pPr indent="0" marL="0">
              <a:buNone/>
            </a:pPr>
            <a:r>
              <a:rPr lang="en-US" sz="2000" b="1" dirty="0">
                <a:solidFill>
                  <a:srgbClr val="FFFFFF"/>
                </a:solidFill>
                <a:latin typeface="Arial" pitchFamily="34" charset="0"/>
                <a:ea typeface="Arial" pitchFamily="34" charset="-122"/>
                <a:cs typeface="Arial" pitchFamily="34" charset="-120"/>
              </a:rPr>
              <a:t>Engr. Riazul Islam</a:t>
            </a:r>
            <a:endParaRPr lang="en-US" sz="2000" dirty="0"/>
          </a:p>
        </p:txBody>
      </p:sp>
      <p:sp>
        <p:nvSpPr>
          <p:cNvPr id="13" name="Text 10"/>
          <p:cNvSpPr/>
          <p:nvPr/>
        </p:nvSpPr>
        <p:spPr>
          <a:xfrm>
            <a:off x="7498080" y="4480560"/>
            <a:ext cx="3657600" cy="1463040"/>
          </a:xfrm>
          <a:prstGeom prst="rect">
            <a:avLst/>
          </a:prstGeom>
          <a:noFill/>
          <a:ln/>
        </p:spPr>
        <p:txBody>
          <a:bodyPr wrap="square" rtlCol="0" anchor="ctr"/>
          <a:lstStyle/>
          <a:p>
            <a:pPr indent="0" marL="0">
              <a:lnSpc>
                <a:spcPts val="2000"/>
              </a:lnSpc>
              <a:buNone/>
            </a:pPr>
            <a:r>
              <a:rPr lang="en-US" sz="1400" dirty="0">
                <a:solidFill>
                  <a:srgbClr val="CBD5E1"/>
                </a:solidFill>
                <a:latin typeface="Arial" pitchFamily="34" charset="0"/>
                <a:ea typeface="Arial" pitchFamily="34" charset="-122"/>
                <a:cs typeface="Arial" pitchFamily="34" charset="-120"/>
              </a:rPr>
              <a:t>Lecturer</a:t>
            </a:r>
            <a:endParaRPr lang="en-US" sz="1400" dirty="0"/>
          </a:p>
          <a:p>
            <a:pPr indent="0" marL="0">
              <a:lnSpc>
                <a:spcPts val="2000"/>
              </a:lnSpc>
              <a:buNone/>
            </a:pPr>
            <a:r>
              <a:rPr lang="en-US" sz="1400" dirty="0">
                <a:solidFill>
                  <a:srgbClr val="CBD5E1"/>
                </a:solidFill>
                <a:latin typeface="Arial" pitchFamily="34" charset="0"/>
                <a:ea typeface="Arial" pitchFamily="34" charset="-122"/>
                <a:cs typeface="Arial" pitchFamily="34" charset="-120"/>
              </a:rPr>
              <a:t>Department of Electrical &amp; Electronic Engineering</a:t>
            </a:r>
            <a:endParaRPr lang="en-US" sz="1400" dirty="0"/>
          </a:p>
          <a:p>
            <a:pPr indent="0" marL="0">
              <a:lnSpc>
                <a:spcPts val="2000"/>
              </a:lnSpc>
              <a:buNone/>
            </a:pPr>
            <a:r>
              <a:rPr lang="en-US" sz="1400" dirty="0">
                <a:solidFill>
                  <a:srgbClr val="CBD5E1"/>
                </a:solidFill>
                <a:latin typeface="Arial" pitchFamily="34" charset="0"/>
                <a:ea typeface="Arial" pitchFamily="34" charset="-122"/>
                <a:cs typeface="Arial" pitchFamily="34" charset="-120"/>
              </a:rPr>
              <a:t>International Islamic University Chittagong (IIUC)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Presentation Overview &amp; Outline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Presentation Roadmap</a:t>
            </a:r>
            <a:endParaRPr lang="en-US" sz="1600" dirty="0"/>
          </a:p>
        </p:txBody>
      </p:sp>
      <p:pic>
        <p:nvPicPr>
          <p:cNvPr id="13" name="Image 0" descr="C:\Users\shahrear\Downloads\LTSpice\Thesis\Thesis Book\Presenatation\extracted_adder\ppt\media\image2.png">    </p:cNvPr>
          <p:cNvPicPr>
            <a:picLocks noChangeAspect="1"/>
          </p:cNvPicPr>
          <p:nvPr/>
        </p:nvPicPr>
        <p:blipFill>
          <a:blip r:embed="rId1"/>
          <a:stretch>
            <a:fillRect/>
          </a:stretch>
        </p:blipFill>
        <p:spPr>
          <a:xfrm>
            <a:off x="1097280" y="1691640"/>
            <a:ext cx="9994392" cy="42976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1. INTRODUCTION</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3</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Background &amp; Importance of Adders</a:t>
            </a:r>
            <a:endParaRPr lang="en-US" sz="1600" dirty="0"/>
          </a:p>
        </p:txBody>
      </p:sp>
      <p:sp>
        <p:nvSpPr>
          <p:cNvPr id="13" name="Text 11"/>
          <p:cNvSpPr/>
          <p:nvPr/>
        </p:nvSpPr>
        <p:spPr>
          <a:xfrm>
            <a:off x="822960" y="1737360"/>
            <a:ext cx="10543032" cy="4206240"/>
          </a:xfrm>
          <a:prstGeom prst="rect">
            <a:avLst/>
          </a:prstGeom>
          <a:noFill/>
          <a:ln/>
        </p:spPr>
        <p:txBody>
          <a:bodyPr wrap="square" rtlCol="0" anchor="ctr"/>
          <a:lstStyle/>
          <a:p>
            <a:pPr indent="0" marL="0">
              <a:lnSpc>
                <a:spcPts val="2200"/>
              </a:lnSpc>
              <a:buNone/>
            </a:pPr>
            <a:r>
              <a:rPr lang="en-US" sz="1800" b="1" dirty="0">
                <a:solidFill>
                  <a:srgbClr val="297FD5"/>
                </a:solidFill>
                <a:latin typeface="Arial" pitchFamily="34" charset="0"/>
                <a:ea typeface="Arial" pitchFamily="34" charset="-122"/>
                <a:cs typeface="Arial" pitchFamily="34" charset="-120"/>
              </a:rPr>
              <a:t>• Fundamental Arithmetic Block:
</a:t>
            </a:r>
            <a:pPr indent="0" marL="0">
              <a:lnSpc>
                <a:spcPts val="2200"/>
              </a:lnSpc>
              <a:buNone/>
            </a:pPr>
            <a:r>
              <a:rPr lang="en-US" sz="1600" dirty="0">
                <a:solidFill>
                  <a:srgbClr val="0F172A"/>
                </a:solidFill>
                <a:latin typeface="Arial" pitchFamily="34" charset="0"/>
                <a:ea typeface="Arial" pitchFamily="34" charset="-122"/>
                <a:cs typeface="Arial" pitchFamily="34" charset="-120"/>
              </a:rPr>
              <a:t>  Adders are fundamental building blocks in digital electronics and computing. They are circuits designed to perform binary addition, the core operation behind most arithmetic functions in digital systems. Adders are not only essential for simple calculations but also serve as the foundation for more complex arithmetic operations, such as subtraction, multiplication, and division, which are widely used in various applications like media signal processing, computer processors, and embedded systems.
</a:t>
            </a:r>
            <a:pPr indent="0" marL="0">
              <a:lnSpc>
                <a:spcPts val="2200"/>
              </a:lnSpc>
              <a:buNone/>
            </a:pPr>
            <a:r>
              <a:rPr lang="en-US" sz="1800" b="1" dirty="0">
                <a:solidFill>
                  <a:srgbClr val="297FD5"/>
                </a:solidFill>
                <a:latin typeface="Arial" pitchFamily="34" charset="0"/>
                <a:ea typeface="Arial" pitchFamily="34" charset="-122"/>
                <a:cs typeface="Arial" pitchFamily="34" charset="-120"/>
              </a:rPr>
              <a:t>• High-Performance VLSI Demand:
</a:t>
            </a:r>
            <a:pPr indent="0" marL="0">
              <a:lnSpc>
                <a:spcPts val="2200"/>
              </a:lnSpc>
              <a:buNone/>
            </a:pPr>
            <a:r>
              <a:rPr lang="en-US" sz="1600" dirty="0">
                <a:solidFill>
                  <a:srgbClr val="0F172A"/>
                </a:solidFill>
                <a:latin typeface="Arial" pitchFamily="34" charset="0"/>
                <a:ea typeface="Arial" pitchFamily="34" charset="-122"/>
                <a:cs typeface="Arial" pitchFamily="34" charset="-120"/>
              </a:rPr>
              <a:t>  As technology evolves, there is a growing emphasis on designing faster, smaller, and more energy-efficient adders to meet the demands of modern computing. From the basic Half Adder (HA) to more advanced structures like the Carry Look-Ahead Adder (CLA) and Kogge-Stone Adder (KSA), various adder architectures have been developed to optimize speed, area, and power consumption.
</a:t>
            </a:r>
            <a:pPr indent="0" marL="0">
              <a:lnSpc>
                <a:spcPts val="2200"/>
              </a:lnSpc>
              <a:buNone/>
            </a:pPr>
            <a:r>
              <a:rPr lang="en-US" sz="1800" b="1" dirty="0">
                <a:solidFill>
                  <a:srgbClr val="297FD5"/>
                </a:solidFill>
                <a:latin typeface="Arial" pitchFamily="34" charset="0"/>
                <a:ea typeface="Arial" pitchFamily="34" charset="-122"/>
                <a:cs typeface="Arial" pitchFamily="34" charset="-120"/>
              </a:rPr>
              <a:t>• Scope of Presentation:
</a:t>
            </a:r>
            <a:pPr indent="0" marL="0">
              <a:lnSpc>
                <a:spcPts val="2200"/>
              </a:lnSpc>
              <a:buNone/>
            </a:pPr>
            <a:r>
              <a:rPr lang="en-US" sz="1600" dirty="0">
                <a:solidFill>
                  <a:srgbClr val="0F172A"/>
                </a:solidFill>
                <a:latin typeface="Arial" pitchFamily="34" charset="0"/>
                <a:ea typeface="Arial" pitchFamily="34" charset="-122"/>
                <a:cs typeface="Arial" pitchFamily="34" charset="-120"/>
              </a:rPr>
              <a:t>  In this presentation, we explore different types of adders, their operation, and their significance in modern digital systems, along with the challenges and innovations in designing efficient adder circuits.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BACKGROUND: Half Adder (HA) Architecture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4</a:t>
            </a:r>
            <a:endParaRPr lang="en-US" sz="1100" dirty="0"/>
          </a:p>
        </p:txBody>
      </p:sp>
      <p:sp>
        <p:nvSpPr>
          <p:cNvPr id="9" name="Shape 7"/>
          <p:cNvSpPr/>
          <p:nvPr/>
        </p:nvSpPr>
        <p:spPr>
          <a:xfrm>
            <a:off x="548640" y="1143000"/>
            <a:ext cx="530352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30352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303520" cy="228600"/>
          </a:xfrm>
          <a:prstGeom prst="rect">
            <a:avLst/>
          </a:prstGeom>
          <a:solidFill>
            <a:srgbClr val="0F172A"/>
          </a:solidFill>
          <a:ln w="12700">
            <a:solidFill>
              <a:srgbClr val="0F172A"/>
            </a:solidFill>
            <a:prstDash val="solid"/>
          </a:ln>
        </p:spPr>
      </p:sp>
      <p:sp>
        <p:nvSpPr>
          <p:cNvPr id="12" name="Text 10"/>
          <p:cNvSpPr/>
          <p:nvPr/>
        </p:nvSpPr>
        <p:spPr>
          <a:xfrm>
            <a:off x="731520" y="1216152"/>
            <a:ext cx="493776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Half Adder Concept &amp; Truth Table</a:t>
            </a:r>
            <a:endParaRPr lang="en-US" sz="1600" dirty="0"/>
          </a:p>
        </p:txBody>
      </p:sp>
      <p:sp>
        <p:nvSpPr>
          <p:cNvPr id="13" name="Text 11"/>
          <p:cNvSpPr/>
          <p:nvPr/>
        </p:nvSpPr>
        <p:spPr>
          <a:xfrm>
            <a:off x="777240" y="1737360"/>
            <a:ext cx="4846320" cy="1280160"/>
          </a:xfrm>
          <a:prstGeom prst="rect">
            <a:avLst/>
          </a:prstGeom>
          <a:noFill/>
          <a:ln/>
        </p:spPr>
        <p:txBody>
          <a:bodyPr wrap="square" rtlCol="0" anchor="ctr"/>
          <a:lstStyle/>
          <a:p>
            <a:pPr indent="0" marL="0">
              <a:lnSpc>
                <a:spcPts val="2000"/>
              </a:lnSpc>
              <a:buNone/>
            </a:pPr>
            <a:r>
              <a:rPr lang="en-US" sz="1500" dirty="0">
                <a:solidFill>
                  <a:srgbClr val="0F172A"/>
                </a:solidFill>
                <a:latin typeface="Arial" pitchFamily="34" charset="0"/>
                <a:ea typeface="Arial" pitchFamily="34" charset="-122"/>
                <a:cs typeface="Arial" pitchFamily="34" charset="-120"/>
              </a:rPr>
              <a:t>A basic adder known as the Half Adder (HA) performs simple binary addition of two input bits using just an XOR gate (for the sum) and an AND gate (for the carry). The structure and behavior of a half adder can be understood through its logic circuit and accompanying truth table.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3108960"/>
          <a:ext cx="4846320" cy="2103120"/>
        </p:xfrm>
        <a:graphic>
          <a:graphicData uri="http://schemas.openxmlformats.org/drawingml/2006/table">
            <a:tbl>
              <a:tblPr/>
              <a:tblGrid>
                <a:gridCol w="1188720"/>
                <a:gridCol w="1188720"/>
                <a:gridCol w="1234440"/>
                <a:gridCol w="1234440"/>
              </a:tblGrid>
              <a:tr h="420624">
                <a:tc>
                  <a:txBody>
                    <a:bodyPr/>
                    <a:lstStyle/>
                    <a:p>
                      <a:pPr algn="ctr" indent="0" marL="0">
                        <a:buNone/>
                      </a:pPr>
                      <a:r>
                        <a:rPr lang="en-US" sz="1400" b="1" dirty="0">
                          <a:solidFill>
                            <a:srgbClr val="FFFFFF"/>
                          </a:solidFill>
                        </a:rPr>
                        <a:t>A</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rPr>
                        <a:t>B</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rPr>
                        <a:t>Sum (S)</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400" b="1" dirty="0">
                          <a:solidFill>
                            <a:srgbClr val="FFFFFF"/>
                          </a:solidFill>
                        </a:rPr>
                        <a:t>Carry (C)</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420624">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420624">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0</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400" dirty="0">
                          <a:solidFill>
                            <a:srgbClr val="000000"/>
                          </a:solidFill>
                        </a:rPr>
                        <a:t>1</a:t>
                      </a:r>
                      <a:endParaRPr lang="en-US" sz="14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5" name="Text 12"/>
          <p:cNvSpPr/>
          <p:nvPr/>
        </p:nvSpPr>
        <p:spPr>
          <a:xfrm>
            <a:off x="777240" y="5349240"/>
            <a:ext cx="4846320" cy="365760"/>
          </a:xfrm>
          <a:prstGeom prst="rect">
            <a:avLst/>
          </a:prstGeom>
          <a:noFill/>
          <a:ln/>
        </p:spPr>
        <p:txBody>
          <a:bodyPr wrap="square" rtlCol="0" anchor="ctr"/>
          <a:lstStyle/>
          <a:p>
            <a:pPr algn="ctr" indent="0" marL="0">
              <a:buNone/>
            </a:pPr>
            <a:r>
              <a:rPr lang="en-US" sz="1300" b="1" dirty="0">
                <a:solidFill>
                  <a:srgbClr val="297FD5"/>
                </a:solidFill>
                <a:latin typeface="Arial" pitchFamily="34" charset="0"/>
                <a:ea typeface="Arial" pitchFamily="34" charset="-122"/>
                <a:cs typeface="Arial" pitchFamily="34" charset="-120"/>
              </a:rPr>
              <a:t>Table 1: The truth table of a Half Adder</a:t>
            </a:r>
            <a:endParaRPr lang="en-US" sz="1300" dirty="0"/>
          </a:p>
        </p:txBody>
      </p:sp>
      <p:sp>
        <p:nvSpPr>
          <p:cNvPr id="16" name="Shape 13"/>
          <p:cNvSpPr/>
          <p:nvPr/>
        </p:nvSpPr>
        <p:spPr>
          <a:xfrm>
            <a:off x="6126480" y="1143000"/>
            <a:ext cx="5513832" cy="5029200"/>
          </a:xfrm>
          <a:prstGeom prst="roundRect">
            <a:avLst>
              <a:gd name="adj" fmla="val 1455"/>
            </a:avLst>
          </a:prstGeom>
          <a:solidFill>
            <a:srgbClr val="FFFFFF"/>
          </a:solidFill>
          <a:ln w="12700">
            <a:solidFill>
              <a:srgbClr val="CBD5E1"/>
            </a:solidFill>
            <a:prstDash val="solid"/>
          </a:ln>
        </p:spPr>
      </p:sp>
      <p:sp>
        <p:nvSpPr>
          <p:cNvPr id="17" name="Shape 14"/>
          <p:cNvSpPr/>
          <p:nvPr/>
        </p:nvSpPr>
        <p:spPr>
          <a:xfrm>
            <a:off x="6126480" y="1143000"/>
            <a:ext cx="5513832" cy="457200"/>
          </a:xfrm>
          <a:prstGeom prst="roundRect">
            <a:avLst>
              <a:gd name="adj" fmla="val 16000"/>
            </a:avLst>
          </a:prstGeom>
          <a:solidFill>
            <a:srgbClr val="0F172A"/>
          </a:solidFill>
          <a:ln w="12700">
            <a:solidFill>
              <a:srgbClr val="0F172A"/>
            </a:solidFill>
            <a:prstDash val="solid"/>
          </a:ln>
        </p:spPr>
      </p:sp>
      <p:sp>
        <p:nvSpPr>
          <p:cNvPr id="18" name="Shape 15"/>
          <p:cNvSpPr/>
          <p:nvPr/>
        </p:nvSpPr>
        <p:spPr>
          <a:xfrm>
            <a:off x="6126480" y="1371600"/>
            <a:ext cx="5513832" cy="228600"/>
          </a:xfrm>
          <a:prstGeom prst="rect">
            <a:avLst/>
          </a:prstGeom>
          <a:solidFill>
            <a:srgbClr val="0F172A"/>
          </a:solidFill>
          <a:ln w="12700">
            <a:solidFill>
              <a:srgbClr val="0F172A"/>
            </a:solidFill>
            <a:prstDash val="solid"/>
          </a:ln>
        </p:spPr>
      </p:sp>
      <p:sp>
        <p:nvSpPr>
          <p:cNvPr id="19" name="Text 16"/>
          <p:cNvSpPr/>
          <p:nvPr/>
        </p:nvSpPr>
        <p:spPr>
          <a:xfrm>
            <a:off x="6309360" y="1216152"/>
            <a:ext cx="514807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Half Adder Logic Diagram</a:t>
            </a:r>
            <a:endParaRPr lang="en-US" sz="1600" dirty="0"/>
          </a:p>
        </p:txBody>
      </p:sp>
      <p:pic>
        <p:nvPicPr>
          <p:cNvPr id="20" name="Image 0" descr="C:\Users\shahrear\Downloads\LTSpice\Thesis\Thesis Book\Presenatation\extracted_adder\ppt\media\image4.png">    </p:cNvPr>
          <p:cNvPicPr>
            <a:picLocks noChangeAspect="1"/>
          </p:cNvPicPr>
          <p:nvPr/>
        </p:nvPicPr>
        <p:blipFill>
          <a:blip r:embed="rId1"/>
          <a:stretch>
            <a:fillRect/>
          </a:stretch>
        </p:blipFill>
        <p:spPr>
          <a:xfrm>
            <a:off x="6400800" y="1737360"/>
            <a:ext cx="4965192" cy="3474720"/>
          </a:xfrm>
          <a:prstGeom prst="rect">
            <a:avLst/>
          </a:prstGeom>
        </p:spPr>
      </p:pic>
      <p:sp>
        <p:nvSpPr>
          <p:cNvPr id="21" name="Text 17"/>
          <p:cNvSpPr/>
          <p:nvPr/>
        </p:nvSpPr>
        <p:spPr>
          <a:xfrm>
            <a:off x="6400800" y="5349240"/>
            <a:ext cx="4965192" cy="36576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01: Half Adder design</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BACKGROUND: Full Adder (FA) Architecture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5</a:t>
            </a:r>
            <a:endParaRPr lang="en-US" sz="1100" dirty="0"/>
          </a:p>
        </p:txBody>
      </p:sp>
      <p:sp>
        <p:nvSpPr>
          <p:cNvPr id="9" name="Shape 7"/>
          <p:cNvSpPr/>
          <p:nvPr/>
        </p:nvSpPr>
        <p:spPr>
          <a:xfrm>
            <a:off x="548640" y="1143000"/>
            <a:ext cx="530352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30352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303520" cy="228600"/>
          </a:xfrm>
          <a:prstGeom prst="rect">
            <a:avLst/>
          </a:prstGeom>
          <a:solidFill>
            <a:srgbClr val="0F172A"/>
          </a:solidFill>
          <a:ln w="12700">
            <a:solidFill>
              <a:srgbClr val="0F172A"/>
            </a:solidFill>
            <a:prstDash val="solid"/>
          </a:ln>
        </p:spPr>
      </p:sp>
      <p:sp>
        <p:nvSpPr>
          <p:cNvPr id="12" name="Text 10"/>
          <p:cNvSpPr/>
          <p:nvPr/>
        </p:nvSpPr>
        <p:spPr>
          <a:xfrm>
            <a:off x="731520" y="1216152"/>
            <a:ext cx="493776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Full Adder Concept &amp; Truth Table</a:t>
            </a:r>
            <a:endParaRPr lang="en-US" sz="1600" dirty="0"/>
          </a:p>
        </p:txBody>
      </p:sp>
      <p:sp>
        <p:nvSpPr>
          <p:cNvPr id="13" name="Text 11"/>
          <p:cNvSpPr/>
          <p:nvPr/>
        </p:nvSpPr>
        <p:spPr>
          <a:xfrm>
            <a:off x="777240" y="1691640"/>
            <a:ext cx="4846320" cy="731520"/>
          </a:xfrm>
          <a:prstGeom prst="rect">
            <a:avLst/>
          </a:prstGeom>
          <a:noFill/>
          <a:ln/>
        </p:spPr>
        <p:txBody>
          <a:bodyPr wrap="square" rtlCol="0" anchor="ctr"/>
          <a:lstStyle/>
          <a:p>
            <a:pPr indent="0" marL="0">
              <a:lnSpc>
                <a:spcPts val="2000"/>
              </a:lnSpc>
              <a:buNone/>
            </a:pPr>
            <a:r>
              <a:rPr lang="en-US" sz="1500" dirty="0">
                <a:solidFill>
                  <a:srgbClr val="0F172A"/>
                </a:solidFill>
                <a:latin typeface="Arial" pitchFamily="34" charset="0"/>
                <a:ea typeface="Arial" pitchFamily="34" charset="-122"/>
                <a:cs typeface="Arial" pitchFamily="34" charset="-120"/>
              </a:rPr>
              <a:t>By combining two Half adders together, we can process the outputs of the Carry along with the sum for multi-bit binary addition.</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2468880"/>
          <a:ext cx="4846320" cy="3017520"/>
        </p:xfrm>
        <a:graphic>
          <a:graphicData uri="http://schemas.openxmlformats.org/drawingml/2006/table">
            <a:tbl>
              <a:tblPr/>
              <a:tblGrid>
                <a:gridCol w="969264"/>
                <a:gridCol w="969264"/>
                <a:gridCol w="969264"/>
                <a:gridCol w="969264"/>
                <a:gridCol w="969264"/>
              </a:tblGrid>
              <a:tr h="335280">
                <a:tc>
                  <a:txBody>
                    <a:bodyPr/>
                    <a:lstStyle/>
                    <a:p>
                      <a:pPr algn="ctr" indent="0" marL="0">
                        <a:buNone/>
                      </a:pPr>
                      <a:r>
                        <a:rPr lang="en-US" sz="1300" b="1" dirty="0">
                          <a:solidFill>
                            <a:srgbClr val="FFFFFF"/>
                          </a:solidFill>
                        </a:rPr>
                        <a:t>A</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rPr>
                        <a:t>B</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rPr>
                        <a:t>Cin</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rPr>
                        <a:t>S</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300" b="1" dirty="0">
                          <a:solidFill>
                            <a:srgbClr val="FFFFFF"/>
                          </a:solidFill>
                        </a:rPr>
                        <a:t>C</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335280">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0</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335280">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200" dirty="0">
                          <a:solidFill>
                            <a:srgbClr val="000000"/>
                          </a:solidFill>
                        </a:rPr>
                        <a:t>1</a:t>
                      </a:r>
                      <a:endParaRPr lang="en-US" sz="12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
        <p:nvSpPr>
          <p:cNvPr id="15" name="Text 12"/>
          <p:cNvSpPr/>
          <p:nvPr/>
        </p:nvSpPr>
        <p:spPr>
          <a:xfrm>
            <a:off x="777240" y="5577840"/>
            <a:ext cx="4846320" cy="320040"/>
          </a:xfrm>
          <a:prstGeom prst="rect">
            <a:avLst/>
          </a:prstGeom>
          <a:noFill/>
          <a:ln/>
        </p:spPr>
        <p:txBody>
          <a:bodyPr wrap="square" rtlCol="0" anchor="ctr"/>
          <a:lstStyle/>
          <a:p>
            <a:pPr algn="ctr" indent="0" marL="0">
              <a:buNone/>
            </a:pPr>
            <a:r>
              <a:rPr lang="en-US" sz="1300" b="1" dirty="0">
                <a:solidFill>
                  <a:srgbClr val="297FD5"/>
                </a:solidFill>
                <a:latin typeface="Arial" pitchFamily="34" charset="0"/>
                <a:ea typeface="Arial" pitchFamily="34" charset="-122"/>
                <a:cs typeface="Arial" pitchFamily="34" charset="-120"/>
              </a:rPr>
              <a:t>Table 2: The truth table of a Full Adder</a:t>
            </a:r>
            <a:endParaRPr lang="en-US" sz="1300" dirty="0"/>
          </a:p>
        </p:txBody>
      </p:sp>
      <p:sp>
        <p:nvSpPr>
          <p:cNvPr id="16" name="Shape 13"/>
          <p:cNvSpPr/>
          <p:nvPr/>
        </p:nvSpPr>
        <p:spPr>
          <a:xfrm>
            <a:off x="6126480" y="1143000"/>
            <a:ext cx="5513832" cy="5029200"/>
          </a:xfrm>
          <a:prstGeom prst="roundRect">
            <a:avLst>
              <a:gd name="adj" fmla="val 1455"/>
            </a:avLst>
          </a:prstGeom>
          <a:solidFill>
            <a:srgbClr val="FFFFFF"/>
          </a:solidFill>
          <a:ln w="12700">
            <a:solidFill>
              <a:srgbClr val="CBD5E1"/>
            </a:solidFill>
            <a:prstDash val="solid"/>
          </a:ln>
        </p:spPr>
      </p:sp>
      <p:sp>
        <p:nvSpPr>
          <p:cNvPr id="17" name="Shape 14"/>
          <p:cNvSpPr/>
          <p:nvPr/>
        </p:nvSpPr>
        <p:spPr>
          <a:xfrm>
            <a:off x="6126480" y="1143000"/>
            <a:ext cx="5513832" cy="457200"/>
          </a:xfrm>
          <a:prstGeom prst="roundRect">
            <a:avLst>
              <a:gd name="adj" fmla="val 16000"/>
            </a:avLst>
          </a:prstGeom>
          <a:solidFill>
            <a:srgbClr val="0F172A"/>
          </a:solidFill>
          <a:ln w="12700">
            <a:solidFill>
              <a:srgbClr val="0F172A"/>
            </a:solidFill>
            <a:prstDash val="solid"/>
          </a:ln>
        </p:spPr>
      </p:sp>
      <p:sp>
        <p:nvSpPr>
          <p:cNvPr id="18" name="Shape 15"/>
          <p:cNvSpPr/>
          <p:nvPr/>
        </p:nvSpPr>
        <p:spPr>
          <a:xfrm>
            <a:off x="6126480" y="1371600"/>
            <a:ext cx="5513832" cy="228600"/>
          </a:xfrm>
          <a:prstGeom prst="rect">
            <a:avLst/>
          </a:prstGeom>
          <a:solidFill>
            <a:srgbClr val="0F172A"/>
          </a:solidFill>
          <a:ln w="12700">
            <a:solidFill>
              <a:srgbClr val="0F172A"/>
            </a:solidFill>
            <a:prstDash val="solid"/>
          </a:ln>
        </p:spPr>
      </p:sp>
      <p:sp>
        <p:nvSpPr>
          <p:cNvPr id="19" name="Text 16"/>
          <p:cNvSpPr/>
          <p:nvPr/>
        </p:nvSpPr>
        <p:spPr>
          <a:xfrm>
            <a:off x="6309360" y="1216152"/>
            <a:ext cx="514807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Full Adder Logic Circuit</a:t>
            </a:r>
            <a:endParaRPr lang="en-US" sz="1600" dirty="0"/>
          </a:p>
        </p:txBody>
      </p:sp>
      <p:pic>
        <p:nvPicPr>
          <p:cNvPr id="20" name="Image 0" descr="C:\Users\shahrear\Downloads\LTSpice\Thesis\Thesis Book\Presenatation\extracted_adder\ppt\media\image5.png">    </p:cNvPr>
          <p:cNvPicPr>
            <a:picLocks noChangeAspect="1"/>
          </p:cNvPicPr>
          <p:nvPr/>
        </p:nvPicPr>
        <p:blipFill>
          <a:blip r:embed="rId1"/>
          <a:stretch>
            <a:fillRect/>
          </a:stretch>
        </p:blipFill>
        <p:spPr>
          <a:xfrm>
            <a:off x="6400800" y="1737360"/>
            <a:ext cx="4965192" cy="3474720"/>
          </a:xfrm>
          <a:prstGeom prst="rect">
            <a:avLst/>
          </a:prstGeom>
        </p:spPr>
      </p:pic>
      <p:sp>
        <p:nvSpPr>
          <p:cNvPr id="21" name="Text 17"/>
          <p:cNvSpPr/>
          <p:nvPr/>
        </p:nvSpPr>
        <p:spPr>
          <a:xfrm>
            <a:off x="6400800" y="5349240"/>
            <a:ext cx="4965192" cy="36576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02: Full Adder design</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BACKGROUND: Ripple Carry Adder (RCA)</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6</a:t>
            </a:r>
            <a:endParaRPr lang="en-US" sz="1100" dirty="0"/>
          </a:p>
        </p:txBody>
      </p:sp>
      <p:sp>
        <p:nvSpPr>
          <p:cNvPr id="9" name="Shape 7"/>
          <p:cNvSpPr/>
          <p:nvPr/>
        </p:nvSpPr>
        <p:spPr>
          <a:xfrm>
            <a:off x="548640" y="1143000"/>
            <a:ext cx="4754880" cy="5029200"/>
          </a:xfrm>
          <a:prstGeom prst="roundRect">
            <a:avLst>
              <a:gd name="adj" fmla="val 1538"/>
            </a:avLst>
          </a:prstGeom>
          <a:solidFill>
            <a:srgbClr val="FFFFFF"/>
          </a:solidFill>
          <a:ln w="12700">
            <a:solidFill>
              <a:srgbClr val="CBD5E1"/>
            </a:solidFill>
            <a:prstDash val="solid"/>
          </a:ln>
        </p:spPr>
      </p:sp>
      <p:sp>
        <p:nvSpPr>
          <p:cNvPr id="10" name="Shape 8"/>
          <p:cNvSpPr/>
          <p:nvPr/>
        </p:nvSpPr>
        <p:spPr>
          <a:xfrm>
            <a:off x="548640" y="1143000"/>
            <a:ext cx="475488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4754880" cy="228600"/>
          </a:xfrm>
          <a:prstGeom prst="rect">
            <a:avLst/>
          </a:prstGeom>
          <a:solidFill>
            <a:srgbClr val="0F172A"/>
          </a:solidFill>
          <a:ln w="12700">
            <a:solidFill>
              <a:srgbClr val="0F172A"/>
            </a:solidFill>
            <a:prstDash val="solid"/>
          </a:ln>
        </p:spPr>
      </p:sp>
      <p:sp>
        <p:nvSpPr>
          <p:cNvPr id="12" name="Text 10"/>
          <p:cNvSpPr/>
          <p:nvPr/>
        </p:nvSpPr>
        <p:spPr>
          <a:xfrm>
            <a:off x="731520" y="1216152"/>
            <a:ext cx="438912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RCA Operation &amp; Limitations</a:t>
            </a:r>
            <a:endParaRPr lang="en-US" sz="1600" dirty="0"/>
          </a:p>
        </p:txBody>
      </p:sp>
      <p:sp>
        <p:nvSpPr>
          <p:cNvPr id="13" name="Text 11"/>
          <p:cNvSpPr/>
          <p:nvPr/>
        </p:nvSpPr>
        <p:spPr>
          <a:xfrm>
            <a:off x="777240" y="1737360"/>
            <a:ext cx="4297680" cy="4206240"/>
          </a:xfrm>
          <a:prstGeom prst="rect">
            <a:avLst/>
          </a:prstGeom>
          <a:noFill/>
          <a:ln/>
        </p:spPr>
        <p:txBody>
          <a:bodyPr wrap="square" rtlCol="0" anchor="ctr"/>
          <a:lstStyle/>
          <a:p>
            <a:pPr indent="0" marL="0">
              <a:lnSpc>
                <a:spcPts val="2200"/>
              </a:lnSpc>
              <a:buNone/>
            </a:pPr>
            <a:r>
              <a:rPr lang="en-US" sz="1800" b="1" dirty="0">
                <a:solidFill>
                  <a:srgbClr val="297FD5"/>
                </a:solidFill>
                <a:latin typeface="Arial" pitchFamily="34" charset="0"/>
                <a:ea typeface="Arial" pitchFamily="34" charset="-122"/>
                <a:cs typeface="Arial" pitchFamily="34" charset="-120"/>
              </a:rPr>
              <a:t>• Cascaded Full Adders:
</a:t>
            </a:r>
            <a:pPr indent="0" marL="0">
              <a:lnSpc>
                <a:spcPts val="2200"/>
              </a:lnSpc>
              <a:buNone/>
            </a:pPr>
            <a:r>
              <a:rPr lang="en-US" sz="1600" dirty="0">
                <a:solidFill>
                  <a:srgbClr val="0F172A"/>
                </a:solidFill>
                <a:latin typeface="Arial" pitchFamily="34" charset="0"/>
                <a:ea typeface="Arial" pitchFamily="34" charset="-122"/>
                <a:cs typeface="Arial" pitchFamily="34" charset="-120"/>
              </a:rPr>
              <a:t>  By combining Full Adders in series, we can calculate the sum of n-bit numbers. However, it is a slow method as each bit must process sequentially.
</a:t>
            </a:r>
            <a:pPr indent="0" marL="0">
              <a:lnSpc>
                <a:spcPts val="2200"/>
              </a:lnSpc>
              <a:buNone/>
            </a:pPr>
            <a:r>
              <a:rPr lang="en-US" sz="1800" b="1" dirty="0">
                <a:solidFill>
                  <a:srgbClr val="DC2626"/>
                </a:solidFill>
                <a:latin typeface="Arial" pitchFamily="34" charset="0"/>
                <a:ea typeface="Arial" pitchFamily="34" charset="-122"/>
                <a:cs typeface="Arial" pitchFamily="34" charset="-120"/>
              </a:rPr>
              <a:t>• Delay Bottleneck in RCA:
</a:t>
            </a:r>
            <a:pPr indent="0" marL="0">
              <a:lnSpc>
                <a:spcPts val="2200"/>
              </a:lnSpc>
              <a:buNone/>
            </a:pPr>
            <a:r>
              <a:rPr lang="en-US" sz="1600" dirty="0">
                <a:solidFill>
                  <a:srgbClr val="0F172A"/>
                </a:solidFill>
                <a:latin typeface="Arial" pitchFamily="34" charset="0"/>
                <a:ea typeface="Arial" pitchFamily="34" charset="-122"/>
                <a:cs typeface="Arial" pitchFamily="34" charset="-120"/>
              </a:rPr>
              <a:t>  To calculate the most significant bit (MSB), we must wait for the carry signal to propagate all the way from the least significant bit (LSB). This carry propagation delay limits high-speed multiplication and ALU performance.</a:t>
            </a:r>
            <a:endParaRPr lang="en-US" sz="1800" dirty="0"/>
          </a:p>
        </p:txBody>
      </p:sp>
      <p:sp>
        <p:nvSpPr>
          <p:cNvPr id="14" name="Shape 12"/>
          <p:cNvSpPr/>
          <p:nvPr/>
        </p:nvSpPr>
        <p:spPr>
          <a:xfrm>
            <a:off x="5577840" y="1143000"/>
            <a:ext cx="6062472" cy="5029200"/>
          </a:xfrm>
          <a:prstGeom prst="roundRect">
            <a:avLst>
              <a:gd name="adj" fmla="val 1455"/>
            </a:avLst>
          </a:prstGeom>
          <a:solidFill>
            <a:srgbClr val="FFFFFF"/>
          </a:solidFill>
          <a:ln w="12700">
            <a:solidFill>
              <a:srgbClr val="CBD5E1"/>
            </a:solidFill>
            <a:prstDash val="solid"/>
          </a:ln>
        </p:spPr>
      </p:sp>
      <p:sp>
        <p:nvSpPr>
          <p:cNvPr id="15" name="Shape 13"/>
          <p:cNvSpPr/>
          <p:nvPr/>
        </p:nvSpPr>
        <p:spPr>
          <a:xfrm>
            <a:off x="5577840" y="1143000"/>
            <a:ext cx="6062472" cy="457200"/>
          </a:xfrm>
          <a:prstGeom prst="roundRect">
            <a:avLst>
              <a:gd name="adj" fmla="val 16000"/>
            </a:avLst>
          </a:prstGeom>
          <a:solidFill>
            <a:srgbClr val="0F172A"/>
          </a:solidFill>
          <a:ln w="12700">
            <a:solidFill>
              <a:srgbClr val="0F172A"/>
            </a:solidFill>
            <a:prstDash val="solid"/>
          </a:ln>
        </p:spPr>
      </p:sp>
      <p:sp>
        <p:nvSpPr>
          <p:cNvPr id="16" name="Shape 14"/>
          <p:cNvSpPr/>
          <p:nvPr/>
        </p:nvSpPr>
        <p:spPr>
          <a:xfrm>
            <a:off x="5577840" y="1371600"/>
            <a:ext cx="6062472" cy="228600"/>
          </a:xfrm>
          <a:prstGeom prst="rect">
            <a:avLst/>
          </a:prstGeom>
          <a:solidFill>
            <a:srgbClr val="0F172A"/>
          </a:solidFill>
          <a:ln w="12700">
            <a:solidFill>
              <a:srgbClr val="0F172A"/>
            </a:solidFill>
            <a:prstDash val="solid"/>
          </a:ln>
        </p:spPr>
      </p:sp>
      <p:sp>
        <p:nvSpPr>
          <p:cNvPr id="17" name="Text 15"/>
          <p:cNvSpPr/>
          <p:nvPr/>
        </p:nvSpPr>
        <p:spPr>
          <a:xfrm>
            <a:off x="5760720" y="1216152"/>
            <a:ext cx="56967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Ripple Carry Adder Circuit Diagram</a:t>
            </a:r>
            <a:endParaRPr lang="en-US" sz="1600" dirty="0"/>
          </a:p>
        </p:txBody>
      </p:sp>
      <p:pic>
        <p:nvPicPr>
          <p:cNvPr id="18" name="Image 0" descr="C:\Users\shahrear\Downloads\LTSpice\Thesis\Thesis Book\Presenatation\extracted_adder\ppt\media\image6.png">    </p:cNvPr>
          <p:cNvPicPr>
            <a:picLocks noChangeAspect="1"/>
          </p:cNvPicPr>
          <p:nvPr/>
        </p:nvPicPr>
        <p:blipFill>
          <a:blip r:embed="rId1"/>
          <a:stretch>
            <a:fillRect/>
          </a:stretch>
        </p:blipFill>
        <p:spPr>
          <a:xfrm>
            <a:off x="5806440" y="1737360"/>
            <a:ext cx="5605272" cy="3657600"/>
          </a:xfrm>
          <a:prstGeom prst="rect">
            <a:avLst/>
          </a:prstGeom>
        </p:spPr>
      </p:pic>
      <p:sp>
        <p:nvSpPr>
          <p:cNvPr id="19" name="Text 16"/>
          <p:cNvSpPr/>
          <p:nvPr/>
        </p:nvSpPr>
        <p:spPr>
          <a:xfrm>
            <a:off x="5806440" y="5486400"/>
            <a:ext cx="5605272" cy="36576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03: Ripple carry Adder design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BACKGROUND: Carry Look-Ahead (CLA) Block</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7</a:t>
            </a:r>
            <a:endParaRPr lang="en-US" sz="1100" dirty="0"/>
          </a:p>
        </p:txBody>
      </p:sp>
      <p:sp>
        <p:nvSpPr>
          <p:cNvPr id="9" name="Shape 7"/>
          <p:cNvSpPr/>
          <p:nvPr/>
        </p:nvSpPr>
        <p:spPr>
          <a:xfrm>
            <a:off x="548640" y="1143000"/>
            <a:ext cx="530352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30352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303520" cy="228600"/>
          </a:xfrm>
          <a:prstGeom prst="rect">
            <a:avLst/>
          </a:prstGeom>
          <a:solidFill>
            <a:srgbClr val="0F172A"/>
          </a:solidFill>
          <a:ln w="12700">
            <a:solidFill>
              <a:srgbClr val="0F172A"/>
            </a:solidFill>
            <a:prstDash val="solid"/>
          </a:ln>
        </p:spPr>
      </p:sp>
      <p:sp>
        <p:nvSpPr>
          <p:cNvPr id="12" name="Text 10"/>
          <p:cNvSpPr/>
          <p:nvPr/>
        </p:nvSpPr>
        <p:spPr>
          <a:xfrm>
            <a:off x="731520" y="1216152"/>
            <a:ext cx="493776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CLA Carry Calculation Block</a:t>
            </a:r>
            <a:endParaRPr lang="en-US" sz="1600" dirty="0"/>
          </a:p>
        </p:txBody>
      </p:sp>
      <p:pic>
        <p:nvPicPr>
          <p:cNvPr id="13" name="Image 0" descr="C:\Users\shahrear\Downloads\LTSpice\Thesis\Thesis Book\Presenatation\extracted_adder\ppt\media\image12.png">    </p:cNvPr>
          <p:cNvPicPr>
            <a:picLocks noChangeAspect="1"/>
          </p:cNvPicPr>
          <p:nvPr/>
        </p:nvPicPr>
        <p:blipFill>
          <a:blip r:embed="rId1"/>
          <a:stretch>
            <a:fillRect/>
          </a:stretch>
        </p:blipFill>
        <p:spPr>
          <a:xfrm>
            <a:off x="777240" y="1691640"/>
            <a:ext cx="4846320" cy="3840480"/>
          </a:xfrm>
          <a:prstGeom prst="rect">
            <a:avLst/>
          </a:prstGeom>
        </p:spPr>
      </p:pic>
      <p:sp>
        <p:nvSpPr>
          <p:cNvPr id="14" name="Text 11"/>
          <p:cNvSpPr/>
          <p:nvPr/>
        </p:nvSpPr>
        <p:spPr>
          <a:xfrm>
            <a:off x="777240" y="5623560"/>
            <a:ext cx="4846320" cy="32004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Fig 04: Carry Look Ahead Carry Calculation Block</a:t>
            </a:r>
            <a:endParaRPr lang="en-US" sz="1300" dirty="0"/>
          </a:p>
        </p:txBody>
      </p:sp>
      <p:sp>
        <p:nvSpPr>
          <p:cNvPr id="15" name="Shape 12"/>
          <p:cNvSpPr/>
          <p:nvPr/>
        </p:nvSpPr>
        <p:spPr>
          <a:xfrm>
            <a:off x="6126480" y="1143000"/>
            <a:ext cx="5513832" cy="5029200"/>
          </a:xfrm>
          <a:prstGeom prst="roundRect">
            <a:avLst>
              <a:gd name="adj" fmla="val 1455"/>
            </a:avLst>
          </a:prstGeom>
          <a:solidFill>
            <a:srgbClr val="FFFFFF"/>
          </a:solidFill>
          <a:ln w="12700">
            <a:solidFill>
              <a:srgbClr val="CBD5E1"/>
            </a:solidFill>
            <a:prstDash val="solid"/>
          </a:ln>
        </p:spPr>
      </p:sp>
      <p:sp>
        <p:nvSpPr>
          <p:cNvPr id="16" name="Shape 13"/>
          <p:cNvSpPr/>
          <p:nvPr/>
        </p:nvSpPr>
        <p:spPr>
          <a:xfrm>
            <a:off x="6126480" y="1143000"/>
            <a:ext cx="551383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6126480" y="1371600"/>
            <a:ext cx="5513832" cy="228600"/>
          </a:xfrm>
          <a:prstGeom prst="rect">
            <a:avLst/>
          </a:prstGeom>
          <a:solidFill>
            <a:srgbClr val="0F172A"/>
          </a:solidFill>
          <a:ln w="12700">
            <a:solidFill>
              <a:srgbClr val="0F172A"/>
            </a:solidFill>
            <a:prstDash val="solid"/>
          </a:ln>
        </p:spPr>
      </p:sp>
      <p:sp>
        <p:nvSpPr>
          <p:cNvPr id="18" name="Text 15"/>
          <p:cNvSpPr/>
          <p:nvPr/>
        </p:nvSpPr>
        <p:spPr>
          <a:xfrm>
            <a:off x="6309360" y="1216152"/>
            <a:ext cx="514807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CLA Parallel Speed Advantage</a:t>
            </a:r>
            <a:endParaRPr lang="en-US" sz="1600" dirty="0"/>
          </a:p>
        </p:txBody>
      </p:sp>
      <p:sp>
        <p:nvSpPr>
          <p:cNvPr id="19" name="Text 16"/>
          <p:cNvSpPr/>
          <p:nvPr/>
        </p:nvSpPr>
        <p:spPr>
          <a:xfrm>
            <a:off x="6355080" y="1691640"/>
            <a:ext cx="5056632" cy="201168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Fast Carry Generation: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circuit shown in Fig 4 calculates carry signals separately and in parallel.
</a:t>
            </a:r>
            <a:pPr indent="0" marL="0">
              <a:lnSpc>
                <a:spcPts val="2000"/>
              </a:lnSpc>
              <a:buNone/>
            </a:pPr>
            <a:r>
              <a:rPr lang="en-US" sz="1700" b="1" dirty="0">
                <a:solidFill>
                  <a:srgbClr val="297FD5"/>
                </a:solidFill>
                <a:latin typeface="Arial" pitchFamily="34" charset="0"/>
                <a:ea typeface="Arial" pitchFamily="34" charset="-122"/>
                <a:cs typeface="Arial" pitchFamily="34" charset="-120"/>
              </a:rPr>
              <a:t>• Reduced Latency:
</a:t>
            </a:r>
            <a:pPr indent="0" marL="0">
              <a:lnSpc>
                <a:spcPts val="2000"/>
              </a:lnSpc>
              <a:buNone/>
            </a:pPr>
            <a:r>
              <a:rPr lang="en-US" sz="1500" dirty="0">
                <a:solidFill>
                  <a:srgbClr val="0F172A"/>
                </a:solidFill>
                <a:latin typeface="Arial" pitchFamily="34" charset="0"/>
                <a:ea typeface="Arial" pitchFamily="34" charset="-122"/>
                <a:cs typeface="Arial" pitchFamily="34" charset="-120"/>
              </a:rPr>
              <a:t>  By doing so, we calculate the sum much faster than the ripple carry adder because bits do not need to wait for sequential propagation.</a:t>
            </a:r>
            <a:endParaRPr lang="en-US" sz="1700" dirty="0"/>
          </a:p>
        </p:txBody>
      </p:sp>
      <p:pic>
        <p:nvPicPr>
          <p:cNvPr id="20" name="Image 1" descr="C:\Users\shahrear\Downloads\LTSpice\Thesis\Thesis Book\Presenatation\extracted_adder\ppt\media\image9.png">    </p:cNvPr>
          <p:cNvPicPr>
            <a:picLocks noChangeAspect="1"/>
          </p:cNvPicPr>
          <p:nvPr/>
        </p:nvPicPr>
        <p:blipFill>
          <a:blip r:embed="rId2"/>
          <a:stretch>
            <a:fillRect/>
          </a:stretch>
        </p:blipFill>
        <p:spPr>
          <a:xfrm>
            <a:off x="6355080" y="3749040"/>
            <a:ext cx="2286000" cy="457200"/>
          </a:xfrm>
          <a:prstGeom prst="rect">
            <a:avLst/>
          </a:prstGeom>
        </p:spPr>
      </p:pic>
      <p:pic>
        <p:nvPicPr>
          <p:cNvPr id="21" name="Image 2" descr="C:\Users\shahrear\Downloads\LTSpice\Thesis\Thesis Book\Presenatation\extracted_adder\ppt\media\image10.png">    </p:cNvPr>
          <p:cNvPicPr>
            <a:picLocks noChangeAspect="1"/>
          </p:cNvPicPr>
          <p:nvPr/>
        </p:nvPicPr>
        <p:blipFill>
          <a:blip r:embed="rId3"/>
          <a:stretch>
            <a:fillRect/>
          </a:stretch>
        </p:blipFill>
        <p:spPr>
          <a:xfrm>
            <a:off x="8778240" y="3749040"/>
            <a:ext cx="2560320" cy="457200"/>
          </a:xfrm>
          <a:prstGeom prst="rect">
            <a:avLst/>
          </a:prstGeom>
        </p:spPr>
      </p:pic>
      <p:pic>
        <p:nvPicPr>
          <p:cNvPr id="22" name="Image 3" descr="C:\Users\shahrear\Downloads\LTSpice\Thesis\Thesis Book\Presenatation\extracted_adder\ppt\media\image11.png">    </p:cNvPr>
          <p:cNvPicPr>
            <a:picLocks noChangeAspect="1"/>
          </p:cNvPicPr>
          <p:nvPr/>
        </p:nvPicPr>
        <p:blipFill>
          <a:blip r:embed="rId4"/>
          <a:stretch>
            <a:fillRect/>
          </a:stretch>
        </p:blipFill>
        <p:spPr>
          <a:xfrm>
            <a:off x="6355080" y="4389120"/>
            <a:ext cx="4983480" cy="1463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BACKGROUND: Manchester Carry Adder</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8</a:t>
            </a:r>
            <a:endParaRPr lang="en-US" sz="1100" dirty="0"/>
          </a:p>
        </p:txBody>
      </p:sp>
      <p:sp>
        <p:nvSpPr>
          <p:cNvPr id="9" name="Shape 7"/>
          <p:cNvSpPr/>
          <p:nvPr/>
        </p:nvSpPr>
        <p:spPr>
          <a:xfrm>
            <a:off x="548640" y="1143000"/>
            <a:ext cx="713232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713232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7132320" cy="228600"/>
          </a:xfrm>
          <a:prstGeom prst="rect">
            <a:avLst/>
          </a:prstGeom>
          <a:solidFill>
            <a:srgbClr val="0F172A"/>
          </a:solidFill>
          <a:ln w="12700">
            <a:solidFill>
              <a:srgbClr val="0F172A"/>
            </a:solidFill>
            <a:prstDash val="solid"/>
          </a:ln>
        </p:spPr>
      </p:sp>
      <p:sp>
        <p:nvSpPr>
          <p:cNvPr id="12" name="Text 10"/>
          <p:cNvSpPr/>
          <p:nvPr/>
        </p:nvSpPr>
        <p:spPr>
          <a:xfrm>
            <a:off x="731520" y="1216152"/>
            <a:ext cx="676656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Conventional Manchester Carry Circuit</a:t>
            </a:r>
            <a:endParaRPr lang="en-US" sz="1600" dirty="0"/>
          </a:p>
        </p:txBody>
      </p:sp>
      <p:pic>
        <p:nvPicPr>
          <p:cNvPr id="13" name="Image 0" descr="C:\Users\shahrear\Downloads\LTSpice\Thesis\Thesis Book\Presenatation\extracted_adder\ppt\media\image13.png">    </p:cNvPr>
          <p:cNvPicPr>
            <a:picLocks noChangeAspect="1"/>
          </p:cNvPicPr>
          <p:nvPr/>
        </p:nvPicPr>
        <p:blipFill>
          <a:blip r:embed="rId1"/>
          <a:stretch>
            <a:fillRect/>
          </a:stretch>
        </p:blipFill>
        <p:spPr>
          <a:xfrm>
            <a:off x="777240" y="1691640"/>
            <a:ext cx="6675120" cy="3931920"/>
          </a:xfrm>
          <a:prstGeom prst="rect">
            <a:avLst/>
          </a:prstGeom>
        </p:spPr>
      </p:pic>
      <p:sp>
        <p:nvSpPr>
          <p:cNvPr id="14" name="Text 11"/>
          <p:cNvSpPr/>
          <p:nvPr/>
        </p:nvSpPr>
        <p:spPr>
          <a:xfrm>
            <a:off x="777240" y="5623560"/>
            <a:ext cx="6675120" cy="32004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Fig 05: Conventional Manchester Carry Adder Carry Calculation</a:t>
            </a:r>
            <a:endParaRPr lang="en-US" sz="1300" dirty="0"/>
          </a:p>
        </p:txBody>
      </p:sp>
      <p:sp>
        <p:nvSpPr>
          <p:cNvPr id="15" name="Shape 12"/>
          <p:cNvSpPr/>
          <p:nvPr/>
        </p:nvSpPr>
        <p:spPr>
          <a:xfrm>
            <a:off x="7955280" y="1143000"/>
            <a:ext cx="3685032" cy="5029200"/>
          </a:xfrm>
          <a:prstGeom prst="roundRect">
            <a:avLst>
              <a:gd name="adj" fmla="val 1985"/>
            </a:avLst>
          </a:prstGeom>
          <a:solidFill>
            <a:srgbClr val="FFFFFF"/>
          </a:solidFill>
          <a:ln w="12700">
            <a:solidFill>
              <a:srgbClr val="CBD5E1"/>
            </a:solidFill>
            <a:prstDash val="solid"/>
          </a:ln>
        </p:spPr>
      </p:sp>
      <p:sp>
        <p:nvSpPr>
          <p:cNvPr id="16" name="Shape 13"/>
          <p:cNvSpPr/>
          <p:nvPr/>
        </p:nvSpPr>
        <p:spPr>
          <a:xfrm>
            <a:off x="7955280" y="1143000"/>
            <a:ext cx="368503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7955280" y="1371600"/>
            <a:ext cx="3685032" cy="228600"/>
          </a:xfrm>
          <a:prstGeom prst="rect">
            <a:avLst/>
          </a:prstGeom>
          <a:solidFill>
            <a:srgbClr val="0F172A"/>
          </a:solidFill>
          <a:ln w="12700">
            <a:solidFill>
              <a:srgbClr val="0F172A"/>
            </a:solidFill>
            <a:prstDash val="solid"/>
          </a:ln>
        </p:spPr>
      </p:sp>
      <p:sp>
        <p:nvSpPr>
          <p:cNvPr id="18" name="Text 15"/>
          <p:cNvSpPr/>
          <p:nvPr/>
        </p:nvSpPr>
        <p:spPr>
          <a:xfrm>
            <a:off x="8138160" y="1216152"/>
            <a:ext cx="331927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Manchester Carry Features</a:t>
            </a:r>
            <a:endParaRPr lang="en-US" sz="1600" dirty="0"/>
          </a:p>
        </p:txBody>
      </p:sp>
      <p:sp>
        <p:nvSpPr>
          <p:cNvPr id="19" name="Text 16"/>
          <p:cNvSpPr/>
          <p:nvPr/>
        </p:nvSpPr>
        <p:spPr>
          <a:xfrm>
            <a:off x="8183880" y="1737360"/>
            <a:ext cx="322783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Direct Switch Logic:
</a:t>
            </a:r>
            <a:pPr indent="0" marL="0">
              <a:lnSpc>
                <a:spcPts val="2000"/>
              </a:lnSpc>
              <a:buNone/>
            </a:pPr>
            <a:r>
              <a:rPr lang="en-US" sz="1500" dirty="0">
                <a:solidFill>
                  <a:srgbClr val="0F172A"/>
                </a:solidFill>
                <a:latin typeface="Arial" pitchFamily="34" charset="0"/>
                <a:ea typeface="Arial" pitchFamily="34" charset="-122"/>
                <a:cs typeface="Arial" pitchFamily="34" charset="-120"/>
              </a:rPr>
              <a:t>  Calculates carry separately using pass-transistor switch chains.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Gate Elimination: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Differs from standard CLA by avoiding heavy static logic gates in the carry chain, reducing gate count and power.</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2. BACKGROUND: Parallel Carry Generation Principles</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9</a:t>
            </a:r>
            <a:endParaRPr lang="en-US" sz="1100" dirty="0"/>
          </a:p>
        </p:txBody>
      </p:sp>
      <p:sp>
        <p:nvSpPr>
          <p:cNvPr id="9" name="Shape 7"/>
          <p:cNvSpPr/>
          <p:nvPr/>
        </p:nvSpPr>
        <p:spPr>
          <a:xfrm>
            <a:off x="548640" y="1143000"/>
            <a:ext cx="566928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66928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669280" cy="228600"/>
          </a:xfrm>
          <a:prstGeom prst="rect">
            <a:avLst/>
          </a:prstGeom>
          <a:solidFill>
            <a:srgbClr val="0F172A"/>
          </a:solidFill>
          <a:ln w="12700">
            <a:solidFill>
              <a:srgbClr val="0F172A"/>
            </a:solidFill>
            <a:prstDash val="solid"/>
          </a:ln>
        </p:spPr>
      </p:sp>
      <p:sp>
        <p:nvSpPr>
          <p:cNvPr id="12" name="Text 10"/>
          <p:cNvSpPr/>
          <p:nvPr/>
        </p:nvSpPr>
        <p:spPr>
          <a:xfrm>
            <a:off x="731520" y="1216152"/>
            <a:ext cx="530352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Carry Generation Formulas</a:t>
            </a:r>
            <a:endParaRPr lang="en-US" sz="1600" dirty="0"/>
          </a:p>
        </p:txBody>
      </p:sp>
      <p:pic>
        <p:nvPicPr>
          <p:cNvPr id="13" name="Image 0" descr="C:\Users\shahrear\Downloads\LTSpice\Thesis\Thesis Book\Presenatation\extracted_adder\ppt\media\image14.png">    </p:cNvPr>
          <p:cNvPicPr>
            <a:picLocks noChangeAspect="1"/>
          </p:cNvPicPr>
          <p:nvPr/>
        </p:nvPicPr>
        <p:blipFill>
          <a:blip r:embed="rId1"/>
          <a:stretch>
            <a:fillRect/>
          </a:stretch>
        </p:blipFill>
        <p:spPr>
          <a:xfrm>
            <a:off x="777240" y="1737360"/>
            <a:ext cx="5212080" cy="4114800"/>
          </a:xfrm>
          <a:prstGeom prst="rect">
            <a:avLst/>
          </a:prstGeom>
        </p:spPr>
      </p:pic>
      <p:sp>
        <p:nvSpPr>
          <p:cNvPr id="14" name="Shape 11"/>
          <p:cNvSpPr/>
          <p:nvPr/>
        </p:nvSpPr>
        <p:spPr>
          <a:xfrm>
            <a:off x="6492240" y="1143000"/>
            <a:ext cx="5148072" cy="5029200"/>
          </a:xfrm>
          <a:prstGeom prst="roundRect">
            <a:avLst>
              <a:gd name="adj" fmla="val 1455"/>
            </a:avLst>
          </a:prstGeom>
          <a:solidFill>
            <a:srgbClr val="FFFFFF"/>
          </a:solidFill>
          <a:ln w="12700">
            <a:solidFill>
              <a:srgbClr val="CBD5E1"/>
            </a:solidFill>
            <a:prstDash val="solid"/>
          </a:ln>
        </p:spPr>
      </p:sp>
      <p:sp>
        <p:nvSpPr>
          <p:cNvPr id="15" name="Shape 12"/>
          <p:cNvSpPr/>
          <p:nvPr/>
        </p:nvSpPr>
        <p:spPr>
          <a:xfrm>
            <a:off x="6492240" y="1143000"/>
            <a:ext cx="5148072" cy="457200"/>
          </a:xfrm>
          <a:prstGeom prst="roundRect">
            <a:avLst>
              <a:gd name="adj" fmla="val 16000"/>
            </a:avLst>
          </a:prstGeom>
          <a:solidFill>
            <a:srgbClr val="0F172A"/>
          </a:solidFill>
          <a:ln w="12700">
            <a:solidFill>
              <a:srgbClr val="0F172A"/>
            </a:solidFill>
            <a:prstDash val="solid"/>
          </a:ln>
        </p:spPr>
      </p:sp>
      <p:sp>
        <p:nvSpPr>
          <p:cNvPr id="16" name="Shape 13"/>
          <p:cNvSpPr/>
          <p:nvPr/>
        </p:nvSpPr>
        <p:spPr>
          <a:xfrm>
            <a:off x="6492240" y="1371600"/>
            <a:ext cx="5148072" cy="228600"/>
          </a:xfrm>
          <a:prstGeom prst="rect">
            <a:avLst/>
          </a:prstGeom>
          <a:solidFill>
            <a:srgbClr val="0F172A"/>
          </a:solidFill>
          <a:ln w="12700">
            <a:solidFill>
              <a:srgbClr val="0F172A"/>
            </a:solidFill>
            <a:prstDash val="solid"/>
          </a:ln>
        </p:spPr>
      </p:sp>
      <p:sp>
        <p:nvSpPr>
          <p:cNvPr id="17" name="Text 14"/>
          <p:cNvSpPr/>
          <p:nvPr/>
        </p:nvSpPr>
        <p:spPr>
          <a:xfrm>
            <a:off x="6675120" y="1216152"/>
            <a:ext cx="47823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Parallel Computation Significance</a:t>
            </a:r>
            <a:endParaRPr lang="en-US" sz="1600" dirty="0"/>
          </a:p>
        </p:txBody>
      </p:sp>
      <p:sp>
        <p:nvSpPr>
          <p:cNvPr id="18" name="Text 15"/>
          <p:cNvSpPr/>
          <p:nvPr/>
        </p:nvSpPr>
        <p:spPr>
          <a:xfrm>
            <a:off x="6720840" y="1737360"/>
            <a:ext cx="4690872" cy="4206240"/>
          </a:xfrm>
          <a:prstGeom prst="rect">
            <a:avLst/>
          </a:prstGeom>
          <a:noFill/>
          <a:ln/>
        </p:spPr>
        <p:txBody>
          <a:bodyPr wrap="square" rtlCol="0" anchor="ctr"/>
          <a:lstStyle/>
          <a:p>
            <a:pPr indent="0" marL="0">
              <a:lnSpc>
                <a:spcPts val="2200"/>
              </a:lnSpc>
              <a:buNone/>
            </a:pPr>
            <a:r>
              <a:rPr lang="en-US" sz="1800" b="1" dirty="0">
                <a:solidFill>
                  <a:srgbClr val="297FD5"/>
                </a:solidFill>
                <a:latin typeface="Arial" pitchFamily="34" charset="0"/>
                <a:ea typeface="Arial" pitchFamily="34" charset="-122"/>
                <a:cs typeface="Arial" pitchFamily="34" charset="-120"/>
              </a:rPr>
              <a:t>• Simultaneous Carry Calculation:
</a:t>
            </a:r>
            <a:pPr indent="0" marL="0">
              <a:lnSpc>
                <a:spcPts val="2200"/>
              </a:lnSpc>
              <a:buNone/>
            </a:pPr>
            <a:r>
              <a:rPr lang="en-US" sz="1600" dirty="0">
                <a:solidFill>
                  <a:srgbClr val="0F172A"/>
                </a:solidFill>
                <a:latin typeface="Arial" pitchFamily="34" charset="0"/>
                <a:ea typeface="Arial" pitchFamily="34" charset="-122"/>
                <a:cs typeface="Arial" pitchFamily="34" charset="-120"/>
              </a:rPr>
              <a:t>  Instead of waiting for each carry to be produced sequentially (as in ripple-carry addition), all carries are computed in parallel using closed-form logic expressions.
</a:t>
            </a:r>
            <a:pPr indent="0" marL="0">
              <a:lnSpc>
                <a:spcPts val="2200"/>
              </a:lnSpc>
              <a:buNone/>
            </a:pPr>
            <a:r>
              <a:rPr lang="en-US" sz="1800" b="1" dirty="0">
                <a:solidFill>
                  <a:srgbClr val="0D9488"/>
                </a:solidFill>
                <a:latin typeface="Arial" pitchFamily="34" charset="0"/>
                <a:ea typeface="Arial" pitchFamily="34" charset="-122"/>
                <a:cs typeface="Arial" pitchFamily="34" charset="-120"/>
              </a:rPr>
              <a:t>• Essential for High-Speed CPUs:
</a:t>
            </a:r>
            <a:pPr indent="0" marL="0">
              <a:lnSpc>
                <a:spcPts val="2200"/>
              </a:lnSpc>
              <a:buNone/>
            </a:pPr>
            <a:r>
              <a:rPr lang="en-US" sz="1600" dirty="0">
                <a:solidFill>
                  <a:srgbClr val="0F172A"/>
                </a:solidFill>
                <a:latin typeface="Arial" pitchFamily="34" charset="0"/>
                <a:ea typeface="Arial" pitchFamily="34" charset="-122"/>
                <a:cs typeface="Arial" pitchFamily="34" charset="-120"/>
              </a:rPr>
              <a:t>  Carry Look-Ahead calculation is essential for building fast arithmetic logic units (ALUs) found in modern microprocessors and digital signal processors (DSPs), improving overall system clock rates.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3. LITERATURE REVIEW: Prior Art Comparison</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10</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Summary of Literature Contributions &amp; Limitations</a:t>
            </a:r>
            <a:endParaRPr lang="en-US" sz="1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77240" y="1783080"/>
          <a:ext cx="10634472" cy="4023360"/>
        </p:xfrm>
        <a:graphic>
          <a:graphicData uri="http://schemas.openxmlformats.org/drawingml/2006/table">
            <a:tbl>
              <a:tblPr/>
              <a:tblGrid>
                <a:gridCol w="2926080"/>
                <a:gridCol w="1005840"/>
                <a:gridCol w="3291840"/>
                <a:gridCol w="3410712"/>
              </a:tblGrid>
              <a:tr h="1005840">
                <a:tc>
                  <a:txBody>
                    <a:bodyPr/>
                    <a:lstStyle/>
                    <a:p>
                      <a:pPr algn="ctr" indent="0" marL="0">
                        <a:buNone/>
                      </a:pPr>
                      <a:r>
                        <a:rPr lang="en-US" sz="1500" b="1" dirty="0">
                          <a:solidFill>
                            <a:srgbClr val="FFFFFF"/>
                          </a:solidFill>
                        </a:rPr>
                        <a:t>Researcher(s)</a:t>
                      </a:r>
                      <a:endParaRPr lang="en-US" sz="15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500" b="1" dirty="0">
                          <a:solidFill>
                            <a:srgbClr val="FFFFFF"/>
                          </a:solidFill>
                        </a:rPr>
                        <a:t>Year</a:t>
                      </a:r>
                      <a:endParaRPr lang="en-US" sz="15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500" b="1" dirty="0">
                          <a:solidFill>
                            <a:srgbClr val="FFFFFF"/>
                          </a:solidFill>
                        </a:rPr>
                        <a:t>Contribution</a:t>
                      </a:r>
                      <a:endParaRPr lang="en-US" sz="15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c>
                  <a:txBody>
                    <a:bodyPr/>
                    <a:lstStyle/>
                    <a:p>
                      <a:pPr algn="ctr" indent="0" marL="0">
                        <a:buNone/>
                      </a:pPr>
                      <a:r>
                        <a:rPr lang="en-US" sz="1500" b="1" dirty="0">
                          <a:solidFill>
                            <a:srgbClr val="FFFFFF"/>
                          </a:solidFill>
                        </a:rPr>
                        <a:t>Drawbacks / Limitations</a:t>
                      </a:r>
                      <a:endParaRPr lang="en-US" sz="15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0F172A"/>
                    </a:solidFill>
                  </a:tcPr>
                </a:tc>
              </a:tr>
              <a:tr h="1005840">
                <a:tc>
                  <a:txBody>
                    <a:bodyPr/>
                    <a:lstStyle/>
                    <a:p>
                      <a:pPr algn="ctr" indent="0" marL="0">
                        <a:buNone/>
                      </a:pPr>
                      <a:r>
                        <a:rPr lang="en-US" sz="1300" dirty="0">
                          <a:solidFill>
                            <a:srgbClr val="0F172A"/>
                          </a:solidFill>
                        </a:rPr>
                        <a:t>Padmanabhan Balasubramanian &amp;</a:t>
                      </a:r>
                      <a:endParaRPr lang="en-US" sz="1300" dirty="0"/>
                    </a:p>
                    <a:p>
                      <a:pPr algn="ctr" indent="0" marL="0">
                        <a:buNone/>
                      </a:pPr>
                      <a:r>
                        <a:rPr lang="en-US" sz="1300" dirty="0">
                          <a:solidFill>
                            <a:srgbClr val="0F172A"/>
                          </a:solidFill>
                        </a:rPr>
                        <a:t>Nikos E. Mastorakis [1]</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2022</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Use of CLA Adder for an advanced high-speed design</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Uses static logic gates which are more complex and power-heavy.</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1005840">
                <a:tc>
                  <a:txBody>
                    <a:bodyPr/>
                    <a:lstStyle/>
                    <a:p>
                      <a:pPr algn="ctr" indent="0" marL="0">
                        <a:buNone/>
                      </a:pPr>
                      <a:r>
                        <a:rPr lang="en-US" sz="1300" dirty="0">
                          <a:solidFill>
                            <a:srgbClr val="0F172A"/>
                          </a:solidFill>
                        </a:rPr>
                        <a:t>Vellingiri GOVINDARAJ,</a:t>
                      </a:r>
                      <a:endParaRPr lang="en-US" sz="1300" dirty="0"/>
                    </a:p>
                    <a:p>
                      <a:pPr algn="ctr" indent="0" marL="0">
                        <a:buNone/>
                      </a:pPr>
                      <a:r>
                        <a:rPr lang="en-US" sz="1300" dirty="0">
                          <a:solidFill>
                            <a:srgbClr val="0F172A"/>
                          </a:solidFill>
                        </a:rPr>
                        <a:t>Ezhılazhagan CHENGUTTUVAN,</a:t>
                      </a:r>
                      <a:endParaRPr lang="en-US" sz="1300" dirty="0"/>
                    </a:p>
                    <a:p>
                      <a:pPr algn="ctr" indent="0" marL="0">
                        <a:buNone/>
                      </a:pPr>
                      <a:r>
                        <a:rPr lang="en-US" sz="1300" dirty="0">
                          <a:solidFill>
                            <a:srgbClr val="0F172A"/>
                          </a:solidFill>
                        </a:rPr>
                        <a:t>Dhanasekar SUBRAMANIYAM [2]</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2022</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Use of CSKA Adder for a FIR filter design using block bypass.</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Employs Ripple Carry Adder blocks with logic gates, resulting in slow speed.</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r h="1005840">
                <a:tc>
                  <a:txBody>
                    <a:bodyPr/>
                    <a:lstStyle/>
                    <a:p>
                      <a:pPr algn="ctr" indent="0" marL="0">
                        <a:buNone/>
                      </a:pPr>
                      <a:r>
                        <a:rPr lang="en-US" sz="1300" dirty="0">
                          <a:solidFill>
                            <a:srgbClr val="0F172A"/>
                          </a:solidFill>
                        </a:rPr>
                        <a:t>P Das, A L Bhalerao, A Mane,</a:t>
                      </a:r>
                      <a:endParaRPr lang="en-US" sz="1300" dirty="0"/>
                    </a:p>
                    <a:p>
                      <a:pPr algn="ctr" indent="0" marL="0">
                        <a:buNone/>
                      </a:pPr>
                      <a:r>
                        <a:rPr lang="en-US" sz="1300" dirty="0">
                          <a:solidFill>
                            <a:srgbClr val="0F172A"/>
                          </a:solidFill>
                        </a:rPr>
                        <a:t>A Angeline A, V S K Bhaaskaran [3]</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2019</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Use of Manchester carry adder with High-Speed Domino (HSD) logic.</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c>
                  <a:txBody>
                    <a:bodyPr/>
                    <a:lstStyle/>
                    <a:p>
                      <a:pPr algn="ctr" indent="0" marL="0">
                        <a:buNone/>
                      </a:pPr>
                      <a:r>
                        <a:rPr lang="en-US" sz="1300" dirty="0">
                          <a:solidFill>
                            <a:srgbClr val="0F172A"/>
                          </a:solidFill>
                        </a:rPr>
                        <a:t>The design does not incorporate any multi-level carry bypass system.</a:t>
                      </a:r>
                      <a:endParaRPr lang="en-US" sz="1300" dirty="0"/>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4. PROBLEM STATEMENT</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11</a:t>
            </a:r>
            <a:endParaRPr lang="en-US" sz="1100" dirty="0"/>
          </a:p>
        </p:txBody>
      </p:sp>
      <p:sp>
        <p:nvSpPr>
          <p:cNvPr id="9" name="Shape 7"/>
          <p:cNvSpPr/>
          <p:nvPr/>
        </p:nvSpPr>
        <p:spPr>
          <a:xfrm>
            <a:off x="548640" y="1188720"/>
            <a:ext cx="11091672" cy="1508760"/>
          </a:xfrm>
          <a:prstGeom prst="roundRect">
            <a:avLst>
              <a:gd name="adj" fmla="val 4848"/>
            </a:avLst>
          </a:prstGeom>
          <a:solidFill>
            <a:srgbClr val="FFFFFF"/>
          </a:solidFill>
          <a:ln w="12700">
            <a:solidFill>
              <a:srgbClr val="CBD5E1"/>
            </a:solidFill>
            <a:prstDash val="solid"/>
          </a:ln>
        </p:spPr>
      </p:sp>
      <p:sp>
        <p:nvSpPr>
          <p:cNvPr id="10" name="Shape 8"/>
          <p:cNvSpPr/>
          <p:nvPr/>
        </p:nvSpPr>
        <p:spPr>
          <a:xfrm>
            <a:off x="822960" y="1463040"/>
            <a:ext cx="1005840" cy="960120"/>
          </a:xfrm>
          <a:prstGeom prst="roundRect">
            <a:avLst>
              <a:gd name="adj" fmla="val 9524"/>
            </a:avLst>
          </a:prstGeom>
          <a:solidFill>
            <a:srgbClr val="0F172A"/>
          </a:solidFill>
          <a:ln/>
        </p:spPr>
      </p:sp>
      <p:sp>
        <p:nvSpPr>
          <p:cNvPr id="11" name="Text 9"/>
          <p:cNvSpPr/>
          <p:nvPr/>
        </p:nvSpPr>
        <p:spPr>
          <a:xfrm>
            <a:off x="822960" y="1600200"/>
            <a:ext cx="1005840" cy="6858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01</a:t>
            </a:r>
            <a:endParaRPr lang="en-US" sz="2200" dirty="0"/>
          </a:p>
        </p:txBody>
      </p:sp>
      <p:sp>
        <p:nvSpPr>
          <p:cNvPr id="12" name="Text 10"/>
          <p:cNvSpPr/>
          <p:nvPr/>
        </p:nvSpPr>
        <p:spPr>
          <a:xfrm>
            <a:off x="2103120" y="1463040"/>
            <a:ext cx="8961120" cy="36576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Reduce Power Consumption</a:t>
            </a:r>
            <a:endParaRPr lang="en-US" sz="2000" dirty="0"/>
          </a:p>
        </p:txBody>
      </p:sp>
      <p:sp>
        <p:nvSpPr>
          <p:cNvPr id="13" name="Text 11"/>
          <p:cNvSpPr/>
          <p:nvPr/>
        </p:nvSpPr>
        <p:spPr>
          <a:xfrm>
            <a:off x="2103120" y="1874520"/>
            <a:ext cx="8961120" cy="640080"/>
          </a:xfrm>
          <a:prstGeom prst="rect">
            <a:avLst/>
          </a:prstGeom>
          <a:noFill/>
          <a:ln/>
        </p:spPr>
        <p:txBody>
          <a:bodyPr wrap="square" rtlCol="0" anchor="ctr"/>
          <a:lstStyle/>
          <a:p>
            <a:pPr indent="0" marL="0">
              <a:lnSpc>
                <a:spcPts val="2000"/>
              </a:lnSpc>
              <a:buNone/>
            </a:pPr>
            <a:r>
              <a:rPr lang="en-US" sz="1500" dirty="0">
                <a:solidFill>
                  <a:srgbClr val="475569"/>
                </a:solidFill>
                <a:latin typeface="Arial" pitchFamily="34" charset="0"/>
                <a:ea typeface="Arial" pitchFamily="34" charset="-122"/>
                <a:cs typeface="Arial" pitchFamily="34" charset="-120"/>
              </a:rPr>
              <a:t>Conventional 16-bit adders exhibit high dynamic and static power dissipation due to redundant switching and heavy gate counts.</a:t>
            </a:r>
            <a:endParaRPr lang="en-US" sz="1500" dirty="0"/>
          </a:p>
        </p:txBody>
      </p:sp>
      <p:sp>
        <p:nvSpPr>
          <p:cNvPr id="14" name="Shape 12"/>
          <p:cNvSpPr/>
          <p:nvPr/>
        </p:nvSpPr>
        <p:spPr>
          <a:xfrm>
            <a:off x="548640" y="2880360"/>
            <a:ext cx="11091672" cy="1508760"/>
          </a:xfrm>
          <a:prstGeom prst="roundRect">
            <a:avLst>
              <a:gd name="adj" fmla="val 4848"/>
            </a:avLst>
          </a:prstGeom>
          <a:solidFill>
            <a:srgbClr val="FFFFFF"/>
          </a:solidFill>
          <a:ln w="12700">
            <a:solidFill>
              <a:srgbClr val="CBD5E1"/>
            </a:solidFill>
            <a:prstDash val="solid"/>
          </a:ln>
        </p:spPr>
      </p:sp>
      <p:sp>
        <p:nvSpPr>
          <p:cNvPr id="15" name="Shape 13"/>
          <p:cNvSpPr/>
          <p:nvPr/>
        </p:nvSpPr>
        <p:spPr>
          <a:xfrm>
            <a:off x="822960" y="3154680"/>
            <a:ext cx="1005840" cy="960120"/>
          </a:xfrm>
          <a:prstGeom prst="roundRect">
            <a:avLst>
              <a:gd name="adj" fmla="val 9524"/>
            </a:avLst>
          </a:prstGeom>
          <a:solidFill>
            <a:srgbClr val="0F172A"/>
          </a:solidFill>
          <a:ln/>
        </p:spPr>
      </p:sp>
      <p:sp>
        <p:nvSpPr>
          <p:cNvPr id="16" name="Text 14"/>
          <p:cNvSpPr/>
          <p:nvPr/>
        </p:nvSpPr>
        <p:spPr>
          <a:xfrm>
            <a:off x="822960" y="3291840"/>
            <a:ext cx="1005840" cy="6858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02</a:t>
            </a:r>
            <a:endParaRPr lang="en-US" sz="2200" dirty="0"/>
          </a:p>
        </p:txBody>
      </p:sp>
      <p:sp>
        <p:nvSpPr>
          <p:cNvPr id="17" name="Text 15"/>
          <p:cNvSpPr/>
          <p:nvPr/>
        </p:nvSpPr>
        <p:spPr>
          <a:xfrm>
            <a:off x="2103120" y="3154680"/>
            <a:ext cx="8961120" cy="36576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Reduce Rise Time and Fall Time</a:t>
            </a:r>
            <a:endParaRPr lang="en-US" sz="2000" dirty="0"/>
          </a:p>
        </p:txBody>
      </p:sp>
      <p:sp>
        <p:nvSpPr>
          <p:cNvPr id="18" name="Text 16"/>
          <p:cNvSpPr/>
          <p:nvPr/>
        </p:nvSpPr>
        <p:spPr>
          <a:xfrm>
            <a:off x="2103120" y="3566160"/>
            <a:ext cx="8961120" cy="640080"/>
          </a:xfrm>
          <a:prstGeom prst="rect">
            <a:avLst/>
          </a:prstGeom>
          <a:noFill/>
          <a:ln/>
        </p:spPr>
        <p:txBody>
          <a:bodyPr wrap="square" rtlCol="0" anchor="ctr"/>
          <a:lstStyle/>
          <a:p>
            <a:pPr indent="0" marL="0">
              <a:lnSpc>
                <a:spcPts val="2000"/>
              </a:lnSpc>
              <a:buNone/>
            </a:pPr>
            <a:r>
              <a:rPr lang="en-US" sz="1500" dirty="0">
                <a:solidFill>
                  <a:srgbClr val="475569"/>
                </a:solidFill>
                <a:latin typeface="Arial" pitchFamily="34" charset="0"/>
                <a:ea typeface="Arial" pitchFamily="34" charset="-122"/>
                <a:cs typeface="Arial" pitchFamily="34" charset="-120"/>
              </a:rPr>
              <a:t>Long signal propagation delays in traditional carry chains increase rise/fall times, creating performance bottlenecks at higher frequencies.</a:t>
            </a:r>
            <a:endParaRPr lang="en-US" sz="1500" dirty="0"/>
          </a:p>
        </p:txBody>
      </p:sp>
      <p:sp>
        <p:nvSpPr>
          <p:cNvPr id="19" name="Shape 17"/>
          <p:cNvSpPr/>
          <p:nvPr/>
        </p:nvSpPr>
        <p:spPr>
          <a:xfrm>
            <a:off x="548640" y="4572000"/>
            <a:ext cx="11091672" cy="1508760"/>
          </a:xfrm>
          <a:prstGeom prst="roundRect">
            <a:avLst>
              <a:gd name="adj" fmla="val 4848"/>
            </a:avLst>
          </a:prstGeom>
          <a:solidFill>
            <a:srgbClr val="FFFFFF"/>
          </a:solidFill>
          <a:ln w="12700">
            <a:solidFill>
              <a:srgbClr val="CBD5E1"/>
            </a:solidFill>
            <a:prstDash val="solid"/>
          </a:ln>
        </p:spPr>
      </p:sp>
      <p:sp>
        <p:nvSpPr>
          <p:cNvPr id="20" name="Shape 18"/>
          <p:cNvSpPr/>
          <p:nvPr/>
        </p:nvSpPr>
        <p:spPr>
          <a:xfrm>
            <a:off x="822960" y="4846320"/>
            <a:ext cx="1005840" cy="960120"/>
          </a:xfrm>
          <a:prstGeom prst="roundRect">
            <a:avLst>
              <a:gd name="adj" fmla="val 9524"/>
            </a:avLst>
          </a:prstGeom>
          <a:solidFill>
            <a:srgbClr val="0F172A"/>
          </a:solidFill>
          <a:ln/>
        </p:spPr>
      </p:sp>
      <p:sp>
        <p:nvSpPr>
          <p:cNvPr id="21" name="Text 19"/>
          <p:cNvSpPr/>
          <p:nvPr/>
        </p:nvSpPr>
        <p:spPr>
          <a:xfrm>
            <a:off x="822960" y="4983480"/>
            <a:ext cx="1005840" cy="685800"/>
          </a:xfrm>
          <a:prstGeom prst="rect">
            <a:avLst/>
          </a:prstGeom>
          <a:noFill/>
          <a:ln/>
        </p:spPr>
        <p:txBody>
          <a:bodyPr wrap="square" rtlCol="0" anchor="ctr"/>
          <a:lstStyle/>
          <a:p>
            <a:pPr algn="ctr" indent="0" marL="0">
              <a:buNone/>
            </a:pPr>
            <a:r>
              <a:rPr lang="en-US" sz="2200" b="1" dirty="0">
                <a:solidFill>
                  <a:srgbClr val="D97706"/>
                </a:solidFill>
                <a:latin typeface="Arial" pitchFamily="34" charset="0"/>
                <a:ea typeface="Arial" pitchFamily="34" charset="-122"/>
                <a:cs typeface="Arial" pitchFamily="34" charset="-120"/>
              </a:rPr>
              <a:t>03</a:t>
            </a:r>
            <a:endParaRPr lang="en-US" sz="2200" dirty="0"/>
          </a:p>
        </p:txBody>
      </p:sp>
      <p:sp>
        <p:nvSpPr>
          <p:cNvPr id="22" name="Text 20"/>
          <p:cNvSpPr/>
          <p:nvPr/>
        </p:nvSpPr>
        <p:spPr>
          <a:xfrm>
            <a:off x="2103120" y="4846320"/>
            <a:ext cx="8961120" cy="36576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Reduce Circuit Complexity</a:t>
            </a:r>
            <a:endParaRPr lang="en-US" sz="2000" dirty="0"/>
          </a:p>
        </p:txBody>
      </p:sp>
      <p:sp>
        <p:nvSpPr>
          <p:cNvPr id="23" name="Text 21"/>
          <p:cNvSpPr/>
          <p:nvPr/>
        </p:nvSpPr>
        <p:spPr>
          <a:xfrm>
            <a:off x="2103120" y="5257800"/>
            <a:ext cx="8961120" cy="640080"/>
          </a:xfrm>
          <a:prstGeom prst="rect">
            <a:avLst/>
          </a:prstGeom>
          <a:noFill/>
          <a:ln/>
        </p:spPr>
        <p:txBody>
          <a:bodyPr wrap="square" rtlCol="0" anchor="ctr"/>
          <a:lstStyle/>
          <a:p>
            <a:pPr indent="0" marL="0">
              <a:lnSpc>
                <a:spcPts val="2000"/>
              </a:lnSpc>
              <a:buNone/>
            </a:pPr>
            <a:r>
              <a:rPr lang="en-US" sz="1500" dirty="0">
                <a:solidFill>
                  <a:srgbClr val="475569"/>
                </a:solidFill>
                <a:latin typeface="Arial" pitchFamily="34" charset="0"/>
                <a:ea typeface="Arial" pitchFamily="34" charset="-122"/>
                <a:cs typeface="Arial" pitchFamily="34" charset="-120"/>
              </a:rPr>
              <a:t>Complex logic gate structures increase transistor count, layout footprint, and routing parasitic capacitance.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5. RESEARCH OBJECTIVES</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12</a:t>
            </a:r>
            <a:endParaRPr lang="en-US" sz="1100" dirty="0"/>
          </a:p>
        </p:txBody>
      </p:sp>
      <p:sp>
        <p:nvSpPr>
          <p:cNvPr id="9" name="Shape 7"/>
          <p:cNvSpPr/>
          <p:nvPr/>
        </p:nvSpPr>
        <p:spPr>
          <a:xfrm>
            <a:off x="548640" y="1188720"/>
            <a:ext cx="11091672" cy="1508760"/>
          </a:xfrm>
          <a:prstGeom prst="roundRect">
            <a:avLst>
              <a:gd name="adj" fmla="val 4848"/>
            </a:avLst>
          </a:prstGeom>
          <a:solidFill>
            <a:srgbClr val="FFFFFF"/>
          </a:solidFill>
          <a:ln w="12700">
            <a:solidFill>
              <a:srgbClr val="CBD5E1"/>
            </a:solidFill>
            <a:prstDash val="solid"/>
          </a:ln>
        </p:spPr>
      </p:sp>
      <p:sp>
        <p:nvSpPr>
          <p:cNvPr id="10" name="Shape 8"/>
          <p:cNvSpPr/>
          <p:nvPr/>
        </p:nvSpPr>
        <p:spPr>
          <a:xfrm>
            <a:off x="822960" y="1463040"/>
            <a:ext cx="1005840" cy="960120"/>
          </a:xfrm>
          <a:prstGeom prst="roundRect">
            <a:avLst>
              <a:gd name="adj" fmla="val 9524"/>
            </a:avLst>
          </a:prstGeom>
          <a:solidFill>
            <a:srgbClr val="297FD5"/>
          </a:solidFill>
          <a:ln/>
        </p:spPr>
      </p:sp>
      <p:sp>
        <p:nvSpPr>
          <p:cNvPr id="11" name="Text 9"/>
          <p:cNvSpPr/>
          <p:nvPr/>
        </p:nvSpPr>
        <p:spPr>
          <a:xfrm>
            <a:off x="822960" y="1600200"/>
            <a:ext cx="1005840" cy="6858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01</a:t>
            </a:r>
            <a:endParaRPr lang="en-US" sz="2200" dirty="0"/>
          </a:p>
        </p:txBody>
      </p:sp>
      <p:sp>
        <p:nvSpPr>
          <p:cNvPr id="12" name="Text 10"/>
          <p:cNvSpPr/>
          <p:nvPr/>
        </p:nvSpPr>
        <p:spPr>
          <a:xfrm>
            <a:off x="2103120" y="1463040"/>
            <a:ext cx="8961120" cy="36576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Novel Hybrid Adder Design</a:t>
            </a:r>
            <a:endParaRPr lang="en-US" sz="2000" dirty="0"/>
          </a:p>
        </p:txBody>
      </p:sp>
      <p:sp>
        <p:nvSpPr>
          <p:cNvPr id="13" name="Text 11"/>
          <p:cNvSpPr/>
          <p:nvPr/>
        </p:nvSpPr>
        <p:spPr>
          <a:xfrm>
            <a:off x="2103120" y="1874520"/>
            <a:ext cx="8961120" cy="640080"/>
          </a:xfrm>
          <a:prstGeom prst="rect">
            <a:avLst/>
          </a:prstGeom>
          <a:noFill/>
          <a:ln/>
        </p:spPr>
        <p:txBody>
          <a:bodyPr wrap="square" rtlCol="0" anchor="ctr"/>
          <a:lstStyle/>
          <a:p>
            <a:pPr indent="0" marL="0">
              <a:lnSpc>
                <a:spcPts val="2000"/>
              </a:lnSpc>
              <a:buNone/>
            </a:pPr>
            <a:r>
              <a:rPr lang="en-US" sz="1500" dirty="0">
                <a:solidFill>
                  <a:srgbClr val="475569"/>
                </a:solidFill>
                <a:latin typeface="Arial" pitchFamily="34" charset="0"/>
                <a:ea typeface="Arial" pitchFamily="34" charset="-122"/>
                <a:cs typeface="Arial" pitchFamily="34" charset="-120"/>
              </a:rPr>
              <a:t>Develop a new 16-bit adder design utilizing existing Manchester Carry and bypass techniques to minimize critical path delay.</a:t>
            </a:r>
            <a:endParaRPr lang="en-US" sz="1500" dirty="0"/>
          </a:p>
        </p:txBody>
      </p:sp>
      <p:sp>
        <p:nvSpPr>
          <p:cNvPr id="14" name="Shape 12"/>
          <p:cNvSpPr/>
          <p:nvPr/>
        </p:nvSpPr>
        <p:spPr>
          <a:xfrm>
            <a:off x="548640" y="2880360"/>
            <a:ext cx="11091672" cy="1508760"/>
          </a:xfrm>
          <a:prstGeom prst="roundRect">
            <a:avLst>
              <a:gd name="adj" fmla="val 4848"/>
            </a:avLst>
          </a:prstGeom>
          <a:solidFill>
            <a:srgbClr val="FFFFFF"/>
          </a:solidFill>
          <a:ln w="12700">
            <a:solidFill>
              <a:srgbClr val="CBD5E1"/>
            </a:solidFill>
            <a:prstDash val="solid"/>
          </a:ln>
        </p:spPr>
      </p:sp>
      <p:sp>
        <p:nvSpPr>
          <p:cNvPr id="15" name="Shape 13"/>
          <p:cNvSpPr/>
          <p:nvPr/>
        </p:nvSpPr>
        <p:spPr>
          <a:xfrm>
            <a:off x="822960" y="3154680"/>
            <a:ext cx="1005840" cy="960120"/>
          </a:xfrm>
          <a:prstGeom prst="roundRect">
            <a:avLst>
              <a:gd name="adj" fmla="val 9524"/>
            </a:avLst>
          </a:prstGeom>
          <a:solidFill>
            <a:srgbClr val="297FD5"/>
          </a:solidFill>
          <a:ln/>
        </p:spPr>
      </p:sp>
      <p:sp>
        <p:nvSpPr>
          <p:cNvPr id="16" name="Text 14"/>
          <p:cNvSpPr/>
          <p:nvPr/>
        </p:nvSpPr>
        <p:spPr>
          <a:xfrm>
            <a:off x="822960" y="3291840"/>
            <a:ext cx="1005840" cy="6858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02</a:t>
            </a:r>
            <a:endParaRPr lang="en-US" sz="2200" dirty="0"/>
          </a:p>
        </p:txBody>
      </p:sp>
      <p:sp>
        <p:nvSpPr>
          <p:cNvPr id="17" name="Text 15"/>
          <p:cNvSpPr/>
          <p:nvPr/>
        </p:nvSpPr>
        <p:spPr>
          <a:xfrm>
            <a:off x="2103120" y="3154680"/>
            <a:ext cx="8961120" cy="36576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Rise &amp; Fall Time Optimization</a:t>
            </a:r>
            <a:endParaRPr lang="en-US" sz="2000" dirty="0"/>
          </a:p>
        </p:txBody>
      </p:sp>
      <p:sp>
        <p:nvSpPr>
          <p:cNvPr id="18" name="Text 16"/>
          <p:cNvSpPr/>
          <p:nvPr/>
        </p:nvSpPr>
        <p:spPr>
          <a:xfrm>
            <a:off x="2103120" y="3566160"/>
            <a:ext cx="8961120" cy="640080"/>
          </a:xfrm>
          <a:prstGeom prst="rect">
            <a:avLst/>
          </a:prstGeom>
          <a:noFill/>
          <a:ln/>
        </p:spPr>
        <p:txBody>
          <a:bodyPr wrap="square" rtlCol="0" anchor="ctr"/>
          <a:lstStyle/>
          <a:p>
            <a:pPr indent="0" marL="0">
              <a:lnSpc>
                <a:spcPts val="2000"/>
              </a:lnSpc>
              <a:buNone/>
            </a:pPr>
            <a:r>
              <a:rPr lang="en-US" sz="1500" dirty="0">
                <a:solidFill>
                  <a:srgbClr val="475569"/>
                </a:solidFill>
                <a:latin typeface="Arial" pitchFamily="34" charset="0"/>
                <a:ea typeface="Arial" pitchFamily="34" charset="-122"/>
                <a:cs typeface="Arial" pitchFamily="34" charset="-120"/>
              </a:rPr>
              <a:t>Significantly improve rise time and fall time dynamics through optimized transistor sizing and multi-level bypass paths.</a:t>
            </a:r>
            <a:endParaRPr lang="en-US" sz="1500" dirty="0"/>
          </a:p>
        </p:txBody>
      </p:sp>
      <p:sp>
        <p:nvSpPr>
          <p:cNvPr id="19" name="Shape 17"/>
          <p:cNvSpPr/>
          <p:nvPr/>
        </p:nvSpPr>
        <p:spPr>
          <a:xfrm>
            <a:off x="548640" y="4572000"/>
            <a:ext cx="11091672" cy="1508760"/>
          </a:xfrm>
          <a:prstGeom prst="roundRect">
            <a:avLst>
              <a:gd name="adj" fmla="val 4848"/>
            </a:avLst>
          </a:prstGeom>
          <a:solidFill>
            <a:srgbClr val="FFFFFF"/>
          </a:solidFill>
          <a:ln w="12700">
            <a:solidFill>
              <a:srgbClr val="CBD5E1"/>
            </a:solidFill>
            <a:prstDash val="solid"/>
          </a:ln>
        </p:spPr>
      </p:sp>
      <p:sp>
        <p:nvSpPr>
          <p:cNvPr id="20" name="Shape 18"/>
          <p:cNvSpPr/>
          <p:nvPr/>
        </p:nvSpPr>
        <p:spPr>
          <a:xfrm>
            <a:off x="822960" y="4846320"/>
            <a:ext cx="1005840" cy="960120"/>
          </a:xfrm>
          <a:prstGeom prst="roundRect">
            <a:avLst>
              <a:gd name="adj" fmla="val 9524"/>
            </a:avLst>
          </a:prstGeom>
          <a:solidFill>
            <a:srgbClr val="297FD5"/>
          </a:solidFill>
          <a:ln/>
        </p:spPr>
      </p:sp>
      <p:sp>
        <p:nvSpPr>
          <p:cNvPr id="21" name="Text 19"/>
          <p:cNvSpPr/>
          <p:nvPr/>
        </p:nvSpPr>
        <p:spPr>
          <a:xfrm>
            <a:off x="822960" y="4983480"/>
            <a:ext cx="1005840" cy="68580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03</a:t>
            </a:r>
            <a:endParaRPr lang="en-US" sz="2200" dirty="0"/>
          </a:p>
        </p:txBody>
      </p:sp>
      <p:sp>
        <p:nvSpPr>
          <p:cNvPr id="22" name="Text 20"/>
          <p:cNvSpPr/>
          <p:nvPr/>
        </p:nvSpPr>
        <p:spPr>
          <a:xfrm>
            <a:off x="2103120" y="4846320"/>
            <a:ext cx="8961120" cy="365760"/>
          </a:xfrm>
          <a:prstGeom prst="rect">
            <a:avLst/>
          </a:prstGeom>
          <a:noFill/>
          <a:ln/>
        </p:spPr>
        <p:txBody>
          <a:bodyPr wrap="square" rtlCol="0" anchor="ctr"/>
          <a:lstStyle/>
          <a:p>
            <a:pPr indent="0" marL="0">
              <a:buNone/>
            </a:pPr>
            <a:r>
              <a:rPr lang="en-US" sz="2000" b="1" dirty="0">
                <a:solidFill>
                  <a:srgbClr val="0F172A"/>
                </a:solidFill>
                <a:latin typeface="Arial" pitchFamily="34" charset="0"/>
                <a:ea typeface="Arial" pitchFamily="34" charset="-122"/>
                <a:cs typeface="Arial" pitchFamily="34" charset="-120"/>
              </a:rPr>
              <a:t>Power &amp; Energy Characterization</a:t>
            </a:r>
            <a:endParaRPr lang="en-US" sz="2000" dirty="0"/>
          </a:p>
        </p:txBody>
      </p:sp>
      <p:sp>
        <p:nvSpPr>
          <p:cNvPr id="23" name="Text 21"/>
          <p:cNvSpPr/>
          <p:nvPr/>
        </p:nvSpPr>
        <p:spPr>
          <a:xfrm>
            <a:off x="2103120" y="5257800"/>
            <a:ext cx="8961120" cy="640080"/>
          </a:xfrm>
          <a:prstGeom prst="rect">
            <a:avLst/>
          </a:prstGeom>
          <a:noFill/>
          <a:ln/>
        </p:spPr>
        <p:txBody>
          <a:bodyPr wrap="square" rtlCol="0" anchor="ctr"/>
          <a:lstStyle/>
          <a:p>
            <a:pPr indent="0" marL="0">
              <a:lnSpc>
                <a:spcPts val="2000"/>
              </a:lnSpc>
              <a:buNone/>
            </a:pPr>
            <a:r>
              <a:rPr lang="en-US" sz="1500" dirty="0">
                <a:solidFill>
                  <a:srgbClr val="475569"/>
                </a:solidFill>
                <a:latin typeface="Arial" pitchFamily="34" charset="0"/>
                <a:ea typeface="Arial" pitchFamily="34" charset="-122"/>
                <a:cs typeface="Arial" pitchFamily="34" charset="-120"/>
              </a:rPr>
              <a:t>Rigorously calculate and analyze total power consumption and power-delay product (PDP) across nanometer nodes.</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METHODOLOGY: Overall System Architecture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13</a:t>
            </a:r>
            <a:endParaRPr lang="en-US" sz="1100" dirty="0"/>
          </a:p>
        </p:txBody>
      </p:sp>
      <p:sp>
        <p:nvSpPr>
          <p:cNvPr id="9" name="Shape 7"/>
          <p:cNvSpPr/>
          <p:nvPr/>
        </p:nvSpPr>
        <p:spPr>
          <a:xfrm>
            <a:off x="548640" y="1143000"/>
            <a:ext cx="77724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77724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77724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74066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16-Bit Adder Architecture Diagram</a:t>
            </a:r>
            <a:endParaRPr lang="en-US" sz="1600" dirty="0"/>
          </a:p>
        </p:txBody>
      </p:sp>
      <p:pic>
        <p:nvPicPr>
          <p:cNvPr id="13" name="Image 0" descr="C:\Users\shahrear\Downloads\LTSpice\Thesis\Thesis Book\Presenatation\extracted_adder\ppt\media\image15.png">    </p:cNvPr>
          <p:cNvPicPr>
            <a:picLocks noChangeAspect="1"/>
          </p:cNvPicPr>
          <p:nvPr/>
        </p:nvPicPr>
        <p:blipFill>
          <a:blip r:embed="rId1"/>
          <a:stretch>
            <a:fillRect/>
          </a:stretch>
        </p:blipFill>
        <p:spPr>
          <a:xfrm>
            <a:off x="777240" y="1691640"/>
            <a:ext cx="7315200" cy="3931920"/>
          </a:xfrm>
          <a:prstGeom prst="rect">
            <a:avLst/>
          </a:prstGeom>
        </p:spPr>
      </p:pic>
      <p:sp>
        <p:nvSpPr>
          <p:cNvPr id="14" name="Text 11"/>
          <p:cNvSpPr/>
          <p:nvPr/>
        </p:nvSpPr>
        <p:spPr>
          <a:xfrm>
            <a:off x="777240" y="5623560"/>
            <a:ext cx="731520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06: System Block Diagram</a:t>
            </a:r>
            <a:endParaRPr lang="en-US" sz="1400" dirty="0"/>
          </a:p>
        </p:txBody>
      </p:sp>
      <p:sp>
        <p:nvSpPr>
          <p:cNvPr id="15" name="Shape 12"/>
          <p:cNvSpPr/>
          <p:nvPr/>
        </p:nvSpPr>
        <p:spPr>
          <a:xfrm>
            <a:off x="8503920" y="1143000"/>
            <a:ext cx="3136392" cy="5029200"/>
          </a:xfrm>
          <a:prstGeom prst="roundRect">
            <a:avLst>
              <a:gd name="adj" fmla="val 2332"/>
            </a:avLst>
          </a:prstGeom>
          <a:solidFill>
            <a:srgbClr val="FFFFFF"/>
          </a:solidFill>
          <a:ln w="12700">
            <a:solidFill>
              <a:srgbClr val="CBD5E1"/>
            </a:solidFill>
            <a:prstDash val="solid"/>
          </a:ln>
        </p:spPr>
      </p:sp>
      <p:sp>
        <p:nvSpPr>
          <p:cNvPr id="16" name="Shape 13"/>
          <p:cNvSpPr/>
          <p:nvPr/>
        </p:nvSpPr>
        <p:spPr>
          <a:xfrm>
            <a:off x="8503920" y="1143000"/>
            <a:ext cx="31363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8503920" y="1371600"/>
            <a:ext cx="3136392" cy="228600"/>
          </a:xfrm>
          <a:prstGeom prst="rect">
            <a:avLst/>
          </a:prstGeom>
          <a:solidFill>
            <a:srgbClr val="0F172A"/>
          </a:solidFill>
          <a:ln w="12700">
            <a:solidFill>
              <a:srgbClr val="0F172A"/>
            </a:solidFill>
            <a:prstDash val="solid"/>
          </a:ln>
        </p:spPr>
      </p:sp>
      <p:sp>
        <p:nvSpPr>
          <p:cNvPr id="18" name="Text 15"/>
          <p:cNvSpPr/>
          <p:nvPr/>
        </p:nvSpPr>
        <p:spPr>
          <a:xfrm>
            <a:off x="8686800" y="1216152"/>
            <a:ext cx="27706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System Integration</a:t>
            </a:r>
            <a:endParaRPr lang="en-US" sz="1600" dirty="0"/>
          </a:p>
        </p:txBody>
      </p:sp>
      <p:sp>
        <p:nvSpPr>
          <p:cNvPr id="19" name="Text 16"/>
          <p:cNvSpPr/>
          <p:nvPr/>
        </p:nvSpPr>
        <p:spPr>
          <a:xfrm>
            <a:off x="8732520" y="1737360"/>
            <a:ext cx="267919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Component Hierarchy: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overall system block diagram contains the various modular cell components of the proposed 16-bit Manchester Carry Adder.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Modular Design: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Combines Type I, Type II, Type III, Type IV cells, Domino logic, and summer stages for high-speed operation.</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METHODOLOGY: Type I Cell Circuit</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14</a:t>
            </a:r>
            <a:endParaRPr lang="en-US" sz="1100" dirty="0"/>
          </a:p>
        </p:txBody>
      </p:sp>
      <p:sp>
        <p:nvSpPr>
          <p:cNvPr id="9" name="Shape 7"/>
          <p:cNvSpPr/>
          <p:nvPr/>
        </p:nvSpPr>
        <p:spPr>
          <a:xfrm>
            <a:off x="548640" y="1143000"/>
            <a:ext cx="59436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9436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9436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55778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Type I Cell Transistor Schematic</a:t>
            </a:r>
            <a:endParaRPr lang="en-US" sz="1600" dirty="0"/>
          </a:p>
        </p:txBody>
      </p:sp>
      <p:pic>
        <p:nvPicPr>
          <p:cNvPr id="13" name="Image 0" descr="C:\Users\shahrear\Downloads\LTSpice\Thesis\Thesis Book\Presenatation\extracted_adder\ppt\media\image16.png">    </p:cNvPr>
          <p:cNvPicPr>
            <a:picLocks noChangeAspect="1"/>
          </p:cNvPicPr>
          <p:nvPr/>
        </p:nvPicPr>
        <p:blipFill>
          <a:blip r:embed="rId1"/>
          <a:stretch>
            <a:fillRect/>
          </a:stretch>
        </p:blipFill>
        <p:spPr>
          <a:xfrm>
            <a:off x="777240" y="1691640"/>
            <a:ext cx="5486400" cy="3931920"/>
          </a:xfrm>
          <a:prstGeom prst="rect">
            <a:avLst/>
          </a:prstGeom>
        </p:spPr>
      </p:pic>
      <p:sp>
        <p:nvSpPr>
          <p:cNvPr id="14" name="Text 11"/>
          <p:cNvSpPr/>
          <p:nvPr/>
        </p:nvSpPr>
        <p:spPr>
          <a:xfrm>
            <a:off x="777240" y="5623560"/>
            <a:ext cx="548640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07: Type I Cell</a:t>
            </a:r>
            <a:endParaRPr lang="en-US" sz="1400" dirty="0"/>
          </a:p>
        </p:txBody>
      </p:sp>
      <p:sp>
        <p:nvSpPr>
          <p:cNvPr id="15" name="Shape 12"/>
          <p:cNvSpPr/>
          <p:nvPr/>
        </p:nvSpPr>
        <p:spPr>
          <a:xfrm>
            <a:off x="6675120" y="1143000"/>
            <a:ext cx="4965192" cy="5029200"/>
          </a:xfrm>
          <a:prstGeom prst="roundRect">
            <a:avLst>
              <a:gd name="adj" fmla="val 1473"/>
            </a:avLst>
          </a:prstGeom>
          <a:solidFill>
            <a:srgbClr val="FFFFFF"/>
          </a:solidFill>
          <a:ln w="12700">
            <a:solidFill>
              <a:srgbClr val="CBD5E1"/>
            </a:solidFill>
            <a:prstDash val="solid"/>
          </a:ln>
        </p:spPr>
      </p:sp>
      <p:sp>
        <p:nvSpPr>
          <p:cNvPr id="16" name="Shape 13"/>
          <p:cNvSpPr/>
          <p:nvPr/>
        </p:nvSpPr>
        <p:spPr>
          <a:xfrm>
            <a:off x="6675120" y="1143000"/>
            <a:ext cx="49651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6675120" y="1371600"/>
            <a:ext cx="4965192" cy="228600"/>
          </a:xfrm>
          <a:prstGeom prst="rect">
            <a:avLst/>
          </a:prstGeom>
          <a:solidFill>
            <a:srgbClr val="0F172A"/>
          </a:solidFill>
          <a:ln w="12700">
            <a:solidFill>
              <a:srgbClr val="0F172A"/>
            </a:solidFill>
            <a:prstDash val="solid"/>
          </a:ln>
        </p:spPr>
      </p:sp>
      <p:sp>
        <p:nvSpPr>
          <p:cNvPr id="18" name="Text 15"/>
          <p:cNvSpPr/>
          <p:nvPr/>
        </p:nvSpPr>
        <p:spPr>
          <a:xfrm>
            <a:off x="6858000" y="1216152"/>
            <a:ext cx="45994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Type I Cell Operation</a:t>
            </a:r>
            <a:endParaRPr lang="en-US" sz="1600" dirty="0"/>
          </a:p>
        </p:txBody>
      </p:sp>
      <p:sp>
        <p:nvSpPr>
          <p:cNvPr id="19" name="Text 16"/>
          <p:cNvSpPr/>
          <p:nvPr/>
        </p:nvSpPr>
        <p:spPr>
          <a:xfrm>
            <a:off x="6903720" y="1737360"/>
            <a:ext cx="450799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Transistor Structure: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Type I cell incorporates one intercell and two intracell bypass transistors, specifically P0-3, P1-3, and P2-3.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Swift Carry Propagation: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presence of P0-3 enables the carry input Cin to propagate swiftly to the Type II cell, bypassing intermediate nodes.</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METHODOLOGY: Type II Cell Structure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15</a:t>
            </a:r>
            <a:endParaRPr lang="en-US" sz="1100" dirty="0"/>
          </a:p>
        </p:txBody>
      </p:sp>
      <p:sp>
        <p:nvSpPr>
          <p:cNvPr id="9" name="Shape 7"/>
          <p:cNvSpPr/>
          <p:nvPr/>
        </p:nvSpPr>
        <p:spPr>
          <a:xfrm>
            <a:off x="548640" y="1143000"/>
            <a:ext cx="59436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9436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9436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55778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Type II Cell Transistor Schematic</a:t>
            </a:r>
            <a:endParaRPr lang="en-US" sz="1600" dirty="0"/>
          </a:p>
        </p:txBody>
      </p:sp>
      <p:pic>
        <p:nvPicPr>
          <p:cNvPr id="13" name="Image 0" descr="C:\Users\shahrear\Downloads\LTSpice\Thesis\Thesis Book\Presenatation\extracted_adder\ppt\media\image17.png">    </p:cNvPr>
          <p:cNvPicPr>
            <a:picLocks noChangeAspect="1"/>
          </p:cNvPicPr>
          <p:nvPr/>
        </p:nvPicPr>
        <p:blipFill>
          <a:blip r:embed="rId1"/>
          <a:stretch>
            <a:fillRect/>
          </a:stretch>
        </p:blipFill>
        <p:spPr>
          <a:xfrm>
            <a:off x="777240" y="1691640"/>
            <a:ext cx="5486400" cy="3931920"/>
          </a:xfrm>
          <a:prstGeom prst="rect">
            <a:avLst/>
          </a:prstGeom>
        </p:spPr>
      </p:pic>
      <p:sp>
        <p:nvSpPr>
          <p:cNvPr id="14" name="Text 11"/>
          <p:cNvSpPr/>
          <p:nvPr/>
        </p:nvSpPr>
        <p:spPr>
          <a:xfrm>
            <a:off x="777240" y="5623560"/>
            <a:ext cx="548640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08: Type II Cell</a:t>
            </a:r>
            <a:endParaRPr lang="en-US" sz="1400" dirty="0"/>
          </a:p>
        </p:txBody>
      </p:sp>
      <p:sp>
        <p:nvSpPr>
          <p:cNvPr id="15" name="Shape 12"/>
          <p:cNvSpPr/>
          <p:nvPr/>
        </p:nvSpPr>
        <p:spPr>
          <a:xfrm>
            <a:off x="6675120" y="1143000"/>
            <a:ext cx="4965192" cy="5029200"/>
          </a:xfrm>
          <a:prstGeom prst="roundRect">
            <a:avLst>
              <a:gd name="adj" fmla="val 1473"/>
            </a:avLst>
          </a:prstGeom>
          <a:solidFill>
            <a:srgbClr val="FFFFFF"/>
          </a:solidFill>
          <a:ln w="12700">
            <a:solidFill>
              <a:srgbClr val="CBD5E1"/>
            </a:solidFill>
            <a:prstDash val="solid"/>
          </a:ln>
        </p:spPr>
      </p:sp>
      <p:sp>
        <p:nvSpPr>
          <p:cNvPr id="16" name="Shape 13"/>
          <p:cNvSpPr/>
          <p:nvPr/>
        </p:nvSpPr>
        <p:spPr>
          <a:xfrm>
            <a:off x="6675120" y="1143000"/>
            <a:ext cx="49651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6675120" y="1371600"/>
            <a:ext cx="4965192" cy="228600"/>
          </a:xfrm>
          <a:prstGeom prst="rect">
            <a:avLst/>
          </a:prstGeom>
          <a:solidFill>
            <a:srgbClr val="0F172A"/>
          </a:solidFill>
          <a:ln w="12700">
            <a:solidFill>
              <a:srgbClr val="0F172A"/>
            </a:solidFill>
            <a:prstDash val="solid"/>
          </a:ln>
        </p:spPr>
      </p:sp>
      <p:sp>
        <p:nvSpPr>
          <p:cNvPr id="18" name="Text 15"/>
          <p:cNvSpPr/>
          <p:nvPr/>
        </p:nvSpPr>
        <p:spPr>
          <a:xfrm>
            <a:off x="6858000" y="1216152"/>
            <a:ext cx="45994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Type II &amp; Type III Topology</a:t>
            </a:r>
            <a:endParaRPr lang="en-US" sz="1600" dirty="0"/>
          </a:p>
        </p:txBody>
      </p:sp>
      <p:sp>
        <p:nvSpPr>
          <p:cNvPr id="19" name="Text 16"/>
          <p:cNvSpPr/>
          <p:nvPr/>
        </p:nvSpPr>
        <p:spPr>
          <a:xfrm>
            <a:off x="6903720" y="1737360"/>
            <a:ext cx="450799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Shared Topology: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Topologically, the Type II and Type III cells share the same structure; their main distinction lies in transistor sizing.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Carry-Skip Function: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Transistors P8-11 enable standard carry-skip across bit blocks whenever all propagate signals within the block are high.</a:t>
            </a:r>
            <a:endParaRPr lang="en-US" sz="1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METHODOLOGY: Type IV Cell Structure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16</a:t>
            </a:r>
            <a:endParaRPr lang="en-US" sz="1100" dirty="0"/>
          </a:p>
        </p:txBody>
      </p:sp>
      <p:sp>
        <p:nvSpPr>
          <p:cNvPr id="9" name="Shape 7"/>
          <p:cNvSpPr/>
          <p:nvPr/>
        </p:nvSpPr>
        <p:spPr>
          <a:xfrm>
            <a:off x="548640" y="1143000"/>
            <a:ext cx="59436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9436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9436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55778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Type IV Cell Transistor Schematic</a:t>
            </a:r>
            <a:endParaRPr lang="en-US" sz="1600" dirty="0"/>
          </a:p>
        </p:txBody>
      </p:sp>
      <p:pic>
        <p:nvPicPr>
          <p:cNvPr id="13" name="Image 0" descr="C:\Users\shahrear\Downloads\LTSpice\Thesis\Thesis Book\Presenatation\extracted_adder\ppt\media\image18.PNG">    </p:cNvPr>
          <p:cNvPicPr>
            <a:picLocks noChangeAspect="1"/>
          </p:cNvPicPr>
          <p:nvPr/>
        </p:nvPicPr>
        <p:blipFill>
          <a:blip r:embed="rId1"/>
          <a:stretch>
            <a:fillRect/>
          </a:stretch>
        </p:blipFill>
        <p:spPr>
          <a:xfrm>
            <a:off x="777240" y="1691640"/>
            <a:ext cx="5486400" cy="3931920"/>
          </a:xfrm>
          <a:prstGeom prst="rect">
            <a:avLst/>
          </a:prstGeom>
        </p:spPr>
      </p:pic>
      <p:sp>
        <p:nvSpPr>
          <p:cNvPr id="14" name="Text 11"/>
          <p:cNvSpPr/>
          <p:nvPr/>
        </p:nvSpPr>
        <p:spPr>
          <a:xfrm>
            <a:off x="777240" y="5623560"/>
            <a:ext cx="548640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09: Type IV Cell</a:t>
            </a:r>
            <a:endParaRPr lang="en-US" sz="1400" dirty="0"/>
          </a:p>
        </p:txBody>
      </p:sp>
      <p:sp>
        <p:nvSpPr>
          <p:cNvPr id="15" name="Shape 12"/>
          <p:cNvSpPr/>
          <p:nvPr/>
        </p:nvSpPr>
        <p:spPr>
          <a:xfrm>
            <a:off x="6675120" y="1143000"/>
            <a:ext cx="4965192" cy="5029200"/>
          </a:xfrm>
          <a:prstGeom prst="roundRect">
            <a:avLst>
              <a:gd name="adj" fmla="val 1473"/>
            </a:avLst>
          </a:prstGeom>
          <a:solidFill>
            <a:srgbClr val="FFFFFF"/>
          </a:solidFill>
          <a:ln w="12700">
            <a:solidFill>
              <a:srgbClr val="CBD5E1"/>
            </a:solidFill>
            <a:prstDash val="solid"/>
          </a:ln>
        </p:spPr>
      </p:sp>
      <p:sp>
        <p:nvSpPr>
          <p:cNvPr id="16" name="Shape 13"/>
          <p:cNvSpPr/>
          <p:nvPr/>
        </p:nvSpPr>
        <p:spPr>
          <a:xfrm>
            <a:off x="6675120" y="1143000"/>
            <a:ext cx="49651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6675120" y="1371600"/>
            <a:ext cx="4965192" cy="228600"/>
          </a:xfrm>
          <a:prstGeom prst="rect">
            <a:avLst/>
          </a:prstGeom>
          <a:solidFill>
            <a:srgbClr val="0F172A"/>
          </a:solidFill>
          <a:ln w="12700">
            <a:solidFill>
              <a:srgbClr val="0F172A"/>
            </a:solidFill>
            <a:prstDash val="solid"/>
          </a:ln>
        </p:spPr>
      </p:sp>
      <p:sp>
        <p:nvSpPr>
          <p:cNvPr id="18" name="Text 15"/>
          <p:cNvSpPr/>
          <p:nvPr/>
        </p:nvSpPr>
        <p:spPr>
          <a:xfrm>
            <a:off x="6858000" y="1216152"/>
            <a:ext cx="45994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Type IV Cell Distinctions</a:t>
            </a:r>
            <a:endParaRPr lang="en-US" sz="1600" dirty="0"/>
          </a:p>
        </p:txBody>
      </p:sp>
      <p:sp>
        <p:nvSpPr>
          <p:cNvPr id="19" name="Text 16"/>
          <p:cNvSpPr/>
          <p:nvPr/>
        </p:nvSpPr>
        <p:spPr>
          <a:xfrm>
            <a:off x="6903720" y="1737360"/>
            <a:ext cx="450799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Sizing &amp; Bypass Placement: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Type IV cell differs from Type II and Type III cells in both transistor sizing and placement of the intercell bypass transistor P_(12-15).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Block Skip Execution: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Transistor P_(12-15) performs the usual skip action on blocks of bits when all propagate signals into the blocks are high.</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METHODOLOGY: Multiple-Output Domino Logic Gate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17</a:t>
            </a:r>
            <a:endParaRPr lang="en-US" sz="1100" dirty="0"/>
          </a:p>
        </p:txBody>
      </p:sp>
      <p:sp>
        <p:nvSpPr>
          <p:cNvPr id="9" name="Shape 7"/>
          <p:cNvSpPr/>
          <p:nvPr/>
        </p:nvSpPr>
        <p:spPr>
          <a:xfrm>
            <a:off x="548640" y="1143000"/>
            <a:ext cx="59436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9436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9436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55778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Multiple-Output Domino Logic Schematic</a:t>
            </a:r>
            <a:endParaRPr lang="en-US" sz="1600" dirty="0"/>
          </a:p>
        </p:txBody>
      </p:sp>
      <p:pic>
        <p:nvPicPr>
          <p:cNvPr id="13" name="Image 0" descr="C:\Users\shahrear\Downloads\LTSpice\Thesis\Thesis Book\Presenatation\extracted_adder\ppt\media\image19.png">    </p:cNvPr>
          <p:cNvPicPr>
            <a:picLocks noChangeAspect="1"/>
          </p:cNvPicPr>
          <p:nvPr/>
        </p:nvPicPr>
        <p:blipFill>
          <a:blip r:embed="rId1"/>
          <a:stretch>
            <a:fillRect/>
          </a:stretch>
        </p:blipFill>
        <p:spPr>
          <a:xfrm>
            <a:off x="777240" y="1691640"/>
            <a:ext cx="5486400" cy="3931920"/>
          </a:xfrm>
          <a:prstGeom prst="rect">
            <a:avLst/>
          </a:prstGeom>
        </p:spPr>
      </p:pic>
      <p:sp>
        <p:nvSpPr>
          <p:cNvPr id="14" name="Text 11"/>
          <p:cNvSpPr/>
          <p:nvPr/>
        </p:nvSpPr>
        <p:spPr>
          <a:xfrm>
            <a:off x="777240" y="5623560"/>
            <a:ext cx="5486400" cy="320040"/>
          </a:xfrm>
          <a:prstGeom prst="rect">
            <a:avLst/>
          </a:prstGeom>
          <a:noFill/>
          <a:ln/>
        </p:spPr>
        <p:txBody>
          <a:bodyPr wrap="square" rtlCol="0" anchor="ctr"/>
          <a:lstStyle/>
          <a:p>
            <a:pPr algn="ctr" indent="0" marL="0">
              <a:buNone/>
            </a:pPr>
            <a:r>
              <a:rPr lang="en-US" sz="1300" b="1" dirty="0">
                <a:solidFill>
                  <a:srgbClr val="0F172A"/>
                </a:solidFill>
                <a:latin typeface="Arial" pitchFamily="34" charset="0"/>
                <a:ea typeface="Arial" pitchFamily="34" charset="-122"/>
                <a:cs typeface="Arial" pitchFamily="34" charset="-120"/>
              </a:rPr>
              <a:t>Fig 10: Multiple-output domino logic gate used to compute P_(i-j)</a:t>
            </a:r>
            <a:endParaRPr lang="en-US" sz="1300" dirty="0"/>
          </a:p>
        </p:txBody>
      </p:sp>
      <p:sp>
        <p:nvSpPr>
          <p:cNvPr id="15" name="Shape 12"/>
          <p:cNvSpPr/>
          <p:nvPr/>
        </p:nvSpPr>
        <p:spPr>
          <a:xfrm>
            <a:off x="6675120" y="1143000"/>
            <a:ext cx="4965192" cy="5029200"/>
          </a:xfrm>
          <a:prstGeom prst="roundRect">
            <a:avLst>
              <a:gd name="adj" fmla="val 1473"/>
            </a:avLst>
          </a:prstGeom>
          <a:solidFill>
            <a:srgbClr val="FFFFFF"/>
          </a:solidFill>
          <a:ln w="12700">
            <a:solidFill>
              <a:srgbClr val="CBD5E1"/>
            </a:solidFill>
            <a:prstDash val="solid"/>
          </a:ln>
        </p:spPr>
      </p:sp>
      <p:sp>
        <p:nvSpPr>
          <p:cNvPr id="16" name="Shape 13"/>
          <p:cNvSpPr/>
          <p:nvPr/>
        </p:nvSpPr>
        <p:spPr>
          <a:xfrm>
            <a:off x="6675120" y="1143000"/>
            <a:ext cx="49651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6675120" y="1371600"/>
            <a:ext cx="4965192" cy="228600"/>
          </a:xfrm>
          <a:prstGeom prst="rect">
            <a:avLst/>
          </a:prstGeom>
          <a:solidFill>
            <a:srgbClr val="0F172A"/>
          </a:solidFill>
          <a:ln w="12700">
            <a:solidFill>
              <a:srgbClr val="0F172A"/>
            </a:solidFill>
            <a:prstDash val="solid"/>
          </a:ln>
        </p:spPr>
      </p:sp>
      <p:sp>
        <p:nvSpPr>
          <p:cNvPr id="18" name="Text 15"/>
          <p:cNvSpPr/>
          <p:nvPr/>
        </p:nvSpPr>
        <p:spPr>
          <a:xfrm>
            <a:off x="6858000" y="1216152"/>
            <a:ext cx="45994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Propagate Control Generation</a:t>
            </a:r>
            <a:endParaRPr lang="en-US" sz="1600" dirty="0"/>
          </a:p>
        </p:txBody>
      </p:sp>
      <p:sp>
        <p:nvSpPr>
          <p:cNvPr id="19" name="Text 16"/>
          <p:cNvSpPr/>
          <p:nvPr/>
        </p:nvSpPr>
        <p:spPr>
          <a:xfrm>
            <a:off x="6903720" y="1737360"/>
            <a:ext cx="450799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Control Signal Generation: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intercell and intracell bypass transistors are controlled by signals Pi-j.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High-Speed Domino Gate: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These control signals are generated by a high-speed multiple-output domino logic gate, minimizing area and driver delay.</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6. METHODOLOGY: Summer Circuit Architecture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18</a:t>
            </a:r>
            <a:endParaRPr lang="en-US" sz="1100" dirty="0"/>
          </a:p>
        </p:txBody>
      </p:sp>
      <p:sp>
        <p:nvSpPr>
          <p:cNvPr id="9" name="Shape 7"/>
          <p:cNvSpPr/>
          <p:nvPr/>
        </p:nvSpPr>
        <p:spPr>
          <a:xfrm>
            <a:off x="548640" y="1143000"/>
            <a:ext cx="59436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59436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59436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55778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Summer Circuit Schematic Diagram</a:t>
            </a:r>
            <a:endParaRPr lang="en-US" sz="1600" dirty="0"/>
          </a:p>
        </p:txBody>
      </p:sp>
      <p:pic>
        <p:nvPicPr>
          <p:cNvPr id="13" name="Image 0" descr="C:\Users\shahrear\Downloads\LTSpice\Thesis\Thesis Book\Presenatation\extracted_adder\ppt\media\image20.png">    </p:cNvPr>
          <p:cNvPicPr>
            <a:picLocks noChangeAspect="1"/>
          </p:cNvPicPr>
          <p:nvPr/>
        </p:nvPicPr>
        <p:blipFill>
          <a:blip r:embed="rId1"/>
          <a:stretch>
            <a:fillRect/>
          </a:stretch>
        </p:blipFill>
        <p:spPr>
          <a:xfrm>
            <a:off x="777240" y="1691640"/>
            <a:ext cx="5486400" cy="3931920"/>
          </a:xfrm>
          <a:prstGeom prst="rect">
            <a:avLst/>
          </a:prstGeom>
        </p:spPr>
      </p:pic>
      <p:sp>
        <p:nvSpPr>
          <p:cNvPr id="14" name="Text 11"/>
          <p:cNvSpPr/>
          <p:nvPr/>
        </p:nvSpPr>
        <p:spPr>
          <a:xfrm>
            <a:off x="777240" y="5623560"/>
            <a:ext cx="548640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11: Summer Circuit used in design</a:t>
            </a:r>
            <a:endParaRPr lang="en-US" sz="1400" dirty="0"/>
          </a:p>
        </p:txBody>
      </p:sp>
      <p:sp>
        <p:nvSpPr>
          <p:cNvPr id="15" name="Shape 12"/>
          <p:cNvSpPr/>
          <p:nvPr/>
        </p:nvSpPr>
        <p:spPr>
          <a:xfrm>
            <a:off x="6675120" y="1143000"/>
            <a:ext cx="4965192" cy="5029200"/>
          </a:xfrm>
          <a:prstGeom prst="roundRect">
            <a:avLst>
              <a:gd name="adj" fmla="val 1473"/>
            </a:avLst>
          </a:prstGeom>
          <a:solidFill>
            <a:srgbClr val="FFFFFF"/>
          </a:solidFill>
          <a:ln w="12700">
            <a:solidFill>
              <a:srgbClr val="CBD5E1"/>
            </a:solidFill>
            <a:prstDash val="solid"/>
          </a:ln>
        </p:spPr>
      </p:sp>
      <p:sp>
        <p:nvSpPr>
          <p:cNvPr id="16" name="Shape 13"/>
          <p:cNvSpPr/>
          <p:nvPr/>
        </p:nvSpPr>
        <p:spPr>
          <a:xfrm>
            <a:off x="6675120" y="1143000"/>
            <a:ext cx="49651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6675120" y="1371600"/>
            <a:ext cx="4965192" cy="228600"/>
          </a:xfrm>
          <a:prstGeom prst="rect">
            <a:avLst/>
          </a:prstGeom>
          <a:solidFill>
            <a:srgbClr val="0F172A"/>
          </a:solidFill>
          <a:ln w="12700">
            <a:solidFill>
              <a:srgbClr val="0F172A"/>
            </a:solidFill>
            <a:prstDash val="solid"/>
          </a:ln>
        </p:spPr>
      </p:sp>
      <p:sp>
        <p:nvSpPr>
          <p:cNvPr id="18" name="Text 15"/>
          <p:cNvSpPr/>
          <p:nvPr/>
        </p:nvSpPr>
        <p:spPr>
          <a:xfrm>
            <a:off x="6858000" y="1216152"/>
            <a:ext cx="45994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Independent Sum Generation</a:t>
            </a:r>
            <a:endParaRPr lang="en-US" sz="1600" dirty="0"/>
          </a:p>
        </p:txBody>
      </p:sp>
      <p:sp>
        <p:nvSpPr>
          <p:cNvPr id="19" name="Text 16"/>
          <p:cNvSpPr/>
          <p:nvPr/>
        </p:nvSpPr>
        <p:spPr>
          <a:xfrm>
            <a:off x="6903720" y="1737360"/>
            <a:ext cx="4507992" cy="4206240"/>
          </a:xfrm>
          <a:prstGeom prst="rect">
            <a:avLst/>
          </a:prstGeom>
          <a:noFill/>
          <a:ln/>
        </p:spPr>
        <p:txBody>
          <a:bodyPr wrap="square" rtlCol="0" anchor="ctr"/>
          <a:lstStyle/>
          <a:p>
            <a:pPr indent="0" marL="0">
              <a:lnSpc>
                <a:spcPts val="2000"/>
              </a:lnSpc>
              <a:buNone/>
            </a:pPr>
            <a:r>
              <a:rPr lang="en-US" sz="1700" b="1" dirty="0">
                <a:solidFill>
                  <a:srgbClr val="297FD5"/>
                </a:solidFill>
                <a:latin typeface="Arial" pitchFamily="34" charset="0"/>
                <a:ea typeface="Arial" pitchFamily="34" charset="-122"/>
                <a:cs typeface="Arial" pitchFamily="34" charset="-120"/>
              </a:rPr>
              <a:t>• Carry &amp; Generate Combination: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The carry signal is combined with the generate output of the half adder to obtain the final sum.
</a:t>
            </a:r>
            <a:pPr indent="0" marL="0">
              <a:lnSpc>
                <a:spcPts val="2000"/>
              </a:lnSpc>
              <a:buNone/>
            </a:pPr>
            <a:r>
              <a:rPr lang="en-US" sz="1700" b="1" dirty="0">
                <a:solidFill>
                  <a:srgbClr val="0D9488"/>
                </a:solidFill>
                <a:latin typeface="Arial" pitchFamily="34" charset="0"/>
                <a:ea typeface="Arial" pitchFamily="34" charset="-122"/>
                <a:cs typeface="Arial" pitchFamily="34" charset="-120"/>
              </a:rPr>
              <a:t>• Independent Sum Computation:
</a:t>
            </a:r>
            <a:pPr indent="0" marL="0">
              <a:lnSpc>
                <a:spcPts val="2000"/>
              </a:lnSpc>
              <a:buNone/>
            </a:pPr>
            <a:r>
              <a:rPr lang="en-US" sz="1500" dirty="0">
                <a:solidFill>
                  <a:srgbClr val="0F172A"/>
                </a:solidFill>
                <a:latin typeface="Arial" pitchFamily="34" charset="0"/>
                <a:ea typeface="Arial" pitchFamily="34" charset="-122"/>
                <a:cs typeface="Arial" pitchFamily="34" charset="-120"/>
              </a:rPr>
              <a:t>  Each block has its bypass signal. By bypassing the carry and utilizing a summer circuit, the sum output is computed fast and independently.</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7. IMPLEMENTATION: Cadence Simulation Setup</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19</a:t>
            </a:r>
            <a:endParaRPr lang="en-US" sz="1100" dirty="0"/>
          </a:p>
        </p:txBody>
      </p:sp>
      <p:sp>
        <p:nvSpPr>
          <p:cNvPr id="9" name="Shape 7"/>
          <p:cNvSpPr/>
          <p:nvPr/>
        </p:nvSpPr>
        <p:spPr>
          <a:xfrm>
            <a:off x="548640" y="1143000"/>
            <a:ext cx="777240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777240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7772400" cy="228600"/>
          </a:xfrm>
          <a:prstGeom prst="rect">
            <a:avLst/>
          </a:prstGeom>
          <a:solidFill>
            <a:srgbClr val="0F172A"/>
          </a:solidFill>
          <a:ln w="12700">
            <a:solidFill>
              <a:srgbClr val="0F172A"/>
            </a:solidFill>
            <a:prstDash val="solid"/>
          </a:ln>
        </p:spPr>
      </p:sp>
      <p:sp>
        <p:nvSpPr>
          <p:cNvPr id="12" name="Text 10"/>
          <p:cNvSpPr/>
          <p:nvPr/>
        </p:nvSpPr>
        <p:spPr>
          <a:xfrm>
            <a:off x="731520" y="1216152"/>
            <a:ext cx="740664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Cadence Simulation Parameters &amp; Analysis</a:t>
            </a:r>
            <a:endParaRPr lang="en-US" sz="1600" dirty="0"/>
          </a:p>
        </p:txBody>
      </p:sp>
      <p:pic>
        <p:nvPicPr>
          <p:cNvPr id="13" name="Image 0" descr="C:\Users\shahrear\Downloads\LTSpice\Thesis\Thesis Book\Presenatation\extracted_adder\ppt\media\image21.png">    </p:cNvPr>
          <p:cNvPicPr>
            <a:picLocks noChangeAspect="1"/>
          </p:cNvPicPr>
          <p:nvPr/>
        </p:nvPicPr>
        <p:blipFill>
          <a:blip r:embed="rId1"/>
          <a:stretch>
            <a:fillRect/>
          </a:stretch>
        </p:blipFill>
        <p:spPr>
          <a:xfrm>
            <a:off x="777240" y="1691640"/>
            <a:ext cx="7315200" cy="3931920"/>
          </a:xfrm>
          <a:prstGeom prst="rect">
            <a:avLst/>
          </a:prstGeom>
        </p:spPr>
      </p:pic>
      <p:sp>
        <p:nvSpPr>
          <p:cNvPr id="14" name="Text 11"/>
          <p:cNvSpPr/>
          <p:nvPr/>
        </p:nvSpPr>
        <p:spPr>
          <a:xfrm>
            <a:off x="777240" y="5623560"/>
            <a:ext cx="731520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12: Simulation parameters and analysis type</a:t>
            </a:r>
            <a:endParaRPr lang="en-US" sz="1400" dirty="0"/>
          </a:p>
        </p:txBody>
      </p:sp>
      <p:sp>
        <p:nvSpPr>
          <p:cNvPr id="15" name="Shape 12"/>
          <p:cNvSpPr/>
          <p:nvPr/>
        </p:nvSpPr>
        <p:spPr>
          <a:xfrm>
            <a:off x="8503920" y="1143000"/>
            <a:ext cx="3136392" cy="5029200"/>
          </a:xfrm>
          <a:prstGeom prst="roundRect">
            <a:avLst>
              <a:gd name="adj" fmla="val 2332"/>
            </a:avLst>
          </a:prstGeom>
          <a:solidFill>
            <a:srgbClr val="FFFFFF"/>
          </a:solidFill>
          <a:ln w="12700">
            <a:solidFill>
              <a:srgbClr val="CBD5E1"/>
            </a:solidFill>
            <a:prstDash val="solid"/>
          </a:ln>
        </p:spPr>
      </p:sp>
      <p:sp>
        <p:nvSpPr>
          <p:cNvPr id="16" name="Shape 13"/>
          <p:cNvSpPr/>
          <p:nvPr/>
        </p:nvSpPr>
        <p:spPr>
          <a:xfrm>
            <a:off x="8503920" y="1143000"/>
            <a:ext cx="313639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8503920" y="1371600"/>
            <a:ext cx="3136392" cy="228600"/>
          </a:xfrm>
          <a:prstGeom prst="rect">
            <a:avLst/>
          </a:prstGeom>
          <a:solidFill>
            <a:srgbClr val="0F172A"/>
          </a:solidFill>
          <a:ln w="12700">
            <a:solidFill>
              <a:srgbClr val="0F172A"/>
            </a:solidFill>
            <a:prstDash val="solid"/>
          </a:ln>
        </p:spPr>
      </p:sp>
      <p:sp>
        <p:nvSpPr>
          <p:cNvPr id="18" name="Text 15"/>
          <p:cNvSpPr/>
          <p:nvPr/>
        </p:nvSpPr>
        <p:spPr>
          <a:xfrm>
            <a:off x="8686800" y="1216152"/>
            <a:ext cx="277063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Simulation Environment</a:t>
            </a:r>
            <a:endParaRPr lang="en-US" sz="1600" dirty="0"/>
          </a:p>
        </p:txBody>
      </p:sp>
      <p:sp>
        <p:nvSpPr>
          <p:cNvPr id="19" name="Text 16"/>
          <p:cNvSpPr/>
          <p:nvPr/>
        </p:nvSpPr>
        <p:spPr>
          <a:xfrm>
            <a:off x="8732520" y="1737360"/>
            <a:ext cx="2679192" cy="4206240"/>
          </a:xfrm>
          <a:prstGeom prst="rect">
            <a:avLst/>
          </a:prstGeom>
          <a:noFill/>
          <a:ln/>
        </p:spPr>
        <p:txBody>
          <a:bodyPr wrap="square" rtlCol="0" anchor="ctr"/>
          <a:lstStyle/>
          <a:p>
            <a:pPr indent="0" marL="0">
              <a:lnSpc>
                <a:spcPts val="2200"/>
              </a:lnSpc>
              <a:buNone/>
            </a:pPr>
            <a:r>
              <a:rPr lang="en-US" sz="1500" dirty="0">
                <a:solidFill>
                  <a:srgbClr val="0F172A"/>
                </a:solidFill>
                <a:latin typeface="Arial" pitchFamily="34" charset="0"/>
                <a:ea typeface="Arial" pitchFamily="34" charset="-122"/>
                <a:cs typeface="Arial" pitchFamily="34" charset="-120"/>
              </a:rPr>
              <a:t>This figure displays the Cadence Virtuoso simulation configuration, transient analysis settings, and model parameter setups for the 16-bit adder design.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8. SIMULATION: Sum Output Waveforms</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20</a:t>
            </a:r>
            <a:endParaRPr lang="en-US" sz="1100" dirty="0"/>
          </a:p>
        </p:txBody>
      </p:sp>
      <p:sp>
        <p:nvSpPr>
          <p:cNvPr id="9" name="Shape 7"/>
          <p:cNvSpPr/>
          <p:nvPr/>
        </p:nvSpPr>
        <p:spPr>
          <a:xfrm>
            <a:off x="548640" y="1143000"/>
            <a:ext cx="8046720"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8046720"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8046720" cy="228600"/>
          </a:xfrm>
          <a:prstGeom prst="rect">
            <a:avLst/>
          </a:prstGeom>
          <a:solidFill>
            <a:srgbClr val="0F172A"/>
          </a:solidFill>
          <a:ln w="12700">
            <a:solidFill>
              <a:srgbClr val="0F172A"/>
            </a:solidFill>
            <a:prstDash val="solid"/>
          </a:ln>
        </p:spPr>
      </p:sp>
      <p:sp>
        <p:nvSpPr>
          <p:cNvPr id="12" name="Text 10"/>
          <p:cNvSpPr/>
          <p:nvPr/>
        </p:nvSpPr>
        <p:spPr>
          <a:xfrm>
            <a:off x="731520" y="1216152"/>
            <a:ext cx="7680960"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Transient Simulation Waveforms (Bits 12-15)</a:t>
            </a:r>
            <a:endParaRPr lang="en-US" sz="1600" dirty="0"/>
          </a:p>
        </p:txBody>
      </p:sp>
      <p:pic>
        <p:nvPicPr>
          <p:cNvPr id="13" name="Image 0" descr="C:\Users\shahrear\Downloads\LTSpice\Thesis\Thesis Book\Presenatation\extracted_adder\ppt\media\image22.png">    </p:cNvPr>
          <p:cNvPicPr>
            <a:picLocks noChangeAspect="1"/>
          </p:cNvPicPr>
          <p:nvPr/>
        </p:nvPicPr>
        <p:blipFill>
          <a:blip r:embed="rId1"/>
          <a:stretch>
            <a:fillRect/>
          </a:stretch>
        </p:blipFill>
        <p:spPr>
          <a:xfrm>
            <a:off x="777240" y="1691640"/>
            <a:ext cx="7589520" cy="3931920"/>
          </a:xfrm>
          <a:prstGeom prst="rect">
            <a:avLst/>
          </a:prstGeom>
        </p:spPr>
      </p:pic>
      <p:sp>
        <p:nvSpPr>
          <p:cNvPr id="14" name="Text 11"/>
          <p:cNvSpPr/>
          <p:nvPr/>
        </p:nvSpPr>
        <p:spPr>
          <a:xfrm>
            <a:off x="777240" y="5623560"/>
            <a:ext cx="7589520" cy="32004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09: Sum Output of Adder from simulation</a:t>
            </a:r>
            <a:endParaRPr lang="en-US" sz="1400" dirty="0"/>
          </a:p>
        </p:txBody>
      </p:sp>
      <p:sp>
        <p:nvSpPr>
          <p:cNvPr id="15" name="Shape 12"/>
          <p:cNvSpPr/>
          <p:nvPr/>
        </p:nvSpPr>
        <p:spPr>
          <a:xfrm>
            <a:off x="8778240" y="1143000"/>
            <a:ext cx="2862072" cy="5029200"/>
          </a:xfrm>
          <a:prstGeom prst="roundRect">
            <a:avLst>
              <a:gd name="adj" fmla="val 2556"/>
            </a:avLst>
          </a:prstGeom>
          <a:solidFill>
            <a:srgbClr val="FFFFFF"/>
          </a:solidFill>
          <a:ln w="12700">
            <a:solidFill>
              <a:srgbClr val="CBD5E1"/>
            </a:solidFill>
            <a:prstDash val="solid"/>
          </a:ln>
        </p:spPr>
      </p:sp>
      <p:sp>
        <p:nvSpPr>
          <p:cNvPr id="16" name="Shape 13"/>
          <p:cNvSpPr/>
          <p:nvPr/>
        </p:nvSpPr>
        <p:spPr>
          <a:xfrm>
            <a:off x="8778240" y="1143000"/>
            <a:ext cx="2862072" cy="457200"/>
          </a:xfrm>
          <a:prstGeom prst="roundRect">
            <a:avLst>
              <a:gd name="adj" fmla="val 16000"/>
            </a:avLst>
          </a:prstGeom>
          <a:solidFill>
            <a:srgbClr val="0F172A"/>
          </a:solidFill>
          <a:ln w="12700">
            <a:solidFill>
              <a:srgbClr val="0F172A"/>
            </a:solidFill>
            <a:prstDash val="solid"/>
          </a:ln>
        </p:spPr>
      </p:sp>
      <p:sp>
        <p:nvSpPr>
          <p:cNvPr id="17" name="Shape 14"/>
          <p:cNvSpPr/>
          <p:nvPr/>
        </p:nvSpPr>
        <p:spPr>
          <a:xfrm>
            <a:off x="8778240" y="1371600"/>
            <a:ext cx="2862072" cy="228600"/>
          </a:xfrm>
          <a:prstGeom prst="rect">
            <a:avLst/>
          </a:prstGeom>
          <a:solidFill>
            <a:srgbClr val="0F172A"/>
          </a:solidFill>
          <a:ln w="12700">
            <a:solidFill>
              <a:srgbClr val="0F172A"/>
            </a:solidFill>
            <a:prstDash val="solid"/>
          </a:ln>
        </p:spPr>
      </p:sp>
      <p:sp>
        <p:nvSpPr>
          <p:cNvPr id="18" name="Text 15"/>
          <p:cNvSpPr/>
          <p:nvPr/>
        </p:nvSpPr>
        <p:spPr>
          <a:xfrm>
            <a:off x="8961120" y="1216152"/>
            <a:ext cx="24963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Waveform Analysis</a:t>
            </a:r>
            <a:endParaRPr lang="en-US" sz="1600" dirty="0"/>
          </a:p>
        </p:txBody>
      </p:sp>
      <p:sp>
        <p:nvSpPr>
          <p:cNvPr id="19" name="Text 16"/>
          <p:cNvSpPr/>
          <p:nvPr/>
        </p:nvSpPr>
        <p:spPr>
          <a:xfrm>
            <a:off x="8961120" y="1737360"/>
            <a:ext cx="2496312" cy="4206240"/>
          </a:xfrm>
          <a:prstGeom prst="rect">
            <a:avLst/>
          </a:prstGeom>
          <a:noFill/>
          <a:ln/>
        </p:spPr>
        <p:txBody>
          <a:bodyPr wrap="square" rtlCol="0" anchor="ctr"/>
          <a:lstStyle/>
          <a:p>
            <a:pPr indent="0" marL="0">
              <a:lnSpc>
                <a:spcPts val="2200"/>
              </a:lnSpc>
              <a:buNone/>
            </a:pPr>
            <a:r>
              <a:rPr lang="en-US" sz="1500" dirty="0">
                <a:solidFill>
                  <a:srgbClr val="0F172A"/>
                </a:solidFill>
                <a:latin typeface="Arial" pitchFamily="34" charset="0"/>
                <a:ea typeface="Arial" pitchFamily="34" charset="-122"/>
                <a:cs typeface="Arial" pitchFamily="34" charset="-120"/>
              </a:rPr>
              <a:t>Sum Output waveform of the 16-bit adder corresponding to bits 12 through 15 during high-frequency transient simulation.</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8. SIMULATION: Input Test Signals</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21</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Input Waveform Vectors for Bits 12 to 15</a:t>
            </a:r>
            <a:endParaRPr lang="en-US" sz="1600" dirty="0"/>
          </a:p>
        </p:txBody>
      </p:sp>
      <p:pic>
        <p:nvPicPr>
          <p:cNvPr id="13" name="Image 0" descr="C:\Users\shahrear\Downloads\LTSpice\Thesis\Thesis Book\Presenatation\extracted_adder\ppt\media\image23.png">    </p:cNvPr>
          <p:cNvPicPr>
            <a:picLocks noChangeAspect="1"/>
          </p:cNvPicPr>
          <p:nvPr/>
        </p:nvPicPr>
        <p:blipFill>
          <a:blip r:embed="rId1"/>
          <a:stretch>
            <a:fillRect/>
          </a:stretch>
        </p:blipFill>
        <p:spPr>
          <a:xfrm>
            <a:off x="822960" y="1691640"/>
            <a:ext cx="10543032" cy="3657600"/>
          </a:xfrm>
          <a:prstGeom prst="rect">
            <a:avLst/>
          </a:prstGeom>
        </p:spPr>
      </p:pic>
      <p:sp>
        <p:nvSpPr>
          <p:cNvPr id="14" name="Text 11"/>
          <p:cNvSpPr/>
          <p:nvPr/>
        </p:nvSpPr>
        <p:spPr>
          <a:xfrm>
            <a:off x="822960" y="5486400"/>
            <a:ext cx="10543032" cy="36576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10: Input Signals for Adder (bits 12 to 15 corresponding to output waveforms)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8. SIMULATION: Instantaneous Power Consumption</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22</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Power Waveform Graph &amp; Dynamic Fluctuations</a:t>
            </a:r>
            <a:endParaRPr lang="en-US" sz="1600" dirty="0"/>
          </a:p>
        </p:txBody>
      </p:sp>
      <p:pic>
        <p:nvPicPr>
          <p:cNvPr id="13" name="Image 0" descr="C:\Users\shahrear\Downloads\LTSpice\Thesis\Thesis Book\Presenatation\extracted_adder\ppt\media\image24.png">    </p:cNvPr>
          <p:cNvPicPr>
            <a:picLocks noChangeAspect="1"/>
          </p:cNvPicPr>
          <p:nvPr/>
        </p:nvPicPr>
        <p:blipFill>
          <a:blip r:embed="rId1"/>
          <a:stretch>
            <a:fillRect/>
          </a:stretch>
        </p:blipFill>
        <p:spPr>
          <a:xfrm>
            <a:off x="822960" y="1691640"/>
            <a:ext cx="10543032" cy="3566160"/>
          </a:xfrm>
          <a:prstGeom prst="rect">
            <a:avLst/>
          </a:prstGeom>
        </p:spPr>
      </p:pic>
      <p:sp>
        <p:nvSpPr>
          <p:cNvPr id="14" name="Text 11"/>
          <p:cNvSpPr/>
          <p:nvPr/>
        </p:nvSpPr>
        <p:spPr>
          <a:xfrm>
            <a:off x="822960" y="5440680"/>
            <a:ext cx="10543032" cy="457200"/>
          </a:xfrm>
          <a:prstGeom prst="rect">
            <a:avLst/>
          </a:prstGeom>
          <a:noFill/>
          <a:ln/>
        </p:spPr>
        <p:txBody>
          <a:bodyPr wrap="square" rtlCol="0" anchor="ctr"/>
          <a:lstStyle/>
          <a:p>
            <a:pPr algn="ctr" indent="0" marL="0">
              <a:buNone/>
            </a:pPr>
            <a:r>
              <a:rPr lang="en-US" sz="1400" b="1" dirty="0">
                <a:solidFill>
                  <a:srgbClr val="0F172A"/>
                </a:solidFill>
                <a:latin typeface="Arial" pitchFamily="34" charset="0"/>
                <a:ea typeface="Arial" pitchFamily="34" charset="-122"/>
                <a:cs typeface="Arial" pitchFamily="34" charset="-120"/>
              </a:rPr>
              <a:t>Fig 11: Output of the power Consumption of the circuit. The fluctuations represent dynamic switching during peak logic operations.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9. RESULT ANALYSIS: Average Power Calculation</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23</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Cadence Calculator Average Power Measurement</a:t>
            </a:r>
            <a:endParaRPr lang="en-US" sz="1600" dirty="0"/>
          </a:p>
        </p:txBody>
      </p:sp>
      <p:pic>
        <p:nvPicPr>
          <p:cNvPr id="13" name="Image 0" descr="C:\Users\shahrear\Downloads\LTSpice\Thesis\Thesis Book\Presenatation\extracted_adder\ppt\media\image25.png">    </p:cNvPr>
          <p:cNvPicPr>
            <a:picLocks noChangeAspect="1"/>
          </p:cNvPicPr>
          <p:nvPr/>
        </p:nvPicPr>
        <p:blipFill>
          <a:blip r:embed="rId1"/>
          <a:stretch>
            <a:fillRect/>
          </a:stretch>
        </p:blipFill>
        <p:spPr>
          <a:xfrm>
            <a:off x="2560320" y="1691640"/>
            <a:ext cx="7068312" cy="3291840"/>
          </a:xfrm>
          <a:prstGeom prst="rect">
            <a:avLst/>
          </a:prstGeom>
        </p:spPr>
      </p:pic>
      <p:sp>
        <p:nvSpPr>
          <p:cNvPr id="14" name="Text 11"/>
          <p:cNvSpPr/>
          <p:nvPr/>
        </p:nvSpPr>
        <p:spPr>
          <a:xfrm>
            <a:off x="822960" y="5257800"/>
            <a:ext cx="10543032" cy="457200"/>
          </a:xfrm>
          <a:prstGeom prst="rect">
            <a:avLst/>
          </a:prstGeom>
          <a:noFill/>
          <a:ln/>
        </p:spPr>
        <p:txBody>
          <a:bodyPr wrap="square" rtlCol="0" anchor="ctr"/>
          <a:lstStyle/>
          <a:p>
            <a:pPr algn="ctr" indent="0" marL="0">
              <a:buNone/>
            </a:pPr>
            <a:r>
              <a:rPr lang="en-US" sz="1500" b="1" dirty="0">
                <a:solidFill>
                  <a:srgbClr val="297FD5"/>
                </a:solidFill>
                <a:latin typeface="Arial" pitchFamily="34" charset="0"/>
                <a:ea typeface="Arial" pitchFamily="34" charset="-122"/>
                <a:cs typeface="Arial" pitchFamily="34" charset="-120"/>
              </a:rPr>
              <a:t>Fig 12: Average Power Output measured using Cadence Virtuoso Calculator function.</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9. RESULT ANALYSIS: Rise &amp; Fall Time Metrics</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24</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Cadence Calculator Rise and Fall Time Analysis</a:t>
            </a:r>
            <a:endParaRPr lang="en-US" sz="1600" dirty="0"/>
          </a:p>
        </p:txBody>
      </p:sp>
      <p:pic>
        <p:nvPicPr>
          <p:cNvPr id="13" name="Image 0" descr="C:\Users\shahrear\Downloads\LTSpice\Thesis\Thesis Book\Presenatation\extracted_adder\ppt\media\image26.png">    </p:cNvPr>
          <p:cNvPicPr>
            <a:picLocks noChangeAspect="1"/>
          </p:cNvPicPr>
          <p:nvPr/>
        </p:nvPicPr>
        <p:blipFill>
          <a:blip r:embed="rId1"/>
          <a:stretch>
            <a:fillRect/>
          </a:stretch>
        </p:blipFill>
        <p:spPr>
          <a:xfrm>
            <a:off x="1828800" y="1737360"/>
            <a:ext cx="8531352" cy="3200400"/>
          </a:xfrm>
          <a:prstGeom prst="rect">
            <a:avLst/>
          </a:prstGeom>
        </p:spPr>
      </p:pic>
      <p:sp>
        <p:nvSpPr>
          <p:cNvPr id="14" name="Text 11"/>
          <p:cNvSpPr/>
          <p:nvPr/>
        </p:nvSpPr>
        <p:spPr>
          <a:xfrm>
            <a:off x="822960" y="5257800"/>
            <a:ext cx="10543032" cy="457200"/>
          </a:xfrm>
          <a:prstGeom prst="rect">
            <a:avLst/>
          </a:prstGeom>
          <a:noFill/>
          <a:ln/>
        </p:spPr>
        <p:txBody>
          <a:bodyPr wrap="square" rtlCol="0" anchor="ctr"/>
          <a:lstStyle/>
          <a:p>
            <a:pPr algn="ctr" indent="0" marL="0">
              <a:buNone/>
            </a:pPr>
            <a:r>
              <a:rPr lang="en-US" sz="1500" b="1" dirty="0">
                <a:solidFill>
                  <a:srgbClr val="297FD5"/>
                </a:solidFill>
                <a:latin typeface="Arial" pitchFamily="34" charset="0"/>
                <a:ea typeface="Arial" pitchFamily="34" charset="-122"/>
                <a:cs typeface="Arial" pitchFamily="34" charset="-120"/>
              </a:rPr>
              <a:t>Fig 13: Rise Time and Fall Time measurements displayed directly from the Cadence main interface calculator.</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10. PERFORMANCE COMPARISON: 45nm Technology Node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25</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Table 1: Performance Comparison of Various Adders (45nm)</a:t>
            </a:r>
            <a:endParaRPr lang="en-US" sz="1600" dirty="0"/>
          </a:p>
        </p:txBody>
      </p:sp>
      <p:pic>
        <p:nvPicPr>
          <p:cNvPr id="13" name="Image 0" descr="C:\Users\shahrear\Downloads\LTSpice\Thesis\Thesis Book\Presenatation\extracted_adder\ppt\media\image28.png">    </p:cNvPr>
          <p:cNvPicPr>
            <a:picLocks noChangeAspect="1"/>
          </p:cNvPicPr>
          <p:nvPr/>
        </p:nvPicPr>
        <p:blipFill>
          <a:blip r:embed="rId1"/>
          <a:stretch>
            <a:fillRect/>
          </a:stretch>
        </p:blipFill>
        <p:spPr>
          <a:xfrm>
            <a:off x="1371600" y="1737360"/>
            <a:ext cx="9445752" cy="4114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10. PERFORMANCE COMPARISON: 90nm Technology Node</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26</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Table 2: Performance Comparison of Various Adders (90nm)</a:t>
            </a:r>
            <a:endParaRPr lang="en-US" sz="1600" dirty="0"/>
          </a:p>
        </p:txBody>
      </p:sp>
      <p:pic>
        <p:nvPicPr>
          <p:cNvPr id="13" name="Image 0" descr="C:\Users\shahrear\Downloads\LTSpice\Thesis\Thesis Book\Presenatation\extracted_adder\ppt\media\image27.png">    </p:cNvPr>
          <p:cNvPicPr>
            <a:picLocks noChangeAspect="1"/>
          </p:cNvPicPr>
          <p:nvPr/>
        </p:nvPicPr>
        <p:blipFill>
          <a:blip r:embed="rId1"/>
          <a:stretch>
            <a:fillRect/>
          </a:stretch>
        </p:blipFill>
        <p:spPr>
          <a:xfrm>
            <a:off x="1371600" y="1737360"/>
            <a:ext cx="9445752" cy="41148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11. CONCLUSION &amp; SUMMARY</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27</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Concluding Remarks</a:t>
            </a:r>
            <a:endParaRPr lang="en-US" sz="1600" dirty="0"/>
          </a:p>
        </p:txBody>
      </p:sp>
      <p:sp>
        <p:nvSpPr>
          <p:cNvPr id="13" name="Text 11"/>
          <p:cNvSpPr/>
          <p:nvPr/>
        </p:nvSpPr>
        <p:spPr>
          <a:xfrm>
            <a:off x="822960" y="1737360"/>
            <a:ext cx="10543032" cy="4206240"/>
          </a:xfrm>
          <a:prstGeom prst="rect">
            <a:avLst/>
          </a:prstGeom>
          <a:noFill/>
          <a:ln/>
        </p:spPr>
        <p:txBody>
          <a:bodyPr wrap="square" rtlCol="0" anchor="ctr"/>
          <a:lstStyle/>
          <a:p>
            <a:pPr indent="0" marL="0">
              <a:lnSpc>
                <a:spcPts val="2400"/>
              </a:lnSpc>
              <a:buNone/>
            </a:pPr>
            <a:r>
              <a:rPr lang="en-US" sz="2000" b="1" dirty="0">
                <a:solidFill>
                  <a:srgbClr val="297FD5"/>
                </a:solidFill>
                <a:latin typeface="Arial" pitchFamily="34" charset="0"/>
                <a:ea typeface="Arial" pitchFamily="34" charset="-122"/>
                <a:cs typeface="Arial" pitchFamily="34" charset="-120"/>
              </a:rPr>
              <a:t>• Optimization Significance:
</a:t>
            </a:r>
            <a:pPr indent="0" marL="0">
              <a:lnSpc>
                <a:spcPts val="2400"/>
              </a:lnSpc>
              <a:buNone/>
            </a:pPr>
            <a:r>
              <a:rPr lang="en-US" sz="1800" dirty="0">
                <a:solidFill>
                  <a:srgbClr val="0F172A"/>
                </a:solidFill>
                <a:latin typeface="Arial" pitchFamily="34" charset="0"/>
                <a:ea typeface="Arial" pitchFamily="34" charset="-122"/>
                <a:cs typeface="Arial" pitchFamily="34" charset="-120"/>
              </a:rPr>
              <a:t>  As technology advances and the demand for high-performance, low-power systems continues to grow, optimizing adder designs becomes increasingly critical. Understanding the strengths and limitations of various adder types enables engineers to make informed architectural decisions when developing processors, DSPs, and modern digital ICs.
</a:t>
            </a:r>
            <a:pPr indent="0" marL="0">
              <a:lnSpc>
                <a:spcPts val="2400"/>
              </a:lnSpc>
              <a:buNone/>
            </a:pPr>
            <a:r>
              <a:rPr lang="en-US" sz="2000" b="1" dirty="0">
                <a:solidFill>
                  <a:srgbClr val="0D9488"/>
                </a:solidFill>
                <a:latin typeface="Arial" pitchFamily="34" charset="0"/>
                <a:ea typeface="Arial" pitchFamily="34" charset="-122"/>
                <a:cs typeface="Arial" pitchFamily="34" charset="-120"/>
              </a:rPr>
              <a:t>• Enabling Next-Gen Computing:
</a:t>
            </a:r>
            <a:pPr indent="0" marL="0">
              <a:lnSpc>
                <a:spcPts val="2400"/>
              </a:lnSpc>
              <a:buNone/>
            </a:pPr>
            <a:r>
              <a:rPr lang="en-US" sz="1800" dirty="0">
                <a:solidFill>
                  <a:srgbClr val="0F172A"/>
                </a:solidFill>
                <a:latin typeface="Arial" pitchFamily="34" charset="0"/>
                <a:ea typeface="Arial" pitchFamily="34" charset="-122"/>
                <a:cs typeface="Arial" pitchFamily="34" charset="-120"/>
              </a:rPr>
              <a:t>  Ultimately, mastering adder design is not just about improving basic arithmetic operations—it is about enabling faster, smarter, and more energy-efficient computing architectures for the future.</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88952" cy="914400"/>
          </a:xfrm>
          <a:prstGeom prst="rect">
            <a:avLst/>
          </a:prstGeom>
          <a:solidFill>
            <a:srgbClr val="0F172A"/>
          </a:solidFill>
          <a:ln w="12700">
            <a:solidFill>
              <a:srgbClr val="0F172A"/>
            </a:solidFill>
            <a:prstDash val="solid"/>
          </a:ln>
        </p:spPr>
      </p:sp>
      <p:sp>
        <p:nvSpPr>
          <p:cNvPr id="3" name="Text 1"/>
          <p:cNvSpPr/>
          <p:nvPr/>
        </p:nvSpPr>
        <p:spPr>
          <a:xfrm>
            <a:off x="548640" y="109728"/>
            <a:ext cx="8229600" cy="256032"/>
          </a:xfrm>
          <a:prstGeom prst="rect">
            <a:avLst/>
          </a:prstGeom>
          <a:noFill/>
          <a:ln/>
        </p:spPr>
        <p:txBody>
          <a:bodyPr wrap="square" rtlCol="0" anchor="ctr"/>
          <a:lstStyle/>
          <a:p>
            <a:pPr indent="0" marL="0">
              <a:buNone/>
            </a:pPr>
            <a:r>
              <a:rPr lang="en-US" sz="1100" b="1" dirty="0">
                <a:solidFill>
                  <a:srgbClr val="D97706"/>
                </a:solidFill>
                <a:latin typeface="Arial" pitchFamily="34" charset="0"/>
                <a:ea typeface="Arial" pitchFamily="34" charset="-122"/>
                <a:cs typeface="Arial" pitchFamily="34" charset="-120"/>
              </a:rPr>
              <a:t>DEPARTMENT OF EEE, IIUC | B.Sc. THESIS PRESENTATION</a:t>
            </a:r>
            <a:endParaRPr lang="en-US" sz="1100" dirty="0"/>
          </a:p>
        </p:txBody>
      </p:sp>
      <p:sp>
        <p:nvSpPr>
          <p:cNvPr id="4" name="Text 2"/>
          <p:cNvSpPr/>
          <p:nvPr/>
        </p:nvSpPr>
        <p:spPr>
          <a:xfrm>
            <a:off x="548640" y="365760"/>
            <a:ext cx="10972800" cy="4572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12. REFERENCES</a:t>
            </a:r>
            <a:endParaRPr lang="en-US" sz="2200" dirty="0"/>
          </a:p>
        </p:txBody>
      </p:sp>
      <p:sp>
        <p:nvSpPr>
          <p:cNvPr id="5" name="Shape 3"/>
          <p:cNvSpPr/>
          <p:nvPr/>
        </p:nvSpPr>
        <p:spPr>
          <a:xfrm>
            <a:off x="0" y="914400"/>
            <a:ext cx="12188952" cy="45720"/>
          </a:xfrm>
          <a:prstGeom prst="rect">
            <a:avLst/>
          </a:prstGeom>
          <a:solidFill>
            <a:srgbClr val="297FD5"/>
          </a:solidFill>
          <a:ln w="12700">
            <a:solidFill>
              <a:srgbClr val="297FD5"/>
            </a:solidFill>
            <a:prstDash val="solid"/>
          </a:ln>
        </p:spPr>
      </p:sp>
      <p:sp>
        <p:nvSpPr>
          <p:cNvPr id="6" name="Shape 4"/>
          <p:cNvSpPr/>
          <p:nvPr/>
        </p:nvSpPr>
        <p:spPr>
          <a:xfrm>
            <a:off x="0" y="6446520"/>
            <a:ext cx="12188952" cy="411480"/>
          </a:xfrm>
          <a:prstGeom prst="rect">
            <a:avLst/>
          </a:prstGeom>
          <a:solidFill>
            <a:srgbClr val="E2E8F0"/>
          </a:solidFill>
          <a:ln w="12700">
            <a:solidFill>
              <a:srgbClr val="CBD5E1"/>
            </a:solidFill>
            <a:prstDash val="solid"/>
          </a:ln>
        </p:spPr>
      </p:sp>
      <p:sp>
        <p:nvSpPr>
          <p:cNvPr id="7" name="Text 5"/>
          <p:cNvSpPr/>
          <p:nvPr/>
        </p:nvSpPr>
        <p:spPr>
          <a:xfrm>
            <a:off x="548640" y="6510528"/>
            <a:ext cx="9144000" cy="292608"/>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16-bit Adder with Manchester Carry Ahead | Department of EEE, IIUC</a:t>
            </a:r>
            <a:endParaRPr lang="en-US" sz="1100" dirty="0"/>
          </a:p>
        </p:txBody>
      </p:sp>
      <p:sp>
        <p:nvSpPr>
          <p:cNvPr id="8" name="Text 6"/>
          <p:cNvSpPr/>
          <p:nvPr/>
        </p:nvSpPr>
        <p:spPr>
          <a:xfrm>
            <a:off x="10058400" y="6510528"/>
            <a:ext cx="1581912" cy="292608"/>
          </a:xfrm>
          <a:prstGeom prst="rect">
            <a:avLst/>
          </a:prstGeom>
          <a:noFill/>
          <a:ln/>
        </p:spPr>
        <p:txBody>
          <a:bodyPr wrap="square" rtlCol="0" anchor="ctr"/>
          <a:lstStyle/>
          <a:p>
            <a:pPr algn="r" indent="0" marL="0">
              <a:buNone/>
            </a:pPr>
            <a:r>
              <a:rPr lang="en-US" sz="1100" b="1" dirty="0">
                <a:solidFill>
                  <a:srgbClr val="297FD5"/>
                </a:solidFill>
                <a:latin typeface="Arial" pitchFamily="34" charset="0"/>
                <a:ea typeface="Arial" pitchFamily="34" charset="-122"/>
                <a:cs typeface="Arial" pitchFamily="34" charset="-120"/>
              </a:rPr>
              <a:t>Slide 28</a:t>
            </a:r>
            <a:endParaRPr lang="en-US" sz="1100" dirty="0"/>
          </a:p>
        </p:txBody>
      </p:sp>
      <p:sp>
        <p:nvSpPr>
          <p:cNvPr id="9" name="Shape 7"/>
          <p:cNvSpPr/>
          <p:nvPr/>
        </p:nvSpPr>
        <p:spPr>
          <a:xfrm>
            <a:off x="548640" y="1143000"/>
            <a:ext cx="11091672" cy="5029200"/>
          </a:xfrm>
          <a:prstGeom prst="roundRect">
            <a:avLst>
              <a:gd name="adj" fmla="val 1455"/>
            </a:avLst>
          </a:prstGeom>
          <a:solidFill>
            <a:srgbClr val="FFFFFF"/>
          </a:solidFill>
          <a:ln w="12700">
            <a:solidFill>
              <a:srgbClr val="CBD5E1"/>
            </a:solidFill>
            <a:prstDash val="solid"/>
          </a:ln>
        </p:spPr>
      </p:sp>
      <p:sp>
        <p:nvSpPr>
          <p:cNvPr id="10" name="Shape 8"/>
          <p:cNvSpPr/>
          <p:nvPr/>
        </p:nvSpPr>
        <p:spPr>
          <a:xfrm>
            <a:off x="548640" y="1143000"/>
            <a:ext cx="11091672" cy="457200"/>
          </a:xfrm>
          <a:prstGeom prst="roundRect">
            <a:avLst>
              <a:gd name="adj" fmla="val 16000"/>
            </a:avLst>
          </a:prstGeom>
          <a:solidFill>
            <a:srgbClr val="0F172A"/>
          </a:solidFill>
          <a:ln w="12700">
            <a:solidFill>
              <a:srgbClr val="0F172A"/>
            </a:solidFill>
            <a:prstDash val="solid"/>
          </a:ln>
        </p:spPr>
      </p:sp>
      <p:sp>
        <p:nvSpPr>
          <p:cNvPr id="11" name="Shape 9"/>
          <p:cNvSpPr/>
          <p:nvPr/>
        </p:nvSpPr>
        <p:spPr>
          <a:xfrm>
            <a:off x="548640" y="1371600"/>
            <a:ext cx="11091672" cy="228600"/>
          </a:xfrm>
          <a:prstGeom prst="rect">
            <a:avLst/>
          </a:prstGeom>
          <a:solidFill>
            <a:srgbClr val="0F172A"/>
          </a:solidFill>
          <a:ln w="12700">
            <a:solidFill>
              <a:srgbClr val="0F172A"/>
            </a:solidFill>
            <a:prstDash val="solid"/>
          </a:ln>
        </p:spPr>
      </p:sp>
      <p:sp>
        <p:nvSpPr>
          <p:cNvPr id="12" name="Text 10"/>
          <p:cNvSpPr/>
          <p:nvPr/>
        </p:nvSpPr>
        <p:spPr>
          <a:xfrm>
            <a:off x="731520" y="1216152"/>
            <a:ext cx="10725912" cy="32004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Key Literature References</a:t>
            </a:r>
            <a:endParaRPr lang="en-US" sz="1600" dirty="0"/>
          </a:p>
        </p:txBody>
      </p:sp>
      <p:sp>
        <p:nvSpPr>
          <p:cNvPr id="13" name="Text 11"/>
          <p:cNvSpPr/>
          <p:nvPr/>
        </p:nvSpPr>
        <p:spPr>
          <a:xfrm>
            <a:off x="822960" y="1737360"/>
            <a:ext cx="10543032" cy="4206240"/>
          </a:xfrm>
          <a:prstGeom prst="rect">
            <a:avLst/>
          </a:prstGeom>
          <a:noFill/>
          <a:ln/>
        </p:spPr>
        <p:txBody>
          <a:bodyPr wrap="square" rtlCol="0" anchor="ctr"/>
          <a:lstStyle/>
          <a:p>
            <a:pPr indent="0" marL="0">
              <a:lnSpc>
                <a:spcPts val="2200"/>
              </a:lnSpc>
              <a:buNone/>
            </a:pPr>
            <a:r>
              <a:rPr lang="en-US" sz="1500" dirty="0">
                <a:solidFill>
                  <a:srgbClr val="0F172A"/>
                </a:solidFill>
                <a:latin typeface="Arial" pitchFamily="34" charset="0"/>
                <a:ea typeface="Arial" pitchFamily="34" charset="-122"/>
                <a:cs typeface="Arial" pitchFamily="34" charset="-120"/>
              </a:rPr>
              <a:t>[1] P. Das, A. L. Bhalerao, A. Mane, A. A Angeline, and V. S. K. Bhaaskaran, "Design of Manchester Carry Chain Adder using High speed Domino Logic," IOP Conference Series: Materials Science and Engineering, vol. 561, no. 1, p. 012125, Oct. 2019, doi: 10.1088/1757-899X/561/1/012125.
</a:t>
            </a:r>
            <a:pPr indent="0" marL="0">
              <a:lnSpc>
                <a:spcPts val="2200"/>
              </a:lnSpc>
              <a:buNone/>
            </a:pPr>
            <a:r>
              <a:rPr lang="en-US" sz="1500" dirty="0">
                <a:solidFill>
                  <a:srgbClr val="0F172A"/>
                </a:solidFill>
                <a:latin typeface="Arial" pitchFamily="34" charset="0"/>
                <a:ea typeface="Arial" pitchFamily="34" charset="-122"/>
                <a:cs typeface="Arial" pitchFamily="34" charset="-120"/>
              </a:rPr>
              <a:t>[2] G. V, E. CHENGUTTUVAN, and D. SUBRAMANIYAM, "Design of Power and Area Efficient Carry Skip Adder and FIR filter Implementation," El-Cezeri Fen ve Mühendislik Dergisi, Dec. 2022, doi: 10.31202/ecjse.1162711.
</a:t>
            </a:r>
            <a:pPr indent="0" marL="0">
              <a:lnSpc>
                <a:spcPts val="2200"/>
              </a:lnSpc>
              <a:buNone/>
            </a:pPr>
            <a:r>
              <a:rPr lang="en-US" sz="1500" dirty="0">
                <a:solidFill>
                  <a:srgbClr val="0F172A"/>
                </a:solidFill>
                <a:latin typeface="Arial" pitchFamily="34" charset="0"/>
                <a:ea typeface="Arial" pitchFamily="34" charset="-122"/>
                <a:cs typeface="Arial" pitchFamily="34" charset="-120"/>
              </a:rPr>
              <a:t>[3] P. Balasubramanian and N. E. Mastorakis, "High-Speed and Energy-Efficient Carry Look-Ahead Adder," Journal of Low Power Electronics and Applications, vol. 12, no. 3, p. 46, Aug. 2022, doi: 10.3390/jlpea12030046.</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A0F1D"/>
          </a:solidFill>
          <a:ln/>
        </p:spPr>
      </p:sp>
      <p:sp>
        <p:nvSpPr>
          <p:cNvPr id="3" name="Shape 1"/>
          <p:cNvSpPr/>
          <p:nvPr/>
        </p:nvSpPr>
        <p:spPr>
          <a:xfrm>
            <a:off x="0" y="0"/>
            <a:ext cx="12188952" cy="109728"/>
          </a:xfrm>
          <a:prstGeom prst="rect">
            <a:avLst/>
          </a:prstGeom>
          <a:solidFill>
            <a:srgbClr val="D97706"/>
          </a:solidFill>
          <a:ln/>
        </p:spPr>
      </p:sp>
      <p:sp>
        <p:nvSpPr>
          <p:cNvPr id="4" name="Text 2"/>
          <p:cNvSpPr/>
          <p:nvPr/>
        </p:nvSpPr>
        <p:spPr>
          <a:xfrm>
            <a:off x="914400" y="1828800"/>
            <a:ext cx="10360152" cy="1097280"/>
          </a:xfrm>
          <a:prstGeom prst="rect">
            <a:avLst/>
          </a:prstGeom>
          <a:noFill/>
          <a:ln/>
        </p:spPr>
        <p:txBody>
          <a:bodyPr wrap="square" rtlCol="0" anchor="ctr"/>
          <a:lstStyle/>
          <a:p>
            <a:pPr algn="ctr" indent="0" marL="0">
              <a:buNone/>
            </a:pPr>
            <a:r>
              <a:rPr lang="en-US" sz="5200" b="1" dirty="0">
                <a:solidFill>
                  <a:srgbClr val="D97706"/>
                </a:solidFill>
                <a:latin typeface="Arial" pitchFamily="34" charset="0"/>
                <a:ea typeface="Arial" pitchFamily="34" charset="-122"/>
                <a:cs typeface="Arial" pitchFamily="34" charset="-120"/>
              </a:rPr>
              <a:t>THANK YOU!</a:t>
            </a:r>
            <a:endParaRPr lang="en-US" sz="5200" dirty="0"/>
          </a:p>
        </p:txBody>
      </p:sp>
      <p:sp>
        <p:nvSpPr>
          <p:cNvPr id="5" name="Text 3"/>
          <p:cNvSpPr/>
          <p:nvPr/>
        </p:nvSpPr>
        <p:spPr>
          <a:xfrm>
            <a:off x="914400" y="3017520"/>
            <a:ext cx="10360152" cy="548640"/>
          </a:xfrm>
          <a:prstGeom prst="rect">
            <a:avLst/>
          </a:prstGeom>
          <a:noFill/>
          <a:ln/>
        </p:spPr>
        <p:txBody>
          <a:bodyPr wrap="square"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Questions &amp; Answers</a:t>
            </a:r>
            <a:endParaRPr lang="en-US" sz="2800" dirty="0"/>
          </a:p>
        </p:txBody>
      </p:sp>
      <p:sp>
        <p:nvSpPr>
          <p:cNvPr id="6" name="Shape 4"/>
          <p:cNvSpPr/>
          <p:nvPr/>
        </p:nvSpPr>
        <p:spPr>
          <a:xfrm>
            <a:off x="3200400" y="3840480"/>
            <a:ext cx="5788152" cy="2011680"/>
          </a:xfrm>
          <a:prstGeom prst="roundRect">
            <a:avLst>
              <a:gd name="adj" fmla="val 4545"/>
            </a:avLst>
          </a:prstGeom>
          <a:solidFill>
            <a:srgbClr val="1E293B"/>
          </a:solidFill>
          <a:ln w="12700">
            <a:solidFill>
              <a:srgbClr val="297FD5"/>
            </a:solidFill>
            <a:prstDash val="solid"/>
          </a:ln>
        </p:spPr>
      </p:sp>
      <p:sp>
        <p:nvSpPr>
          <p:cNvPr id="7" name="Text 5"/>
          <p:cNvSpPr/>
          <p:nvPr/>
        </p:nvSpPr>
        <p:spPr>
          <a:xfrm>
            <a:off x="3383280" y="4069080"/>
            <a:ext cx="5422392" cy="320040"/>
          </a:xfrm>
          <a:prstGeom prst="rect">
            <a:avLst/>
          </a:prstGeom>
          <a:noFill/>
          <a:ln/>
        </p:spPr>
        <p:txBody>
          <a:bodyPr wrap="square" rtlCol="0" anchor="ctr"/>
          <a:lstStyle/>
          <a:p>
            <a:pPr algn="ctr" indent="0" marL="0">
              <a:buNone/>
            </a:pPr>
            <a:r>
              <a:rPr lang="en-US" sz="1400" b="1" dirty="0">
                <a:solidFill>
                  <a:srgbClr val="297FD5"/>
                </a:solidFill>
                <a:latin typeface="Arial" pitchFamily="34" charset="0"/>
                <a:ea typeface="Arial" pitchFamily="34" charset="-122"/>
                <a:cs typeface="Arial" pitchFamily="34" charset="-120"/>
              </a:rPr>
              <a:t>DEPARTMENT OF EEE, IIUC</a:t>
            </a:r>
            <a:endParaRPr lang="en-US" sz="1400" dirty="0"/>
          </a:p>
        </p:txBody>
      </p:sp>
      <p:sp>
        <p:nvSpPr>
          <p:cNvPr id="8" name="Text 6"/>
          <p:cNvSpPr/>
          <p:nvPr/>
        </p:nvSpPr>
        <p:spPr>
          <a:xfrm>
            <a:off x="3383280" y="4526280"/>
            <a:ext cx="5422392" cy="1097280"/>
          </a:xfrm>
          <a:prstGeom prst="rect">
            <a:avLst/>
          </a:prstGeom>
          <a:noFill/>
          <a:ln/>
        </p:spPr>
        <p:txBody>
          <a:bodyPr wrap="square" rtlCol="0" anchor="ctr"/>
          <a:lstStyle/>
          <a:p>
            <a:pPr algn="ctr" indent="0" marL="0">
              <a:lnSpc>
                <a:spcPts val="2200"/>
              </a:lnSpc>
              <a:buNone/>
            </a:pPr>
            <a:r>
              <a:rPr lang="en-US" sz="1600" dirty="0">
                <a:solidFill>
                  <a:srgbClr val="FFFFFF"/>
                </a:solidFill>
                <a:latin typeface="Arial" pitchFamily="34" charset="0"/>
                <a:ea typeface="Arial" pitchFamily="34" charset="-122"/>
                <a:cs typeface="Arial" pitchFamily="34" charset="-120"/>
              </a:rPr>
              <a:t>16-bit Adder with Manchester Carry Ahead</a:t>
            </a:r>
            <a:endParaRPr lang="en-US" sz="1600" dirty="0"/>
          </a:p>
          <a:p>
            <a:pPr algn="ctr" indent="0" marL="0">
              <a:lnSpc>
                <a:spcPts val="2200"/>
              </a:lnSpc>
              <a:buNone/>
            </a:pPr>
            <a:r>
              <a:rPr lang="en-US" sz="1600" dirty="0">
                <a:solidFill>
                  <a:srgbClr val="FFFFFF"/>
                </a:solidFill>
                <a:latin typeface="Arial" pitchFamily="34" charset="0"/>
                <a:ea typeface="Arial" pitchFamily="34" charset="-122"/>
                <a:cs typeface="Arial" pitchFamily="34" charset="-120"/>
              </a:rPr>
              <a:t>International Islamic University Chittagong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2026-09-23T03:45:09Z</dcterms:created>
  <dcterms:modified xsi:type="dcterms:W3CDTF">2026-09-23T03:45:09Z</dcterms:modified>
</cp:coreProperties>
</file>